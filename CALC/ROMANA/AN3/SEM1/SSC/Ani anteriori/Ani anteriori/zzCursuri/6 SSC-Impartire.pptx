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  <p:sldMasterId id="2147483689" r:id="rId2"/>
  </p:sldMasterIdLst>
  <p:notesMasterIdLst>
    <p:notesMasterId r:id="rId26"/>
  </p:notesMasterIdLst>
  <p:handoutMasterIdLst>
    <p:handoutMasterId r:id="rId27"/>
  </p:handoutMasterIdLst>
  <p:sldIdLst>
    <p:sldId id="269" r:id="rId3"/>
    <p:sldId id="320" r:id="rId4"/>
    <p:sldId id="295" r:id="rId5"/>
    <p:sldId id="296" r:id="rId6"/>
    <p:sldId id="297" r:id="rId7"/>
    <p:sldId id="270" r:id="rId8"/>
    <p:sldId id="271" r:id="rId9"/>
    <p:sldId id="298" r:id="rId10"/>
    <p:sldId id="299" r:id="rId11"/>
    <p:sldId id="300" r:id="rId12"/>
    <p:sldId id="288" r:id="rId13"/>
    <p:sldId id="289" r:id="rId14"/>
    <p:sldId id="324" r:id="rId15"/>
    <p:sldId id="325" r:id="rId16"/>
    <p:sldId id="274" r:id="rId17"/>
    <p:sldId id="301" r:id="rId18"/>
    <p:sldId id="272" r:id="rId19"/>
    <p:sldId id="302" r:id="rId20"/>
    <p:sldId id="326" r:id="rId21"/>
    <p:sldId id="328" r:id="rId22"/>
    <p:sldId id="327" r:id="rId23"/>
    <p:sldId id="329" r:id="rId24"/>
    <p:sldId id="323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C6D8"/>
    <a:srgbClr val="0070C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000" autoAdjust="0"/>
  </p:normalViewPr>
  <p:slideViewPr>
    <p:cSldViewPr>
      <p:cViewPr varScale="1">
        <p:scale>
          <a:sx n="143" d="100"/>
          <a:sy n="143" d="100"/>
        </p:scale>
        <p:origin x="3336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023EB5-69E4-4DC2-A318-732B666E277F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0553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67D3CAB4-0A9B-43C7-9768-A02C739603E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12318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34059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76929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077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9406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5120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136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1610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8859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30923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52865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81332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5354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7115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87928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45551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964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2825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23429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80726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4745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99914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44720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3CAB4-0A9B-43C7-9768-A02C739603E0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76588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FDA8B459-8260-4E6C-8152-0C927C0D5D04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FA77F35C-8243-44AB-8330-6EA8201D35F5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479339-A27A-4F0D-AAFE-9E1FA03CCBB4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8E385C-5B77-4ACD-AE59-48D227EA71C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1E31BA-D0AD-43BF-85D4-1ED4CC363DBD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6BC252-33AB-443C-B2AA-98DD1D2BB255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A8B459-8260-4E6C-8152-0C927C0D5D04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8072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A8B459-8260-4E6C-8152-0C927C0D5D04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/>
              <a:t>Structura sistemelor de calcul (02-4)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FDA8B459-8260-4E6C-8152-0C927C0D5D04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80421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4753752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4753752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3990430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3990430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(02-4)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(02-4)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DA8B459-8260-4E6C-8152-0C927C0D5D0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6000">
                <a:schemeClr val="accent3">
                  <a:lumMod val="60000"/>
                  <a:lumOff val="40000"/>
                </a:schemeClr>
              </a:gs>
              <a:gs pos="86000">
                <a:schemeClr val="accent3">
                  <a:lumMod val="75000"/>
                </a:schemeClr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(02-4)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ro-RO" dirty="0"/>
              <a:t>. Unitatea aritmetică ș</a:t>
            </a:r>
            <a:r>
              <a:rPr lang="ro-RO" dirty="0" smtClean="0"/>
              <a:t>i </a:t>
            </a:r>
            <a:r>
              <a:rPr lang="ro-RO" dirty="0"/>
              <a:t>logică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3545586"/>
          </a:xfrm>
        </p:spPr>
        <p:txBody>
          <a:bodyPr/>
          <a:lstStyle/>
          <a:p>
            <a:pPr>
              <a:buFontTx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buFontTx/>
              <a:buNone/>
            </a:pPr>
            <a:endParaRPr lang="ro-RO" dirty="0">
              <a:solidFill>
                <a:schemeClr val="tx2"/>
              </a:solidFill>
            </a:endParaRPr>
          </a:p>
          <a:p>
            <a:r>
              <a:rPr lang="ro-RO" dirty="0"/>
              <a:t>Adunarea</a:t>
            </a:r>
          </a:p>
          <a:p>
            <a:r>
              <a:rPr lang="ro-RO" dirty="0" smtClean="0"/>
              <a:t>Înmulțirea</a:t>
            </a:r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Împărțirea</a:t>
            </a:r>
          </a:p>
          <a:p>
            <a:r>
              <a:rPr lang="ro-RO" dirty="0"/>
              <a:t>Numere </a:t>
            </a:r>
            <a:r>
              <a:rPr lang="ro-RO" dirty="0" smtClean="0"/>
              <a:t>și operații </a:t>
            </a:r>
            <a:r>
              <a:rPr lang="ro-RO" dirty="0"/>
              <a:t>în virgulă mobilă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8473EE-16F0-4D6A-9F6D-CB84AA1C3C35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Împărțirea</a:t>
            </a:r>
            <a:endParaRPr lang="en-US" dirty="0"/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280076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Împărțirea</a:t>
            </a:r>
          </a:p>
          <a:p>
            <a:pPr lvl="1"/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endParaRPr lang="ro-RO" dirty="0"/>
          </a:p>
          <a:p>
            <a:pPr lvl="1"/>
            <a:r>
              <a:rPr lang="ro-RO" dirty="0" smtClean="0"/>
              <a:t>Împărțirea </a:t>
            </a:r>
            <a:r>
              <a:rPr lang="ro-RO" dirty="0"/>
              <a:t>fără refacerea restului </a:t>
            </a:r>
            <a:r>
              <a:rPr lang="ro-RO" dirty="0" smtClean="0"/>
              <a:t>parțial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1A2803-478F-4ED8-87E1-F422DC568279}" type="slidenum">
              <a:rPr lang="ro-RO"/>
              <a:pPr/>
              <a:t>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Împărțirea </a:t>
            </a:r>
            <a:r>
              <a:rPr lang="ro-RO" dirty="0"/>
              <a:t>(1)</a:t>
            </a:r>
            <a:endParaRPr lang="en-US" dirty="0"/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/>
              <a:t>Primul operand: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deîmpărțit </a:t>
            </a:r>
            <a:r>
              <a:rPr lang="ro-RO" dirty="0"/>
              <a:t>(</a:t>
            </a:r>
            <a:r>
              <a:rPr lang="ro-RO" i="1" dirty="0"/>
              <a:t>X</a:t>
            </a:r>
            <a:r>
              <a:rPr lang="ro-RO" dirty="0"/>
              <a:t>) </a:t>
            </a:r>
          </a:p>
          <a:p>
            <a:pPr>
              <a:lnSpc>
                <a:spcPct val="90000"/>
              </a:lnSpc>
            </a:pPr>
            <a:r>
              <a:rPr lang="ro-RO" dirty="0"/>
              <a:t>Al doilea operand: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împărțitor </a:t>
            </a:r>
            <a:r>
              <a:rPr lang="ro-RO" dirty="0"/>
              <a:t>(</a:t>
            </a:r>
            <a:r>
              <a:rPr lang="ro-RO" i="1" dirty="0"/>
              <a:t>Y</a:t>
            </a:r>
            <a:r>
              <a:rPr lang="ro-RO" dirty="0"/>
              <a:t>)</a:t>
            </a:r>
            <a:r>
              <a:rPr lang="en-US" dirty="0"/>
              <a:t>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/>
              <a:t>Rezultate: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câtul </a:t>
            </a:r>
            <a:r>
              <a:rPr lang="ro-RO" dirty="0"/>
              <a:t>(</a:t>
            </a:r>
            <a:r>
              <a:rPr lang="ro-RO" i="1" dirty="0"/>
              <a:t>Q</a:t>
            </a:r>
            <a:r>
              <a:rPr lang="ro-RO" dirty="0"/>
              <a:t>),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restul </a:t>
            </a:r>
            <a:r>
              <a:rPr lang="ro-RO" dirty="0"/>
              <a:t>(</a:t>
            </a:r>
            <a:r>
              <a:rPr lang="ro-RO" i="1" dirty="0"/>
              <a:t>R</a:t>
            </a:r>
            <a:r>
              <a:rPr lang="ro-RO" dirty="0"/>
              <a:t>)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ro-RO" i="1" dirty="0"/>
              <a:t>	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Q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b="1" dirty="0">
                <a:solidFill>
                  <a:schemeClr val="accent3">
                    <a:lumMod val="60000"/>
                    <a:lumOff val="40000"/>
                  </a:schemeClr>
                </a:solidFill>
                <a:sym typeface="Symbol" pitchFamily="18" charset="2"/>
              </a:rPr>
              <a:t>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+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</a:t>
            </a:r>
            <a:r>
              <a:rPr lang="ro-RO" i="1" dirty="0"/>
              <a:t>, R </a:t>
            </a:r>
            <a:r>
              <a:rPr lang="en-US" dirty="0"/>
              <a:t>&lt;</a:t>
            </a:r>
            <a:r>
              <a:rPr lang="en-US" i="1" dirty="0"/>
              <a:t> </a:t>
            </a:r>
            <a:r>
              <a:rPr lang="ro-RO" i="1" dirty="0"/>
              <a:t>Y</a:t>
            </a:r>
          </a:p>
          <a:p>
            <a:pPr>
              <a:lnSpc>
                <a:spcPct val="90000"/>
              </a:lnSpc>
            </a:pPr>
            <a:r>
              <a:rPr lang="ro-RO" dirty="0"/>
              <a:t>Algoritmul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împărțire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zecimală</a:t>
            </a:r>
            <a:r>
              <a:rPr lang="ro-RO" dirty="0"/>
              <a:t>: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Se alege o cifră </a:t>
            </a:r>
            <a:r>
              <a:rPr lang="ro-RO" dirty="0" smtClean="0"/>
              <a:t>și </a:t>
            </a:r>
            <a:r>
              <a:rPr lang="ro-RO" dirty="0"/>
              <a:t>se scade produsul dintre această cifră </a:t>
            </a:r>
            <a:r>
              <a:rPr lang="ro-RO" dirty="0" smtClean="0"/>
              <a:t>și împărțitor </a:t>
            </a:r>
            <a:r>
              <a:rPr lang="ro-RO" dirty="0"/>
              <a:t>din restul </a:t>
            </a:r>
            <a:r>
              <a:rPr lang="ro-RO" dirty="0" smtClean="0"/>
              <a:t>parțial</a:t>
            </a:r>
            <a:r>
              <a:rPr lang="en-US" dirty="0" smtClean="0"/>
              <a:t>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/>
              <a:t>Dacă rezultatul este mai mic decât </a:t>
            </a:r>
            <a:r>
              <a:rPr lang="ro-RO" dirty="0" smtClean="0"/>
              <a:t>împărțitorul</a:t>
            </a:r>
            <a:r>
              <a:rPr lang="ro-RO" dirty="0"/>
              <a:t>, cifra a fost aleasă corect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B36EF6-4D94-49BB-B14F-4D01C8249076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Împărțirea </a:t>
            </a:r>
            <a:r>
              <a:rPr lang="ro-RO" dirty="0"/>
              <a:t>(2)</a:t>
            </a:r>
            <a:endParaRPr lang="en-US" dirty="0"/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548938"/>
          </a:xfrm>
        </p:spPr>
        <p:txBody>
          <a:bodyPr/>
          <a:lstStyle/>
          <a:p>
            <a:pPr lvl="1"/>
            <a:r>
              <a:rPr lang="ro-RO" dirty="0"/>
              <a:t>În caz contrar, se alege o altă cifră </a:t>
            </a:r>
            <a:r>
              <a:rPr lang="ro-RO" dirty="0" smtClean="0"/>
              <a:t>și </a:t>
            </a:r>
            <a:r>
              <a:rPr lang="ro-RO" dirty="0"/>
              <a:t>scăderea se repetă</a:t>
            </a:r>
            <a:r>
              <a:rPr lang="en-US" dirty="0"/>
              <a:t> </a:t>
            </a:r>
            <a:endParaRPr lang="ro-RO" dirty="0"/>
          </a:p>
          <a:p>
            <a:pPr lvl="1"/>
            <a:r>
              <a:rPr lang="ro-RO" dirty="0"/>
              <a:t>În fiecare pas se </a:t>
            </a:r>
            <a:r>
              <a:rPr lang="ro-RO" dirty="0" smtClean="0"/>
              <a:t>obține </a:t>
            </a:r>
            <a:r>
              <a:rPr lang="ro-RO" dirty="0"/>
              <a:t>o cifră a câtului</a:t>
            </a:r>
            <a:r>
              <a:rPr lang="en-US" dirty="0"/>
              <a:t> </a:t>
            </a:r>
            <a:endParaRPr lang="ro-RO" dirty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Împărțirea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binară </a:t>
            </a:r>
          </a:p>
          <a:p>
            <a:pPr lvl="1"/>
            <a:r>
              <a:rPr lang="ro-RO" dirty="0"/>
              <a:t>Constă din scăderi repetate ale </a:t>
            </a:r>
            <a:r>
              <a:rPr lang="ro-RO" dirty="0" smtClean="0"/>
              <a:t>împărțitorului </a:t>
            </a:r>
            <a:r>
              <a:rPr lang="ro-RO" i="1" dirty="0"/>
              <a:t>Y</a:t>
            </a:r>
            <a:r>
              <a:rPr lang="ro-RO" dirty="0"/>
              <a:t> din restul </a:t>
            </a:r>
            <a:r>
              <a:rPr lang="ro-RO" dirty="0" smtClean="0"/>
              <a:t>parțial </a:t>
            </a:r>
            <a:r>
              <a:rPr lang="ro-RO" i="1" dirty="0"/>
              <a:t>R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Scăderile se efectuează numai dacă </a:t>
            </a:r>
            <a:r>
              <a:rPr lang="ro-RO" i="1" dirty="0"/>
              <a:t>Y</a:t>
            </a:r>
            <a:r>
              <a:rPr lang="ro-RO" dirty="0"/>
              <a:t> </a:t>
            </a:r>
            <a:r>
              <a:rPr lang="ro-RO" dirty="0" smtClean="0"/>
              <a:t>≤</a:t>
            </a:r>
            <a:r>
              <a:rPr lang="en-US" dirty="0" smtClean="0"/>
              <a:t> </a:t>
            </a:r>
            <a:r>
              <a:rPr lang="ro-RO" i="1" dirty="0"/>
              <a:t>R</a:t>
            </a:r>
            <a:r>
              <a:rPr lang="ro-RO" dirty="0"/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cifra câtului este 1</a:t>
            </a:r>
            <a:r>
              <a:rPr lang="en-US" dirty="0"/>
              <a:t> </a:t>
            </a:r>
            <a:endParaRPr lang="ro-RO" dirty="0"/>
          </a:p>
          <a:p>
            <a:pPr lvl="1"/>
            <a:r>
              <a:rPr lang="ro-RO" dirty="0"/>
              <a:t>În caz contrar, cifra câtului este 0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2B39F2-837F-40F5-BE73-52FF61E4477C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Împărțirea </a:t>
            </a:r>
            <a:r>
              <a:rPr lang="ro-RO" dirty="0"/>
              <a:t>(3)</a:t>
            </a:r>
            <a:endParaRPr lang="en-US" dirty="0"/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352928" cy="4713312"/>
          </a:xfrm>
        </p:spPr>
        <p:txBody>
          <a:bodyPr>
            <a:normAutofit lnSpcReduction="10000"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</a:t>
            </a:r>
            <a:r>
              <a:rPr lang="ro-RO" dirty="0" smtClean="0"/>
              <a:t>Împărțirea </a:t>
            </a:r>
            <a:r>
              <a:rPr lang="ro-RO" dirty="0"/>
              <a:t>numerelor 74 (</a:t>
            </a:r>
            <a:r>
              <a:rPr lang="ro-RO" dirty="0" smtClean="0"/>
              <a:t>1001010</a:t>
            </a:r>
            <a:r>
              <a:rPr lang="ro-RO" baseline="-25000" dirty="0" smtClean="0"/>
              <a:t>2</a:t>
            </a:r>
            <a:r>
              <a:rPr lang="ro-RO" dirty="0"/>
              <a:t>) </a:t>
            </a:r>
            <a:r>
              <a:rPr lang="ro-RO" dirty="0" smtClean="0"/>
              <a:t>și </a:t>
            </a:r>
            <a:r>
              <a:rPr lang="ro-RO" dirty="0"/>
              <a:t>8 (1000</a:t>
            </a:r>
            <a:r>
              <a:rPr lang="ro-RO" baseline="-25000" dirty="0"/>
              <a:t>2</a:t>
            </a:r>
            <a:r>
              <a:rPr lang="ro-RO" dirty="0"/>
              <a:t>)</a:t>
            </a:r>
            <a:r>
              <a:rPr lang="en-US" dirty="0"/>
              <a:t> </a:t>
            </a:r>
            <a:endParaRPr lang="ro-RO" dirty="0"/>
          </a:p>
          <a:p>
            <a:endParaRPr lang="ro-RO" sz="3200" dirty="0"/>
          </a:p>
          <a:p>
            <a:pPr>
              <a:buFontTx/>
              <a:buNone/>
            </a:pPr>
            <a:r>
              <a:rPr lang="ro-RO" sz="2800" dirty="0"/>
              <a:t>	1001010 : 1000 = </a:t>
            </a:r>
            <a:r>
              <a:rPr lang="en-US" sz="2800" dirty="0"/>
              <a:t>000</a:t>
            </a:r>
            <a:r>
              <a:rPr lang="ro-RO" sz="2800" dirty="0"/>
              <a:t>1001	Cât</a:t>
            </a:r>
          </a:p>
          <a:p>
            <a:pPr>
              <a:buFontTx/>
              <a:buNone/>
            </a:pPr>
            <a:r>
              <a:rPr lang="ro-RO" sz="2800" dirty="0"/>
              <a:t> </a:t>
            </a:r>
            <a:r>
              <a:rPr lang="ro-RO" sz="2800" dirty="0">
                <a:cs typeface="Tahoma" pitchFamily="34" charset="0"/>
              </a:rPr>
              <a:t>–</a:t>
            </a:r>
            <a:r>
              <a:rPr lang="en-US" sz="2800" dirty="0">
                <a:cs typeface="Tahoma" pitchFamily="34" charset="0"/>
              </a:rPr>
              <a:t> </a:t>
            </a:r>
            <a:r>
              <a:rPr lang="en-US" sz="2800" dirty="0" smtClean="0">
                <a:cs typeface="Tahoma" pitchFamily="34" charset="0"/>
              </a:rPr>
              <a:t> </a:t>
            </a:r>
            <a:r>
              <a:rPr lang="ro-RO" sz="2800" u="sng" dirty="0" smtClean="0"/>
              <a:t>1000</a:t>
            </a:r>
            <a:endParaRPr lang="ro-RO" sz="2800" dirty="0"/>
          </a:p>
          <a:p>
            <a:pPr>
              <a:buFontTx/>
              <a:buNone/>
            </a:pPr>
            <a:r>
              <a:rPr lang="ro-RO" sz="2800" dirty="0"/>
              <a:t>	   </a:t>
            </a:r>
            <a:r>
              <a:rPr lang="en-US" sz="2800" dirty="0"/>
              <a:t>  </a:t>
            </a:r>
            <a:r>
              <a:rPr lang="en-US" sz="2800" dirty="0" smtClean="0"/>
              <a:t>  </a:t>
            </a:r>
            <a:r>
              <a:rPr lang="ro-RO" sz="2800" dirty="0" smtClean="0"/>
              <a:t>10</a:t>
            </a:r>
            <a:r>
              <a:rPr lang="ro-RO" sz="2800" dirty="0"/>
              <a:t>			</a:t>
            </a:r>
            <a:r>
              <a:rPr lang="en-US" sz="2800" dirty="0"/>
              <a:t>	</a:t>
            </a:r>
            <a:r>
              <a:rPr lang="ro-RO" sz="2800" dirty="0"/>
              <a:t>Resturi </a:t>
            </a:r>
            <a:r>
              <a:rPr lang="ro-RO" sz="2800" dirty="0" smtClean="0"/>
              <a:t>parțiale</a:t>
            </a:r>
            <a:endParaRPr lang="ro-RO" sz="2800" dirty="0"/>
          </a:p>
          <a:p>
            <a:pPr>
              <a:buFontTx/>
              <a:buNone/>
            </a:pPr>
            <a:r>
              <a:rPr lang="ro-RO" sz="2800" dirty="0"/>
              <a:t>	   </a:t>
            </a:r>
            <a:r>
              <a:rPr lang="en-US" sz="2800" dirty="0"/>
              <a:t> </a:t>
            </a:r>
            <a:r>
              <a:rPr lang="en-US" sz="2800" dirty="0" smtClean="0"/>
              <a:t>   </a:t>
            </a:r>
            <a:r>
              <a:rPr lang="ro-RO" sz="2800" dirty="0" smtClean="0"/>
              <a:t>101</a:t>
            </a:r>
            <a:endParaRPr lang="ro-RO" sz="2800" dirty="0"/>
          </a:p>
          <a:p>
            <a:pPr>
              <a:buFontTx/>
              <a:buNone/>
            </a:pPr>
            <a:r>
              <a:rPr lang="ro-RO" sz="2800" dirty="0"/>
              <a:t>	   </a:t>
            </a:r>
            <a:r>
              <a:rPr lang="en-US" sz="2800" dirty="0" smtClean="0"/>
              <a:t>    </a:t>
            </a:r>
            <a:r>
              <a:rPr lang="ro-RO" sz="2800" dirty="0" smtClean="0"/>
              <a:t>1010</a:t>
            </a:r>
            <a:endParaRPr lang="ro-RO" sz="2800" dirty="0"/>
          </a:p>
          <a:p>
            <a:pPr>
              <a:buFontTx/>
              <a:buNone/>
            </a:pPr>
            <a:r>
              <a:rPr lang="ro-RO" sz="2800" dirty="0"/>
              <a:t>	</a:t>
            </a:r>
            <a:r>
              <a:rPr lang="ro-RO" sz="2800" dirty="0" smtClean="0"/>
              <a:t> </a:t>
            </a:r>
            <a:r>
              <a:rPr lang="en-US" sz="2800" dirty="0" smtClean="0"/>
              <a:t>   </a:t>
            </a:r>
            <a:r>
              <a:rPr lang="ro-RO" sz="2800" dirty="0" smtClean="0">
                <a:cs typeface="Tahoma" pitchFamily="34" charset="0"/>
              </a:rPr>
              <a:t>–</a:t>
            </a:r>
            <a:r>
              <a:rPr lang="en-US" sz="2800" dirty="0" smtClean="0"/>
              <a:t> </a:t>
            </a:r>
            <a:r>
              <a:rPr lang="ro-RO" sz="2800" u="sng" dirty="0"/>
              <a:t>1000</a:t>
            </a:r>
            <a:endParaRPr lang="ro-RO" sz="2800" dirty="0"/>
          </a:p>
          <a:p>
            <a:pPr>
              <a:buFontTx/>
              <a:buNone/>
            </a:pPr>
            <a:r>
              <a:rPr lang="ro-RO" sz="2800" dirty="0"/>
              <a:t>	    </a:t>
            </a:r>
            <a:r>
              <a:rPr lang="en-US" sz="2800" dirty="0" smtClean="0"/>
              <a:t>  </a:t>
            </a:r>
            <a:r>
              <a:rPr lang="ro-RO" sz="2800" dirty="0" smtClean="0"/>
              <a:t> </a:t>
            </a:r>
            <a:r>
              <a:rPr lang="en-US" sz="2800" dirty="0" smtClean="0"/>
              <a:t>     </a:t>
            </a:r>
            <a:r>
              <a:rPr lang="ro-RO" sz="2800" dirty="0"/>
              <a:t>10			</a:t>
            </a:r>
            <a:r>
              <a:rPr lang="en-US" sz="2800" dirty="0"/>
              <a:t>	</a:t>
            </a:r>
            <a:r>
              <a:rPr lang="ro-RO" sz="2800" dirty="0"/>
              <a:t>Rest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3DA91C-4DAC-4B78-9A3E-77B6F5DDA360}" type="slidenum">
              <a:rPr lang="ro-RO"/>
              <a:pPr/>
              <a:t>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Împărțirea</a:t>
            </a:r>
            <a:endParaRPr lang="ro-RO" dirty="0"/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2800767"/>
          </a:xfrm>
        </p:spPr>
        <p:txBody>
          <a:bodyPr/>
          <a:lstStyle/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ro-RO" dirty="0" smtClean="0"/>
              <a:t>Împărțirea</a:t>
            </a:r>
            <a:endParaRPr lang="ro-RO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Împărțirea cu refacerea restului parțial</a:t>
            </a:r>
          </a:p>
          <a:p>
            <a:pPr lvl="1"/>
            <a:r>
              <a:rPr lang="ro-RO" dirty="0" smtClean="0"/>
              <a:t>Împărțirea </a:t>
            </a:r>
            <a:r>
              <a:rPr lang="ro-RO" dirty="0"/>
              <a:t>fără refacerea restului </a:t>
            </a:r>
            <a:r>
              <a:rPr lang="ro-RO" dirty="0" smtClean="0"/>
              <a:t>parțial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3B5DD-D7B7-4BA8-AE6A-26EC2EBEB505}" type="slidenum">
              <a:rPr lang="ro-RO"/>
              <a:pPr/>
              <a:t>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12725"/>
            <a:ext cx="8640960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r>
              <a:rPr lang="en-US" dirty="0" smtClean="0"/>
              <a:t> </a:t>
            </a:r>
            <a:r>
              <a:rPr lang="ro-RO" dirty="0"/>
              <a:t>(1)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9035A6-5AAC-413C-BA03-7CD71151953E}" type="slidenum">
              <a:rPr lang="ro-RO"/>
              <a:pPr/>
              <a:t>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12" y="1895672"/>
            <a:ext cx="7487135" cy="396835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5" name="Rectangle 5"/>
          <p:cNvSpPr>
            <a:spLocks noGrp="1" noChangeArrowheads="1"/>
          </p:cNvSpPr>
          <p:nvPr>
            <p:ph type="title"/>
          </p:nvPr>
        </p:nvSpPr>
        <p:spPr>
          <a:xfrm>
            <a:off x="251520" y="212725"/>
            <a:ext cx="8640960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r>
              <a:rPr lang="en-US" dirty="0" smtClean="0"/>
              <a:t> </a:t>
            </a:r>
            <a:r>
              <a:rPr lang="ro-RO" dirty="0"/>
              <a:t>(2)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5DDB38-B64C-4A07-8A79-A7C1F9D2AD3C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18" y="1268760"/>
            <a:ext cx="3446124" cy="499111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12725"/>
            <a:ext cx="8640960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r>
              <a:rPr lang="en-US" dirty="0" smtClean="0"/>
              <a:t> </a:t>
            </a:r>
            <a:r>
              <a:rPr lang="ro-RO" dirty="0"/>
              <a:t>(3)</a:t>
            </a:r>
            <a:endParaRPr lang="en-US" dirty="0"/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608512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Deplasarea restului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parțial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la stânga </a:t>
            </a:r>
            <a:r>
              <a:rPr lang="ro-RO" dirty="0"/>
              <a:t>în locul deplasării </a:t>
            </a:r>
            <a:r>
              <a:rPr lang="ro-RO" dirty="0" smtClean="0"/>
              <a:t>împărțitorului </a:t>
            </a:r>
            <a:r>
              <a:rPr lang="ro-RO" dirty="0"/>
              <a:t>la dreapta:</a:t>
            </a:r>
          </a:p>
          <a:p>
            <a:pPr lvl="1"/>
            <a:r>
              <a:rPr lang="ro-RO" dirty="0"/>
              <a:t>Produce </a:t>
            </a:r>
            <a:r>
              <a:rPr lang="ro-RO" dirty="0" smtClean="0"/>
              <a:t>aceeași </a:t>
            </a:r>
            <a:r>
              <a:rPr lang="ro-RO" dirty="0"/>
              <a:t>aliniere </a:t>
            </a:r>
          </a:p>
          <a:p>
            <a:pPr lvl="1"/>
            <a:r>
              <a:rPr lang="ro-RO" dirty="0"/>
              <a:t>Simplifică circuitele necesare pentru UAL </a:t>
            </a:r>
            <a:r>
              <a:rPr lang="ro-RO" dirty="0" smtClean="0"/>
              <a:t>și </a:t>
            </a:r>
            <a:r>
              <a:rPr lang="ro-RO" dirty="0"/>
              <a:t>registrul </a:t>
            </a:r>
            <a:r>
              <a:rPr lang="ro-RO" dirty="0" smtClean="0"/>
              <a:t>împărțitorului</a:t>
            </a:r>
            <a:r>
              <a:rPr lang="en-US" dirty="0" smtClean="0"/>
              <a:t> </a:t>
            </a:r>
            <a:r>
              <a:rPr lang="ro-RO" dirty="0"/>
              <a:t>(</a:t>
            </a:r>
            <a:r>
              <a:rPr lang="ro-RO" i="1" dirty="0"/>
              <a:t>n</a:t>
            </a:r>
            <a:r>
              <a:rPr lang="ro-RO" dirty="0"/>
              <a:t> </a:t>
            </a:r>
            <a:r>
              <a:rPr lang="ro-RO" dirty="0" smtClean="0"/>
              <a:t>biți </a:t>
            </a:r>
            <a:r>
              <a:rPr lang="ro-RO" dirty="0"/>
              <a:t>în loc de 2</a:t>
            </a:r>
            <a:r>
              <a:rPr lang="ro-RO" i="1" dirty="0"/>
              <a:t>n</a:t>
            </a:r>
            <a:r>
              <a:rPr lang="ro-RO" dirty="0"/>
              <a:t>)</a:t>
            </a:r>
            <a:r>
              <a:rPr lang="en-US" dirty="0"/>
              <a:t>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doua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îmbunătățire</a:t>
            </a:r>
            <a:r>
              <a:rPr lang="ro-RO" dirty="0"/>
              <a:t>: primul pas nu poate genera o cifră de 1 în cadrul câtului</a:t>
            </a:r>
            <a:r>
              <a:rPr lang="en-US" dirty="0"/>
              <a:t> 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Inversarea ordinii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operațiilor</a:t>
            </a:r>
            <a:r>
              <a:rPr lang="ro-RO" dirty="0"/>
              <a:t>: deplasare, apoi scădere</a:t>
            </a:r>
            <a:r>
              <a:rPr lang="en-US" dirty="0"/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en-US" dirty="0"/>
              <a:t> </a:t>
            </a:r>
            <a:r>
              <a:rPr lang="ro-RO" dirty="0"/>
              <a:t>se poate elimina o </a:t>
            </a:r>
            <a:r>
              <a:rPr lang="ro-RO" dirty="0" smtClean="0"/>
              <a:t>iterație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6C607-4057-4E2F-A90A-FA01AD09C24D}" type="slidenum">
              <a:rPr lang="ro-RO"/>
              <a:pPr/>
              <a:t>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12725"/>
            <a:ext cx="8640960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r>
              <a:rPr lang="en-US" dirty="0" smtClean="0"/>
              <a:t> </a:t>
            </a:r>
            <a:r>
              <a:rPr lang="ro-RO" dirty="0"/>
              <a:t>(4)</a:t>
            </a:r>
            <a:endParaRPr lang="en-US" dirty="0"/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00808"/>
            <a:ext cx="8382000" cy="3576364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Dimensiunea registrului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poate fi redusă la jumătate</a:t>
            </a:r>
            <a:r>
              <a:rPr lang="en-US" dirty="0"/>
              <a:t> </a:t>
            </a:r>
            <a:endParaRPr lang="ro-RO" dirty="0"/>
          </a:p>
          <a:p>
            <a:r>
              <a:rPr lang="ro-RO" dirty="0"/>
              <a:t>Registrele </a:t>
            </a:r>
            <a:r>
              <a:rPr lang="ro-RO" i="1" dirty="0"/>
              <a:t>A</a:t>
            </a:r>
            <a:r>
              <a:rPr lang="ro-RO" dirty="0"/>
              <a:t> </a:t>
            </a:r>
            <a:r>
              <a:rPr lang="ro-RO" dirty="0" smtClean="0"/>
              <a:t>și </a:t>
            </a:r>
            <a:r>
              <a:rPr lang="ro-RO" i="1" dirty="0"/>
              <a:t>Q</a:t>
            </a:r>
            <a:r>
              <a:rPr lang="ro-RO" dirty="0"/>
              <a:t> pot fi combinate</a:t>
            </a:r>
          </a:p>
          <a:p>
            <a:pPr lvl="1"/>
            <a:r>
              <a:rPr lang="ro-RO" dirty="0"/>
              <a:t>Se deplasează </a:t>
            </a:r>
            <a:r>
              <a:rPr lang="ro-RO" dirty="0" smtClean="0"/>
              <a:t>biții deîmpărțitului în </a:t>
            </a:r>
            <a:r>
              <a:rPr lang="ro-RO" dirty="0"/>
              <a:t>registrul </a:t>
            </a:r>
            <a:r>
              <a:rPr lang="ro-RO" i="1" dirty="0"/>
              <a:t>A</a:t>
            </a:r>
            <a:r>
              <a:rPr lang="ro-RO" dirty="0"/>
              <a:t> în loc de a deplasa zerouri </a:t>
            </a:r>
          </a:p>
          <a:p>
            <a:pPr lvl="1"/>
            <a:r>
              <a:rPr lang="ro-RO" dirty="0"/>
              <a:t>Registrele </a:t>
            </a:r>
            <a:r>
              <a:rPr lang="ro-RO" i="1" dirty="0"/>
              <a:t>A</a:t>
            </a:r>
            <a:r>
              <a:rPr lang="ro-RO" dirty="0"/>
              <a:t> </a:t>
            </a:r>
            <a:r>
              <a:rPr lang="ro-RO" dirty="0" smtClean="0"/>
              <a:t>și </a:t>
            </a:r>
            <a:r>
              <a:rPr lang="ro-RO" i="1" dirty="0"/>
              <a:t>Q</a:t>
            </a:r>
            <a:r>
              <a:rPr lang="ro-RO" dirty="0"/>
              <a:t> sunt deplasate la stânga împreună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11704C-D673-4DB0-9D2E-CE2D618FB13F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12725"/>
            <a:ext cx="8640960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r>
              <a:rPr lang="en-US" dirty="0" smtClean="0"/>
              <a:t> </a:t>
            </a:r>
            <a:r>
              <a:rPr lang="ro-RO" dirty="0"/>
              <a:t>(5)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931F1-44DE-4FE4-9087-D50B6E2C7EEA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913816"/>
            <a:ext cx="6485197" cy="3986726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30188"/>
            <a:ext cx="8640960" cy="664797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r>
              <a:rPr lang="en-US" dirty="0" smtClean="0"/>
              <a:t> </a:t>
            </a:r>
            <a:r>
              <a:rPr lang="ro-RO" dirty="0"/>
              <a:t>(6)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D5C1E6-9A0A-4628-95A2-CFE4E641BF59}" type="slidenum">
              <a:rPr lang="ro-RO"/>
              <a:pPr/>
              <a:t>12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911" y="1268760"/>
            <a:ext cx="3378538" cy="501331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30189"/>
            <a:ext cx="8640960" cy="678532"/>
          </a:xfrm>
        </p:spPr>
        <p:txBody>
          <a:bodyPr/>
          <a:lstStyle/>
          <a:p>
            <a:r>
              <a:rPr lang="ro-RO" sz="4300" dirty="0"/>
              <a:t>Împărțirea cu refacerea restului </a:t>
            </a:r>
            <a:r>
              <a:rPr lang="ro-RO" sz="4300" dirty="0" smtClean="0"/>
              <a:t>parțial (7)</a:t>
            </a:r>
            <a:endParaRPr lang="en-US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33604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Exemplul 2.3</a:t>
            </a:r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13,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5</a:t>
            </a:r>
          </a:p>
          <a:p>
            <a:pPr lvl="1"/>
            <a:r>
              <a:rPr lang="ro-RO" dirty="0" smtClean="0"/>
              <a:t>Împărțirea utilizând versiunea finală a algoritmului</a:t>
            </a:r>
          </a:p>
          <a:p>
            <a:pPr lvl="1"/>
            <a:endParaRPr lang="ro-RO" dirty="0"/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13 = 1101</a:t>
            </a:r>
            <a:r>
              <a:rPr lang="ro-RO" baseline="-25000" dirty="0" smtClean="0"/>
              <a:t>2</a:t>
            </a:r>
            <a:r>
              <a:rPr lang="ro-RO" dirty="0" smtClean="0"/>
              <a:t> </a:t>
            </a:r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5 = 0101</a:t>
            </a:r>
            <a:r>
              <a:rPr lang="ro-RO" baseline="-25000" dirty="0" smtClean="0"/>
              <a:t>2</a:t>
            </a:r>
            <a:r>
              <a:rPr lang="ro-RO" dirty="0" smtClean="0"/>
              <a:t> </a:t>
            </a:r>
          </a:p>
          <a:p>
            <a:pPr lvl="1"/>
            <a:r>
              <a:rPr lang="ro-RO" dirty="0" smtClean="0">
                <a:sym typeface="Symbol" panose="05050102010706020507" pitchFamily="18" charset="2"/>
              </a:rPr>
              <a:t>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Y</a:t>
            </a:r>
            <a:r>
              <a:rPr lang="ro-RO" dirty="0" smtClean="0">
                <a:sym typeface="Symbol" panose="05050102010706020507" pitchFamily="18" charset="2"/>
              </a:rPr>
              <a:t> </a:t>
            </a:r>
            <a:r>
              <a:rPr lang="ro-RO" dirty="0">
                <a:sym typeface="Symbol" panose="05050102010706020507" pitchFamily="18" charset="2"/>
              </a:rPr>
              <a:t>= </a:t>
            </a:r>
            <a:r>
              <a:rPr lang="ro-RO" dirty="0" smtClean="0">
                <a:sym typeface="Symbol" panose="05050102010706020507" pitchFamily="18" charset="2"/>
              </a:rPr>
              <a:t>5 </a:t>
            </a:r>
            <a:r>
              <a:rPr lang="ro-RO" dirty="0">
                <a:sym typeface="Symbol" panose="05050102010706020507" pitchFamily="18" charset="2"/>
              </a:rPr>
              <a:t>= </a:t>
            </a:r>
            <a:r>
              <a:rPr lang="ro-RO" dirty="0" smtClean="0">
                <a:sym typeface="Symbol" panose="05050102010706020507" pitchFamily="18" charset="2"/>
              </a:rPr>
              <a:t>0101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  <a:r>
              <a:rPr lang="ro-RO" dirty="0" smtClean="0">
                <a:sym typeface="Symbol" panose="05050102010706020507" pitchFamily="18" charset="2"/>
              </a:rPr>
              <a:t> </a:t>
            </a:r>
            <a:r>
              <a:rPr lang="ro-RO" dirty="0">
                <a:sym typeface="Symbol" panose="05050102010706020507" pitchFamily="18" charset="2"/>
              </a:rPr>
              <a:t>= 1 </a:t>
            </a:r>
            <a:r>
              <a:rPr lang="ro-RO" dirty="0" smtClean="0">
                <a:sym typeface="Symbol" panose="05050102010706020507" pitchFamily="18" charset="2"/>
              </a:rPr>
              <a:t>1011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</a:p>
          <a:p>
            <a:pPr lvl="1"/>
            <a:r>
              <a:rPr lang="ro-RO" dirty="0"/>
              <a:t>Rest: </a:t>
            </a:r>
            <a:r>
              <a:rPr lang="ro-RO" dirty="0" smtClean="0"/>
              <a:t>0 0011</a:t>
            </a:r>
            <a:r>
              <a:rPr lang="ro-RO" baseline="-25000" dirty="0" smtClean="0"/>
              <a:t>2</a:t>
            </a:r>
            <a:r>
              <a:rPr lang="ro-RO" dirty="0" smtClean="0"/>
              <a:t> </a:t>
            </a:r>
            <a:r>
              <a:rPr lang="ro-RO" dirty="0"/>
              <a:t>(3); Cât: 0010</a:t>
            </a:r>
            <a:r>
              <a:rPr lang="ro-RO" baseline="-25000" dirty="0"/>
              <a:t>2</a:t>
            </a:r>
            <a:r>
              <a:rPr lang="ro-RO" dirty="0"/>
              <a:t> (2</a:t>
            </a:r>
            <a:r>
              <a:rPr lang="ro-RO" dirty="0" smtClean="0"/>
              <a:t>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77F35C-8243-44AB-8330-6EA8201D35F5}" type="slidenum">
              <a:rPr lang="ro-RO" smtClean="0"/>
              <a:pPr/>
              <a:t>13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293884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30189"/>
            <a:ext cx="8640960" cy="678532"/>
          </a:xfrm>
        </p:spPr>
        <p:txBody>
          <a:bodyPr/>
          <a:lstStyle/>
          <a:p>
            <a:r>
              <a:rPr lang="ro-RO" sz="4300" dirty="0"/>
              <a:t>Împărțirea cu refacerea restului parțial </a:t>
            </a:r>
            <a:r>
              <a:rPr lang="ro-RO" sz="4300" dirty="0" smtClean="0"/>
              <a:t>(8)</a:t>
            </a:r>
            <a:endParaRPr lang="en-US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76692"/>
          </a:xfrm>
        </p:spPr>
        <p:txBody>
          <a:bodyPr/>
          <a:lstStyle/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dirty="0" smtClean="0"/>
          </a:p>
          <a:p>
            <a:pPr lvl="1"/>
            <a:endParaRPr lang="ro-RO" dirty="0" smtClean="0"/>
          </a:p>
          <a:p>
            <a:pPr lvl="1"/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77F35C-8243-44AB-8330-6EA8201D35F5}" type="slidenum">
              <a:rPr lang="ro-RO" smtClean="0"/>
              <a:pPr/>
              <a:t>14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9134"/>
              </p:ext>
            </p:extLst>
          </p:nvPr>
        </p:nvGraphicFramePr>
        <p:xfrm>
          <a:off x="2183134" y="1142159"/>
          <a:ext cx="4770091" cy="5130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21618"/>
                <a:gridCol w="936104"/>
                <a:gridCol w="720080"/>
                <a:gridCol w="720080"/>
                <a:gridCol w="18722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800" b="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Pas</a:t>
                      </a:r>
                      <a:endParaRPr lang="en-US" sz="18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b="0" dirty="0" smtClean="0"/>
                        <a:t>A</a:t>
                      </a:r>
                      <a:endParaRPr lang="en-US" sz="1800" b="0" dirty="0"/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b="0" dirty="0" smtClean="0"/>
                        <a:t>Q (X)</a:t>
                      </a:r>
                      <a:endParaRPr lang="en-US" sz="1800" b="0" dirty="0"/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b="0" dirty="0" smtClean="0"/>
                        <a:t>B (Y)</a:t>
                      </a:r>
                      <a:endParaRPr lang="en-US" sz="1800" b="0" dirty="0"/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b="0" dirty="0" smtClean="0"/>
                        <a:t>Operații</a:t>
                      </a:r>
                      <a:endParaRPr lang="en-US" sz="1800" b="0" dirty="0"/>
                    </a:p>
                  </a:txBody>
                  <a:tcPr>
                    <a:solidFill>
                      <a:srgbClr val="7CC6D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71755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1101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Inițializare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71755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0001+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1 1011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1100+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0 0101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20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1010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shl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- B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+ 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o-RO" sz="16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71755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0011+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1 1011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1110+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0 0101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20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shl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- B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+ 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o-RO" sz="16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71755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0110+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1 1011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20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0 0001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o-RO" sz="160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20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o-RO" sz="160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shl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- B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o-RO" sz="1600" baseline="-25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71755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0011+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1 1011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1110+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0"/>
                        </a:spcAft>
                      </a:pPr>
                      <a:r>
                        <a:rPr lang="ro-RO" sz="160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0 0101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71755">
                        <a:spcAft>
                          <a:spcPts val="20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0 0011 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Aft>
                          <a:spcPts val="200"/>
                        </a:spcAft>
                      </a:pPr>
                      <a:r>
                        <a:rPr lang="ro-RO" sz="16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6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  <a:endParaRPr lang="en-US" sz="16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ro-RO" sz="16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shl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- B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+ 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o-RO" sz="16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16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o-RO" sz="16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49723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Împărțirea</a:t>
            </a:r>
            <a:endParaRPr lang="ro-RO" dirty="0"/>
          </a:p>
        </p:txBody>
      </p:sp>
      <p:sp>
        <p:nvSpPr>
          <p:cNvPr id="185347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2800767"/>
          </a:xfrm>
        </p:spPr>
        <p:txBody>
          <a:bodyPr/>
          <a:lstStyle/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Împărțirea</a:t>
            </a:r>
          </a:p>
          <a:p>
            <a:pPr lvl="1"/>
            <a:r>
              <a:rPr lang="ro-RO" dirty="0" smtClean="0"/>
              <a:t>Împărțirea </a:t>
            </a:r>
            <a:r>
              <a:rPr lang="ro-RO" dirty="0"/>
              <a:t>cu refacerea restului </a:t>
            </a:r>
            <a:r>
              <a:rPr lang="ro-RO" dirty="0" smtClean="0"/>
              <a:t>parțial</a:t>
            </a:r>
            <a:endParaRPr lang="ro-RO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Împărțirea fără refacerea restului parțial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BF3CA3-E714-4689-B63E-06886A0D4829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fără refacerea restului </a:t>
            </a:r>
            <a:r>
              <a:rPr lang="ro-RO" dirty="0" smtClean="0"/>
              <a:t>parțial </a:t>
            </a:r>
            <a:r>
              <a:rPr lang="ro-RO" dirty="0"/>
              <a:t>(1)</a:t>
            </a:r>
            <a:endParaRPr lang="en-US" dirty="0"/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608512"/>
          </a:xfrm>
        </p:spPr>
        <p:txBody>
          <a:bodyPr>
            <a:normAutofit/>
          </a:bodyPr>
          <a:lstStyle/>
          <a:p>
            <a:r>
              <a:rPr lang="ro-RO" dirty="0"/>
              <a:t>Refacerea restului </a:t>
            </a:r>
            <a:r>
              <a:rPr lang="ro-RO" dirty="0" smtClean="0"/>
              <a:t>parțial </a:t>
            </a:r>
            <a:r>
              <a:rPr lang="ro-RO" dirty="0"/>
              <a:t>determină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creșterea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timpului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execuție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operației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În medie, refacerea se efectuează în 50% din cazuri</a:t>
            </a:r>
            <a:r>
              <a:rPr lang="en-US" dirty="0"/>
              <a:t> </a:t>
            </a:r>
            <a:endParaRPr lang="ro-RO" dirty="0"/>
          </a:p>
          <a:p>
            <a:r>
              <a:rPr lang="ro-RO" dirty="0"/>
              <a:t>Fiecare adunare a </a:t>
            </a:r>
            <a:r>
              <a:rPr lang="ro-RO" dirty="0" smtClean="0"/>
              <a:t>împărțitorului </a:t>
            </a:r>
            <a:r>
              <a:rPr lang="ro-RO" dirty="0"/>
              <a:t>la restul </a:t>
            </a:r>
            <a:r>
              <a:rPr lang="ro-RO" dirty="0" smtClean="0"/>
              <a:t>parțial </a:t>
            </a:r>
            <a:r>
              <a:rPr lang="ro-RO" dirty="0"/>
              <a:t>este urmată de o scădere în pasul următor</a:t>
            </a:r>
          </a:p>
          <a:p>
            <a:pPr lvl="1"/>
            <a:r>
              <a:rPr lang="ro-RO" dirty="0"/>
              <a:t>Restul </a:t>
            </a:r>
            <a:r>
              <a:rPr lang="ro-RO" dirty="0" smtClean="0"/>
              <a:t>parțial </a:t>
            </a:r>
            <a:r>
              <a:rPr lang="ro-RO" dirty="0"/>
              <a:t>este deplasat în prealabil la stânga cu o </a:t>
            </a:r>
            <a:r>
              <a:rPr lang="ro-RO" dirty="0" smtClean="0"/>
              <a:t>poziție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 smtClean="0"/>
              <a:t>înmulțire </a:t>
            </a:r>
            <a:r>
              <a:rPr lang="ro-RO" dirty="0"/>
              <a:t>cu 2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79023F-C187-4289-9EA6-FBD44CA072AB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fără refacerea restului </a:t>
            </a:r>
            <a:r>
              <a:rPr lang="ro-RO" dirty="0" smtClean="0"/>
              <a:t>parțial </a:t>
            </a:r>
            <a:r>
              <a:rPr lang="ro-RO" dirty="0"/>
              <a:t>(2)</a:t>
            </a:r>
          </a:p>
        </p:txBody>
      </p:sp>
      <p:sp>
        <p:nvSpPr>
          <p:cNvPr id="183348" name="Rectangle 52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8998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 smtClean="0"/>
              <a:t>Împărțirea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cu refacerea restului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parțial</a:t>
            </a:r>
            <a:r>
              <a:rPr lang="ro-RO" dirty="0"/>
              <a:t>:</a:t>
            </a:r>
          </a:p>
          <a:p>
            <a:pPr lvl="1">
              <a:lnSpc>
                <a:spcPct val="90000"/>
              </a:lnSpc>
            </a:pPr>
            <a:r>
              <a:rPr lang="ro-RO" i="1" dirty="0"/>
              <a:t>R</a:t>
            </a:r>
            <a:r>
              <a:rPr lang="ro-RO" dirty="0"/>
              <a:t> </a:t>
            </a:r>
            <a:r>
              <a:rPr lang="ro-RO" dirty="0">
                <a:sym typeface="Symbol" pitchFamily="18" charset="2"/>
              </a:rPr>
              <a:t> </a:t>
            </a:r>
            <a:r>
              <a:rPr lang="ro-RO" i="1" dirty="0" err="1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– </a:t>
            </a:r>
            <a:r>
              <a:rPr lang="ro-RO" i="1" dirty="0">
                <a:sym typeface="Symbol" pitchFamily="18" charset="2"/>
              </a:rPr>
              <a:t>Y</a:t>
            </a:r>
          </a:p>
          <a:p>
            <a:pPr lvl="1">
              <a:lnSpc>
                <a:spcPct val="90000"/>
              </a:lnSpc>
            </a:pP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 </a:t>
            </a:r>
            <a:r>
              <a:rPr lang="ro-RO" i="1" dirty="0" err="1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– </a:t>
            </a:r>
            <a:r>
              <a:rPr lang="ro-RO" i="1" dirty="0">
                <a:sym typeface="Symbol" pitchFamily="18" charset="2"/>
              </a:rPr>
              <a:t>Y</a:t>
            </a:r>
            <a:r>
              <a:rPr lang="ro-RO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+ </a:t>
            </a:r>
            <a:r>
              <a:rPr lang="ro-RO" i="1" dirty="0">
                <a:sym typeface="Symbol" pitchFamily="18" charset="2"/>
              </a:rPr>
              <a:t>Y</a:t>
            </a:r>
          </a:p>
          <a:p>
            <a:pPr lvl="1">
              <a:lnSpc>
                <a:spcPct val="90000"/>
              </a:lnSpc>
            </a:pP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 2</a:t>
            </a:r>
            <a:r>
              <a:rPr lang="ro-RO" b="1" dirty="0">
                <a:sym typeface="Symbol" pitchFamily="18" charset="2"/>
              </a:rPr>
              <a:t></a:t>
            </a:r>
            <a:r>
              <a:rPr lang="ro-RO" i="1" dirty="0">
                <a:sym typeface="Symbol" pitchFamily="18" charset="2"/>
              </a:rPr>
              <a:t>R</a:t>
            </a:r>
          </a:p>
          <a:p>
            <a:pPr lvl="1">
              <a:lnSpc>
                <a:spcPct val="90000"/>
              </a:lnSpc>
            </a:pP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 2</a:t>
            </a:r>
            <a:r>
              <a:rPr lang="ro-RO" b="1" dirty="0">
                <a:sym typeface="Symbol" pitchFamily="18" charset="2"/>
              </a:rPr>
              <a:t></a:t>
            </a: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– </a:t>
            </a:r>
            <a:r>
              <a:rPr lang="ro-RO" i="1" dirty="0">
                <a:sym typeface="Symbol" pitchFamily="18" charset="2"/>
              </a:rPr>
              <a:t>Y</a:t>
            </a:r>
            <a:endParaRPr lang="ro-RO" i="1" dirty="0"/>
          </a:p>
          <a:p>
            <a:pPr>
              <a:lnSpc>
                <a:spcPct val="90000"/>
              </a:lnSpc>
            </a:pPr>
            <a:r>
              <a:rPr lang="ro-RO" dirty="0" smtClean="0"/>
              <a:t>Împărțirea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fără refacerea restului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parțial</a:t>
            </a:r>
            <a:r>
              <a:rPr lang="ro-RO" dirty="0"/>
              <a:t>:</a:t>
            </a:r>
          </a:p>
          <a:p>
            <a:pPr lvl="1">
              <a:lnSpc>
                <a:spcPct val="90000"/>
              </a:lnSpc>
            </a:pPr>
            <a:r>
              <a:rPr lang="ro-RO" i="1" dirty="0"/>
              <a:t>R</a:t>
            </a:r>
            <a:r>
              <a:rPr lang="ro-RO" dirty="0"/>
              <a:t> </a:t>
            </a:r>
            <a:r>
              <a:rPr lang="ro-RO" dirty="0">
                <a:sym typeface="Symbol" pitchFamily="18" charset="2"/>
              </a:rPr>
              <a:t> </a:t>
            </a:r>
            <a:r>
              <a:rPr lang="ro-RO" i="1" dirty="0" err="1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– </a:t>
            </a:r>
            <a:r>
              <a:rPr lang="ro-RO" i="1" dirty="0">
                <a:sym typeface="Symbol" pitchFamily="18" charset="2"/>
              </a:rPr>
              <a:t>Y</a:t>
            </a:r>
          </a:p>
          <a:p>
            <a:pPr lvl="1">
              <a:lnSpc>
                <a:spcPct val="90000"/>
              </a:lnSpc>
            </a:pP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 2</a:t>
            </a:r>
            <a:r>
              <a:rPr lang="ro-RO" b="1" dirty="0">
                <a:sym typeface="Symbol" pitchFamily="18" charset="2"/>
              </a:rPr>
              <a:t></a:t>
            </a: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– 2</a:t>
            </a:r>
            <a:r>
              <a:rPr lang="ro-RO" b="1" dirty="0">
                <a:sym typeface="Symbol" pitchFamily="18" charset="2"/>
              </a:rPr>
              <a:t></a:t>
            </a:r>
            <a:r>
              <a:rPr lang="ro-RO" i="1" dirty="0">
                <a:sym typeface="Symbol" pitchFamily="18" charset="2"/>
              </a:rPr>
              <a:t>Y</a:t>
            </a:r>
          </a:p>
          <a:p>
            <a:pPr lvl="1">
              <a:lnSpc>
                <a:spcPct val="90000"/>
              </a:lnSpc>
            </a:pP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 2</a:t>
            </a:r>
            <a:r>
              <a:rPr lang="ro-RO" b="1" dirty="0">
                <a:sym typeface="Symbol" pitchFamily="18" charset="2"/>
              </a:rPr>
              <a:t></a:t>
            </a:r>
            <a:r>
              <a:rPr lang="ro-RO" i="1" dirty="0">
                <a:sym typeface="Symbol" pitchFamily="18" charset="2"/>
              </a:rPr>
              <a:t>R</a:t>
            </a:r>
            <a:r>
              <a:rPr lang="ro-RO" dirty="0">
                <a:sym typeface="Symbol" pitchFamily="18" charset="2"/>
              </a:rPr>
              <a:t> – 2</a:t>
            </a:r>
            <a:r>
              <a:rPr lang="ro-RO" b="1" dirty="0">
                <a:sym typeface="Symbol" pitchFamily="18" charset="2"/>
              </a:rPr>
              <a:t></a:t>
            </a:r>
            <a:r>
              <a:rPr lang="ro-RO" i="1" dirty="0">
                <a:sym typeface="Symbol" pitchFamily="18" charset="2"/>
              </a:rPr>
              <a:t>Y</a:t>
            </a:r>
            <a:r>
              <a:rPr lang="ro-RO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+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i="1" dirty="0">
                <a:sym typeface="Symbol" pitchFamily="18" charset="2"/>
              </a:rPr>
              <a:t>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00BAD8-33CF-4502-9F58-33A4D79F795F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05603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Împărțirea </a:t>
            </a:r>
            <a:r>
              <a:rPr lang="ro-RO" dirty="0"/>
              <a:t>fără refacerea restului </a:t>
            </a:r>
            <a:r>
              <a:rPr lang="ro-RO" dirty="0" smtClean="0"/>
              <a:t>parțial </a:t>
            </a:r>
            <a:r>
              <a:rPr lang="ro-RO" dirty="0"/>
              <a:t>(3)</a:t>
            </a:r>
            <a:endParaRPr lang="en-US" dirty="0"/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352928" cy="4752528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Algoritmul </a:t>
            </a:r>
            <a:r>
              <a:rPr lang="ro-RO" dirty="0"/>
              <a:t>fără refacerea restului </a:t>
            </a:r>
            <a:r>
              <a:rPr lang="ro-RO" dirty="0" smtClean="0"/>
              <a:t>parțial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Se deplasează registrele </a:t>
            </a:r>
            <a:r>
              <a:rPr lang="ro-RO" i="1" dirty="0"/>
              <a:t>A_Q</a:t>
            </a:r>
            <a:r>
              <a:rPr lang="ro-RO" dirty="0"/>
              <a:t> la stânga</a:t>
            </a:r>
          </a:p>
          <a:p>
            <a:pPr lvl="1"/>
            <a:r>
              <a:rPr lang="ro-RO" dirty="0"/>
              <a:t>Dacă în pasul precedent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restul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parțial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fost pozitiv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 scade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împărțitorul </a:t>
            </a:r>
            <a:r>
              <a:rPr lang="ro-RO" dirty="0"/>
              <a:t>din restul </a:t>
            </a:r>
            <a:r>
              <a:rPr lang="ro-RO" dirty="0" smtClean="0"/>
              <a:t>parțial</a:t>
            </a:r>
            <a:endParaRPr lang="ro-RO" dirty="0"/>
          </a:p>
          <a:p>
            <a:pPr lvl="1"/>
            <a:r>
              <a:rPr lang="ro-RO" dirty="0"/>
              <a:t>Dacă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restul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parțial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fost negativ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 adună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împărțitorul</a:t>
            </a:r>
            <a:r>
              <a:rPr lang="ro-RO" dirty="0" smtClean="0"/>
              <a:t> </a:t>
            </a:r>
            <a:r>
              <a:rPr lang="ro-RO" dirty="0"/>
              <a:t>la restul </a:t>
            </a:r>
            <a:r>
              <a:rPr lang="ro-RO" dirty="0" smtClean="0"/>
              <a:t>parțial</a:t>
            </a:r>
            <a:endParaRPr lang="ro-RO" dirty="0"/>
          </a:p>
          <a:p>
            <a:pPr lvl="1"/>
            <a:r>
              <a:rPr lang="ro-RO" dirty="0"/>
              <a:t>După ultimul pas, dacă restul </a:t>
            </a:r>
            <a:r>
              <a:rPr lang="ro-RO" dirty="0" smtClean="0"/>
              <a:t>parțial </a:t>
            </a:r>
            <a:r>
              <a:rPr lang="ro-RO" dirty="0"/>
              <a:t>este negativ, restul trebuie refăcut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18CD7-360A-401C-A73D-0B3ECCE4487E}" type="slidenum">
              <a:rPr lang="ro-RO"/>
              <a:pPr/>
              <a:t>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9"/>
            <a:ext cx="8382000" cy="1065924"/>
          </a:xfrm>
        </p:spPr>
        <p:txBody>
          <a:bodyPr/>
          <a:lstStyle/>
          <a:p>
            <a:r>
              <a:rPr lang="ro-RO" sz="4300" dirty="0"/>
              <a:t>Împărțirea fără refacerea restului parțial </a:t>
            </a:r>
            <a:r>
              <a:rPr lang="ro-RO" sz="4300" dirty="0" smtClean="0"/>
              <a:t>(4)</a:t>
            </a:r>
            <a:endParaRPr lang="en-US" sz="43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599" y="1369328"/>
            <a:ext cx="2849907" cy="4913807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11552"/>
            <a:ext cx="4191000" cy="4173450"/>
          </a:xfrm>
        </p:spPr>
        <p:txBody>
          <a:bodyPr/>
          <a:lstStyle/>
          <a:p>
            <a:pPr lvl="1"/>
            <a:endParaRPr lang="ro-RO" dirty="0" smtClean="0"/>
          </a:p>
          <a:p>
            <a:pPr lvl="1"/>
            <a:r>
              <a:rPr lang="ro-RO" dirty="0" smtClean="0"/>
              <a:t>Se utilizează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bistabil suplimentar BS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BS</a:t>
            </a:r>
            <a:r>
              <a:rPr lang="ro-RO" dirty="0" smtClean="0"/>
              <a:t> indică operația care trebuie efectuată: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BS</a:t>
            </a:r>
            <a:r>
              <a:rPr lang="ro-RO" dirty="0" smtClean="0"/>
              <a:t> = 0: scădere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BS</a:t>
            </a:r>
            <a:r>
              <a:rPr lang="ro-RO" dirty="0" smtClean="0"/>
              <a:t> = 1: adunare</a:t>
            </a:r>
            <a:endParaRPr lang="ro-RO" dirty="0"/>
          </a:p>
          <a:p>
            <a:pPr lvl="1"/>
            <a:r>
              <a:rPr lang="ro-RO" dirty="0" smtClean="0"/>
              <a:t>În prima etapă se efectuează o scădere </a:t>
            </a:r>
            <a:r>
              <a:rPr lang="ro-RO" dirty="0" smtClean="0">
                <a:sym typeface="Symbol" panose="05050102010706020507" pitchFamily="18" charset="2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BS</a:t>
            </a:r>
            <a:r>
              <a:rPr lang="ro-RO" dirty="0" smtClean="0"/>
              <a:t> este inițializat cu 0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479339-A27A-4F0D-AAFE-9E1FA03CCBB4}" type="slidenum">
              <a:rPr lang="ro-RO" smtClean="0"/>
              <a:pPr/>
              <a:t>19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6351928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063649"/>
          </a:xfrm>
        </p:spPr>
        <p:txBody>
          <a:bodyPr/>
          <a:lstStyle/>
          <a:p>
            <a:r>
              <a:rPr lang="ro-RO" sz="4300" dirty="0"/>
              <a:t>Împărțirea fără refacerea restului parțial </a:t>
            </a:r>
            <a:r>
              <a:rPr lang="ro-RO" sz="4300" dirty="0" smtClean="0"/>
              <a:t>(5)</a:t>
            </a:r>
            <a:endParaRPr lang="en-US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33604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2.4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= </a:t>
            </a:r>
            <a:r>
              <a:rPr lang="ro-RO" dirty="0" smtClean="0"/>
              <a:t>14,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= </a:t>
            </a:r>
            <a:r>
              <a:rPr lang="ro-RO" dirty="0" smtClean="0"/>
              <a:t>3</a:t>
            </a:r>
            <a:endParaRPr lang="ro-RO" dirty="0"/>
          </a:p>
          <a:p>
            <a:pPr lvl="1"/>
            <a:r>
              <a:rPr lang="ro-RO" dirty="0"/>
              <a:t>Împărțirea utilizând </a:t>
            </a:r>
            <a:r>
              <a:rPr lang="ro-RO" dirty="0" smtClean="0"/>
              <a:t>metoda fără refacerea restului parțial </a:t>
            </a:r>
            <a:endParaRPr lang="ro-RO" dirty="0"/>
          </a:p>
          <a:p>
            <a:pPr lvl="1"/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= </a:t>
            </a:r>
            <a:r>
              <a:rPr lang="ro-RO" dirty="0" smtClean="0"/>
              <a:t>14 </a:t>
            </a:r>
            <a:r>
              <a:rPr lang="ro-RO" dirty="0"/>
              <a:t>= </a:t>
            </a:r>
            <a:r>
              <a:rPr lang="ro-RO" dirty="0" smtClean="0"/>
              <a:t>1110</a:t>
            </a:r>
            <a:r>
              <a:rPr lang="ro-RO" baseline="-25000" dirty="0" smtClean="0"/>
              <a:t>2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= </a:t>
            </a:r>
            <a:r>
              <a:rPr lang="ro-RO" dirty="0" smtClean="0"/>
              <a:t>3 </a:t>
            </a:r>
            <a:r>
              <a:rPr lang="ro-RO" dirty="0"/>
              <a:t>= </a:t>
            </a:r>
            <a:r>
              <a:rPr lang="ro-RO" dirty="0" smtClean="0"/>
              <a:t>0011</a:t>
            </a:r>
            <a:r>
              <a:rPr lang="ro-RO" baseline="-25000" dirty="0" smtClean="0"/>
              <a:t>2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>
                <a:sym typeface="Symbol" panose="05050102010706020507" pitchFamily="18" charset="2"/>
              </a:rPr>
              <a:t>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Y</a:t>
            </a:r>
            <a:r>
              <a:rPr lang="ro-RO" dirty="0">
                <a:sym typeface="Symbol" panose="05050102010706020507" pitchFamily="18" charset="2"/>
              </a:rPr>
              <a:t> = </a:t>
            </a:r>
            <a:r>
              <a:rPr lang="ro-RO" dirty="0" smtClean="0">
                <a:sym typeface="Symbol" panose="05050102010706020507" pitchFamily="18" charset="2"/>
              </a:rPr>
              <a:t>3 </a:t>
            </a:r>
            <a:r>
              <a:rPr lang="ro-RO" dirty="0">
                <a:sym typeface="Symbol" panose="05050102010706020507" pitchFamily="18" charset="2"/>
              </a:rPr>
              <a:t>= </a:t>
            </a:r>
            <a:r>
              <a:rPr lang="ro-RO" dirty="0" smtClean="0">
                <a:sym typeface="Symbol" panose="05050102010706020507" pitchFamily="18" charset="2"/>
              </a:rPr>
              <a:t>0011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  <a:r>
              <a:rPr lang="ro-RO" dirty="0" smtClean="0">
                <a:sym typeface="Symbol" panose="05050102010706020507" pitchFamily="18" charset="2"/>
              </a:rPr>
              <a:t> </a:t>
            </a:r>
            <a:r>
              <a:rPr lang="ro-RO" dirty="0">
                <a:sym typeface="Symbol" panose="05050102010706020507" pitchFamily="18" charset="2"/>
              </a:rPr>
              <a:t>= 1 </a:t>
            </a:r>
            <a:r>
              <a:rPr lang="ro-RO" dirty="0" smtClean="0">
                <a:sym typeface="Symbol" panose="05050102010706020507" pitchFamily="18" charset="2"/>
              </a:rPr>
              <a:t>1101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  <a:endParaRPr lang="ro-RO" baseline="-25000" dirty="0">
              <a:sym typeface="Symbol" panose="05050102010706020507" pitchFamily="18" charset="2"/>
            </a:endParaRPr>
          </a:p>
          <a:p>
            <a:pPr lvl="1"/>
            <a:r>
              <a:rPr lang="ro-RO" dirty="0"/>
              <a:t>Rest: </a:t>
            </a:r>
            <a:r>
              <a:rPr lang="ro-RO" dirty="0" smtClean="0"/>
              <a:t>0 0010</a:t>
            </a:r>
            <a:r>
              <a:rPr lang="ro-RO" baseline="-25000" dirty="0" smtClean="0"/>
              <a:t>2</a:t>
            </a:r>
            <a:r>
              <a:rPr lang="ro-RO" dirty="0" smtClean="0"/>
              <a:t> (2); </a:t>
            </a:r>
            <a:r>
              <a:rPr lang="ro-RO" dirty="0"/>
              <a:t>Cât: </a:t>
            </a:r>
            <a:r>
              <a:rPr lang="ro-RO" dirty="0" smtClean="0"/>
              <a:t>0100</a:t>
            </a:r>
            <a:r>
              <a:rPr lang="ro-RO" baseline="-25000" dirty="0" smtClean="0"/>
              <a:t>2</a:t>
            </a:r>
            <a:r>
              <a:rPr lang="ro-RO" dirty="0" smtClean="0"/>
              <a:t> (4)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77F35C-8243-44AB-8330-6EA8201D35F5}" type="slidenum">
              <a:rPr lang="ro-RO" smtClean="0"/>
              <a:pPr/>
              <a:t>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1672480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191095"/>
          </a:xfrm>
        </p:spPr>
        <p:txBody>
          <a:bodyPr/>
          <a:lstStyle/>
          <a:p>
            <a:r>
              <a:rPr lang="ro-RO" sz="4300" dirty="0"/>
              <a:t>Împărțirea fără refacerea restului parțial </a:t>
            </a:r>
            <a:r>
              <a:rPr lang="ro-RO" sz="4300" dirty="0" smtClean="0"/>
              <a:t>(6)</a:t>
            </a:r>
            <a:endParaRPr lang="en-US" sz="43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575263"/>
              </p:ext>
            </p:extLst>
          </p:nvPr>
        </p:nvGraphicFramePr>
        <p:xfrm>
          <a:off x="1795872" y="1628800"/>
          <a:ext cx="5544615" cy="4577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68679"/>
                <a:gridCol w="995187"/>
                <a:gridCol w="853018"/>
                <a:gridCol w="863300"/>
                <a:gridCol w="504056"/>
                <a:gridCol w="1760375"/>
              </a:tblGrid>
              <a:tr h="339826"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Pas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A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Q (X)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B (Y)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BS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Operații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6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0 0000</a:t>
                      </a:r>
                      <a:endParaRPr lang="en-US" sz="36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1110</a:t>
                      </a:r>
                      <a:endParaRPr lang="en-US" sz="36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US" sz="36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Inițializare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0001 +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1 1101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1110 +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1100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r>
                        <a:rPr lang="en-US" sz="1800" b="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o-RO" dirty="0" smtClean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o-RO" dirty="0" smtClean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ro-RO" dirty="0" err="1" smtClean="0">
                          <a:solidFill>
                            <a:srgbClr val="0070C0"/>
                          </a:solidFill>
                        </a:rPr>
                        <a:t>shl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 (A_Q)</a:t>
                      </a:r>
                    </a:p>
                    <a:p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A 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 A – B</a:t>
                      </a:r>
                    </a:p>
                    <a:p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r>
                        <a:rPr lang="ro-RO" baseline="-25000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0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  0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1101 +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0000 +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o-RO" dirty="0" err="1" smtClean="0">
                          <a:solidFill>
                            <a:srgbClr val="0070C0"/>
                          </a:solidFill>
                        </a:rPr>
                        <a:t>shl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 (A_Q)</a:t>
                      </a:r>
                    </a:p>
                    <a:p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A 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 A + B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r>
                        <a:rPr lang="ro-RO" baseline="-25000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0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  1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</a:txBody>
                  <a:tcPr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0001 +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1 1101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1 1110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o-RO" dirty="0" err="1" smtClean="0">
                          <a:solidFill>
                            <a:srgbClr val="0070C0"/>
                          </a:solidFill>
                        </a:rPr>
                        <a:t>shl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 (A_Q)</a:t>
                      </a:r>
                    </a:p>
                    <a:p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A 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 A – B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r>
                        <a:rPr lang="ro-RO" baseline="-25000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0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  0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</a:txBody>
                  <a:tcPr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1100 +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1111 +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o-RO" dirty="0" err="1" smtClean="0">
                          <a:solidFill>
                            <a:srgbClr val="0070C0"/>
                          </a:solidFill>
                        </a:rPr>
                        <a:t>shl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 (A_Q)</a:t>
                      </a:r>
                    </a:p>
                    <a:p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A 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 A + B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r>
                        <a:rPr lang="ro-RO" baseline="-25000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0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  0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</a:txBody>
                  <a:tcPr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sng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0 0010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0100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US" sz="1800" b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>
                          <a:solidFill>
                            <a:srgbClr val="0070C0"/>
                          </a:solidFill>
                        </a:rPr>
                        <a:t>A </a:t>
                      </a:r>
                      <a:r>
                        <a:rPr lang="ro-RO" dirty="0" smtClean="0">
                          <a:solidFill>
                            <a:srgbClr val="0070C0"/>
                          </a:solidFill>
                          <a:sym typeface="Symbol" panose="05050102010706020507" pitchFamily="18" charset="2"/>
                        </a:rPr>
                        <a:t> A + B</a:t>
                      </a:r>
                      <a:endParaRPr lang="en-US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 marT="0" marB="0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77F35C-8243-44AB-8330-6EA8201D35F5}" type="slidenum">
              <a:rPr lang="ro-RO" smtClean="0"/>
              <a:pPr/>
              <a:t>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0530039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1"/>
            <a:ext cx="8511480" cy="5040560"/>
          </a:xfrm>
        </p:spPr>
        <p:txBody>
          <a:bodyPr>
            <a:normAutofit/>
          </a:bodyPr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Împărțirea cu refacerea restului parțial</a:t>
            </a:r>
          </a:p>
          <a:p>
            <a:pPr lvl="1"/>
            <a:r>
              <a:rPr lang="ro-RO" sz="2900" dirty="0" smtClean="0"/>
              <a:t>În fiecare etapă, se efectuează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deplasarea la stânga</a:t>
            </a:r>
            <a:r>
              <a:rPr lang="ro-RO" sz="2900" dirty="0" smtClean="0"/>
              <a:t> a restului parțial și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scăderea</a:t>
            </a:r>
            <a:r>
              <a:rPr lang="ro-RO" sz="2900" dirty="0" smtClean="0"/>
              <a:t> împărțitorului din restul parțial</a:t>
            </a:r>
          </a:p>
          <a:p>
            <a:pPr lvl="1"/>
            <a:r>
              <a:rPr lang="ro-RO" sz="2900" dirty="0" smtClean="0"/>
              <a:t>Dacă se obține un rezultat negativ, restul parțial trebuie refăcut</a:t>
            </a:r>
          </a:p>
          <a:p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Împărțirea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fără refacerea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restului parțial</a:t>
            </a:r>
          </a:p>
          <a:p>
            <a:pPr lvl="1"/>
            <a:r>
              <a:rPr lang="ro-RO" sz="2900" dirty="0" smtClean="0"/>
              <a:t>După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deplasarea la stânga </a:t>
            </a:r>
            <a:r>
              <a:rPr lang="ro-RO" sz="2900" dirty="0" smtClean="0"/>
              <a:t>a restului parțial, operația depinde de rezultatul din pasul precedent</a:t>
            </a:r>
          </a:p>
          <a:p>
            <a:pPr lvl="1"/>
            <a:r>
              <a:rPr lang="ro-RO" sz="2900" dirty="0" smtClean="0"/>
              <a:t>Restul parțial a fost pozitiv: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scădere</a:t>
            </a:r>
          </a:p>
          <a:p>
            <a:pPr lvl="1"/>
            <a:r>
              <a:rPr lang="ro-RO" sz="2900" dirty="0" smtClean="0"/>
              <a:t>Restul parțial a fost negativ: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adunare</a:t>
            </a:r>
            <a:endParaRPr lang="en-US" sz="2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77F35C-8243-44AB-8330-6EA8201D35F5}" type="slidenum">
              <a:rPr lang="ro-RO" smtClean="0"/>
              <a:pPr/>
              <a:t>22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5077064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28799"/>
            <a:ext cx="8382000" cy="3841052"/>
          </a:xfrm>
        </p:spPr>
        <p:txBody>
          <a:bodyPr/>
          <a:lstStyle/>
          <a:p>
            <a:pPr marL="576000" lvl="1"/>
            <a:r>
              <a:rPr lang="ro-RO" dirty="0" smtClean="0"/>
              <a:t>Versiunea finală a circuitului de împărțire cu refacerea restului parțial</a:t>
            </a:r>
          </a:p>
          <a:p>
            <a:pPr marL="576000" lvl="1"/>
            <a:r>
              <a:rPr lang="ro-RO" dirty="0"/>
              <a:t>Versiunea finală a algoritmului </a:t>
            </a:r>
            <a:r>
              <a:rPr lang="ro-RO" dirty="0" smtClean="0"/>
              <a:t>de împărțire cu refacerea restului parțial</a:t>
            </a:r>
          </a:p>
          <a:p>
            <a:pPr marL="576000" lvl="1"/>
            <a:r>
              <a:rPr lang="ro-RO" dirty="0" smtClean="0"/>
              <a:t>Principiul metodei de împărțire fără refacerea restului parțial</a:t>
            </a:r>
          </a:p>
          <a:p>
            <a:pPr marL="576000" lvl="1"/>
            <a:r>
              <a:rPr lang="ro-RO" dirty="0" smtClean="0"/>
              <a:t>Algoritmul de </a:t>
            </a:r>
            <a:r>
              <a:rPr lang="ro-RO" dirty="0"/>
              <a:t>împărțire fără refacerea restului parțial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77F35C-8243-44AB-8330-6EA8201D35F5}" type="slidenum">
              <a:rPr lang="ro-RO" smtClean="0"/>
              <a:pPr/>
              <a:t>23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518015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2815</TotalTime>
  <Words>1229</Words>
  <Application>Microsoft Office PowerPoint</Application>
  <PresentationFormat>On-screen Show (4:3)</PresentationFormat>
  <Paragraphs>397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Symbol</vt:lpstr>
      <vt:lpstr>Tahoma</vt:lpstr>
      <vt:lpstr>Times New Roman</vt:lpstr>
      <vt:lpstr>Wingdings</vt:lpstr>
      <vt:lpstr>Dark Blue Swoosh-modified</vt:lpstr>
      <vt:lpstr>Dark Blue Swoosh-modif</vt:lpstr>
      <vt:lpstr>2. Unitatea aritmetică și logică</vt:lpstr>
      <vt:lpstr>Împărțirea</vt:lpstr>
      <vt:lpstr>Împărțirea (1)</vt:lpstr>
      <vt:lpstr>Împărțirea (2)</vt:lpstr>
      <vt:lpstr>Împărțirea (3)</vt:lpstr>
      <vt:lpstr>Împărțirea</vt:lpstr>
      <vt:lpstr>Împărțirea cu refacerea restului parțial (1)</vt:lpstr>
      <vt:lpstr>Împărțirea cu refacerea restului parțial (2)</vt:lpstr>
      <vt:lpstr>Împărțirea cu refacerea restului parțial (3)</vt:lpstr>
      <vt:lpstr>Împărțirea cu refacerea restului parțial (4)</vt:lpstr>
      <vt:lpstr>Împărțirea cu refacerea restului parțial (5)</vt:lpstr>
      <vt:lpstr>Împărțirea cu refacerea restului parțial (6)</vt:lpstr>
      <vt:lpstr>Împărțirea cu refacerea restului parțial (7)</vt:lpstr>
      <vt:lpstr>Împărțirea cu refacerea restului parțial (8)</vt:lpstr>
      <vt:lpstr>Împărțirea</vt:lpstr>
      <vt:lpstr>Împărțirea fără refacerea restului parțial (1)</vt:lpstr>
      <vt:lpstr>Împărțirea fără refacerea restului parțial (2)</vt:lpstr>
      <vt:lpstr>Împărțirea fără refacerea restului parțial (3)</vt:lpstr>
      <vt:lpstr>Împărțirea fără refacerea restului parțial (4)</vt:lpstr>
      <vt:lpstr>Împărțirea fără refacerea restului parțial (5)</vt:lpstr>
      <vt:lpstr>Împărțirea fără refacerea restului parțial (6)</vt:lpstr>
      <vt:lpstr>Rezumat</vt:lpstr>
      <vt:lpstr>Noțiuni, cunoștințe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SSC-Impartire</dc:title>
  <dc:creator>Baruch Zoltan</dc:creator>
  <cp:lastModifiedBy>Baruch Zoltan</cp:lastModifiedBy>
  <cp:revision>200</cp:revision>
  <cp:lastPrinted>1601-01-01T00:00:00Z</cp:lastPrinted>
  <dcterms:created xsi:type="dcterms:W3CDTF">2002-05-22T18:25:20Z</dcterms:created>
  <dcterms:modified xsi:type="dcterms:W3CDTF">2018-03-18T09:32:11Z</dcterms:modified>
</cp:coreProperties>
</file>