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8" r:id="rId1"/>
    <p:sldMasterId id="2147483689" r:id="rId2"/>
    <p:sldMasterId id="2147483702" r:id="rId3"/>
  </p:sldMasterIdLst>
  <p:notesMasterIdLst>
    <p:notesMasterId r:id="rId63"/>
  </p:notesMasterIdLst>
  <p:handoutMasterIdLst>
    <p:handoutMasterId r:id="rId64"/>
  </p:handoutMasterIdLst>
  <p:sldIdLst>
    <p:sldId id="349" r:id="rId4"/>
    <p:sldId id="366" r:id="rId5"/>
    <p:sldId id="285" r:id="rId6"/>
    <p:sldId id="369" r:id="rId7"/>
    <p:sldId id="367" r:id="rId8"/>
    <p:sldId id="368" r:id="rId9"/>
    <p:sldId id="370" r:id="rId10"/>
    <p:sldId id="371" r:id="rId11"/>
    <p:sldId id="372" r:id="rId12"/>
    <p:sldId id="373" r:id="rId13"/>
    <p:sldId id="374" r:id="rId14"/>
    <p:sldId id="375" r:id="rId15"/>
    <p:sldId id="376" r:id="rId16"/>
    <p:sldId id="377" r:id="rId17"/>
    <p:sldId id="378" r:id="rId18"/>
    <p:sldId id="379" r:id="rId19"/>
    <p:sldId id="380" r:id="rId20"/>
    <p:sldId id="381" r:id="rId21"/>
    <p:sldId id="382" r:id="rId22"/>
    <p:sldId id="384" r:id="rId23"/>
    <p:sldId id="383" r:id="rId24"/>
    <p:sldId id="385" r:id="rId25"/>
    <p:sldId id="386" r:id="rId26"/>
    <p:sldId id="387" r:id="rId27"/>
    <p:sldId id="388" r:id="rId28"/>
    <p:sldId id="389" r:id="rId29"/>
    <p:sldId id="390" r:id="rId30"/>
    <p:sldId id="411" r:id="rId31"/>
    <p:sldId id="412" r:id="rId32"/>
    <p:sldId id="413" r:id="rId33"/>
    <p:sldId id="414" r:id="rId34"/>
    <p:sldId id="415" r:id="rId35"/>
    <p:sldId id="416" r:id="rId36"/>
    <p:sldId id="417" r:id="rId37"/>
    <p:sldId id="436" r:id="rId38"/>
    <p:sldId id="437" r:id="rId39"/>
    <p:sldId id="418" r:id="rId40"/>
    <p:sldId id="419" r:id="rId41"/>
    <p:sldId id="420" r:id="rId42"/>
    <p:sldId id="438" r:id="rId43"/>
    <p:sldId id="421" r:id="rId44"/>
    <p:sldId id="422" r:id="rId45"/>
    <p:sldId id="423" r:id="rId46"/>
    <p:sldId id="424" r:id="rId47"/>
    <p:sldId id="425" r:id="rId48"/>
    <p:sldId id="426" r:id="rId49"/>
    <p:sldId id="432" r:id="rId50"/>
    <p:sldId id="433" r:id="rId51"/>
    <p:sldId id="434" r:id="rId52"/>
    <p:sldId id="435" r:id="rId53"/>
    <p:sldId id="391" r:id="rId54"/>
    <p:sldId id="392" r:id="rId55"/>
    <p:sldId id="427" r:id="rId56"/>
    <p:sldId id="394" r:id="rId57"/>
    <p:sldId id="428" r:id="rId58"/>
    <p:sldId id="429" r:id="rId59"/>
    <p:sldId id="430" r:id="rId60"/>
    <p:sldId id="431" r:id="rId61"/>
    <p:sldId id="406" r:id="rId62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5215" autoAdjust="0"/>
  </p:normalViewPr>
  <p:slideViewPr>
    <p:cSldViewPr>
      <p:cViewPr varScale="1">
        <p:scale>
          <a:sx n="143" d="100"/>
          <a:sy n="143" d="100"/>
        </p:scale>
        <p:origin x="328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slide" Target="slides/slide36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notesMaster" Target="notesMasters/notesMaster1.xml"/><Relationship Id="rId68" Type="http://schemas.openxmlformats.org/officeDocument/2006/relationships/tableStyles" Target="tableStyle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66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61" Type="http://schemas.openxmlformats.org/officeDocument/2006/relationships/slide" Target="slides/slide58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67" Type="http://schemas.openxmlformats.org/officeDocument/2006/relationships/theme" Target="theme/theme1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slide" Target="slides/slide5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2B903166-CC5A-4C39-AD7A-A7308E8543A6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58000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DFCB5DCB-4F1C-4D5F-96B4-C594C350D7AA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708889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86727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614730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0286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861448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43587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625840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444205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96184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0774727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97754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887609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709630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259738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84023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006646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066987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91797065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7281638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278125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10581480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850987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8363992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4950069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2902529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2552297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3751173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15950692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505941508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689355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0817457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8116120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28299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29313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29128039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34570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10451962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21318398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82953028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429459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 smtClean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403536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516149694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33133587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0698616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58977219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3099314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17030397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811669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5000771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49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637812190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en-US" sz="1200" kern="1200" dirty="0">
              <a:solidFill>
                <a:schemeClr val="tx1"/>
              </a:solidFill>
              <a:effectLst/>
              <a:latin typeface="Arial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44378529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81568037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0524661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574604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78495238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19105129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3904244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9540612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492073722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CB5DCB-4F1C-4D5F-96B4-C594C350D7AA}" type="slidenum">
              <a:rPr lang="ro-RO" smtClean="0"/>
              <a:pPr/>
              <a:t>59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929560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A63AC408-1B0E-4840-B17F-FE79CE7B545F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849572B3-FF6B-4953-9EBB-EE6BF2211D45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E6BA2-6FEE-4CEE-918C-B59C9FFA1653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45BD2E-0E0A-4C11-9AEC-B38B25F6828C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B79CA5-5E57-4F7B-AFBB-9F8ED52ACF6E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6E9AD5-D5A7-41A1-A602-B70795CEF871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3AC408-1B0E-4840-B17F-FE79CE7B545F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A63AC408-1B0E-4840-B17F-FE79CE7B545F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849572B3-FF6B-4953-9EBB-EE6BF2211D45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E6BA2-6FEE-4CEE-918C-B59C9FFA1653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45BD2E-0E0A-4C11-9AEC-B38B25F6828C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B79CA5-5E57-4F7B-AFBB-9F8ED52ACF6E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6E9AD5-D5A7-41A1-A602-B70795CEF871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63AC408-1B0E-4840-B17F-FE79CE7B545F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1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8862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 smtClean="0"/>
              <a:t>Structura sistemelor de calcul (03-3)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A63AC408-1B0E-4840-B17F-FE79CE7B545F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897768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897767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897767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4134445"/>
          </a:xfrm>
        </p:spPr>
        <p:txBody>
          <a:bodyPr/>
          <a:lstStyle>
            <a:lvl1pPr marL="281770" indent="-281770">
              <a:defRPr sz="2800"/>
            </a:lvl1pPr>
            <a:lvl2pPr marL="562218" indent="-265896">
              <a:defRPr sz="24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4134445"/>
          </a:xfrm>
        </p:spPr>
        <p:txBody>
          <a:bodyPr/>
          <a:lstStyle>
            <a:lvl1pPr marL="296321" indent="-296321">
              <a:defRPr sz="2800"/>
            </a:lvl1pPr>
            <a:lvl2pPr marL="570155" indent="-273833">
              <a:defRPr sz="24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86200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17.04.2018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(03-3)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9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24.xml"/><Relationship Id="rId7" Type="http://schemas.openxmlformats.org/officeDocument/2006/relationships/slideLayout" Target="../slideLayouts/slideLayout28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11" Type="http://schemas.openxmlformats.org/officeDocument/2006/relationships/slideLayout" Target="../slideLayouts/slideLayout32.xml"/><Relationship Id="rId5" Type="http://schemas.openxmlformats.org/officeDocument/2006/relationships/slideLayout" Target="../slideLayouts/slideLayout2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31.xml"/><Relationship Id="rId4" Type="http://schemas.openxmlformats.org/officeDocument/2006/relationships/slideLayout" Target="../slideLayouts/slideLayout25.xml"/><Relationship Id="rId9" Type="http://schemas.openxmlformats.org/officeDocument/2006/relationships/slideLayout" Target="../slideLayouts/slideLayout3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2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(03-3)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63AC408-1B0E-4840-B17F-FE79CE7B545F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36000">
                <a:schemeClr val="accent3">
                  <a:lumMod val="40000"/>
                  <a:lumOff val="60000"/>
                </a:schemeClr>
              </a:gs>
              <a:gs pos="86000">
                <a:schemeClr val="accent3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3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(03-3)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A63AC408-1B0E-4840-B17F-FE79CE7B545F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1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36000">
                <a:schemeClr val="accent3">
                  <a:lumMod val="40000"/>
                  <a:lumOff val="60000"/>
                </a:schemeClr>
              </a:gs>
              <a:gs pos="86000">
                <a:schemeClr val="accent3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09320"/>
            <a:ext cx="216024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17.04.2018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09320"/>
            <a:ext cx="289560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Structura sistemelor de calcul (03-3)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09320"/>
            <a:ext cx="2160240" cy="4121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dcard.org/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6.jpg"/><Relationship Id="rId4" Type="http://schemas.openxmlformats.org/officeDocument/2006/relationships/image" Target="../media/image15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9.jpe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g"/><Relationship Id="rId13" Type="http://schemas.openxmlformats.org/officeDocument/2006/relationships/image" Target="../media/image33.jpg"/><Relationship Id="rId3" Type="http://schemas.openxmlformats.org/officeDocument/2006/relationships/image" Target="../media/image23.jpg"/><Relationship Id="rId7" Type="http://schemas.openxmlformats.org/officeDocument/2006/relationships/image" Target="../media/image27.jpg"/><Relationship Id="rId12" Type="http://schemas.openxmlformats.org/officeDocument/2006/relationships/image" Target="../media/image32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jpg"/><Relationship Id="rId11" Type="http://schemas.openxmlformats.org/officeDocument/2006/relationships/image" Target="../media/image31.jpg"/><Relationship Id="rId5" Type="http://schemas.openxmlformats.org/officeDocument/2006/relationships/image" Target="../media/image25.jpg"/><Relationship Id="rId10" Type="http://schemas.openxmlformats.org/officeDocument/2006/relationships/image" Target="../media/image30.jpg"/><Relationship Id="rId4" Type="http://schemas.openxmlformats.org/officeDocument/2006/relationships/image" Target="../media/image24.jpg"/><Relationship Id="rId9" Type="http://schemas.openxmlformats.org/officeDocument/2006/relationships/image" Target="../media/image29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5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vmexpress.org/" TargetMode="External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6.jpe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8.jp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0.jpe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4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4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Memorii </a:t>
            </a:r>
            <a:r>
              <a:rPr lang="ro-RO" dirty="0"/>
              <a:t>semiconductoare</a:t>
            </a:r>
            <a:endParaRPr lang="en-US" dirty="0"/>
          </a:p>
        </p:txBody>
      </p:sp>
      <p:sp>
        <p:nvSpPr>
          <p:cNvPr id="3143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72815"/>
            <a:ext cx="8382000" cy="4358116"/>
          </a:xfrm>
        </p:spPr>
        <p:txBody>
          <a:bodyPr/>
          <a:lstStyle/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semiconductoare</a:t>
            </a:r>
          </a:p>
          <a:p>
            <a:pPr lvl="1"/>
            <a:r>
              <a:rPr lang="ro-RO" dirty="0"/>
              <a:t>Celula de memorie </a:t>
            </a:r>
            <a:r>
              <a:rPr lang="ro-RO" dirty="0" smtClean="0"/>
              <a:t>și </a:t>
            </a:r>
            <a:r>
              <a:rPr lang="ro-RO" dirty="0"/>
              <a:t>unitatea de memorie</a:t>
            </a:r>
          </a:p>
          <a:p>
            <a:pPr lvl="1"/>
            <a:r>
              <a:rPr lang="ro-RO" dirty="0"/>
              <a:t>Organizarea memoriilor</a:t>
            </a:r>
          </a:p>
          <a:p>
            <a:pPr lvl="1"/>
            <a:r>
              <a:rPr lang="ro-RO" dirty="0"/>
              <a:t>Proiectarea memoriilor</a:t>
            </a:r>
          </a:p>
          <a:p>
            <a:pPr lvl="1"/>
            <a:r>
              <a:rPr lang="ro-RO" dirty="0"/>
              <a:t>Exemplu de circuit de memorie comercial</a:t>
            </a:r>
          </a:p>
          <a:p>
            <a:pPr lvl="1"/>
            <a:r>
              <a:rPr lang="ro-RO" dirty="0" smtClean="0"/>
              <a:t>Memorii </a:t>
            </a:r>
            <a:r>
              <a:rPr lang="ro-RO" dirty="0"/>
              <a:t>DRAM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</a:t>
            </a:r>
            <a:r>
              <a:rPr lang="ro-RO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flash 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CCC6410-DBE9-42C1-8277-37F90BD220DE}" type="slidenum">
              <a:rPr lang="ro-RO"/>
              <a:pPr/>
              <a:t>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Memorii </a:t>
            </a:r>
            <a:r>
              <a:rPr lang="ro-RO" i="1" dirty="0" smtClean="0"/>
              <a:t>flash</a:t>
            </a:r>
            <a:endParaRPr lang="ro-RO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235006"/>
          </a:xfrm>
        </p:spPr>
        <p:txBody>
          <a:bodyPr/>
          <a:lstStyle/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</a:t>
            </a:r>
            <a:r>
              <a:rPr lang="en-US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flash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Principiul de funcționare</a:t>
            </a:r>
          </a:p>
          <a:p>
            <a:pPr lvl="2"/>
            <a:r>
              <a:rPr lang="ro-RO" dirty="0" smtClean="0"/>
              <a:t>Arhitectura NOR</a:t>
            </a:r>
          </a:p>
          <a:p>
            <a:pPr lvl="2"/>
            <a:r>
              <a:rPr lang="ro-RO" dirty="0" smtClean="0"/>
              <a:t>Arhitectura NAND</a:t>
            </a:r>
          </a:p>
          <a:p>
            <a:pPr lvl="2"/>
            <a:r>
              <a:rPr lang="ro-RO" dirty="0" smtClean="0"/>
              <a:t>Sisteme de memorie NAND</a:t>
            </a:r>
          </a:p>
          <a:p>
            <a:pPr lvl="2"/>
            <a:r>
              <a:rPr lang="ro-RO" dirty="0" smtClean="0"/>
              <a:t>Formatul SD</a:t>
            </a:r>
          </a:p>
          <a:p>
            <a:pPr lvl="2"/>
            <a:r>
              <a:rPr lang="ro-RO" dirty="0" smtClean="0"/>
              <a:t>Formatul SSD</a:t>
            </a:r>
          </a:p>
          <a:p>
            <a:pPr lvl="2"/>
            <a:r>
              <a:rPr lang="ro-RO" dirty="0" smtClean="0"/>
              <a:t>Formatul </a:t>
            </a:r>
            <a:r>
              <a:rPr lang="ro-RO" dirty="0" err="1" smtClean="0"/>
              <a:t>e</a:t>
            </a:r>
            <a:r>
              <a:rPr lang="ro-RO" dirty="0" err="1" smtClean="0">
                <a:sym typeface="Symbol"/>
              </a:rPr>
              <a:t></a:t>
            </a:r>
            <a:r>
              <a:rPr lang="ro-RO" dirty="0" err="1" smtClean="0"/>
              <a:t>MMC</a:t>
            </a:r>
            <a:r>
              <a:rPr lang="ro-RO" dirty="0" smtClean="0"/>
              <a:t> </a:t>
            </a:r>
          </a:p>
          <a:p>
            <a:pPr lvl="2"/>
            <a:r>
              <a:rPr lang="ro-RO" dirty="0" smtClean="0"/>
              <a:t>Formatul UFS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42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Principiul de funcționare (1</a:t>
            </a:r>
            <a:r>
              <a:rPr lang="ro-RO" dirty="0"/>
              <a:t>)</a:t>
            </a:r>
          </a:p>
        </p:txBody>
      </p:sp>
      <p:sp>
        <p:nvSpPr>
          <p:cNvPr id="23142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ro-RO" dirty="0" smtClean="0"/>
              <a:t>Tehnologia: combinație între tehnologiile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EPROM </a:t>
            </a:r>
            <a:r>
              <a:rPr lang="ro-RO" dirty="0" smtClean="0"/>
              <a:t>și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EEPROM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</a:p>
          <a:p>
            <a:pPr lvl="1"/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Flash</a:t>
            </a:r>
            <a:r>
              <a:rPr lang="ro-RO" dirty="0" smtClean="0"/>
              <a:t>: se realizează ștergerea unui bloc întreg</a:t>
            </a:r>
          </a:p>
          <a:p>
            <a:pPr>
              <a:lnSpc>
                <a:spcPct val="90000"/>
              </a:lnSpc>
            </a:pPr>
            <a:r>
              <a:rPr lang="ro-RO" dirty="0" smtClean="0"/>
              <a:t>Celula de memorie </a:t>
            </a:r>
            <a:r>
              <a:rPr lang="ro-RO" i="1" dirty="0" smtClean="0"/>
              <a:t>flash</a:t>
            </a:r>
            <a:r>
              <a:rPr lang="ro-RO" dirty="0" smtClean="0"/>
              <a:t> este similară cu celula de memorie EPROM </a:t>
            </a:r>
          </a:p>
          <a:p>
            <a:pPr lvl="1"/>
            <a:r>
              <a:rPr lang="ro-RO" dirty="0" smtClean="0"/>
              <a:t>Tranzistor cu efect de câmp FET (</a:t>
            </a:r>
            <a:r>
              <a:rPr lang="ro-RO" i="1" dirty="0" err="1" smtClean="0"/>
              <a:t>Field-Effect</a:t>
            </a:r>
            <a:r>
              <a:rPr lang="ro-RO" i="1" dirty="0" smtClean="0"/>
              <a:t> Transistor</a:t>
            </a:r>
            <a:r>
              <a:rPr lang="ro-RO" dirty="0" smtClean="0"/>
              <a:t>) în tehnologia MOS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Poartă de control </a:t>
            </a:r>
            <a:r>
              <a:rPr lang="ro-RO" dirty="0" smtClean="0"/>
              <a:t>(PC) obișnuită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Poartă flotantă </a:t>
            </a:r>
            <a:r>
              <a:rPr lang="ro-RO" dirty="0" smtClean="0"/>
              <a:t>(PF) suplimentară 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1A036D7-F58B-4B8B-8A0D-9659A5F67564}" type="slidenum">
              <a:rPr lang="ro-RO"/>
              <a:pPr/>
              <a:t>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Principiul de </a:t>
            </a:r>
            <a:r>
              <a:rPr lang="ro-RO" dirty="0" smtClean="0"/>
              <a:t>funcționare </a:t>
            </a:r>
            <a:r>
              <a:rPr lang="ro-RO" dirty="0"/>
              <a:t>(2)</a:t>
            </a:r>
          </a:p>
        </p:txBody>
      </p:sp>
      <p:pic>
        <p:nvPicPr>
          <p:cNvPr id="8" name="Content Placeholder 7" descr="ssc4-flash1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619672" y="1988840"/>
            <a:ext cx="5885333" cy="314066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Principiul de </a:t>
            </a:r>
            <a:r>
              <a:rPr lang="ro-RO" dirty="0" smtClean="0"/>
              <a:t>funcționare 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3673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Funcționarea</a:t>
            </a:r>
            <a:r>
              <a:rPr lang="ro-RO" dirty="0" smtClean="0"/>
              <a:t>: bazată pe acumularea sau eliminarea sarcinilor electrice pe/de pe PF</a:t>
            </a:r>
          </a:p>
          <a:p>
            <a:pPr lvl="1"/>
            <a:r>
              <a:rPr lang="ro-RO" dirty="0" smtClean="0"/>
              <a:t>Prezența sarcinilor: anulează câmpul electric de la PC </a:t>
            </a:r>
            <a:r>
              <a:rPr lang="ro-RO" dirty="0" smtClean="0">
                <a:sym typeface="Symbol"/>
              </a:rPr>
              <a:t> crește tensiunea de prag a celulei </a:t>
            </a:r>
          </a:p>
          <a:p>
            <a:pPr lvl="1"/>
            <a:r>
              <a:rPr lang="ro-RO" dirty="0" smtClean="0"/>
              <a:t>Valoarea binară memorată depinde de curentul detectat prin canalul tranzistorului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Nu se detectează un curent</a:t>
            </a:r>
            <a:r>
              <a:rPr lang="ro-RO" dirty="0" smtClean="0"/>
              <a:t>: valoarea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0 </a:t>
            </a:r>
            <a:r>
              <a:rPr lang="ro-RO" dirty="0" smtClean="0">
                <a:sym typeface="Symbol"/>
              </a:rPr>
              <a:t> PF s-a încărcat cu sarcini electrice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 detectează un curent</a:t>
            </a:r>
            <a:r>
              <a:rPr lang="ro-RO" dirty="0" smtClean="0">
                <a:sym typeface="Symbol"/>
              </a:rPr>
              <a:t>: valoarea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/>
              </a:rPr>
              <a:t>1</a:t>
            </a:r>
            <a:r>
              <a:rPr lang="ro-RO" dirty="0" smtClean="0">
                <a:sym typeface="Symbol"/>
              </a:rPr>
              <a:t>  sarcinile electrice au fost eliminate de pe PF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Principiul de </a:t>
            </a:r>
            <a:r>
              <a:rPr lang="ro-RO" dirty="0" smtClean="0"/>
              <a:t>funcționare 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5004447"/>
          </a:xfrm>
        </p:spPr>
        <p:txBody>
          <a:bodyPr/>
          <a:lstStyle/>
          <a:p>
            <a:r>
              <a:rPr lang="ro-RO" dirty="0" smtClean="0"/>
              <a:t>Două tipuri de celule 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Cu un singur nivel </a:t>
            </a:r>
            <a:r>
              <a:rPr lang="ro-RO" dirty="0" smtClean="0"/>
              <a:t>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SLC </a:t>
            </a:r>
            <a:r>
              <a:rPr lang="ro-RO" dirty="0" smtClean="0"/>
              <a:t>– </a:t>
            </a:r>
            <a:r>
              <a:rPr lang="ro-RO" i="1" dirty="0" err="1" smtClean="0"/>
              <a:t>Single-Level</a:t>
            </a:r>
            <a:r>
              <a:rPr lang="ro-RO" i="1" dirty="0" smtClean="0"/>
              <a:t> </a:t>
            </a:r>
            <a:r>
              <a:rPr lang="ro-RO" i="1" dirty="0" err="1" smtClean="0"/>
              <a:t>Cell</a:t>
            </a:r>
            <a:r>
              <a:rPr lang="ro-RO" dirty="0" smtClean="0"/>
              <a:t>): celula memorează un singur bit 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Cu nivele multiple </a:t>
            </a:r>
            <a:r>
              <a:rPr lang="ro-RO" dirty="0" smtClean="0"/>
              <a:t>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MLC </a:t>
            </a:r>
            <a:r>
              <a:rPr lang="ro-RO" dirty="0" smtClean="0"/>
              <a:t>– </a:t>
            </a:r>
            <a:r>
              <a:rPr lang="ro-RO" i="1" dirty="0" err="1" smtClean="0"/>
              <a:t>Multi-Level</a:t>
            </a:r>
            <a:r>
              <a:rPr lang="ro-RO" i="1" dirty="0" smtClean="0"/>
              <a:t> </a:t>
            </a:r>
            <a:r>
              <a:rPr lang="ro-RO" i="1" dirty="0" err="1" smtClean="0"/>
              <a:t>Cell</a:t>
            </a:r>
            <a:r>
              <a:rPr lang="ro-RO" dirty="0" smtClean="0"/>
              <a:t>): celula memorează mai mulți biți </a:t>
            </a:r>
          </a:p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Arhitectura </a:t>
            </a:r>
            <a:r>
              <a:rPr lang="ro-RO" dirty="0" smtClean="0"/>
              <a:t>memoriilor </a:t>
            </a:r>
            <a:r>
              <a:rPr lang="ro-RO" i="1" dirty="0" smtClean="0"/>
              <a:t>flash </a:t>
            </a:r>
            <a:endParaRPr lang="ro-RO" i="1" dirty="0" smtClean="0">
              <a:solidFill>
                <a:schemeClr val="tx2"/>
              </a:solidFill>
            </a:endParaRPr>
          </a:p>
          <a:p>
            <a:pPr lvl="1">
              <a:spcBef>
                <a:spcPts val="600"/>
              </a:spcBef>
            </a:pPr>
            <a:r>
              <a:rPr lang="ro-RO" dirty="0" smtClean="0"/>
              <a:t>Modul de interconectare al celulelor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Compromis între dimensiunea celulei și viteza de funcționare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Cele mai utilizate arhitecturi: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NOR </a:t>
            </a:r>
            <a:r>
              <a:rPr lang="ro-RO" dirty="0" smtClean="0"/>
              <a:t>și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NAND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64797"/>
          </a:xfrm>
        </p:spPr>
        <p:txBody>
          <a:bodyPr/>
          <a:lstStyle/>
          <a:p>
            <a:r>
              <a:rPr lang="ro-RO" dirty="0"/>
              <a:t>Principiul de </a:t>
            </a:r>
            <a:r>
              <a:rPr lang="ro-RO" dirty="0" smtClean="0"/>
              <a:t>funcționare (5)</a:t>
            </a:r>
            <a:endParaRPr lang="ro-RO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half" idx="1"/>
          </p:nvPr>
        </p:nvSpPr>
        <p:spPr>
          <a:xfrm>
            <a:off x="395536" y="1412776"/>
            <a:ext cx="8352928" cy="2508379"/>
          </a:xfrm>
        </p:spPr>
        <p:txBody>
          <a:bodyPr/>
          <a:lstStyle/>
          <a:p>
            <a:r>
              <a:rPr lang="ro-RO" dirty="0" smtClean="0"/>
              <a:t>Considerăm o celulă de memorie NOR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Scrierea </a:t>
            </a:r>
          </a:p>
          <a:p>
            <a:pPr lvl="1">
              <a:spcBef>
                <a:spcPts val="600"/>
              </a:spcBef>
            </a:pPr>
            <a:r>
              <a:rPr lang="ro-RO" sz="3000" dirty="0" smtClean="0"/>
              <a:t>Starea implicită a unei celule: 1 logic </a:t>
            </a:r>
          </a:p>
          <a:p>
            <a:pPr lvl="1">
              <a:spcBef>
                <a:spcPts val="600"/>
              </a:spcBef>
            </a:pPr>
            <a:r>
              <a:rPr lang="ro-RO" sz="3000" dirty="0" smtClean="0"/>
              <a:t>Prin scriere starea se modifică la 0 logic </a:t>
            </a:r>
          </a:p>
          <a:p>
            <a:pPr lvl="1">
              <a:spcBef>
                <a:spcPts val="600"/>
              </a:spcBef>
            </a:pPr>
            <a:r>
              <a:rPr lang="ro-RO" sz="3000" dirty="0" smtClean="0"/>
              <a:t>Se aplică o tensiune de </a:t>
            </a:r>
            <a:r>
              <a:rPr lang="en-US" sz="3000" dirty="0" smtClean="0"/>
              <a:t>~</a:t>
            </a:r>
            <a:r>
              <a:rPr lang="ro-RO" sz="3000" dirty="0" smtClean="0"/>
              <a:t>12 V pe PC </a:t>
            </a:r>
            <a:endParaRPr lang="ro-RO" sz="3000" dirty="0"/>
          </a:p>
        </p:txBody>
      </p:sp>
      <p:pic>
        <p:nvPicPr>
          <p:cNvPr id="8" name="Content Placeholder 7" descr="ssc4-flash2.bmp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2483768" y="4005064"/>
            <a:ext cx="4151262" cy="2157501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7</a:t>
            </a:fld>
            <a:endParaRPr lang="ro-RO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Principiul de </a:t>
            </a:r>
            <a:r>
              <a:rPr lang="ro-RO" dirty="0" smtClean="0"/>
              <a:t>funcționare (6)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896445"/>
          </a:xfrm>
        </p:spPr>
        <p:txBody>
          <a:bodyPr/>
          <a:lstStyle/>
          <a:p>
            <a:pPr lvl="1"/>
            <a:r>
              <a:rPr lang="ro-RO" dirty="0" smtClean="0"/>
              <a:t>Electronii se deplasează de la sursă la drenă prin canalul tranzistorului </a:t>
            </a:r>
          </a:p>
          <a:p>
            <a:pPr lvl="1"/>
            <a:r>
              <a:rPr lang="ro-RO" dirty="0" smtClean="0"/>
              <a:t>Electronii pot depăși nivelul de energie necesar pentru trecerea peste stratul izolator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Injectarea electronilor</a:t>
            </a:r>
            <a:r>
              <a:rPr lang="ro-RO" dirty="0" smtClean="0"/>
              <a:t>: se acumulează pe PF </a:t>
            </a:r>
          </a:p>
          <a:p>
            <a:pPr lvl="1"/>
            <a:r>
              <a:rPr lang="ro-RO" dirty="0" smtClean="0"/>
              <a:t>Dacă se elimină tensiunea de pe PC: starea celulei se păstrează </a:t>
            </a:r>
          </a:p>
          <a:p>
            <a:pPr lvl="1"/>
            <a:r>
              <a:rPr lang="ro-RO" dirty="0" smtClean="0"/>
              <a:t>Îndepărtarea electronilor de pe PF: prin ștergerea celulei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64797"/>
          </a:xfrm>
        </p:spPr>
        <p:txBody>
          <a:bodyPr/>
          <a:lstStyle/>
          <a:p>
            <a:r>
              <a:rPr lang="ro-RO" dirty="0"/>
              <a:t>Principiul de </a:t>
            </a:r>
            <a:r>
              <a:rPr lang="ro-RO" dirty="0" smtClean="0"/>
              <a:t>funcționare (7)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2382191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Ștergerea </a:t>
            </a:r>
          </a:p>
          <a:p>
            <a:pPr lvl="1">
              <a:spcBef>
                <a:spcPts val="600"/>
              </a:spcBef>
            </a:pPr>
            <a:r>
              <a:rPr lang="ro-RO" sz="3000" dirty="0" smtClean="0"/>
              <a:t>Resetarea la valoarea logică 1 </a:t>
            </a:r>
          </a:p>
          <a:p>
            <a:pPr lvl="1">
              <a:spcBef>
                <a:spcPts val="600"/>
              </a:spcBef>
            </a:pPr>
            <a:r>
              <a:rPr lang="ro-RO" sz="3000" dirty="0" smtClean="0"/>
              <a:t>Se aplică o tensiune de </a:t>
            </a:r>
            <a:r>
              <a:rPr lang="en-US" sz="3000" dirty="0" smtClean="0"/>
              <a:t>~</a:t>
            </a:r>
            <a:r>
              <a:rPr lang="ro-RO" sz="3000" dirty="0" smtClean="0"/>
              <a:t>12 V pe sursă </a:t>
            </a:r>
          </a:p>
          <a:p>
            <a:pPr lvl="1">
              <a:spcBef>
                <a:spcPts val="600"/>
              </a:spcBef>
            </a:pPr>
            <a:r>
              <a:rPr lang="ro-RO" sz="3000" dirty="0" smtClean="0"/>
              <a:t>Electronii sunt îndepărtați de pe PF </a:t>
            </a:r>
            <a:r>
              <a:rPr lang="ro-RO" sz="3000" dirty="0" smtClean="0">
                <a:sym typeface="Symbol"/>
              </a:rPr>
              <a:t> </a:t>
            </a:r>
            <a:r>
              <a:rPr lang="ro-RO" sz="3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efectul de barieră </a:t>
            </a:r>
            <a:r>
              <a:rPr lang="ro-RO" sz="30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Fowler-Nordheim</a:t>
            </a:r>
            <a:r>
              <a:rPr lang="ro-RO" sz="3000" dirty="0" smtClean="0"/>
              <a:t> </a:t>
            </a:r>
            <a:endParaRPr lang="ro-RO" sz="3000" dirty="0"/>
          </a:p>
        </p:txBody>
      </p:sp>
      <p:pic>
        <p:nvPicPr>
          <p:cNvPr id="8" name="Content Placeholder 7" descr="ssc4-flash3.bmp"/>
          <p:cNvPicPr>
            <a:picLocks noGrp="1" noChangeAspect="1"/>
          </p:cNvPicPr>
          <p:nvPr>
            <p:ph sz="half" idx="2"/>
          </p:nvPr>
        </p:nvPicPr>
        <p:blipFill>
          <a:blip r:embed="rId3" cstate="print"/>
          <a:stretch>
            <a:fillRect/>
          </a:stretch>
        </p:blipFill>
        <p:spPr>
          <a:xfrm>
            <a:off x="2483768" y="4005064"/>
            <a:ext cx="4151262" cy="2157501"/>
          </a:xfrm>
        </p:spPr>
      </p:pic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C408-1B0E-4840-B17F-FE79CE7B545F}" type="slidenum">
              <a:rPr lang="ro-RO" smtClean="0"/>
              <a:pPr/>
              <a:t>9</a:t>
            </a:fld>
            <a:endParaRPr lang="ro-RO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</a:t>
            </a:r>
            <a:r>
              <a:rPr lang="ro-RO" i="1" dirty="0" smtClean="0"/>
              <a:t>flash</a:t>
            </a:r>
            <a:endParaRPr lang="ro-RO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235006"/>
          </a:xfrm>
        </p:spPr>
        <p:txBody>
          <a:bodyPr/>
          <a:lstStyle/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</a:t>
            </a:r>
            <a:r>
              <a:rPr lang="en-US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flash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ro-RO" dirty="0" smtClean="0"/>
              <a:t>Principiul de funcționare</a:t>
            </a:r>
          </a:p>
          <a:p>
            <a:pPr lvl="2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Arhitectura NOR</a:t>
            </a:r>
          </a:p>
          <a:p>
            <a:pPr lvl="2"/>
            <a:r>
              <a:rPr lang="ro-RO" dirty="0" smtClean="0"/>
              <a:t>Arhitectura NAND</a:t>
            </a:r>
          </a:p>
          <a:p>
            <a:pPr lvl="2"/>
            <a:r>
              <a:rPr lang="ro-RO" dirty="0" smtClean="0"/>
              <a:t>Sisteme de memorie NAND</a:t>
            </a:r>
          </a:p>
          <a:p>
            <a:pPr lvl="2"/>
            <a:r>
              <a:rPr lang="ro-RO" dirty="0" smtClean="0"/>
              <a:t>Formatul SD</a:t>
            </a:r>
          </a:p>
          <a:p>
            <a:pPr lvl="2"/>
            <a:r>
              <a:rPr lang="ro-RO" dirty="0" smtClean="0"/>
              <a:t>Formatul SSD</a:t>
            </a:r>
          </a:p>
          <a:p>
            <a:pPr lvl="2"/>
            <a:r>
              <a:rPr lang="ro-RO" dirty="0" smtClean="0"/>
              <a:t>Formatul </a:t>
            </a:r>
            <a:r>
              <a:rPr lang="ro-RO" dirty="0" err="1" smtClean="0"/>
              <a:t>e</a:t>
            </a:r>
            <a:r>
              <a:rPr lang="ro-RO" dirty="0" err="1" smtClean="0">
                <a:sym typeface="Symbol"/>
              </a:rPr>
              <a:t></a:t>
            </a:r>
            <a:r>
              <a:rPr lang="ro-RO" dirty="0" err="1" smtClean="0"/>
              <a:t>MMC</a:t>
            </a:r>
            <a:r>
              <a:rPr lang="ro-RO" dirty="0" smtClean="0"/>
              <a:t> </a:t>
            </a:r>
          </a:p>
          <a:p>
            <a:pPr lvl="2"/>
            <a:r>
              <a:rPr lang="ro-RO" dirty="0"/>
              <a:t>Formatul </a:t>
            </a:r>
            <a:r>
              <a:rPr lang="ro-RO" dirty="0" smtClean="0"/>
              <a:t>UFS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10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Arhitectura NOR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07470"/>
          </a:xfrm>
        </p:spPr>
        <p:txBody>
          <a:bodyPr/>
          <a:lstStyle/>
          <a:p>
            <a:r>
              <a:rPr lang="ro-RO" dirty="0" smtClean="0"/>
              <a:t>Concepută pentru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înlocuirea memoriilor de program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  <a:r>
              <a:rPr lang="ro-RO" dirty="0" smtClean="0"/>
              <a:t>EPROM și EEPROM </a:t>
            </a:r>
          </a:p>
          <a:p>
            <a:r>
              <a:rPr lang="ro-RO" dirty="0" smtClean="0"/>
              <a:t>Pune la dispoziție magistrale complete de adrese și date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/>
              <a:t>permite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accesul aleatoriu </a:t>
            </a:r>
          </a:p>
          <a:p>
            <a:r>
              <a:rPr lang="ro-RO" dirty="0" smtClean="0"/>
              <a:t>Permite o densitate mai redusă a celulelor </a:t>
            </a:r>
          </a:p>
          <a:p>
            <a:pPr lvl="1"/>
            <a:r>
              <a:rPr lang="ro-RO" dirty="0" smtClean="0"/>
              <a:t>Necesită câte un contact metalic la fiecare două celule </a:t>
            </a:r>
          </a:p>
          <a:p>
            <a:r>
              <a:rPr lang="ro-RO" dirty="0" smtClean="0"/>
              <a:t>Matrice de celule: linii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date </a:t>
            </a:r>
            <a:r>
              <a:rPr lang="ro-RO" dirty="0" smtClean="0"/>
              <a:t>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bit</a:t>
            </a:r>
            <a:r>
              <a:rPr lang="ro-RO" dirty="0" smtClean="0"/>
              <a:t>)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err="1" smtClean="0"/>
              <a:t>drene</a:t>
            </a:r>
            <a:r>
              <a:rPr lang="ro-RO" dirty="0" smtClean="0"/>
              <a:t>; linii de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adrese </a:t>
            </a:r>
            <a:r>
              <a:rPr lang="ro-RO" dirty="0" smtClean="0"/>
              <a:t>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cuvânt</a:t>
            </a:r>
            <a:r>
              <a:rPr lang="ro-RO" dirty="0" smtClean="0"/>
              <a:t>) </a:t>
            </a:r>
            <a:r>
              <a:rPr lang="ro-RO" dirty="0" smtClean="0">
                <a:sym typeface="Symbol"/>
              </a:rPr>
              <a:t> PC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11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Arhitectura NOR </a:t>
            </a:r>
            <a:r>
              <a:rPr lang="ro-RO" dirty="0" smtClean="0"/>
              <a:t>(2)</a:t>
            </a:r>
            <a:endParaRPr lang="ro-RO" dirty="0"/>
          </a:p>
        </p:txBody>
      </p:sp>
      <p:pic>
        <p:nvPicPr>
          <p:cNvPr id="8" name="Content Placeholder 7" descr="ssc4-flash-nor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691680" y="1268760"/>
            <a:ext cx="5754636" cy="4962154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12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Arhitectura NOR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5004447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Accesul la citire</a:t>
            </a:r>
            <a:r>
              <a:rPr lang="ro-RO" dirty="0" smtClean="0"/>
              <a:t>: aleatoriu </a:t>
            </a:r>
          </a:p>
          <a:p>
            <a:pPr lvl="1"/>
            <a:r>
              <a:rPr lang="ro-RO" dirty="0" smtClean="0"/>
              <a:t>Programele se pot executa direct din memoria </a:t>
            </a:r>
            <a:r>
              <a:rPr lang="ro-RO" i="1" dirty="0" smtClean="0"/>
              <a:t>flash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Accesul la scriere</a:t>
            </a:r>
            <a:r>
              <a:rPr lang="ro-RO" dirty="0" smtClean="0"/>
              <a:t>: aleatoriu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Accesul la ștergere</a:t>
            </a:r>
            <a:r>
              <a:rPr lang="ro-RO" dirty="0" smtClean="0"/>
              <a:t>: la nivel de bloc </a:t>
            </a:r>
          </a:p>
          <a:p>
            <a:pPr lvl="1"/>
            <a:r>
              <a:rPr lang="ro-RO" dirty="0" smtClean="0"/>
              <a:t>Dimensiuni tipice: 128 KB; 256 KB; 512 KB </a:t>
            </a:r>
          </a:p>
          <a:p>
            <a:r>
              <a:rPr lang="ro-RO" dirty="0" smtClean="0"/>
              <a:t>Scrierea și ștergerea sunt relativ lente </a:t>
            </a:r>
          </a:p>
          <a:p>
            <a:r>
              <a:rPr lang="ro-RO" dirty="0" smtClean="0"/>
              <a:t>Numărul ciclurilor de scriere/ștergere</a:t>
            </a:r>
          </a:p>
          <a:p>
            <a:pPr lvl="1"/>
            <a:r>
              <a:rPr lang="ro-RO" dirty="0" smtClean="0"/>
              <a:t>SLC: 100.000 .. 1.000.000; MLC: </a:t>
            </a:r>
            <a:r>
              <a:rPr lang="en-US" dirty="0" smtClean="0"/>
              <a:t>~</a:t>
            </a:r>
            <a:r>
              <a:rPr lang="ro-RO" dirty="0" smtClean="0"/>
              <a:t>100.000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13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</a:t>
            </a:r>
            <a:r>
              <a:rPr lang="ro-RO" i="1" dirty="0" smtClean="0"/>
              <a:t>flash</a:t>
            </a:r>
            <a:endParaRPr lang="ro-RO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235006"/>
          </a:xfrm>
        </p:spPr>
        <p:txBody>
          <a:bodyPr/>
          <a:lstStyle/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</a:t>
            </a:r>
            <a:r>
              <a:rPr lang="en-US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flash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ro-RO" dirty="0" smtClean="0"/>
              <a:t>Principiul de funcționare</a:t>
            </a:r>
          </a:p>
          <a:p>
            <a:pPr lvl="2"/>
            <a:r>
              <a:rPr lang="ro-RO" dirty="0" smtClean="0"/>
              <a:t>Arhitectura NOR</a:t>
            </a:r>
          </a:p>
          <a:p>
            <a:pPr lvl="2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Arhitectura NAND</a:t>
            </a:r>
          </a:p>
          <a:p>
            <a:pPr lvl="2"/>
            <a:r>
              <a:rPr lang="ro-RO" dirty="0" smtClean="0"/>
              <a:t>Sisteme de memorie NAND</a:t>
            </a:r>
          </a:p>
          <a:p>
            <a:pPr lvl="2"/>
            <a:r>
              <a:rPr lang="ro-RO" dirty="0" smtClean="0"/>
              <a:t>Formatul SD</a:t>
            </a:r>
          </a:p>
          <a:p>
            <a:pPr lvl="2"/>
            <a:r>
              <a:rPr lang="ro-RO" dirty="0" smtClean="0"/>
              <a:t>Formatul SSD</a:t>
            </a:r>
          </a:p>
          <a:p>
            <a:pPr lvl="2"/>
            <a:r>
              <a:rPr lang="ro-RO" dirty="0" smtClean="0"/>
              <a:t>Formatul </a:t>
            </a:r>
            <a:r>
              <a:rPr lang="ro-RO" dirty="0" err="1" smtClean="0"/>
              <a:t>e</a:t>
            </a:r>
            <a:r>
              <a:rPr lang="ro-RO" dirty="0" err="1" smtClean="0">
                <a:sym typeface="Symbol"/>
              </a:rPr>
              <a:t></a:t>
            </a:r>
            <a:r>
              <a:rPr lang="ro-RO" dirty="0" err="1" smtClean="0"/>
              <a:t>MMC</a:t>
            </a:r>
            <a:r>
              <a:rPr lang="ro-RO" dirty="0" smtClean="0"/>
              <a:t> </a:t>
            </a:r>
          </a:p>
          <a:p>
            <a:pPr lvl="2"/>
            <a:r>
              <a:rPr lang="ro-RO" dirty="0"/>
              <a:t>Formatul </a:t>
            </a:r>
            <a:r>
              <a:rPr lang="ro-RO" dirty="0" smtClean="0"/>
              <a:t>UFS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14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Arhitectura NAND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81336"/>
          </a:xfrm>
        </p:spPr>
        <p:txBody>
          <a:bodyPr/>
          <a:lstStyle/>
          <a:p>
            <a:r>
              <a:rPr lang="ro-RO" dirty="0" smtClean="0"/>
              <a:t>Concepută pentru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înlocuirea memoriilor externe </a:t>
            </a:r>
            <a:r>
              <a:rPr lang="ro-RO" dirty="0" smtClean="0"/>
              <a:t>(de ex., discuri magnetice) </a:t>
            </a:r>
          </a:p>
          <a:p>
            <a:r>
              <a:rPr lang="ro-RO" dirty="0" smtClean="0"/>
              <a:t>Nu pune la dispoziție magistrale externe de adrese și de date </a:t>
            </a:r>
          </a:p>
          <a:p>
            <a:pPr lvl="1"/>
            <a:r>
              <a:rPr lang="ro-RO" dirty="0" smtClean="0"/>
              <a:t>Se simplifică interconexiunile interne</a:t>
            </a:r>
          </a:p>
          <a:p>
            <a:pPr lvl="1"/>
            <a:r>
              <a:rPr lang="ro-RO" dirty="0" smtClean="0"/>
              <a:t>Nu este posibil accesul aleatoriu </a:t>
            </a:r>
          </a:p>
          <a:p>
            <a:r>
              <a:rPr lang="ro-RO" dirty="0" smtClean="0"/>
              <a:t>Matrice de celule: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conexiuni în serie </a:t>
            </a:r>
          </a:p>
          <a:p>
            <a:pPr lvl="1"/>
            <a:r>
              <a:rPr lang="ro-RO" dirty="0" smtClean="0"/>
              <a:t>Crește densitatea celulelor </a:t>
            </a:r>
          </a:p>
          <a:p>
            <a:pPr lvl="1"/>
            <a:r>
              <a:rPr lang="ro-RO" dirty="0" smtClean="0"/>
              <a:t>Accesul la celule este serial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15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Arhitectura NAND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16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9" name="Content Placeholder 8" descr="ssc4-flash-nand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339752" y="1340768"/>
            <a:ext cx="4454965" cy="4832615"/>
          </a:xfr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Arhitectura NAND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82903"/>
          </a:xfrm>
        </p:spPr>
        <p:txBody>
          <a:bodyPr/>
          <a:lstStyle/>
          <a:p>
            <a:r>
              <a:rPr lang="ro-RO" dirty="0" smtClean="0"/>
              <a:t>Creșterea suplimentară a densității: prin eliminarea magistralelor externe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Accesul la memorie: prin registre de comenzi și de date </a:t>
            </a:r>
          </a:p>
          <a:p>
            <a:pPr>
              <a:spcBef>
                <a:spcPts val="600"/>
              </a:spcBef>
            </a:pPr>
            <a:r>
              <a:rPr lang="ro-RO" dirty="0" smtClean="0"/>
              <a:t>Blocurile sunt împărțite în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pagini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Dimensiuni ale paginilor: 512 B; 2 KB; 4 KB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Fiecare pagină conține octeți suplimentari pentru 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cod corector de erori </a:t>
            </a:r>
            <a:r>
              <a:rPr lang="ro-RO" dirty="0" smtClean="0"/>
              <a:t>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ECC</a:t>
            </a:r>
            <a:r>
              <a:rPr lang="ro-RO" dirty="0" smtClean="0"/>
              <a:t>)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Cod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ECC </a:t>
            </a:r>
            <a:r>
              <a:rPr lang="ro-RO" dirty="0" smtClean="0"/>
              <a:t>tipic de 24 biți: corectează un bit eronat din 4096 de biți (512 B)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17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Arhitectura NAND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439472" cy="4893647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Accesul la citire, scriere</a:t>
            </a:r>
            <a:r>
              <a:rPr lang="ro-RO" dirty="0" smtClean="0"/>
              <a:t>: la nivel de pagină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Accesul pentru ștergere</a:t>
            </a:r>
            <a:r>
              <a:rPr lang="ro-RO" dirty="0" smtClean="0"/>
              <a:t>: la nivel de bloc </a:t>
            </a:r>
          </a:p>
          <a:p>
            <a:r>
              <a:rPr lang="ro-RO" dirty="0" smtClean="0"/>
              <a:t>Numărul ciclurilor de scriere/ștergere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SLC</a:t>
            </a:r>
            <a:r>
              <a:rPr lang="ro-RO" dirty="0" smtClean="0"/>
              <a:t>: ~100.000;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MLC</a:t>
            </a:r>
            <a:r>
              <a:rPr lang="ro-RO" dirty="0" smtClean="0"/>
              <a:t>: 5.000 .. 10.000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 </a:t>
            </a:r>
            <a:r>
              <a:rPr lang="ro-RO" dirty="0" smtClean="0"/>
              <a:t>ale arhitecturii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NAND</a:t>
            </a:r>
            <a:r>
              <a:rPr lang="ro-RO" dirty="0" smtClean="0"/>
              <a:t>:</a:t>
            </a:r>
          </a:p>
          <a:p>
            <a:pPr lvl="1"/>
            <a:r>
              <a:rPr lang="ro-RO" dirty="0" smtClean="0"/>
              <a:t>Densitate și capacitate mai ridicată </a:t>
            </a:r>
          </a:p>
          <a:p>
            <a:pPr lvl="1"/>
            <a:r>
              <a:rPr lang="ro-RO" dirty="0" smtClean="0"/>
              <a:t>Cost mai redus </a:t>
            </a:r>
          </a:p>
          <a:p>
            <a:pPr lvl="1"/>
            <a:r>
              <a:rPr lang="ro-RO" dirty="0" smtClean="0"/>
              <a:t>Viteză mai ridicată a operațiilor de ștergere, citire secvențială și scriere secvențială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18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</a:t>
            </a:r>
            <a:r>
              <a:rPr lang="ro-RO" i="1" dirty="0" smtClean="0"/>
              <a:t>flash</a:t>
            </a:r>
            <a:endParaRPr lang="ro-RO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235006"/>
          </a:xfrm>
        </p:spPr>
        <p:txBody>
          <a:bodyPr/>
          <a:lstStyle/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</a:t>
            </a:r>
            <a:r>
              <a:rPr lang="en-US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flash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ro-RO" dirty="0" smtClean="0"/>
              <a:t>Principiul de funcționare</a:t>
            </a:r>
          </a:p>
          <a:p>
            <a:pPr lvl="2"/>
            <a:r>
              <a:rPr lang="ro-RO" dirty="0" smtClean="0"/>
              <a:t>Arhitectura NOR</a:t>
            </a:r>
          </a:p>
          <a:p>
            <a:pPr lvl="2"/>
            <a:r>
              <a:rPr lang="ro-RO" dirty="0" smtClean="0"/>
              <a:t>Arhitectura NAND</a:t>
            </a:r>
          </a:p>
          <a:p>
            <a:pPr lvl="2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Sisteme de memorie NAND</a:t>
            </a:r>
          </a:p>
          <a:p>
            <a:pPr lvl="2"/>
            <a:r>
              <a:rPr lang="ro-RO" dirty="0" smtClean="0"/>
              <a:t>Formatul SD</a:t>
            </a:r>
          </a:p>
          <a:p>
            <a:pPr lvl="2"/>
            <a:r>
              <a:rPr lang="ro-RO" dirty="0" smtClean="0"/>
              <a:t>Formatul SSD</a:t>
            </a:r>
          </a:p>
          <a:p>
            <a:pPr lvl="2"/>
            <a:r>
              <a:rPr lang="ro-RO" dirty="0" smtClean="0"/>
              <a:t>Formatul </a:t>
            </a:r>
            <a:r>
              <a:rPr lang="ro-RO" dirty="0" err="1" smtClean="0"/>
              <a:t>e</a:t>
            </a:r>
            <a:r>
              <a:rPr lang="ro-RO" dirty="0" err="1" smtClean="0">
                <a:sym typeface="Symbol"/>
              </a:rPr>
              <a:t></a:t>
            </a:r>
            <a:r>
              <a:rPr lang="ro-RO" dirty="0" err="1" smtClean="0"/>
              <a:t>MMC</a:t>
            </a:r>
            <a:r>
              <a:rPr lang="ro-RO" dirty="0" smtClean="0"/>
              <a:t> </a:t>
            </a:r>
          </a:p>
          <a:p>
            <a:pPr lvl="2"/>
            <a:r>
              <a:rPr lang="ro-RO" dirty="0"/>
              <a:t>Formatul </a:t>
            </a:r>
            <a:r>
              <a:rPr lang="ro-RO" dirty="0" smtClean="0"/>
              <a:t>UFS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19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</p:spPr>
        <p:txBody>
          <a:bodyPr/>
          <a:lstStyle/>
          <a:p>
            <a:r>
              <a:rPr lang="ro-RO" dirty="0" smtClean="0"/>
              <a:t>Sisteme </a:t>
            </a:r>
            <a:r>
              <a:rPr lang="ro-RO" dirty="0"/>
              <a:t>de memorie NAND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2776"/>
            <a:ext cx="4551040" cy="4896544"/>
          </a:xfrm>
        </p:spPr>
        <p:txBody>
          <a:bodyPr/>
          <a:lstStyle/>
          <a:p>
            <a:pPr marL="339976" lvl="1" indent="-339976">
              <a:buBlip>
                <a:blip r:embed="rId3"/>
              </a:buBlip>
            </a:pPr>
            <a:endParaRPr lang="ro-RO" sz="2000" dirty="0" smtClean="0">
              <a:solidFill>
                <a:schemeClr val="tx2"/>
              </a:solidFill>
            </a:endParaRPr>
          </a:p>
          <a:p>
            <a:pPr marL="339976" lvl="1" indent="-339976">
              <a:buBlip>
                <a:blip r:embed="rId3"/>
              </a:buBlip>
            </a:pPr>
            <a:r>
              <a:rPr lang="ro-RO" sz="32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Structura generală</a:t>
            </a:r>
          </a:p>
          <a:p>
            <a:pPr marL="914400" lvl="1" indent="-396875"/>
            <a:r>
              <a:rPr lang="ro-RO" dirty="0" smtClean="0"/>
              <a:t>Circuite de memorie NAND 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SLC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MLC</a:t>
            </a:r>
            <a:r>
              <a:rPr lang="ro-RO" dirty="0" smtClean="0"/>
              <a:t>)</a:t>
            </a:r>
          </a:p>
          <a:p>
            <a:pPr marL="914400" lvl="1" indent="-396875"/>
            <a:r>
              <a:rPr lang="ro-RO" dirty="0" smtClean="0"/>
              <a:t>Interfață cu circuitele de memorie NAND</a:t>
            </a:r>
          </a:p>
          <a:p>
            <a:pPr marL="914400" lvl="1" indent="-396875"/>
            <a:r>
              <a:rPr lang="ro-RO" dirty="0" smtClean="0"/>
              <a:t>Driver pentru circuite de memorie NAND</a:t>
            </a:r>
          </a:p>
          <a:p>
            <a:pPr marL="914400" lvl="1" indent="-396875"/>
            <a:r>
              <a:rPr lang="ro-RO" dirty="0" smtClean="0"/>
              <a:t>Module software pentru gestiunea memoriei </a:t>
            </a:r>
            <a:endParaRPr lang="ro-RO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D5E6BA2-6FEE-4CEE-918C-B59C9FFA1653}" type="slidenum">
              <a:rPr lang="ro-RO" smtClean="0"/>
              <a:pPr/>
              <a:t>20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10" name="Content Placeholder 9" descr="ssc4-flash-sistem.bmp"/>
          <p:cNvPicPr>
            <a:picLocks noGrp="1" noChangeAspect="1"/>
          </p:cNvPicPr>
          <p:nvPr>
            <p:ph sz="half" idx="2"/>
          </p:nvPr>
        </p:nvPicPr>
        <p:blipFill>
          <a:blip r:embed="rId4" cstate="print"/>
          <a:stretch>
            <a:fillRect/>
          </a:stretch>
        </p:blipFill>
        <p:spPr>
          <a:xfrm>
            <a:off x="5508104" y="1340768"/>
            <a:ext cx="2418898" cy="4886563"/>
          </a:xfr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9"/>
            <a:ext cx="8382000" cy="664797"/>
          </a:xfrm>
        </p:spPr>
        <p:txBody>
          <a:bodyPr/>
          <a:lstStyle/>
          <a:p>
            <a:r>
              <a:rPr lang="ro-RO" dirty="0" smtClean="0"/>
              <a:t>Sisteme de memorie NAND 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776"/>
            <a:ext cx="8382000" cy="4536627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Gestiunea blocurilor defecte</a:t>
            </a:r>
          </a:p>
          <a:p>
            <a:pPr lvl="1"/>
            <a:r>
              <a:rPr lang="ro-RO" dirty="0" smtClean="0"/>
              <a:t>Memoriile NAND pot conține blocuri defecte </a:t>
            </a:r>
          </a:p>
          <a:p>
            <a:pPr lvl="1"/>
            <a:r>
              <a:rPr lang="ro-RO" dirty="0" smtClean="0"/>
              <a:t>Blocurile defecte sunt marcate </a:t>
            </a:r>
          </a:p>
          <a:p>
            <a:pPr lvl="1"/>
            <a:r>
              <a:rPr lang="ro-RO" dirty="0" smtClean="0"/>
              <a:t>La formatarea memoriei (de producător) se rezervă un număr de blocuri </a:t>
            </a:r>
          </a:p>
          <a:p>
            <a:pPr lvl="1"/>
            <a:r>
              <a:rPr lang="ro-RO" dirty="0" smtClean="0"/>
              <a:t>Dacă apare o eroare la scriere sau ștergere, blocul este marcat ca fiind defect </a:t>
            </a:r>
          </a:p>
          <a:p>
            <a:pPr lvl="1"/>
            <a:r>
              <a:rPr lang="ro-RO" dirty="0" smtClean="0"/>
              <a:t>Datele din blocul defect sunt mutate într-un bloc de rezervă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</p:spPr>
        <p:txBody>
          <a:bodyPr/>
          <a:lstStyle/>
          <a:p>
            <a:r>
              <a:rPr lang="ro-RO" dirty="0" smtClean="0"/>
              <a:t>Sisteme </a:t>
            </a:r>
            <a:r>
              <a:rPr lang="ro-RO" dirty="0"/>
              <a:t>de memorie NAND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776"/>
            <a:ext cx="8382000" cy="4816703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Uniformizarea uzurii </a:t>
            </a:r>
            <a:r>
              <a:rPr lang="ro-RO" dirty="0" smtClean="0"/>
              <a:t>(</a:t>
            </a:r>
            <a:r>
              <a:rPr lang="ro-RO" i="1" dirty="0" err="1" smtClean="0"/>
              <a:t>wear</a:t>
            </a:r>
            <a:r>
              <a:rPr lang="ro-RO" i="1" dirty="0" smtClean="0"/>
              <a:t> </a:t>
            </a:r>
            <a:r>
              <a:rPr lang="ro-RO" i="1" dirty="0" err="1" smtClean="0"/>
              <a:t>leveling</a:t>
            </a:r>
            <a:r>
              <a:rPr lang="ro-RO" dirty="0" smtClean="0"/>
              <a:t>)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Uzura </a:t>
            </a:r>
            <a:r>
              <a:rPr lang="ro-RO" dirty="0" smtClean="0"/>
              <a:t>memoriilor </a:t>
            </a:r>
            <a:r>
              <a:rPr lang="ro-RO" i="1" dirty="0" smtClean="0"/>
              <a:t>flash</a:t>
            </a:r>
            <a:r>
              <a:rPr lang="ro-RO" dirty="0" smtClean="0"/>
              <a:t>: apare din cauza degradării stratului de oxid dintre PF și PC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O parte din electroni rămân blocați în stratul de oxid </a:t>
            </a:r>
            <a:r>
              <a:rPr lang="ro-RO" dirty="0" smtClean="0">
                <a:sym typeface="Symbol"/>
              </a:rPr>
              <a:t> reduc câmpul electric la ștergere 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ym typeface="Symbol"/>
              </a:rPr>
              <a:t>Este necesară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/>
              </a:rPr>
              <a:t>distribuirea uniformă a operațiilor </a:t>
            </a:r>
            <a:r>
              <a:rPr lang="ro-RO" dirty="0" smtClean="0">
                <a:sym typeface="Symbol"/>
              </a:rPr>
              <a:t>de scriere/ștergere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Unul din blocuri este realizat cu o durată de viață extinsă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/>
              <a:t>utilizat pentru evidența utilizării blocurilor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</p:spPr>
        <p:txBody>
          <a:bodyPr/>
          <a:lstStyle/>
          <a:p>
            <a:r>
              <a:rPr lang="ro-RO" dirty="0" smtClean="0"/>
              <a:t>Sisteme </a:t>
            </a:r>
            <a:r>
              <a:rPr lang="ro-RO" dirty="0"/>
              <a:t>de memorie NAND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776"/>
            <a:ext cx="8382000" cy="4748353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Uniformizarea dinamică </a:t>
            </a:r>
            <a:r>
              <a:rPr lang="ro-RO" dirty="0" smtClean="0"/>
              <a:t>a uzurii </a:t>
            </a:r>
          </a:p>
          <a:p>
            <a:pPr lvl="1"/>
            <a:r>
              <a:rPr lang="ro-RO" dirty="0" smtClean="0"/>
              <a:t>Utilizează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tabela de translatare a adreselor </a:t>
            </a:r>
            <a:r>
              <a:rPr lang="ro-RO" dirty="0" smtClean="0"/>
              <a:t>logice în adresele fizice ale memoriei </a:t>
            </a:r>
          </a:p>
          <a:p>
            <a:pPr lvl="1"/>
            <a:r>
              <a:rPr lang="ro-RO" dirty="0" smtClean="0"/>
              <a:t>La o nouă scriere, blocul fizic original este marcat invalid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/>
              <a:t>se va utiliza un alt bloc </a:t>
            </a:r>
          </a:p>
          <a:p>
            <a:pPr lvl="1"/>
            <a:r>
              <a:rPr lang="ro-RO" dirty="0" smtClean="0"/>
              <a:t>Sunt reutilizate doar blocurile cu conținut dinamic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Uniformizarea statică </a:t>
            </a:r>
            <a:r>
              <a:rPr lang="ro-RO" dirty="0" smtClean="0"/>
              <a:t>a uzurii </a:t>
            </a:r>
          </a:p>
          <a:p>
            <a:pPr lvl="1"/>
            <a:r>
              <a:rPr lang="ro-RO" dirty="0" smtClean="0"/>
              <a:t>Blocurile cu date statice sunt mutate periodic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</p:spPr>
        <p:txBody>
          <a:bodyPr/>
          <a:lstStyle/>
          <a:p>
            <a:r>
              <a:rPr lang="ro-RO" dirty="0" smtClean="0"/>
              <a:t>Sisteme </a:t>
            </a:r>
            <a:r>
              <a:rPr lang="ro-RO" dirty="0"/>
              <a:t>de memorie NAND </a:t>
            </a:r>
            <a:r>
              <a:rPr lang="ro-RO" dirty="0" smtClean="0"/>
              <a:t>(5)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776"/>
            <a:ext cx="8382000" cy="4896544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Factorul de amplificare a scrierii</a:t>
            </a:r>
          </a:p>
          <a:p>
            <a:pPr lvl="1"/>
            <a:r>
              <a:rPr lang="ro-RO" dirty="0" smtClean="0"/>
              <a:t>Raportul dintre volumul datelor scrise efectiv în memoria </a:t>
            </a:r>
            <a:r>
              <a:rPr lang="ro-RO" i="1" dirty="0" smtClean="0"/>
              <a:t>flash</a:t>
            </a:r>
            <a:r>
              <a:rPr lang="ro-RO" dirty="0" smtClean="0"/>
              <a:t> și cel al datelor transmise pentru scriere </a:t>
            </a:r>
          </a:p>
          <a:p>
            <a:pPr lvl="1"/>
            <a:r>
              <a:rPr lang="ro-RO" dirty="0" smtClean="0"/>
              <a:t>Scrierea într-un bloc care conține deja date: datele existente sunt copiate în memoria RAM și sunt combinate cu noile date </a:t>
            </a:r>
          </a:p>
          <a:p>
            <a:pPr lvl="1"/>
            <a:r>
              <a:rPr lang="ro-RO" dirty="0" smtClean="0"/>
              <a:t>În unele cazuri, factorul de amplificare a scrierii poate avea valori ridicate (20 .. 30)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Sisteme de memorie NAND </a:t>
            </a:r>
            <a:r>
              <a:rPr lang="ro-RO" dirty="0" smtClean="0"/>
              <a:t>(6)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9202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Executarea programelor </a:t>
            </a:r>
            <a:r>
              <a:rPr lang="ro-RO" dirty="0" smtClean="0"/>
              <a:t>dintr-o memorie cu arhitectură NAND </a:t>
            </a:r>
          </a:p>
          <a:p>
            <a:pPr lvl="1"/>
            <a:r>
              <a:rPr lang="ro-RO" dirty="0" smtClean="0"/>
              <a:t>Se utilizează tehnici ale memoriei virtuale </a:t>
            </a:r>
          </a:p>
          <a:p>
            <a:pPr lvl="1"/>
            <a:r>
              <a:rPr lang="ro-RO" dirty="0" smtClean="0"/>
              <a:t>Se copiază pagini din memoria NAND în memoria RAM </a:t>
            </a:r>
          </a:p>
          <a:p>
            <a:pPr lvl="1"/>
            <a:r>
              <a:rPr lang="ro-RO" dirty="0" smtClean="0"/>
              <a:t>Codul se execută în memoria RAM </a:t>
            </a:r>
          </a:p>
          <a:p>
            <a:pPr lvl="1"/>
            <a:r>
              <a:rPr lang="ro-RO" dirty="0" smtClean="0"/>
              <a:t>Circuitul de memorie NAND poate conține o memorie RAM cu dimensiuni limitate </a:t>
            </a:r>
          </a:p>
          <a:p>
            <a:pPr lvl="1"/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Sisteme de memorie NAND </a:t>
            </a:r>
            <a:r>
              <a:rPr lang="ro-RO" dirty="0" smtClean="0"/>
              <a:t>(7)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504753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Memorii NAND cu controler integrat </a:t>
            </a:r>
          </a:p>
          <a:p>
            <a:pPr lvl="1"/>
            <a:r>
              <a:rPr lang="ro-RO" dirty="0" smtClean="0"/>
              <a:t>Controlerul implementează unele funcții executate de UCP (de ex., corecția erorilor) </a:t>
            </a:r>
          </a:p>
          <a:p>
            <a:pPr lvl="1"/>
            <a:r>
              <a:rPr lang="ro-RO" dirty="0" smtClean="0"/>
              <a:t>Exemplu: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SmartNAND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(</a:t>
            </a:r>
            <a:r>
              <a:rPr lang="ro-RO" dirty="0" err="1" smtClean="0"/>
              <a:t>Toshiba</a:t>
            </a:r>
            <a:r>
              <a:rPr lang="ro-RO" dirty="0" smtClean="0"/>
              <a:t>) </a:t>
            </a:r>
          </a:p>
          <a:p>
            <a:pPr lvl="1"/>
            <a:r>
              <a:rPr lang="ro-RO" dirty="0" smtClean="0"/>
              <a:t>Avantaj: memoriile NAND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MLC </a:t>
            </a:r>
            <a:r>
              <a:rPr lang="ro-RO" dirty="0" smtClean="0"/>
              <a:t>pot fi utilizate cu procesoare de uz general, care nu dispun de module hardware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ECC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Interfața cu circuitele de memorie </a:t>
            </a:r>
          </a:p>
          <a:p>
            <a:pPr lvl="1">
              <a:spcBef>
                <a:spcPts val="600"/>
              </a:spcBef>
            </a:pPr>
            <a:r>
              <a:rPr lang="ro-RO" dirty="0" smtClean="0"/>
              <a:t>Este standardizată de grupul de lucru     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ONFI </a:t>
            </a:r>
            <a:r>
              <a:rPr lang="ro-RO" dirty="0" smtClean="0"/>
              <a:t>(</a:t>
            </a:r>
            <a:r>
              <a:rPr lang="ro-RO" i="1" dirty="0" smtClean="0"/>
              <a:t>Open NAND Flash </a:t>
            </a:r>
            <a:r>
              <a:rPr lang="ro-RO" i="1" dirty="0" err="1" smtClean="0"/>
              <a:t>Interface</a:t>
            </a:r>
            <a:r>
              <a:rPr lang="ro-RO" dirty="0" smtClean="0"/>
              <a:t>)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7" name="Picture 6" descr="onfi-logo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740352" y="5589240"/>
            <a:ext cx="1042797" cy="687896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Sisteme de memorie NAND </a:t>
            </a:r>
            <a:r>
              <a:rPr lang="ro-RO" dirty="0" smtClean="0"/>
              <a:t>(8)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24425"/>
          </a:xfrm>
        </p:spPr>
        <p:txBody>
          <a:bodyPr/>
          <a:lstStyle/>
          <a:p>
            <a:pPr lvl="1"/>
            <a:r>
              <a:rPr lang="ro-RO" dirty="0" smtClean="0"/>
              <a:t>Specifică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interfața fizică </a:t>
            </a:r>
            <a:r>
              <a:rPr lang="ro-RO" dirty="0" smtClean="0"/>
              <a:t>pentru circuite de memorie NAND în diferite capsule </a:t>
            </a:r>
          </a:p>
          <a:p>
            <a:pPr lvl="1"/>
            <a:r>
              <a:rPr lang="ro-RO" dirty="0" smtClean="0"/>
              <a:t>Definește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interfețele electrice</a:t>
            </a:r>
            <a:r>
              <a:rPr lang="ro-RO" dirty="0" smtClean="0"/>
              <a:t>: asincronă 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SDR</a:t>
            </a:r>
            <a:r>
              <a:rPr lang="ro-RO" dirty="0" smtClean="0"/>
              <a:t>) și sincrone 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NV-DDR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NV-DDR2/DDR3</a:t>
            </a:r>
            <a:r>
              <a:rPr lang="ro-RO" dirty="0" smtClean="0"/>
              <a:t>) </a:t>
            </a:r>
          </a:p>
          <a:p>
            <a:pPr lvl="1"/>
            <a:r>
              <a:rPr lang="ro-RO" dirty="0" smtClean="0"/>
              <a:t>Definește 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set standard de comenzi </a:t>
            </a:r>
            <a:r>
              <a:rPr lang="ro-RO" dirty="0" smtClean="0"/>
              <a:t>pentru citire, scriere și ștergere </a:t>
            </a:r>
          </a:p>
          <a:p>
            <a:pPr lvl="1"/>
            <a:r>
              <a:rPr lang="ro-RO" dirty="0" smtClean="0"/>
              <a:t>Definește un mecanism pentru citirea caracteristicilor memoriei </a:t>
            </a:r>
          </a:p>
          <a:p>
            <a:pPr lvl="1"/>
            <a:r>
              <a:rPr lang="ro-RO" dirty="0" smtClean="0"/>
              <a:t>Versiunea curentă: 4.1 (dec. 2017) </a:t>
            </a:r>
          </a:p>
          <a:p>
            <a:pPr lvl="1"/>
            <a:r>
              <a:rPr lang="ro-RO" dirty="0" smtClean="0"/>
              <a:t>Rate de transfer de până la 1200 MT/s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</a:t>
            </a:r>
            <a:r>
              <a:rPr lang="ro-RO" i="1" dirty="0" smtClean="0"/>
              <a:t>flash</a:t>
            </a:r>
            <a:endParaRPr lang="ro-RO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235006"/>
          </a:xfrm>
        </p:spPr>
        <p:txBody>
          <a:bodyPr/>
          <a:lstStyle/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</a:t>
            </a:r>
            <a:r>
              <a:rPr lang="en-US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flash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ro-RO" dirty="0" smtClean="0"/>
              <a:t>Principiul de funcționare</a:t>
            </a:r>
          </a:p>
          <a:p>
            <a:pPr lvl="2"/>
            <a:r>
              <a:rPr lang="ro-RO" dirty="0" smtClean="0"/>
              <a:t>Arhitectura NOR</a:t>
            </a:r>
          </a:p>
          <a:p>
            <a:pPr lvl="2"/>
            <a:r>
              <a:rPr lang="ro-RO" dirty="0" smtClean="0"/>
              <a:t>Arhitectura NAND</a:t>
            </a:r>
          </a:p>
          <a:p>
            <a:pPr lvl="2"/>
            <a:r>
              <a:rPr lang="ro-RO" dirty="0" smtClean="0"/>
              <a:t>Sisteme de memorie NAND</a:t>
            </a:r>
          </a:p>
          <a:p>
            <a:pPr lvl="2"/>
            <a:r>
              <a:rPr lang="ro-RO" dirty="0" smtClean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Formatul </a:t>
            </a:r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SD</a:t>
            </a:r>
          </a:p>
          <a:p>
            <a:pPr lvl="2"/>
            <a:r>
              <a:rPr lang="ro-RO" dirty="0" smtClean="0"/>
              <a:t>Formatul SSD</a:t>
            </a:r>
          </a:p>
          <a:p>
            <a:pPr lvl="2"/>
            <a:r>
              <a:rPr lang="ro-RO" dirty="0" smtClean="0"/>
              <a:t>Formatul </a:t>
            </a:r>
            <a:r>
              <a:rPr lang="ro-RO" dirty="0" err="1" smtClean="0"/>
              <a:t>e</a:t>
            </a:r>
            <a:r>
              <a:rPr lang="ro-RO" dirty="0" err="1" smtClean="0">
                <a:sym typeface="Symbol"/>
              </a:rPr>
              <a:t></a:t>
            </a:r>
            <a:r>
              <a:rPr lang="ro-RO" dirty="0" err="1" smtClean="0"/>
              <a:t>MMC</a:t>
            </a:r>
            <a:r>
              <a:rPr lang="ro-RO" dirty="0" smtClean="0"/>
              <a:t> </a:t>
            </a:r>
          </a:p>
          <a:p>
            <a:pPr lvl="2"/>
            <a:r>
              <a:rPr lang="ro-RO" dirty="0"/>
              <a:t>Formatul </a:t>
            </a:r>
            <a:r>
              <a:rPr lang="ro-RO" dirty="0" smtClean="0"/>
              <a:t>UFS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Formatul SD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49047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 </a:t>
            </a:r>
            <a:r>
              <a:rPr lang="ro-RO" dirty="0" smtClean="0"/>
              <a:t>– </a:t>
            </a:r>
            <a:r>
              <a:rPr lang="ro-RO" i="1" dirty="0" smtClean="0"/>
              <a:t>Secure Digital </a:t>
            </a:r>
          </a:p>
          <a:p>
            <a:pPr>
              <a:spcBef>
                <a:spcPts val="600"/>
              </a:spcBef>
            </a:pPr>
            <a:r>
              <a:rPr lang="ro-RO" dirty="0" smtClean="0"/>
              <a:t>Format creat de firmele Matsushita, SanDisk și Toshiba </a:t>
            </a:r>
          </a:p>
          <a:p>
            <a:pPr>
              <a:spcBef>
                <a:spcPts val="600"/>
              </a:spcBef>
            </a:pPr>
            <a:r>
              <a:rPr lang="ro-RO" dirty="0" smtClean="0"/>
              <a:t>Standarde actualizate de asociația SDA (SD </a:t>
            </a:r>
            <a:r>
              <a:rPr lang="ro-RO" i="1" dirty="0" smtClean="0"/>
              <a:t>Card Association</a:t>
            </a:r>
            <a:r>
              <a:rPr lang="ro-RO" dirty="0" smtClean="0"/>
              <a:t>, </a:t>
            </a:r>
            <a:r>
              <a:rPr lang="ro-RO" dirty="0" smtClean="0">
                <a:hlinkClick r:id="rId3"/>
              </a:rPr>
              <a:t>www.sdcard.org</a:t>
            </a:r>
            <a:r>
              <a:rPr lang="ro-RO" dirty="0" smtClean="0"/>
              <a:t>) </a:t>
            </a:r>
          </a:p>
          <a:p>
            <a:pPr>
              <a:spcBef>
                <a:spcPts val="600"/>
              </a:spcBef>
            </a:pPr>
            <a:r>
              <a:rPr lang="ro-RO" dirty="0" smtClean="0"/>
              <a:t>Patru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familii</a:t>
            </a:r>
            <a:r>
              <a:rPr lang="ro-RO" dirty="0" smtClean="0"/>
              <a:t>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SDSC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SDHC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SDXC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SDIO </a:t>
            </a:r>
          </a:p>
          <a:p>
            <a:pPr>
              <a:spcBef>
                <a:spcPts val="600"/>
              </a:spcBef>
            </a:pPr>
            <a:r>
              <a:rPr lang="ro-RO" dirty="0" smtClean="0"/>
              <a:t>Trei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dimensiuni</a:t>
            </a:r>
            <a:r>
              <a:rPr lang="ro-RO" dirty="0" smtClean="0"/>
              <a:t>: standard, mini, micro </a:t>
            </a:r>
          </a:p>
          <a:p>
            <a:pPr>
              <a:spcBef>
                <a:spcPts val="600"/>
              </a:spcBef>
            </a:pPr>
            <a:r>
              <a:rPr lang="ro-RO" dirty="0" smtClean="0"/>
              <a:t>Facilitate de protecție a conținutului </a:t>
            </a:r>
          </a:p>
          <a:p>
            <a:pPr lvl="1"/>
            <a:r>
              <a:rPr lang="ro-RO" dirty="0" smtClean="0"/>
              <a:t>Zonă protejată: </a:t>
            </a:r>
            <a:r>
              <a:rPr lang="en-US" dirty="0" smtClean="0"/>
              <a:t>~</a:t>
            </a:r>
            <a:r>
              <a:rPr lang="ro-RO" dirty="0" smtClean="0"/>
              <a:t>10% din capacitate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29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7" name="Picture 6" descr="sda-logo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444208" y="2708920"/>
            <a:ext cx="2438400" cy="3333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SD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67514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  <a:r>
              <a:rPr lang="ro-RO" dirty="0" smtClean="0"/>
              <a:t>sau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SDSC </a:t>
            </a:r>
            <a:r>
              <a:rPr lang="ro-RO" dirty="0" smtClean="0"/>
              <a:t>(SD Standard </a:t>
            </a:r>
            <a:r>
              <a:rPr lang="ro-RO" dirty="0" err="1" smtClean="0"/>
              <a:t>Capacity</a:t>
            </a:r>
            <a:r>
              <a:rPr lang="ro-RO" dirty="0" smtClean="0"/>
              <a:t>) </a:t>
            </a:r>
          </a:p>
          <a:p>
            <a:pPr lvl="1"/>
            <a:r>
              <a:rPr lang="ro-RO" dirty="0" smtClean="0"/>
              <a:t>Capacitate: până la 2 GB </a:t>
            </a:r>
          </a:p>
          <a:p>
            <a:pPr lvl="1"/>
            <a:r>
              <a:rPr lang="ro-RO" dirty="0" smtClean="0"/>
              <a:t>Sistem de fișiere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FAT16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SDHC </a:t>
            </a:r>
            <a:r>
              <a:rPr lang="ro-RO" dirty="0" smtClean="0"/>
              <a:t>(SD </a:t>
            </a:r>
            <a:r>
              <a:rPr lang="ro-RO" dirty="0" err="1" smtClean="0"/>
              <a:t>High</a:t>
            </a:r>
            <a:r>
              <a:rPr lang="ro-RO" dirty="0" smtClean="0"/>
              <a:t> </a:t>
            </a:r>
            <a:r>
              <a:rPr lang="ro-RO" dirty="0" err="1" smtClean="0"/>
              <a:t>Capacity</a:t>
            </a:r>
            <a:r>
              <a:rPr lang="ro-RO" dirty="0" smtClean="0"/>
              <a:t>) </a:t>
            </a:r>
          </a:p>
          <a:p>
            <a:pPr lvl="1"/>
            <a:r>
              <a:rPr lang="ro-RO" dirty="0" smtClean="0"/>
              <a:t>Capacitate: </a:t>
            </a:r>
            <a:r>
              <a:rPr lang="en-US" dirty="0" smtClean="0"/>
              <a:t>&gt;</a:t>
            </a:r>
            <a:r>
              <a:rPr lang="ro-RO" dirty="0" smtClean="0"/>
              <a:t>2 GB, până la 32 GB </a:t>
            </a:r>
          </a:p>
          <a:p>
            <a:pPr lvl="1"/>
            <a:r>
              <a:rPr lang="ro-RO" dirty="0" smtClean="0"/>
              <a:t>Sistem de fișiere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FAT32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SDXC </a:t>
            </a:r>
            <a:r>
              <a:rPr lang="ro-RO" dirty="0" smtClean="0"/>
              <a:t>(SD </a:t>
            </a:r>
            <a:r>
              <a:rPr lang="ro-RO" dirty="0" err="1" smtClean="0"/>
              <a:t>eXtended</a:t>
            </a:r>
            <a:r>
              <a:rPr lang="ro-RO" dirty="0" smtClean="0"/>
              <a:t> </a:t>
            </a:r>
            <a:r>
              <a:rPr lang="ro-RO" dirty="0" err="1" smtClean="0"/>
              <a:t>Capacity</a:t>
            </a:r>
            <a:r>
              <a:rPr lang="ro-RO" dirty="0" smtClean="0"/>
              <a:t>) </a:t>
            </a:r>
          </a:p>
          <a:p>
            <a:pPr lvl="1"/>
            <a:r>
              <a:rPr lang="ro-RO" dirty="0" smtClean="0"/>
              <a:t>Capacitate: </a:t>
            </a:r>
            <a:r>
              <a:rPr lang="en-US" dirty="0" smtClean="0"/>
              <a:t>&gt;</a:t>
            </a:r>
            <a:r>
              <a:rPr lang="ro-RO" dirty="0" smtClean="0"/>
              <a:t>32 GB, până la 2 TB</a:t>
            </a:r>
          </a:p>
          <a:p>
            <a:pPr lvl="1"/>
            <a:r>
              <a:rPr lang="ro-RO" dirty="0" smtClean="0"/>
              <a:t>Sistem de fișiere </a:t>
            </a:r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exFAT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(Microsoft)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56" y="1246476"/>
            <a:ext cx="676275" cy="88582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56" y="2924944"/>
            <a:ext cx="676275" cy="8953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84356" y="4581128"/>
            <a:ext cx="676275" cy="89535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SD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01314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SDIO </a:t>
            </a:r>
            <a:r>
              <a:rPr lang="ro-RO" dirty="0" smtClean="0"/>
              <a:t>(SD </a:t>
            </a:r>
            <a:r>
              <a:rPr lang="ro-RO" i="1" dirty="0" smtClean="0"/>
              <a:t>Input Output</a:t>
            </a:r>
            <a:r>
              <a:rPr lang="ro-RO" dirty="0" smtClean="0"/>
              <a:t>) </a:t>
            </a:r>
          </a:p>
          <a:p>
            <a:pPr lvl="1"/>
            <a:r>
              <a:rPr lang="ro-RO" dirty="0" smtClean="0"/>
              <a:t>Extensie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 </a:t>
            </a:r>
            <a:r>
              <a:rPr lang="ro-RO" dirty="0" smtClean="0"/>
              <a:t>cu funcții de I/E </a:t>
            </a:r>
          </a:p>
          <a:p>
            <a:pPr lvl="1"/>
            <a:r>
              <a:rPr lang="ro-RO" dirty="0" smtClean="0"/>
              <a:t>Se utilizează conectorul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 </a:t>
            </a:r>
            <a:r>
              <a:rPr lang="ro-RO" dirty="0" smtClean="0"/>
              <a:t>pentru interfețe de rețea, receptoare GPS, adaptoare TV etc.</a:t>
            </a:r>
          </a:p>
          <a:p>
            <a:r>
              <a:rPr lang="ro-RO" dirty="0" smtClean="0"/>
              <a:t>Dimensiuni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Standard</a:t>
            </a:r>
            <a:r>
              <a:rPr lang="ro-RO" dirty="0"/>
              <a:t>:</a:t>
            </a:r>
            <a:r>
              <a:rPr lang="ro-RO" dirty="0" smtClean="0">
                <a:solidFill>
                  <a:schemeClr val="tx2"/>
                </a:solidFill>
              </a:rPr>
              <a:t> </a:t>
            </a:r>
            <a:r>
              <a:rPr lang="ro-RO" dirty="0"/>
              <a:t>32 x 24 x 2,1 mm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Mini</a:t>
            </a:r>
            <a:r>
              <a:rPr lang="ro-RO" dirty="0" smtClean="0"/>
              <a:t>: 20 x 21,5 x1,4 mm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Micro</a:t>
            </a:r>
            <a:r>
              <a:rPr lang="ro-RO" dirty="0" smtClean="0"/>
              <a:t>: 11 x 15 x 1 mm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SDXC</a:t>
            </a:r>
            <a:r>
              <a:rPr lang="ro-RO" dirty="0" smtClean="0"/>
              <a:t>: doar standard și micro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7" name="Picture 6" descr="MMC-SD-miniSD-microSD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164288" y="3429000"/>
            <a:ext cx="1571625" cy="28575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SD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38248"/>
          </a:xfrm>
        </p:spPr>
        <p:txBody>
          <a:bodyPr/>
          <a:lstStyle/>
          <a:p>
            <a:endParaRPr lang="ro-RO" dirty="0" smtClean="0"/>
          </a:p>
          <a:p>
            <a:endParaRPr lang="ro-RO" dirty="0" smtClean="0"/>
          </a:p>
          <a:p>
            <a:endParaRPr lang="ro-RO" dirty="0" smtClean="0"/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Moduri de transfer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Magistrala SPI </a:t>
            </a:r>
            <a:r>
              <a:rPr lang="ro-RO" dirty="0" smtClean="0"/>
              <a:t>(</a:t>
            </a:r>
            <a:r>
              <a:rPr lang="ro-RO" i="1" dirty="0" smtClean="0"/>
              <a:t>Serial </a:t>
            </a:r>
            <a:r>
              <a:rPr lang="ro-RO" i="1" dirty="0" err="1" smtClean="0"/>
              <a:t>Peripheral</a:t>
            </a:r>
            <a:r>
              <a:rPr lang="ro-RO" i="1" dirty="0" smtClean="0"/>
              <a:t> </a:t>
            </a:r>
            <a:r>
              <a:rPr lang="ro-RO" i="1" dirty="0" err="1" smtClean="0"/>
              <a:t>Interface</a:t>
            </a:r>
            <a:r>
              <a:rPr lang="ro-RO" dirty="0" smtClean="0"/>
              <a:t>)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Magistrala SD, 1 bit</a:t>
            </a:r>
            <a:r>
              <a:rPr lang="ro-RO" dirty="0" smtClean="0"/>
              <a:t>: o linie pentru comenzi, o linie pentru date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Magistrala SD, 4 biți</a:t>
            </a:r>
            <a:r>
              <a:rPr lang="ro-RO" dirty="0" smtClean="0"/>
              <a:t>: o linie pentru comenzi, patru linii pentru date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8" name="Picture 7" descr="sdhc-32gb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411760" y="1268760"/>
            <a:ext cx="1417320" cy="1861414"/>
          </a:xfrm>
          <a:prstGeom prst="rect">
            <a:avLst/>
          </a:prstGeom>
        </p:spPr>
      </p:pic>
      <p:pic>
        <p:nvPicPr>
          <p:cNvPr id="9" name="Picture 8" descr="sdhc-int.jpg"/>
          <p:cNvPicPr>
            <a:picLocks noChangeAspect="1"/>
          </p:cNvPicPr>
          <p:nvPr/>
        </p:nvPicPr>
        <p:blipFill>
          <a:blip r:embed="rId4" cstate="print"/>
          <a:srcRect l="12753" t="8991" r="12173" b="8991"/>
          <a:stretch>
            <a:fillRect/>
          </a:stretch>
        </p:blipFill>
        <p:spPr>
          <a:xfrm>
            <a:off x="5292080" y="1268760"/>
            <a:ext cx="1398663" cy="1871708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SD </a:t>
            </a:r>
            <a:r>
              <a:rPr lang="ro-RO" dirty="0" smtClean="0"/>
              <a:t>(5)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5226046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Interfața 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Interfață serială sincronă</a:t>
            </a:r>
            <a:r>
              <a:rPr lang="ro-RO" dirty="0" smtClean="0"/>
              <a:t>: calculatorul sau dispozitivul gazdă furnizează un semnal de ceas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Comenzi </a:t>
            </a:r>
            <a:r>
              <a:rPr lang="ro-RO" dirty="0" smtClean="0"/>
              <a:t>de 48 de biți </a:t>
            </a:r>
          </a:p>
          <a:p>
            <a:pPr lvl="2"/>
            <a:r>
              <a:rPr lang="ro-RO" dirty="0" smtClean="0"/>
              <a:t>Determinarea tipului, a capacității și a posibilităților cartelei SD </a:t>
            </a:r>
          </a:p>
          <a:p>
            <a:pPr lvl="2"/>
            <a:r>
              <a:rPr lang="ro-RO" dirty="0" smtClean="0"/>
              <a:t>Utilizarea tensiunii de 1,8 V 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SDHC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SDXC</a:t>
            </a:r>
            <a:r>
              <a:rPr lang="ro-RO" dirty="0" smtClean="0"/>
              <a:t>) </a:t>
            </a:r>
          </a:p>
          <a:p>
            <a:pPr lvl="2"/>
            <a:r>
              <a:rPr lang="ro-RO" dirty="0" smtClean="0"/>
              <a:t>Utilizarea unei frecvențe de ceas mai ridicate </a:t>
            </a:r>
          </a:p>
          <a:p>
            <a:pPr lvl="2"/>
            <a:r>
              <a:rPr lang="ro-RO" dirty="0" smtClean="0"/>
              <a:t>Citirea sau scrierea unui bloc </a:t>
            </a:r>
          </a:p>
          <a:p>
            <a:pPr lvl="2"/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SD </a:t>
            </a:r>
            <a:r>
              <a:rPr lang="ro-RO" dirty="0" smtClean="0"/>
              <a:t>(6)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95159"/>
          </a:xfrm>
        </p:spPr>
        <p:txBody>
          <a:bodyPr/>
          <a:lstStyle/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Viteza interfeței</a:t>
            </a:r>
          </a:p>
          <a:p>
            <a:pPr lvl="2"/>
            <a:r>
              <a:rPr lang="ro-RO" dirty="0" smtClean="0"/>
              <a:t>Viteza implicită: 12,5 MB/s 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SDHC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SDXC</a:t>
            </a:r>
            <a:r>
              <a:rPr lang="ro-RO" dirty="0" smtClean="0"/>
              <a:t>)</a:t>
            </a:r>
          </a:p>
          <a:p>
            <a:pPr lvl="2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HS</a:t>
            </a:r>
            <a:r>
              <a:rPr lang="ro-RO" dirty="0" smtClean="0"/>
              <a:t> (</a:t>
            </a:r>
            <a:r>
              <a:rPr lang="ro-RO" i="1" dirty="0" err="1" smtClean="0"/>
              <a:t>High</a:t>
            </a:r>
            <a:r>
              <a:rPr lang="ro-RO" i="1" dirty="0" smtClean="0"/>
              <a:t> </a:t>
            </a:r>
            <a:r>
              <a:rPr lang="ro-RO" i="1" dirty="0" err="1" smtClean="0"/>
              <a:t>Speed</a:t>
            </a:r>
            <a:r>
              <a:rPr lang="ro-RO" dirty="0" smtClean="0"/>
              <a:t>): </a:t>
            </a:r>
            <a:r>
              <a:rPr lang="ro-RO" dirty="0"/>
              <a:t>25 MB/s 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</a:t>
            </a:r>
            <a:r>
              <a:rPr lang="ro-RO" dirty="0"/>
              <a:t>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SDHC</a:t>
            </a:r>
            <a:r>
              <a:rPr lang="ro-RO" dirty="0"/>
              <a:t>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SDXC</a:t>
            </a:r>
            <a:r>
              <a:rPr lang="ro-RO" dirty="0"/>
              <a:t>)</a:t>
            </a:r>
            <a:endParaRPr lang="ro-RO" dirty="0" smtClean="0"/>
          </a:p>
          <a:p>
            <a:pPr lvl="2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UHS-I </a:t>
            </a:r>
            <a:r>
              <a:rPr lang="ro-RO" dirty="0" smtClean="0"/>
              <a:t>(</a:t>
            </a:r>
            <a:r>
              <a:rPr lang="ro-RO" i="1" dirty="0" smtClean="0"/>
              <a:t>Ultra </a:t>
            </a:r>
            <a:r>
              <a:rPr lang="ro-RO" i="1" dirty="0" err="1" smtClean="0"/>
              <a:t>High</a:t>
            </a:r>
            <a:r>
              <a:rPr lang="ro-RO" i="1" dirty="0" smtClean="0"/>
              <a:t> </a:t>
            </a:r>
            <a:r>
              <a:rPr lang="ro-RO" i="1" dirty="0" err="1" smtClean="0"/>
              <a:t>Speed</a:t>
            </a:r>
            <a:r>
              <a:rPr lang="ro-RO" i="1" dirty="0" smtClean="0"/>
              <a:t>-</a:t>
            </a:r>
            <a:r>
              <a:rPr lang="ro-RO" dirty="0" smtClean="0"/>
              <a:t>I): 50 MB/s; </a:t>
            </a:r>
            <a:r>
              <a:rPr lang="ro-RO" dirty="0"/>
              <a:t>104 MB/s 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SDHC</a:t>
            </a:r>
            <a:r>
              <a:rPr lang="ro-RO" dirty="0"/>
              <a:t>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SDXC</a:t>
            </a:r>
            <a:r>
              <a:rPr lang="ro-RO" dirty="0"/>
              <a:t>)</a:t>
            </a:r>
          </a:p>
          <a:p>
            <a:pPr lvl="2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UHS-II</a:t>
            </a:r>
            <a:r>
              <a:rPr lang="ro-RO" dirty="0" smtClean="0"/>
              <a:t>: 156 MB/s; 312 MB/s </a:t>
            </a:r>
            <a:r>
              <a:rPr lang="ro-RO" dirty="0"/>
              <a:t>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SDHC</a:t>
            </a:r>
            <a:r>
              <a:rPr lang="ro-RO" dirty="0"/>
              <a:t>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SDXC</a:t>
            </a:r>
            <a:r>
              <a:rPr lang="ro-RO" dirty="0"/>
              <a:t>)</a:t>
            </a:r>
            <a:endParaRPr lang="ro-RO" dirty="0" smtClean="0"/>
          </a:p>
          <a:p>
            <a:pPr lvl="2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UHS-III</a:t>
            </a:r>
            <a:r>
              <a:rPr lang="ro-RO" dirty="0" smtClean="0"/>
              <a:t>: 312 MB/s; </a:t>
            </a:r>
            <a:r>
              <a:rPr lang="ro-RO" dirty="0"/>
              <a:t>624 MB/s (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SDHC</a:t>
            </a:r>
            <a:r>
              <a:rPr lang="ro-RO" dirty="0"/>
              <a:t>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SDXC</a:t>
            </a:r>
            <a:r>
              <a:rPr lang="ro-RO" dirty="0" smtClean="0"/>
              <a:t>)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Viteza operațiilor </a:t>
            </a:r>
            <a:r>
              <a:rPr lang="ro-RO" dirty="0"/>
              <a:t>de citire/scriere </a:t>
            </a:r>
          </a:p>
          <a:p>
            <a:pPr lvl="1"/>
            <a:r>
              <a:rPr lang="ro-RO" dirty="0"/>
              <a:t>Depinde de: frecvența erorilor; factorul de amplificare a scrierii; necesitatea ștergerii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4448" y="2924944"/>
            <a:ext cx="152400" cy="2571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8248" y="3797565"/>
            <a:ext cx="228600" cy="2571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5373" y="4283332"/>
            <a:ext cx="371475" cy="2571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SD </a:t>
            </a:r>
            <a:r>
              <a:rPr lang="ro-RO" dirty="0" smtClean="0"/>
              <a:t>(7)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4"/>
            <a:ext cx="8382000" cy="4407360"/>
          </a:xfrm>
        </p:spPr>
        <p:txBody>
          <a:bodyPr/>
          <a:lstStyle/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Clasa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 viteză</a:t>
            </a:r>
            <a:r>
              <a:rPr lang="ro-RO" dirty="0"/>
              <a:t>: </a:t>
            </a:r>
            <a:r>
              <a:rPr lang="ro-RO" dirty="0" smtClean="0"/>
              <a:t>indică viteza minimă </a:t>
            </a:r>
            <a:r>
              <a:rPr lang="ro-RO" dirty="0"/>
              <a:t>(MB/s) la operațiile secvențiale de scriere </a:t>
            </a:r>
          </a:p>
          <a:p>
            <a:pPr lvl="1"/>
            <a:r>
              <a:rPr lang="ro-RO" dirty="0" smtClean="0"/>
              <a:t>Clase standard: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C2</a:t>
            </a:r>
            <a:r>
              <a:rPr lang="ro-RO" dirty="0" smtClean="0"/>
              <a:t>;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C4</a:t>
            </a:r>
            <a:r>
              <a:rPr lang="ro-RO" dirty="0" smtClean="0"/>
              <a:t>;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C6</a:t>
            </a:r>
            <a:r>
              <a:rPr lang="ro-RO" dirty="0" smtClean="0"/>
              <a:t>;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C10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 smtClean="0"/>
              <a:t>Clase UHS: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U1</a:t>
            </a:r>
            <a:r>
              <a:rPr lang="ro-RO" dirty="0" smtClean="0"/>
              <a:t> (10 MB/s);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U3</a:t>
            </a:r>
            <a:r>
              <a:rPr lang="ro-RO" dirty="0" smtClean="0"/>
              <a:t> (30 MB/s)</a:t>
            </a:r>
          </a:p>
          <a:p>
            <a:pPr lvl="1"/>
            <a:r>
              <a:rPr lang="ro-RO" dirty="0" smtClean="0"/>
              <a:t>Clase video: </a:t>
            </a:r>
          </a:p>
          <a:p>
            <a:pPr lvl="2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V6</a:t>
            </a:r>
            <a:r>
              <a:rPr lang="ro-RO" dirty="0" smtClean="0"/>
              <a:t>;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V10</a:t>
            </a:r>
            <a:r>
              <a:rPr lang="ro-RO" dirty="0" smtClean="0"/>
              <a:t> (definiție standard – SD)</a:t>
            </a:r>
          </a:p>
          <a:p>
            <a:pPr lvl="2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V30</a:t>
            </a:r>
            <a:r>
              <a:rPr lang="ro-RO" dirty="0" smtClean="0"/>
              <a:t> (HD; 24, 25, 30, 50, sau 60 cadre/s)</a:t>
            </a:r>
          </a:p>
          <a:p>
            <a:pPr lvl="2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V60</a:t>
            </a:r>
            <a:r>
              <a:rPr lang="ro-RO" dirty="0" smtClean="0"/>
              <a:t> (UHD 4K; 60 sau 120 cadre/s)</a:t>
            </a:r>
          </a:p>
          <a:p>
            <a:pPr lvl="2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V90</a:t>
            </a:r>
            <a:r>
              <a:rPr lang="ro-RO" dirty="0" smtClean="0"/>
              <a:t> (UHD 8K; 60 sau 120 cadre/s)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4143" y="2420888"/>
            <a:ext cx="390525" cy="4000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5142" y="2420888"/>
            <a:ext cx="390525" cy="40005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141" y="2414574"/>
            <a:ext cx="390525" cy="40005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7140" y="2414574"/>
            <a:ext cx="390525" cy="40005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36141" y="2993771"/>
            <a:ext cx="382016" cy="32232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7587" y="2993771"/>
            <a:ext cx="370078" cy="322326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6174" y="4077072"/>
            <a:ext cx="361950" cy="257175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4277" y="4077038"/>
            <a:ext cx="476250" cy="257175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774" y="4509120"/>
            <a:ext cx="514350" cy="257175"/>
          </a:xfrm>
          <a:prstGeom prst="rect">
            <a:avLst/>
          </a:prstGeom>
        </p:spPr>
      </p:pic>
      <p:pic>
        <p:nvPicPr>
          <p:cNvPr id="17" name="Picture 16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3774" y="4986510"/>
            <a:ext cx="514350" cy="257175"/>
          </a:xfrm>
          <a:prstGeom prst="rect">
            <a:avLst/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7246" y="5463900"/>
            <a:ext cx="51435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6048"/>
      </p:ext>
    </p:extLst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SD </a:t>
            </a:r>
            <a:r>
              <a:rPr lang="ro-RO" dirty="0" smtClean="0"/>
              <a:t>(8)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40769"/>
            <a:ext cx="8382000" cy="4968552"/>
          </a:xfrm>
        </p:spPr>
        <p:txBody>
          <a:bodyPr>
            <a:normAutofit/>
          </a:bodyPr>
          <a:lstStyle/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Clasa de performanță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pentru rularea aplicațiilor</a:t>
            </a:r>
            <a:r>
              <a:rPr lang="ro-RO" dirty="0"/>
              <a:t> </a:t>
            </a:r>
            <a:r>
              <a:rPr lang="ro-RO" dirty="0" smtClean="0"/>
              <a:t>indică:</a:t>
            </a:r>
          </a:p>
          <a:p>
            <a:pPr lvl="2"/>
            <a:r>
              <a:rPr lang="ro-RO" dirty="0" smtClean="0"/>
              <a:t>Viteza minimă la operațiile aleatorii de citire și scriere în operații de I/E pe secundă (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IOPS</a:t>
            </a:r>
            <a:r>
              <a:rPr lang="ro-RO" dirty="0" smtClean="0"/>
              <a:t> – </a:t>
            </a:r>
            <a:r>
              <a:rPr lang="ro-RO" i="1" dirty="0" err="1" smtClean="0"/>
              <a:t>Inputs</a:t>
            </a:r>
            <a:r>
              <a:rPr lang="ro-RO" i="1" dirty="0" smtClean="0"/>
              <a:t>/</a:t>
            </a:r>
            <a:r>
              <a:rPr lang="ro-RO" i="1" dirty="0" err="1" smtClean="0"/>
              <a:t>Outputs</a:t>
            </a:r>
            <a:r>
              <a:rPr lang="ro-RO" i="1" dirty="0" smtClean="0"/>
              <a:t> Per </a:t>
            </a:r>
            <a:r>
              <a:rPr lang="ro-RO" i="1" dirty="0" err="1" smtClean="0"/>
              <a:t>Second</a:t>
            </a:r>
            <a:r>
              <a:rPr lang="ro-RO" dirty="0" smtClean="0"/>
              <a:t>)</a:t>
            </a:r>
          </a:p>
          <a:p>
            <a:pPr lvl="2"/>
            <a:r>
              <a:rPr lang="ro-RO" dirty="0" smtClean="0"/>
              <a:t>Viteza minimă la operațiile secvențiale de scriere (MB/s)</a:t>
            </a:r>
            <a:endParaRPr lang="en-US" dirty="0"/>
          </a:p>
          <a:p>
            <a:pPr lvl="1"/>
            <a:r>
              <a:rPr lang="ro-RO" dirty="0" smtClean="0"/>
              <a:t>Clasa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A1</a:t>
            </a:r>
            <a:r>
              <a:rPr lang="ro-RO" dirty="0" smtClean="0"/>
              <a:t>: 1500 IOPS (R, aleatorie); 500     IOPS (W, aleatorie); 10 MB/s (W, secvențială)</a:t>
            </a:r>
          </a:p>
          <a:p>
            <a:pPr lvl="1"/>
            <a:r>
              <a:rPr lang="ro-RO" dirty="0"/>
              <a:t>Clasa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A2</a:t>
            </a:r>
            <a:r>
              <a:rPr lang="ro-RO" dirty="0" smtClean="0"/>
              <a:t>: 4000 </a:t>
            </a:r>
            <a:r>
              <a:rPr lang="ro-RO" dirty="0"/>
              <a:t>IOPS (R, aleatorie); </a:t>
            </a:r>
            <a:r>
              <a:rPr lang="ro-RO" dirty="0" smtClean="0"/>
              <a:t>2000       IOPS (W</a:t>
            </a:r>
            <a:r>
              <a:rPr lang="ro-RO" dirty="0"/>
              <a:t>, aleatorie); 10 MB/s (W, secvențială</a:t>
            </a:r>
            <a:r>
              <a:rPr lang="ro-RO" dirty="0" smtClean="0"/>
              <a:t>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4509120"/>
            <a:ext cx="381000" cy="25717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750" y="5445224"/>
            <a:ext cx="476250" cy="257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3083664"/>
      </p:ext>
    </p:extLst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</a:t>
            </a:r>
            <a:r>
              <a:rPr lang="ro-RO" i="1" dirty="0" smtClean="0"/>
              <a:t>flash</a:t>
            </a:r>
            <a:endParaRPr lang="ro-RO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235006"/>
          </a:xfrm>
        </p:spPr>
        <p:txBody>
          <a:bodyPr/>
          <a:lstStyle/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</a:t>
            </a:r>
            <a:r>
              <a:rPr lang="en-US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flash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ro-RO" dirty="0" smtClean="0"/>
              <a:t>Principiul de funcționare</a:t>
            </a:r>
          </a:p>
          <a:p>
            <a:pPr lvl="2"/>
            <a:r>
              <a:rPr lang="ro-RO" dirty="0" smtClean="0"/>
              <a:t>Arhitectura NOR</a:t>
            </a:r>
          </a:p>
          <a:p>
            <a:pPr lvl="2"/>
            <a:r>
              <a:rPr lang="ro-RO" dirty="0" smtClean="0"/>
              <a:t>Arhitectura NAND</a:t>
            </a:r>
          </a:p>
          <a:p>
            <a:pPr lvl="2"/>
            <a:r>
              <a:rPr lang="ro-RO" dirty="0" smtClean="0"/>
              <a:t>Sisteme de memorie NAND</a:t>
            </a:r>
          </a:p>
          <a:p>
            <a:pPr lvl="2"/>
            <a:r>
              <a:rPr lang="ro-RO" dirty="0" smtClean="0"/>
              <a:t>Formatul SD</a:t>
            </a:r>
          </a:p>
          <a:p>
            <a:pPr lvl="2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Formatul SSD</a:t>
            </a:r>
          </a:p>
          <a:p>
            <a:pPr lvl="2"/>
            <a:r>
              <a:rPr lang="ro-RO" dirty="0" smtClean="0"/>
              <a:t>Formatul </a:t>
            </a:r>
            <a:r>
              <a:rPr lang="ro-RO" dirty="0" err="1" smtClean="0"/>
              <a:t>e</a:t>
            </a:r>
            <a:r>
              <a:rPr lang="ro-RO" dirty="0" err="1" smtClean="0">
                <a:sym typeface="Symbol"/>
              </a:rPr>
              <a:t></a:t>
            </a:r>
            <a:r>
              <a:rPr lang="ro-RO" dirty="0" err="1" smtClean="0"/>
              <a:t>MMC</a:t>
            </a:r>
            <a:r>
              <a:rPr lang="ro-RO" dirty="0" smtClean="0"/>
              <a:t> </a:t>
            </a:r>
          </a:p>
          <a:p>
            <a:pPr lvl="2"/>
            <a:r>
              <a:rPr lang="ro-RO" dirty="0"/>
              <a:t>Formatul </a:t>
            </a:r>
            <a:r>
              <a:rPr lang="ro-RO" dirty="0" smtClean="0"/>
              <a:t>UFS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Formatul SSD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27448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SSD </a:t>
            </a:r>
            <a:r>
              <a:rPr lang="ro-RO" dirty="0" smtClean="0"/>
              <a:t>– </a:t>
            </a:r>
            <a:r>
              <a:rPr lang="ro-RO" i="1" dirty="0" err="1" smtClean="0"/>
              <a:t>Solid-State</a:t>
            </a:r>
            <a:r>
              <a:rPr lang="ro-RO" i="1" dirty="0" smtClean="0"/>
              <a:t> Drive</a:t>
            </a:r>
          </a:p>
          <a:p>
            <a:r>
              <a:rPr lang="ro-RO" dirty="0" smtClean="0"/>
              <a:t>Poate utiliza interfețe compatibile cu unitățile de discuri magnetice </a:t>
            </a:r>
          </a:p>
          <a:p>
            <a:r>
              <a:rPr lang="ro-RO" dirty="0" smtClean="0"/>
              <a:t>De obicei, conține memorii </a:t>
            </a:r>
            <a:r>
              <a:rPr lang="ro-RO" i="1" dirty="0" smtClean="0"/>
              <a:t>flash</a:t>
            </a:r>
            <a:r>
              <a:rPr lang="ro-RO" dirty="0" smtClean="0"/>
              <a:t>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NAND </a:t>
            </a:r>
          </a:p>
          <a:p>
            <a:pPr lvl="1"/>
            <a:r>
              <a:rPr lang="ro-RO" dirty="0" smtClean="0"/>
              <a:t>Mai multe circuite de memorie </a:t>
            </a:r>
            <a:r>
              <a:rPr lang="ro-RO" dirty="0" smtClean="0">
                <a:sym typeface="Symbol"/>
              </a:rPr>
              <a:t> </a:t>
            </a:r>
            <a:r>
              <a:rPr lang="ro-RO" dirty="0" smtClean="0"/>
              <a:t>funcționează în paralel </a:t>
            </a:r>
          </a:p>
          <a:p>
            <a:pPr lvl="1"/>
            <a:r>
              <a:rPr lang="ro-RO" dirty="0" smtClean="0"/>
              <a:t>Rata de transfer este mărită </a:t>
            </a:r>
          </a:p>
          <a:p>
            <a:pPr lvl="1"/>
            <a:r>
              <a:rPr lang="ro-RO" dirty="0" smtClean="0"/>
              <a:t>Întârzierile relativ mari la execuția operațiilor sunt ascunse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SSD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40767"/>
            <a:ext cx="8382000" cy="4968553"/>
          </a:xfrm>
        </p:spPr>
        <p:txBody>
          <a:bodyPr>
            <a:normAutofit fontScale="92500" lnSpcReduction="10000"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Buffer </a:t>
            </a:r>
          </a:p>
          <a:p>
            <a:pPr lvl="1"/>
            <a:r>
              <a:rPr lang="ro-RO" dirty="0"/>
              <a:t>Realizat cu o memorie DRAM</a:t>
            </a:r>
          </a:p>
          <a:p>
            <a:pPr lvl="1"/>
            <a:r>
              <a:rPr lang="ro-RO" dirty="0"/>
              <a:t>Utilizat ca o memorie </a:t>
            </a:r>
            <a:r>
              <a:rPr lang="ro-RO" i="1" dirty="0"/>
              <a:t>cache</a:t>
            </a:r>
            <a:r>
              <a:rPr lang="ro-RO" dirty="0"/>
              <a:t> rapidă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Baterie sau condensator </a:t>
            </a:r>
          </a:p>
          <a:p>
            <a:pPr lvl="1"/>
            <a:r>
              <a:rPr lang="ro-RO" dirty="0" smtClean="0"/>
              <a:t>Permite </a:t>
            </a:r>
            <a:r>
              <a:rPr lang="ro-RO" dirty="0"/>
              <a:t>salvarea datelor din buffer la întreruperea tensiunii de alimentare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Controler</a:t>
            </a:r>
          </a:p>
          <a:p>
            <a:pPr lvl="1"/>
            <a:r>
              <a:rPr lang="ro-RO" dirty="0" smtClean="0"/>
              <a:t>Corecția erorilor (cod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ECC</a:t>
            </a:r>
            <a:r>
              <a:rPr lang="ro-RO" dirty="0" smtClean="0"/>
              <a:t>), uniformizarea uzurii, gestiunea blocurilor defecte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Interfața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SATA </a:t>
            </a:r>
            <a:r>
              <a:rPr lang="ro-RO" dirty="0" smtClean="0"/>
              <a:t>(</a:t>
            </a:r>
            <a:r>
              <a:rPr lang="ro-RO" i="1" dirty="0" smtClean="0"/>
              <a:t>Serial</a:t>
            </a:r>
            <a:r>
              <a:rPr lang="ro-RO" dirty="0" smtClean="0"/>
              <a:t> ATA),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USB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PCI Express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 smtClean="0"/>
              <a:t>17.04.2018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39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SSD </a:t>
            </a:r>
            <a:r>
              <a:rPr lang="ro-RO" dirty="0" smtClean="0"/>
              <a:t>(3)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439472" cy="4838248"/>
          </a:xfrm>
        </p:spPr>
        <p:txBody>
          <a:bodyPr/>
          <a:lstStyle/>
          <a:p>
            <a:pPr lvl="1"/>
            <a:r>
              <a:rPr lang="ro-RO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NVMe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 smtClean="0"/>
              <a:t>(</a:t>
            </a:r>
            <a:r>
              <a:rPr lang="ro-RO" i="1" dirty="0" smtClean="0"/>
              <a:t>Non-Volatile </a:t>
            </a:r>
            <a:r>
              <a:rPr lang="ro-RO" i="1" dirty="0" err="1" smtClean="0"/>
              <a:t>Memory</a:t>
            </a:r>
            <a:r>
              <a:rPr lang="ro-RO" i="1" dirty="0" smtClean="0"/>
              <a:t> Express</a:t>
            </a:r>
            <a:r>
              <a:rPr lang="ro-RO" dirty="0" smtClean="0"/>
              <a:t>)</a:t>
            </a:r>
          </a:p>
          <a:p>
            <a:pPr lvl="2"/>
            <a:r>
              <a:rPr lang="ro-RO" dirty="0" smtClean="0"/>
              <a:t>Protocol de interfață bazat pe standarde deschise elaborate de NVM Express, Inc. (</a:t>
            </a:r>
            <a:r>
              <a:rPr lang="ro-RO" dirty="0" smtClean="0">
                <a:hlinkClick r:id="rId3"/>
              </a:rPr>
              <a:t>nvmexpress.org</a:t>
            </a:r>
            <a:r>
              <a:rPr lang="ro-RO" dirty="0" smtClean="0"/>
              <a:t>)</a:t>
            </a:r>
          </a:p>
          <a:p>
            <a:pPr lvl="2"/>
            <a:r>
              <a:rPr lang="ro-RO" dirty="0" smtClean="0"/>
              <a:t>Versiunea curentă: 1.3a (oct. 2017)</a:t>
            </a:r>
          </a:p>
          <a:p>
            <a:pPr lvl="2"/>
            <a:r>
              <a:rPr lang="ro-RO" dirty="0" smtClean="0"/>
              <a:t>Dedicat pentru accesul la memoriile nevolatile semiconductoare prin magistrala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PCI Express</a:t>
            </a:r>
          </a:p>
          <a:p>
            <a:pPr lvl="2"/>
            <a:r>
              <a:rPr lang="ro-RO" dirty="0" smtClean="0"/>
              <a:t>Adaptat la caracteristicile memoriilor NVM: latența redusă și paralelismul intern </a:t>
            </a:r>
          </a:p>
          <a:p>
            <a:pPr lvl="2"/>
            <a:r>
              <a:rPr lang="ro-RO" dirty="0" smtClean="0"/>
              <a:t>Utilizează 65.535 de cozi pentru comenzi</a:t>
            </a:r>
          </a:p>
          <a:p>
            <a:pPr lvl="2"/>
            <a:r>
              <a:rPr lang="ro-RO" dirty="0" smtClean="0"/>
              <a:t>Unități SSD: plăci de extensie PCI Express sau unități de 2,5</a:t>
            </a:r>
            <a:r>
              <a:rPr lang="en-US" dirty="0" smtClean="0"/>
              <a:t>”</a:t>
            </a:r>
            <a:r>
              <a:rPr lang="ro-RO" dirty="0" smtClean="0"/>
              <a:t> atașate printr-un conector (U.2)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480" y="1427619"/>
            <a:ext cx="1143000" cy="31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101847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SSD </a:t>
            </a:r>
            <a:r>
              <a:rPr lang="ro-RO" dirty="0" smtClean="0"/>
              <a:t>(4)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582793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 </a:t>
            </a:r>
            <a:r>
              <a:rPr lang="ro-RO" dirty="0" smtClean="0"/>
              <a:t>față de discurile magnetice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Timp de acces </a:t>
            </a:r>
            <a:r>
              <a:rPr lang="ro-RO" dirty="0" smtClean="0"/>
              <a:t>mult mai redus: 0,1 ms (unități de discuri HDD: 3..12 ms)</a:t>
            </a:r>
          </a:p>
          <a:p>
            <a:pPr lvl="1">
              <a:spcBef>
                <a:spcPts val="600"/>
              </a:spcBef>
            </a:pP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Rata de transfer </a:t>
            </a:r>
            <a:r>
              <a:rPr lang="ro-RO" dirty="0" smtClean="0"/>
              <a:t>ridicată: 100..600 MB/s (PC), 6..7 GB/s (servere) (HDD: </a:t>
            </a:r>
            <a:r>
              <a:rPr lang="en-US" dirty="0" smtClean="0"/>
              <a:t>~</a:t>
            </a:r>
            <a:r>
              <a:rPr lang="ro-RO" dirty="0" smtClean="0"/>
              <a:t>140 MB/s) </a:t>
            </a:r>
          </a:p>
          <a:p>
            <a:pPr lvl="1"/>
            <a:r>
              <a:rPr lang="ro-RO" dirty="0"/>
              <a:t>Rezistență la șocuri și vibrații </a:t>
            </a:r>
          </a:p>
          <a:p>
            <a:pPr>
              <a:spcBef>
                <a:spcPts val="600"/>
              </a:spcBef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Dezavantaje</a:t>
            </a:r>
          </a:p>
          <a:p>
            <a:pPr lvl="1">
              <a:spcBef>
                <a:spcPts val="600"/>
              </a:spcBef>
            </a:pPr>
            <a:r>
              <a:rPr lang="ro-RO" dirty="0"/>
              <a:t>Cost mai ridicat </a:t>
            </a:r>
          </a:p>
          <a:p>
            <a:pPr lvl="1">
              <a:spcBef>
                <a:spcPts val="600"/>
              </a:spcBef>
            </a:pPr>
            <a:r>
              <a:rPr lang="ro-RO" dirty="0"/>
              <a:t>Viteza de scriere </a:t>
            </a:r>
            <a:r>
              <a:rPr lang="en-US" dirty="0"/>
              <a:t>&lt;</a:t>
            </a:r>
            <a:r>
              <a:rPr lang="ro-RO" dirty="0"/>
              <a:t> viteza de </a:t>
            </a:r>
            <a:r>
              <a:rPr lang="ro-RO" dirty="0" smtClean="0"/>
              <a:t>citire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64797"/>
          </a:xfrm>
        </p:spPr>
        <p:txBody>
          <a:bodyPr/>
          <a:lstStyle/>
          <a:p>
            <a:r>
              <a:rPr lang="ro-RO" dirty="0"/>
              <a:t>Formatul SSD </a:t>
            </a:r>
            <a:r>
              <a:rPr lang="ro-RO" dirty="0" smtClean="0"/>
              <a:t>(5)</a:t>
            </a:r>
            <a:endParaRPr lang="ro-RO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412777"/>
            <a:ext cx="8352928" cy="2665345"/>
          </a:xfrm>
        </p:spPr>
        <p:txBody>
          <a:bodyPr/>
          <a:lstStyle/>
          <a:p>
            <a:r>
              <a:rPr lang="ro-RO" sz="36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 de unitate SSD</a:t>
            </a:r>
          </a:p>
          <a:p>
            <a:pPr lvl="1"/>
            <a:r>
              <a:rPr lang="ro-RO" sz="32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Samsung 960 Pro </a:t>
            </a:r>
          </a:p>
          <a:p>
            <a:pPr lvl="1"/>
            <a:r>
              <a:rPr lang="ro-RO" sz="3200" dirty="0" smtClean="0"/>
              <a:t>Citire/scriere secvențială: 3.500/2.100 MB/s </a:t>
            </a:r>
          </a:p>
          <a:p>
            <a:pPr lvl="1"/>
            <a:r>
              <a:rPr lang="ro-RO" sz="3200" dirty="0" smtClean="0"/>
              <a:t>Citire aleatorie (4 KB): 440.000 IOPS</a:t>
            </a:r>
          </a:p>
          <a:p>
            <a:pPr lvl="1"/>
            <a:r>
              <a:rPr lang="ro-RO" sz="3200" dirty="0" smtClean="0"/>
              <a:t>Scriere aleatorie </a:t>
            </a:r>
            <a:r>
              <a:rPr lang="ro-RO" sz="3200" dirty="0"/>
              <a:t>(4 KB): </a:t>
            </a:r>
            <a:r>
              <a:rPr lang="ro-RO" sz="3200" dirty="0" smtClean="0"/>
              <a:t>360.000 IOPS</a:t>
            </a:r>
            <a:endParaRPr lang="ro-RO" sz="3200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AC408-1B0E-4840-B17F-FE79CE7B545F}" type="slidenum">
              <a:rPr lang="ro-RO" smtClean="0"/>
              <a:pPr/>
              <a:t>42</a:t>
            </a:fld>
            <a:endParaRPr lang="ro-RO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1600" y="4225245"/>
            <a:ext cx="4114800" cy="2071116"/>
          </a:xfr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8902" y="4234349"/>
            <a:ext cx="2743200" cy="20574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</a:t>
            </a:r>
            <a:r>
              <a:rPr lang="ro-RO" i="1" dirty="0" smtClean="0"/>
              <a:t>flash</a:t>
            </a:r>
            <a:endParaRPr lang="ro-RO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235006"/>
          </a:xfrm>
        </p:spPr>
        <p:txBody>
          <a:bodyPr/>
          <a:lstStyle/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</a:t>
            </a:r>
            <a:r>
              <a:rPr lang="en-US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flash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ro-RO" dirty="0" smtClean="0"/>
              <a:t>Principiul de funcționare</a:t>
            </a:r>
          </a:p>
          <a:p>
            <a:pPr lvl="2"/>
            <a:r>
              <a:rPr lang="ro-RO" dirty="0" smtClean="0"/>
              <a:t>Arhitectura NOR</a:t>
            </a:r>
          </a:p>
          <a:p>
            <a:pPr lvl="2"/>
            <a:r>
              <a:rPr lang="ro-RO" dirty="0" smtClean="0"/>
              <a:t>Arhitectura NAND</a:t>
            </a:r>
          </a:p>
          <a:p>
            <a:pPr lvl="2"/>
            <a:r>
              <a:rPr lang="ro-RO" dirty="0" smtClean="0"/>
              <a:t>Sisteme de memorie NAND</a:t>
            </a:r>
          </a:p>
          <a:p>
            <a:pPr lvl="2"/>
            <a:r>
              <a:rPr lang="ro-RO" dirty="0" smtClean="0"/>
              <a:t>Formatul SD</a:t>
            </a:r>
          </a:p>
          <a:p>
            <a:pPr lvl="2"/>
            <a:r>
              <a:rPr lang="ro-RO" dirty="0" smtClean="0"/>
              <a:t>Formatul SSD</a:t>
            </a:r>
          </a:p>
          <a:p>
            <a:pPr lvl="2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Formatul </a:t>
            </a:r>
            <a:r>
              <a:rPr lang="ro-RO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</a:t>
            </a:r>
            <a:r>
              <a:rPr lang="ro-RO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/>
              </a:rPr>
              <a:t></a:t>
            </a:r>
            <a:r>
              <a:rPr lang="ro-RO" dirty="0" err="1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MMC</a:t>
            </a:r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lvl="2"/>
            <a:r>
              <a:rPr lang="ro-RO" dirty="0"/>
              <a:t>Formatul </a:t>
            </a:r>
            <a:r>
              <a:rPr lang="ro-RO" dirty="0" smtClean="0"/>
              <a:t>UFS </a:t>
            </a:r>
            <a:endParaRPr lang="ro-RO" dirty="0" smtClean="0">
              <a:solidFill>
                <a:schemeClr val="tx2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Formatul e</a:t>
            </a:r>
            <a:r>
              <a:rPr lang="ro-RO" dirty="0" smtClean="0">
                <a:sym typeface="Symbol"/>
              </a:rPr>
              <a:t></a:t>
            </a:r>
            <a:r>
              <a:rPr lang="ro-RO" dirty="0" smtClean="0"/>
              <a:t>MMC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73669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/>
              </a:rPr>
              <a:t>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MMC </a:t>
            </a:r>
            <a:r>
              <a:rPr lang="ro-RO" dirty="0" smtClean="0"/>
              <a:t>– </a:t>
            </a:r>
            <a:r>
              <a:rPr lang="ro-RO" i="1" dirty="0" err="1" smtClean="0"/>
              <a:t>Embedded</a:t>
            </a:r>
            <a:r>
              <a:rPr lang="ro-RO" i="1" dirty="0" smtClean="0"/>
              <a:t> </a:t>
            </a:r>
            <a:r>
              <a:rPr lang="ro-RO" i="1" dirty="0" err="1" smtClean="0"/>
              <a:t>MultiMediaCard</a:t>
            </a:r>
            <a:endParaRPr lang="ro-RO" i="1" dirty="0" smtClean="0"/>
          </a:p>
          <a:p>
            <a:r>
              <a:rPr lang="ro-RO" dirty="0" smtClean="0"/>
              <a:t>Format dezvoltat inițial de firmele Siemens și SanDisk </a:t>
            </a:r>
          </a:p>
          <a:p>
            <a:r>
              <a:rPr lang="ro-RO" dirty="0" smtClean="0"/>
              <a:t>Standard actualizat de organizaţia JEDEC</a:t>
            </a:r>
          </a:p>
          <a:p>
            <a:pPr lvl="1"/>
            <a:r>
              <a:rPr lang="ro-RO" dirty="0" smtClean="0"/>
              <a:t>Versiunea curentă: 5.1 (2015) </a:t>
            </a:r>
          </a:p>
          <a:p>
            <a:r>
              <a:rPr lang="ro-RO" dirty="0" smtClean="0"/>
              <a:t>Memorii </a:t>
            </a:r>
            <a:r>
              <a:rPr lang="ro-RO" i="1" dirty="0" smtClean="0"/>
              <a:t>flash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MLC NAND </a:t>
            </a:r>
            <a:r>
              <a:rPr lang="ro-RO" dirty="0" smtClean="0"/>
              <a:t>și un controler într-o capsulă BGA (</a:t>
            </a:r>
            <a:r>
              <a:rPr lang="ro-RO" i="1" dirty="0" smtClean="0"/>
              <a:t>Ball Grid </a:t>
            </a:r>
            <a:r>
              <a:rPr lang="ro-RO" i="1" dirty="0" err="1" smtClean="0"/>
              <a:t>Array</a:t>
            </a:r>
            <a:r>
              <a:rPr lang="ro-RO" dirty="0" smtClean="0"/>
              <a:t>) </a:t>
            </a:r>
          </a:p>
          <a:p>
            <a:r>
              <a:rPr lang="ro-RO" dirty="0" smtClean="0"/>
              <a:t>Utilizare: tablete, telefoane inteligente, dispozitive ale electronicii de consum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44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e</a:t>
            </a:r>
            <a:r>
              <a:rPr lang="ro-RO" dirty="0">
                <a:sym typeface="Symbol"/>
              </a:rPr>
              <a:t></a:t>
            </a:r>
            <a:r>
              <a:rPr lang="ro-RO" dirty="0"/>
              <a:t>MMC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73669"/>
          </a:xfrm>
        </p:spPr>
        <p:txBody>
          <a:bodyPr/>
          <a:lstStyle/>
          <a:p>
            <a:r>
              <a:rPr lang="ro-RO" dirty="0" smtClean="0"/>
              <a:t>Interfața și protocolul de comenzi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HS-MMC</a:t>
            </a:r>
            <a:r>
              <a:rPr lang="ro-RO" dirty="0" smtClean="0"/>
              <a:t> (</a:t>
            </a:r>
            <a:r>
              <a:rPr lang="ro-RO" i="1" dirty="0" err="1" smtClean="0"/>
              <a:t>High</a:t>
            </a:r>
            <a:r>
              <a:rPr lang="ro-RO" i="1" dirty="0" smtClean="0"/>
              <a:t> </a:t>
            </a:r>
            <a:r>
              <a:rPr lang="ro-RO" i="1" dirty="0" err="1" smtClean="0"/>
              <a:t>Speed</a:t>
            </a:r>
            <a:r>
              <a:rPr lang="ro-RO" i="1" dirty="0" smtClean="0"/>
              <a:t> </a:t>
            </a:r>
            <a:r>
              <a:rPr lang="ro-RO" i="1" dirty="0" err="1" smtClean="0"/>
              <a:t>MultiMediaCard</a:t>
            </a:r>
            <a:r>
              <a:rPr lang="ro-RO" dirty="0" smtClean="0"/>
              <a:t>) </a:t>
            </a:r>
          </a:p>
          <a:p>
            <a:pPr lvl="1"/>
            <a:r>
              <a:rPr lang="ro-RO" dirty="0" smtClean="0"/>
              <a:t>Comenzi de nivel înalt </a:t>
            </a:r>
          </a:p>
          <a:p>
            <a:r>
              <a:rPr lang="ro-RO" dirty="0" smtClean="0"/>
              <a:t>Este disponibil un mod de transfer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DDR </a:t>
            </a:r>
            <a:r>
              <a:rPr lang="ro-RO" dirty="0" smtClean="0"/>
              <a:t>(</a:t>
            </a:r>
            <a:r>
              <a:rPr lang="ro-RO" i="1" dirty="0" err="1" smtClean="0"/>
              <a:t>Double</a:t>
            </a:r>
            <a:r>
              <a:rPr lang="ro-RO" i="1" dirty="0" smtClean="0"/>
              <a:t> Data Rate</a:t>
            </a:r>
            <a:r>
              <a:rPr lang="ro-RO" dirty="0" smtClean="0"/>
              <a:t>), începând cu vers. 4.4</a:t>
            </a:r>
          </a:p>
          <a:p>
            <a:r>
              <a:rPr lang="ro-RO" dirty="0" smtClean="0"/>
              <a:t>Rate de transfer: 52; 104; 200; 400 (MB/s)</a:t>
            </a:r>
          </a:p>
          <a:p>
            <a:r>
              <a:rPr lang="ro-RO" dirty="0" smtClean="0"/>
              <a:t>Toate operațiile specifice memoriei </a:t>
            </a:r>
            <a:r>
              <a:rPr lang="ro-RO" i="1" dirty="0" smtClean="0"/>
              <a:t>flash</a:t>
            </a:r>
            <a:r>
              <a:rPr lang="ro-RO" dirty="0" smtClean="0"/>
              <a:t> sunt executate de controlerul integrat </a:t>
            </a:r>
          </a:p>
          <a:p>
            <a:pPr lvl="1"/>
            <a:r>
              <a:rPr lang="ro-RO" dirty="0" smtClean="0"/>
              <a:t>Corecția erorilor, uniformizarea uzurii etc.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Formatul e</a:t>
            </a:r>
            <a:r>
              <a:rPr lang="ro-RO" dirty="0">
                <a:sym typeface="Symbol"/>
              </a:rPr>
              <a:t></a:t>
            </a:r>
            <a:r>
              <a:rPr lang="ro-RO" dirty="0"/>
              <a:t>MMC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2025170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Avantaje</a:t>
            </a:r>
          </a:p>
          <a:p>
            <a:pPr lvl="1"/>
            <a:r>
              <a:rPr lang="ro-RO" dirty="0" smtClean="0"/>
              <a:t>Procesorul gazdă nu trebuie să gestioneze operațiile primitive ale memoriei </a:t>
            </a:r>
            <a:r>
              <a:rPr lang="ro-RO" i="1" dirty="0" smtClean="0"/>
              <a:t>flash </a:t>
            </a:r>
          </a:p>
          <a:p>
            <a:pPr lvl="1"/>
            <a:r>
              <a:rPr lang="ro-RO" dirty="0" smtClean="0"/>
              <a:t>Se reduce costul sistemelor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7" name="Picture 6" descr="emmc-samsung-10nm.jpg"/>
          <p:cNvPicPr>
            <a:picLocks noChangeAspect="1"/>
          </p:cNvPicPr>
          <p:nvPr/>
        </p:nvPicPr>
        <p:blipFill>
          <a:blip r:embed="rId3" cstate="print"/>
          <a:srcRect r="17761"/>
          <a:stretch>
            <a:fillRect/>
          </a:stretch>
        </p:blipFill>
        <p:spPr>
          <a:xfrm>
            <a:off x="611560" y="3717032"/>
            <a:ext cx="3000408" cy="2423160"/>
          </a:xfrm>
          <a:prstGeom prst="rect">
            <a:avLst/>
          </a:prstGeom>
        </p:spPr>
      </p:pic>
      <p:pic>
        <p:nvPicPr>
          <p:cNvPr id="8" name="Picture 7" descr="emmc-samsung-128gb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4283968" y="3573016"/>
            <a:ext cx="4251960" cy="26822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Memorii </a:t>
            </a:r>
            <a:r>
              <a:rPr lang="ro-RO" i="1" dirty="0" smtClean="0"/>
              <a:t>flash</a:t>
            </a: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235006"/>
          </a:xfrm>
        </p:spPr>
        <p:txBody>
          <a:bodyPr/>
          <a:lstStyle/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Memorii </a:t>
            </a:r>
            <a:r>
              <a:rPr lang="en-US" i="1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flash</a:t>
            </a:r>
            <a:endParaRPr lang="ro-RO" i="1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2"/>
            <a:r>
              <a:rPr lang="ro-RO" dirty="0"/>
              <a:t>Principiul de funcționare</a:t>
            </a:r>
          </a:p>
          <a:p>
            <a:pPr lvl="2"/>
            <a:r>
              <a:rPr lang="ro-RO" dirty="0"/>
              <a:t>Arhitectura NOR</a:t>
            </a:r>
          </a:p>
          <a:p>
            <a:pPr lvl="2"/>
            <a:r>
              <a:rPr lang="ro-RO" dirty="0"/>
              <a:t>Arhitectura NAND</a:t>
            </a:r>
          </a:p>
          <a:p>
            <a:pPr lvl="2"/>
            <a:r>
              <a:rPr lang="ro-RO" dirty="0"/>
              <a:t>Sisteme de memorie NAND</a:t>
            </a:r>
          </a:p>
          <a:p>
            <a:pPr lvl="2"/>
            <a:r>
              <a:rPr lang="ro-RO" dirty="0" smtClean="0"/>
              <a:t>Formatul </a:t>
            </a:r>
            <a:r>
              <a:rPr lang="ro-RO" dirty="0"/>
              <a:t>SD</a:t>
            </a:r>
          </a:p>
          <a:p>
            <a:pPr lvl="2"/>
            <a:r>
              <a:rPr lang="ro-RO" dirty="0"/>
              <a:t>Formatul SSD</a:t>
            </a:r>
          </a:p>
          <a:p>
            <a:pPr lvl="2"/>
            <a:r>
              <a:rPr lang="ro-RO" dirty="0"/>
              <a:t>Formatul </a:t>
            </a:r>
            <a:r>
              <a:rPr lang="ro-RO" dirty="0" err="1"/>
              <a:t>e</a:t>
            </a:r>
            <a:r>
              <a:rPr lang="ro-RO" dirty="0" err="1">
                <a:sym typeface="Symbol"/>
              </a:rPr>
              <a:t></a:t>
            </a:r>
            <a:r>
              <a:rPr lang="ro-RO" dirty="0" err="1"/>
              <a:t>MMC</a:t>
            </a:r>
            <a:r>
              <a:rPr lang="ro-RO" dirty="0"/>
              <a:t> </a:t>
            </a:r>
          </a:p>
          <a:p>
            <a:pPr lvl="2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Formatul UFS </a:t>
            </a:r>
            <a:endParaRPr lang="en-GB" dirty="0">
              <a:gradFill>
                <a:gsLst>
                  <a:gs pos="0">
                    <a:schemeClr val="accent3">
                      <a:lumMod val="40000"/>
                      <a:lumOff val="60000"/>
                    </a:schemeClr>
                  </a:gs>
                  <a:gs pos="36000">
                    <a:schemeClr val="accent3">
                      <a:lumMod val="40000"/>
                      <a:lumOff val="60000"/>
                    </a:schemeClr>
                  </a:gs>
                  <a:gs pos="86000">
                    <a:schemeClr val="accent3"/>
                  </a:gs>
                </a:gsLst>
                <a:lin ang="5400000" scaled="0"/>
              </a:gra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96545839"/>
      </p:ext>
    </p:extLst>
  </p:cSld>
  <p:clrMapOvr>
    <a:masterClrMapping/>
  </p:clrMapOvr>
  <p:transition>
    <p:fade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Formatul UFS (1)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5016758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UFS </a:t>
            </a:r>
            <a:r>
              <a:rPr lang="ro-RO" dirty="0"/>
              <a:t>– </a:t>
            </a:r>
            <a:r>
              <a:rPr lang="ro-RO" i="1" dirty="0"/>
              <a:t>Universal Flash </a:t>
            </a:r>
            <a:r>
              <a:rPr lang="ro-RO" i="1" dirty="0" err="1"/>
              <a:t>Storage</a:t>
            </a:r>
            <a:r>
              <a:rPr lang="ro-RO" i="1" dirty="0"/>
              <a:t> </a:t>
            </a:r>
          </a:p>
          <a:p>
            <a:r>
              <a:rPr lang="ro-RO" dirty="0"/>
              <a:t>Destinat înlocuirii formatelor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SD </a:t>
            </a:r>
            <a:r>
              <a:rPr lang="ro-RO" dirty="0"/>
              <a:t>și 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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MMC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 smtClean="0"/>
              <a:t>Standard elaborat de comitetul JEDEC</a:t>
            </a:r>
            <a:endParaRPr lang="ro-RO" dirty="0"/>
          </a:p>
          <a:p>
            <a:pPr lvl="1"/>
            <a:r>
              <a:rPr lang="ro-RO" dirty="0"/>
              <a:t>Versiunea curentă: </a:t>
            </a:r>
            <a:r>
              <a:rPr lang="ro-RO" dirty="0" smtClean="0"/>
              <a:t>3.0 (ian. 2018) </a:t>
            </a:r>
            <a:endParaRPr lang="ro-RO" dirty="0"/>
          </a:p>
          <a:p>
            <a:pPr lvl="1"/>
            <a:r>
              <a:rPr lang="ro-RO" dirty="0"/>
              <a:t>Include specificațiile 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e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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MMC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ca un subset </a:t>
            </a:r>
          </a:p>
          <a:p>
            <a:r>
              <a:rPr lang="ro-RO" dirty="0"/>
              <a:t>Scopul: creșterea ratelor de transfer și a fiabilității memoriilor </a:t>
            </a:r>
            <a:r>
              <a:rPr lang="ro-RO" i="1" dirty="0"/>
              <a:t>flash </a:t>
            </a:r>
          </a:p>
          <a:p>
            <a:r>
              <a:rPr lang="ro-RO" dirty="0"/>
              <a:t>Utilizare: memorii înglobate în dispozitive mobile sau ca și cartele de </a:t>
            </a:r>
            <a:r>
              <a:rPr lang="ro-RO" dirty="0" smtClean="0"/>
              <a:t>extensie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29538889"/>
      </p:ext>
    </p:extLst>
  </p:cSld>
  <p:clrMapOvr>
    <a:masterClrMapping/>
  </p:clrMapOvr>
  <p:transition>
    <p:fade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Formatul UFS (2)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979825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Interfața electrică</a:t>
            </a:r>
            <a:r>
              <a:rPr lang="ro-RO" dirty="0"/>
              <a:t>: tehnologia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M-PHY</a:t>
            </a:r>
          </a:p>
          <a:p>
            <a:pPr lvl="1"/>
            <a:r>
              <a:rPr lang="ro-RO" dirty="0"/>
              <a:t>Dezvoltată de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MIPI </a:t>
            </a:r>
            <a:r>
              <a:rPr lang="ro-RO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Alliance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(</a:t>
            </a:r>
            <a:r>
              <a:rPr lang="ro-RO" i="1" dirty="0"/>
              <a:t>Mobile Industry </a:t>
            </a:r>
            <a:r>
              <a:rPr lang="ro-RO" i="1" dirty="0" err="1"/>
              <a:t>Processor</a:t>
            </a:r>
            <a:r>
              <a:rPr lang="ro-RO" i="1" dirty="0"/>
              <a:t> </a:t>
            </a:r>
            <a:r>
              <a:rPr lang="ro-RO" i="1" dirty="0" err="1"/>
              <a:t>Interface</a:t>
            </a:r>
            <a:r>
              <a:rPr lang="ro-RO" i="1" dirty="0"/>
              <a:t> </a:t>
            </a:r>
            <a:r>
              <a:rPr lang="ro-RO" i="1" dirty="0" err="1"/>
              <a:t>Alliance</a:t>
            </a:r>
            <a:r>
              <a:rPr lang="ro-RO" dirty="0"/>
              <a:t>) 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Interfață serială </a:t>
            </a:r>
            <a:r>
              <a:rPr lang="ro-RO" dirty="0"/>
              <a:t>duplex,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diferențială </a:t>
            </a:r>
          </a:p>
          <a:p>
            <a:pPr lvl="1"/>
            <a:r>
              <a:rPr lang="ro-RO" dirty="0"/>
              <a:t>Informația de sincronizare este înglobată în semnalele de date </a:t>
            </a:r>
            <a:r>
              <a:rPr lang="ro-RO" dirty="0">
                <a:sym typeface="Symbol" panose="05050102010706020507" pitchFamily="18" charset="2"/>
              </a:rPr>
              <a:t> </a:t>
            </a:r>
            <a:r>
              <a:rPr lang="ro-RO" dirty="0"/>
              <a:t>codificarea 8b/10b </a:t>
            </a:r>
          </a:p>
          <a:p>
            <a:pPr lvl="1"/>
            <a:r>
              <a:rPr lang="ro-RO" dirty="0"/>
              <a:t>Rate de transfer de peste 1000 </a:t>
            </a:r>
            <a:r>
              <a:rPr lang="ro-RO" dirty="0" err="1"/>
              <a:t>Mbiți</a:t>
            </a:r>
            <a:r>
              <a:rPr lang="ro-RO" dirty="0"/>
              <a:t>/s: 2,9 </a:t>
            </a:r>
            <a:r>
              <a:rPr lang="ro-RO" dirty="0" err="1"/>
              <a:t>Gbiți</a:t>
            </a:r>
            <a:r>
              <a:rPr lang="ro-RO" dirty="0"/>
              <a:t>/s; 5,8 </a:t>
            </a:r>
            <a:r>
              <a:rPr lang="ro-RO" dirty="0" err="1"/>
              <a:t>Gbiți</a:t>
            </a:r>
            <a:r>
              <a:rPr lang="ro-RO" dirty="0"/>
              <a:t>/s; 11,6 </a:t>
            </a:r>
            <a:r>
              <a:rPr lang="ro-RO" dirty="0" err="1"/>
              <a:t>Gbiți</a:t>
            </a:r>
            <a:r>
              <a:rPr lang="ro-RO" dirty="0"/>
              <a:t>/s pe canal </a:t>
            </a:r>
          </a:p>
          <a:p>
            <a:pPr lvl="1"/>
            <a:r>
              <a:rPr lang="ro-RO" dirty="0"/>
              <a:t>Moduri de comunicație cu consum redus de energie: 3 </a:t>
            </a:r>
            <a:r>
              <a:rPr lang="ro-RO" dirty="0" err="1"/>
              <a:t>Mbiți</a:t>
            </a:r>
            <a:r>
              <a:rPr lang="ro-RO" dirty="0"/>
              <a:t>/s .. 500 </a:t>
            </a:r>
            <a:r>
              <a:rPr lang="ro-RO" dirty="0" err="1" smtClean="0"/>
              <a:t>Mbiți</a:t>
            </a:r>
            <a:r>
              <a:rPr lang="ro-RO" dirty="0" smtClean="0"/>
              <a:t>/s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49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72275" y="2420888"/>
            <a:ext cx="1990725" cy="470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1945655"/>
      </p:ext>
    </p:extLst>
  </p:cSld>
  <p:clrMapOvr>
    <a:masterClrMapping/>
  </p:clrMapOvr>
  <p:transition>
    <p:fade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Formatul UFS (3)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340769"/>
            <a:ext cx="8382000" cy="5015581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Cartele de extensie UFS</a:t>
            </a:r>
          </a:p>
          <a:p>
            <a:pPr lvl="1"/>
            <a:r>
              <a:rPr lang="ro-RO" dirty="0"/>
              <a:t>Standard separat elaborat de </a:t>
            </a:r>
            <a:r>
              <a:rPr lang="ro-RO" dirty="0" smtClean="0"/>
              <a:t>comitetul JEDEC </a:t>
            </a:r>
            <a:r>
              <a:rPr lang="ro-RO" dirty="0"/>
              <a:t>(</a:t>
            </a:r>
            <a:r>
              <a:rPr lang="ro-RO" i="1" dirty="0"/>
              <a:t>UFS Card </a:t>
            </a:r>
            <a:r>
              <a:rPr lang="ro-RO" i="1" dirty="0" err="1"/>
              <a:t>Extension</a:t>
            </a:r>
            <a:r>
              <a:rPr lang="ro-RO" dirty="0"/>
              <a:t>) </a:t>
            </a:r>
          </a:p>
          <a:p>
            <a:pPr lvl="1"/>
            <a:r>
              <a:rPr lang="ro-RO" dirty="0"/>
              <a:t>Versiunea curentă: </a:t>
            </a:r>
            <a:r>
              <a:rPr lang="ro-RO" dirty="0" smtClean="0"/>
              <a:t>1.1 (ian. 2018) </a:t>
            </a:r>
            <a:endParaRPr lang="ro-RO" dirty="0"/>
          </a:p>
          <a:p>
            <a:pPr lvl="1"/>
            <a:r>
              <a:rPr lang="ro-RO" dirty="0"/>
              <a:t>Primele cartele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UFS </a:t>
            </a:r>
            <a:r>
              <a:rPr lang="ro-RO" dirty="0"/>
              <a:t>au fost produse de Samsung Electronics (2016) </a:t>
            </a:r>
          </a:p>
          <a:p>
            <a:pPr lvl="2"/>
            <a:r>
              <a:rPr lang="ro-RO" dirty="0"/>
              <a:t>Capacități de până la 256 GB</a:t>
            </a:r>
          </a:p>
          <a:p>
            <a:pPr lvl="2">
              <a:spcBef>
                <a:spcPts val="0"/>
              </a:spcBef>
            </a:pPr>
            <a:r>
              <a:rPr lang="ro-RO" dirty="0"/>
              <a:t>Citire secvențială: 530 MB/s </a:t>
            </a:r>
          </a:p>
          <a:p>
            <a:pPr lvl="2">
              <a:spcBef>
                <a:spcPts val="0"/>
              </a:spcBef>
            </a:pPr>
            <a:r>
              <a:rPr lang="ro-RO" dirty="0"/>
              <a:t>Scriere secvențială: 170 MB/s </a:t>
            </a:r>
          </a:p>
          <a:p>
            <a:pPr lvl="2">
              <a:spcBef>
                <a:spcPts val="0"/>
              </a:spcBef>
            </a:pPr>
            <a:r>
              <a:rPr lang="ro-RO" dirty="0" smtClean="0"/>
              <a:t>Citire aleatorie: </a:t>
            </a:r>
            <a:r>
              <a:rPr lang="ro-RO" dirty="0"/>
              <a:t>40.000 </a:t>
            </a:r>
            <a:r>
              <a:rPr lang="ro-RO" dirty="0" smtClean="0"/>
              <a:t>IOPS; scriere aleatorie: 35.000 IOPS 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248" y="3933056"/>
            <a:ext cx="1955153" cy="1558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662510"/>
      </p:ext>
    </p:extLst>
  </p:cSld>
  <p:clrMapOvr>
    <a:masterClrMapping/>
  </p:clrMapOvr>
  <p:transition>
    <p:fade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Sisteme de memorie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ro-RO" dirty="0"/>
              <a:t>Ierarhia memoriilor</a:t>
            </a:r>
          </a:p>
          <a:p>
            <a:r>
              <a:rPr lang="ro-RO" dirty="0"/>
              <a:t>Tipuri de memorii</a:t>
            </a:r>
          </a:p>
          <a:p>
            <a:r>
              <a:rPr lang="ro-RO" dirty="0" smtClean="0"/>
              <a:t>Memorii semiconductoare</a:t>
            </a:r>
            <a:endParaRPr lang="ro-RO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cu unități multiple</a:t>
            </a:r>
          </a:p>
          <a:p>
            <a:r>
              <a:rPr lang="ro-RO" dirty="0"/>
              <a:t>Memoria asociativă</a:t>
            </a:r>
          </a:p>
          <a:p>
            <a:r>
              <a:rPr lang="ro-RO" dirty="0"/>
              <a:t>Memoria </a:t>
            </a:r>
            <a:r>
              <a:rPr lang="ro-RO" i="1" dirty="0" err="1"/>
              <a:t>cache</a:t>
            </a:r>
            <a:endParaRPr lang="ro-RO" i="1" dirty="0"/>
          </a:p>
          <a:p>
            <a:r>
              <a:rPr lang="ro-RO" dirty="0"/>
              <a:t>Memoria virtuală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2D007C-673A-4571-8A3F-554E6CA04E51}" type="slidenum">
              <a:rPr lang="ro-RO"/>
              <a:pPr/>
              <a:t>51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(03-3)</a:t>
            </a:r>
          </a:p>
        </p:txBody>
      </p:sp>
    </p:spTree>
  </p:cSld>
  <p:clrMapOvr>
    <a:masterClrMapping/>
  </p:clrMapOvr>
  <p:transition>
    <p:fade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Memoria cu </a:t>
            </a:r>
            <a:r>
              <a:rPr lang="ro-RO" dirty="0" smtClean="0"/>
              <a:t>unități </a:t>
            </a:r>
            <a:r>
              <a:rPr lang="ro-RO" dirty="0"/>
              <a:t>multiple (1)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Permite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suprapunerea acceselor </a:t>
            </a:r>
            <a:r>
              <a:rPr lang="ro-RO" dirty="0"/>
              <a:t>de citire sau de scriere a mai multor date</a:t>
            </a:r>
          </a:p>
          <a:p>
            <a:r>
              <a:rPr lang="ro-RO" dirty="0"/>
              <a:t>O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secvenț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de adrese consecutive este asignat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unor </a:t>
            </a:r>
            <a:r>
              <a:rPr lang="ro-RO" dirty="0" smtClean="0">
                <a:cs typeface="Times New Roman" pitchFamily="18" charset="0"/>
              </a:rPr>
              <a:t>unit</a:t>
            </a:r>
            <a:r>
              <a:rPr lang="ro-RO" dirty="0" smtClean="0"/>
              <a:t>ăți</a:t>
            </a:r>
            <a:r>
              <a:rPr lang="ro-RO" dirty="0" smtClean="0">
                <a:cs typeface="Times New Roman" pitchFamily="18" charset="0"/>
              </a:rPr>
              <a:t> consecutive </a:t>
            </a:r>
            <a:r>
              <a:rPr lang="ro-RO" dirty="0">
                <a:cs typeface="Times New Roman" pitchFamily="18" charset="0"/>
              </a:rPr>
              <a:t>de memorie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/>
              <a:t>: Arhitectură pentru conectarea în paralel a 2</a:t>
            </a:r>
            <a:r>
              <a:rPr lang="ro-RO" i="1" baseline="30000" dirty="0"/>
              <a:t>m</a:t>
            </a:r>
            <a:r>
              <a:rPr lang="ro-RO" dirty="0"/>
              <a:t> </a:t>
            </a:r>
            <a:r>
              <a:rPr lang="ro-RO" dirty="0" smtClean="0"/>
              <a:t>unități </a:t>
            </a:r>
            <a:r>
              <a:rPr lang="ro-RO" dirty="0"/>
              <a:t>de memorie </a:t>
            </a:r>
          </a:p>
          <a:p>
            <a:pPr lvl="1"/>
            <a:r>
              <a:rPr lang="ro-RO" dirty="0"/>
              <a:t>Cuvântul cu adresa </a:t>
            </a:r>
            <a:r>
              <a:rPr lang="ro-RO" i="1" dirty="0"/>
              <a:t>i</a:t>
            </a:r>
            <a:r>
              <a:rPr lang="ro-RO" dirty="0"/>
              <a:t>  este asignat </a:t>
            </a:r>
            <a:r>
              <a:rPr lang="ro-RO" dirty="0" smtClean="0"/>
              <a:t>unității </a:t>
            </a:r>
            <a:r>
              <a:rPr lang="ro-RO" dirty="0"/>
              <a:t>de memorie </a:t>
            </a:r>
            <a:r>
              <a:rPr lang="ro-RO" i="1" dirty="0"/>
              <a:t>M</a:t>
            </a:r>
            <a:r>
              <a:rPr lang="ro-RO" i="1" baseline="-25000" dirty="0"/>
              <a:t>j</a:t>
            </a:r>
            <a:r>
              <a:rPr lang="ro-RO" dirty="0"/>
              <a:t> ,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j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=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mod 2</a:t>
            </a:r>
            <a:r>
              <a:rPr lang="ro-RO" i="1" baseline="30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888D250-BA77-4DAF-8677-E225E1E8B099}" type="slidenum">
              <a:rPr lang="ro-RO"/>
              <a:pPr/>
              <a:t>52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(03-3)</a:t>
            </a:r>
          </a:p>
        </p:txBody>
      </p:sp>
    </p:spTree>
  </p:cSld>
  <p:clrMapOvr>
    <a:masterClrMapping/>
  </p:clrMapOvr>
  <p:transition>
    <p:fade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cu </a:t>
            </a:r>
            <a:r>
              <a:rPr lang="ro-RO" dirty="0" smtClean="0"/>
              <a:t>unități </a:t>
            </a:r>
            <a:r>
              <a:rPr lang="ro-RO" dirty="0"/>
              <a:t>multiple </a:t>
            </a:r>
            <a:r>
              <a:rPr lang="ro-RO" dirty="0" smtClean="0"/>
              <a:t>(2)</a:t>
            </a:r>
            <a:endParaRPr lang="ro-RO" dirty="0"/>
          </a:p>
        </p:txBody>
      </p:sp>
      <p:pic>
        <p:nvPicPr>
          <p:cNvPr id="7" name="Content Placeholder 6" descr="ssc4-unit-multiple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619672" y="1556792"/>
            <a:ext cx="5897466" cy="448684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/>
              <a:t>Memoria cu </a:t>
            </a:r>
            <a:r>
              <a:rPr lang="ro-RO" dirty="0" smtClean="0"/>
              <a:t>unități </a:t>
            </a:r>
            <a:r>
              <a:rPr lang="ro-RO" dirty="0"/>
              <a:t>multiple (3)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087273"/>
          </a:xfrm>
        </p:spPr>
        <p:txBody>
          <a:bodyPr/>
          <a:lstStyle/>
          <a:p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ehnic</a:t>
            </a:r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 de distribuire a adreselor între mai multe </a:t>
            </a:r>
            <a:r>
              <a:rPr lang="ro-RO" dirty="0" smtClean="0">
                <a:cs typeface="Times New Roman" pitchFamily="18" charset="0"/>
              </a:rPr>
              <a:t>unit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intercalare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 adreselor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de memorie (“</a:t>
            </a:r>
            <a:r>
              <a:rPr lang="ro-RO" i="1" dirty="0" err="1">
                <a:cs typeface="Times New Roman" pitchFamily="18" charset="0"/>
              </a:rPr>
              <a:t>interleaving</a:t>
            </a:r>
            <a:r>
              <a:rPr lang="ro-RO" dirty="0">
                <a:cs typeface="Times New Roman" pitchFamily="18" charset="0"/>
              </a:rPr>
              <a:t>”)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Intercalarea adreselor între 2</a:t>
            </a:r>
            <a:r>
              <a:rPr lang="ro-RO" i="1" baseline="30000" dirty="0">
                <a:cs typeface="Times New Roman" pitchFamily="18" charset="0"/>
              </a:rPr>
              <a:t>m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unit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de memorie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sym typeface="Symbol" pitchFamily="18" charset="2"/>
              </a:rPr>
              <a:t> </a:t>
            </a:r>
            <a:r>
              <a:rPr lang="ro-RO" i="1" dirty="0">
                <a:cs typeface="Times New Roman" pitchFamily="18" charset="0"/>
              </a:rPr>
              <a:t>intercalare cu </a:t>
            </a:r>
            <a:r>
              <a:rPr lang="ro-RO" dirty="0">
                <a:cs typeface="Times New Roman" pitchFamily="18" charset="0"/>
              </a:rPr>
              <a:t>2</a:t>
            </a:r>
            <a:r>
              <a:rPr lang="ro-RO" i="1" baseline="30000" dirty="0">
                <a:cs typeface="Times New Roman" pitchFamily="18" charset="0"/>
              </a:rPr>
              <a:t>m</a:t>
            </a:r>
            <a:r>
              <a:rPr lang="ro-RO" i="1" dirty="0">
                <a:cs typeface="Times New Roman" pitchFamily="18" charset="0"/>
              </a:rPr>
              <a:t> c</a:t>
            </a:r>
            <a:r>
              <a:rPr lang="ro-RO" i="1" dirty="0"/>
              <a:t>ă</a:t>
            </a:r>
            <a:r>
              <a:rPr lang="ro-RO" i="1" dirty="0">
                <a:cs typeface="Times New Roman" pitchFamily="18" charset="0"/>
              </a:rPr>
              <a:t>i</a:t>
            </a:r>
            <a:endParaRPr lang="ro-RO" dirty="0"/>
          </a:p>
          <a:p>
            <a:r>
              <a:rPr lang="ro-RO" dirty="0" smtClean="0">
                <a:cs typeface="Times New Roman" pitchFamily="18" charset="0"/>
              </a:rPr>
              <a:t>Eficiența </a:t>
            </a:r>
            <a:r>
              <a:rPr lang="ro-RO" dirty="0">
                <a:cs typeface="Times New Roman" pitchFamily="18" charset="0"/>
              </a:rPr>
              <a:t>unui sistem de memorie cu </a:t>
            </a:r>
            <a:r>
              <a:rPr lang="ro-RO" dirty="0" smtClean="0">
                <a:cs typeface="Times New Roman" pitchFamily="18" charset="0"/>
              </a:rPr>
              <a:t>unit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multiple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dependent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ordinea în care sunt generate adresele de memorie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C5C3547-DB0B-49D4-A2C7-D4D4D222B898}" type="slidenum">
              <a:rPr lang="ro-RO"/>
              <a:pPr/>
              <a:t>54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(03-3)</a:t>
            </a:r>
          </a:p>
        </p:txBody>
      </p:sp>
    </p:spTree>
  </p:cSld>
  <p:clrMapOvr>
    <a:masterClrMapping/>
  </p:clrMapOvr>
  <p:transition>
    <p:fade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752070"/>
          </a:xfrm>
        </p:spPr>
        <p:txBody>
          <a:bodyPr/>
          <a:lstStyle/>
          <a:p>
            <a:r>
              <a:rPr lang="ro-RO" sz="3300" dirty="0" smtClean="0"/>
              <a:t>Funcționarea unei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celule de memorie </a:t>
            </a:r>
            <a:r>
              <a:rPr lang="ro-RO" sz="3300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flash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sz="3300" dirty="0" smtClean="0"/>
              <a:t>se bazează pe acumularea unor sarcini electrice pe o poartă flotantă și eliminarea acestora</a:t>
            </a:r>
          </a:p>
          <a:p>
            <a:r>
              <a:rPr lang="ro-RO" sz="3300" dirty="0" smtClean="0"/>
              <a:t>Cele mai utilizate arhitecturi de memorii </a:t>
            </a:r>
            <a:r>
              <a:rPr lang="ro-RO" sz="3300" i="1" dirty="0" smtClean="0"/>
              <a:t>flash</a:t>
            </a:r>
            <a:r>
              <a:rPr lang="ro-RO" sz="3300" dirty="0" smtClean="0"/>
              <a:t> sunt arhitectura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NOR </a:t>
            </a:r>
            <a:r>
              <a:rPr lang="ro-RO" sz="3300" dirty="0" smtClean="0"/>
              <a:t>și arhitectura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NAND</a:t>
            </a:r>
          </a:p>
          <a:p>
            <a:r>
              <a:rPr lang="ro-RO" sz="3300" dirty="0" smtClean="0"/>
              <a:t>Componentele unui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sistem de memorie NAND </a:t>
            </a:r>
            <a:r>
              <a:rPr lang="ro-RO" sz="3300" dirty="0" smtClean="0"/>
              <a:t>sunt: circuitele de memorie, interfața cu circuitele, driverul și modulele software</a:t>
            </a:r>
          </a:p>
          <a:p>
            <a:pPr lvl="1"/>
            <a:r>
              <a:rPr lang="ro-RO" sz="29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Gestiunea blocurilor defecte </a:t>
            </a:r>
            <a:r>
              <a:rPr lang="ro-RO" sz="2900" dirty="0"/>
              <a:t>și </a:t>
            </a:r>
            <a:r>
              <a:rPr lang="ro-RO" sz="29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uniformizarea uzurii </a:t>
            </a:r>
            <a:r>
              <a:rPr lang="ro-RO" sz="2900" dirty="0"/>
              <a:t>sunt operații importante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55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5140220"/>
      </p:ext>
    </p:extLst>
  </p:cSld>
  <p:clrMapOvr>
    <a:masterClrMapping/>
  </p:clrMapOvr>
  <p:transition>
    <p:fade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68761"/>
            <a:ext cx="8382000" cy="5024452"/>
          </a:xfrm>
        </p:spPr>
        <p:txBody>
          <a:bodyPr/>
          <a:lstStyle/>
          <a:p>
            <a:r>
              <a:rPr lang="ro-RO" sz="3300" dirty="0" smtClean="0"/>
              <a:t>Memoria </a:t>
            </a:r>
            <a:r>
              <a:rPr lang="ro-RO" sz="3300" i="1" dirty="0" smtClean="0"/>
              <a:t>flash</a:t>
            </a:r>
            <a:r>
              <a:rPr lang="ro-RO" sz="3300" dirty="0" smtClean="0"/>
              <a:t> se utilizează în cartele de memorie și unități de discuri semiconductoare</a:t>
            </a:r>
          </a:p>
          <a:p>
            <a:pPr lvl="1">
              <a:spcBef>
                <a:spcPts val="600"/>
              </a:spcBef>
            </a:pPr>
            <a:r>
              <a:rPr lang="ro-RO" sz="2900" dirty="0" smtClean="0"/>
              <a:t>Formatul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</a:t>
            </a:r>
            <a:r>
              <a:rPr lang="ro-RO" sz="2900" dirty="0" smtClean="0"/>
              <a:t>: permite capacități ridicate (familia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SDXC</a:t>
            </a:r>
            <a:r>
              <a:rPr lang="ro-RO" sz="2900" dirty="0" smtClean="0"/>
              <a:t>) și operații cu viteze ridicate (clasele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UHS</a:t>
            </a:r>
            <a:r>
              <a:rPr lang="ro-RO" sz="2900" dirty="0" smtClean="0"/>
              <a:t>)</a:t>
            </a:r>
          </a:p>
          <a:p>
            <a:pPr lvl="1">
              <a:spcBef>
                <a:spcPts val="600"/>
              </a:spcBef>
            </a:pPr>
            <a:r>
              <a:rPr lang="ro-RO" sz="2900" dirty="0" smtClean="0"/>
              <a:t>Formatul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SSD</a:t>
            </a:r>
            <a:r>
              <a:rPr lang="ro-RO" sz="2900" dirty="0" smtClean="0"/>
              <a:t>: alternativă la unitățile de discuri</a:t>
            </a:r>
          </a:p>
          <a:p>
            <a:pPr lvl="1">
              <a:spcBef>
                <a:spcPts val="600"/>
              </a:spcBef>
            </a:pPr>
            <a:r>
              <a:rPr lang="ro-RO" sz="2900" dirty="0" smtClean="0"/>
              <a:t>Formatul </a:t>
            </a:r>
            <a:r>
              <a:rPr lang="ro-RO" sz="29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</a:t>
            </a:r>
            <a:r>
              <a:rPr lang="ro-RO" sz="29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sym typeface="Symbol" panose="05050102010706020507" pitchFamily="18" charset="2"/>
              </a:rPr>
              <a:t></a:t>
            </a:r>
            <a:r>
              <a:rPr lang="ro-RO" sz="2900" dirty="0" err="1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MMC</a:t>
            </a:r>
            <a:r>
              <a:rPr lang="ro-RO" sz="2900" dirty="0" smtClean="0"/>
              <a:t>: conține memorii </a:t>
            </a:r>
            <a:r>
              <a:rPr lang="ro-RO" sz="2900" i="1" dirty="0" smtClean="0"/>
              <a:t>flash</a:t>
            </a:r>
            <a:r>
              <a:rPr lang="ro-RO" sz="2900" dirty="0" smtClean="0"/>
              <a:t>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MLC </a:t>
            </a:r>
            <a:r>
              <a:rPr lang="ro-RO" sz="2900" dirty="0" smtClean="0"/>
              <a:t>și un controler în aceeași capsulă</a:t>
            </a:r>
          </a:p>
          <a:p>
            <a:pPr lvl="1">
              <a:spcBef>
                <a:spcPts val="600"/>
              </a:spcBef>
            </a:pPr>
            <a:r>
              <a:rPr lang="ro-RO" sz="2900" dirty="0" smtClean="0"/>
              <a:t>Formatul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UFS</a:t>
            </a:r>
            <a:r>
              <a:rPr lang="ro-RO" sz="2900" dirty="0" smtClean="0"/>
              <a:t>: permite creșterea ratelor de transfer și a fiabilității memoriilor </a:t>
            </a:r>
            <a:r>
              <a:rPr lang="ro-RO" sz="2900" i="1" dirty="0" smtClean="0"/>
              <a:t>flash </a:t>
            </a:r>
          </a:p>
          <a:p>
            <a:pPr>
              <a:spcBef>
                <a:spcPts val="600"/>
              </a:spcBef>
            </a:pP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Memoria cu unități multiple </a:t>
            </a:r>
            <a:r>
              <a:rPr lang="ro-RO" sz="3300" dirty="0" smtClean="0"/>
              <a:t>permite suprapunerea acceselor de citire și scriere</a:t>
            </a:r>
            <a:endParaRPr lang="ro-RO" sz="33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56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98549360"/>
      </p:ext>
    </p:extLst>
  </p:cSld>
  <p:clrMapOvr>
    <a:masterClrMapping/>
  </p:clrMapOvr>
  <p:transition>
    <p:fade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481227"/>
          </a:xfrm>
        </p:spPr>
        <p:txBody>
          <a:bodyPr/>
          <a:lstStyle/>
          <a:p>
            <a:pPr marL="576000" lvl="1"/>
            <a:r>
              <a:rPr lang="ro-RO" dirty="0" smtClean="0"/>
              <a:t>Principiul de funcționare al unei celule de memorie </a:t>
            </a:r>
            <a:r>
              <a:rPr lang="ro-RO" i="1" dirty="0" smtClean="0"/>
              <a:t>flash</a:t>
            </a:r>
          </a:p>
          <a:p>
            <a:pPr marL="576000" lvl="1"/>
            <a:r>
              <a:rPr lang="ro-RO" dirty="0" smtClean="0"/>
              <a:t>Operațiile de scriere și ștergere ale unei celule de memorie NOR</a:t>
            </a:r>
          </a:p>
          <a:p>
            <a:pPr marL="576000" lvl="1"/>
            <a:r>
              <a:rPr lang="ro-RO" dirty="0" smtClean="0"/>
              <a:t>Arhitectura NOR a memoriilor </a:t>
            </a:r>
            <a:r>
              <a:rPr lang="ro-RO" i="1" dirty="0" smtClean="0"/>
              <a:t>flash</a:t>
            </a:r>
          </a:p>
          <a:p>
            <a:pPr marL="576000" lvl="1"/>
            <a:r>
              <a:rPr lang="ro-RO" dirty="0" smtClean="0"/>
              <a:t>Arhitectura NAND a memoriilor </a:t>
            </a:r>
            <a:r>
              <a:rPr lang="ro-RO" i="1" dirty="0" smtClean="0"/>
              <a:t>flash</a:t>
            </a:r>
          </a:p>
          <a:p>
            <a:pPr marL="576000" lvl="1"/>
            <a:r>
              <a:rPr lang="ro-RO" dirty="0" smtClean="0"/>
              <a:t>Structura generală a unui sistem de memorie NAND</a:t>
            </a:r>
          </a:p>
          <a:p>
            <a:pPr marL="576000" lvl="1"/>
            <a:r>
              <a:rPr lang="ro-RO" dirty="0" smtClean="0"/>
              <a:t>Metode pentru uniformizarea uzurii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57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18707425"/>
      </p:ext>
    </p:extLst>
  </p:cSld>
  <p:clrMapOvr>
    <a:masterClrMapping/>
  </p:clrMapOvr>
  <p:transition>
    <p:fade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Noțiuni, cunoștințe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136517"/>
          </a:xfrm>
        </p:spPr>
        <p:txBody>
          <a:bodyPr/>
          <a:lstStyle/>
          <a:p>
            <a:pPr marL="576000" lvl="1"/>
            <a:r>
              <a:rPr lang="ro-RO" dirty="0"/>
              <a:t>Interfața cu circuitele de memorie</a:t>
            </a:r>
          </a:p>
          <a:p>
            <a:pPr marL="576000" lvl="1"/>
            <a:r>
              <a:rPr lang="ro-RO" dirty="0" smtClean="0"/>
              <a:t>Familii de cartele de memorie SD</a:t>
            </a:r>
          </a:p>
          <a:p>
            <a:pPr marL="576000" lvl="1"/>
            <a:r>
              <a:rPr lang="ro-RO" dirty="0" smtClean="0"/>
              <a:t>Interfața cartelelor de memorie SD</a:t>
            </a:r>
          </a:p>
          <a:p>
            <a:pPr marL="576000" lvl="1"/>
            <a:r>
              <a:rPr lang="ro-RO" dirty="0" smtClean="0"/>
              <a:t>Caracteristici ale formatului SSD</a:t>
            </a:r>
          </a:p>
          <a:p>
            <a:pPr marL="576000" lvl="1"/>
            <a:r>
              <a:rPr lang="ro-RO" dirty="0" smtClean="0"/>
              <a:t>Caracteristici ale formatului </a:t>
            </a:r>
            <a:r>
              <a:rPr lang="ro-RO" dirty="0" err="1" smtClean="0"/>
              <a:t>e</a:t>
            </a:r>
            <a:r>
              <a:rPr lang="ro-RO" dirty="0" err="1" smtClean="0">
                <a:sym typeface="Symbol" panose="05050102010706020507" pitchFamily="18" charset="2"/>
              </a:rPr>
              <a:t></a:t>
            </a:r>
            <a:r>
              <a:rPr lang="ro-RO" dirty="0" err="1" smtClean="0"/>
              <a:t>MMC</a:t>
            </a:r>
            <a:endParaRPr lang="ro-RO" dirty="0" smtClean="0"/>
          </a:p>
          <a:p>
            <a:pPr marL="576000" lvl="1"/>
            <a:r>
              <a:rPr lang="ro-RO" dirty="0"/>
              <a:t>Caracteristici ale formatului </a:t>
            </a:r>
            <a:r>
              <a:rPr lang="ro-RO" dirty="0" smtClean="0"/>
              <a:t>UFS</a:t>
            </a:r>
          </a:p>
          <a:p>
            <a:pPr marL="576000" lvl="1"/>
            <a:r>
              <a:rPr lang="ro-RO" dirty="0" smtClean="0"/>
              <a:t>Principiul și structura unei memorii cu unități multiple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9572B3-FF6B-4953-9EBB-EE6BF2211D45}" type="slidenum">
              <a:rPr lang="ro-RO" smtClean="0"/>
              <a:pPr/>
              <a:t>58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(03-3)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015096"/>
      </p:ext>
    </p:extLst>
  </p:cSld>
  <p:clrMapOvr>
    <a:masterClrMapping/>
  </p:clrMapOvr>
  <p:transition>
    <p:fade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Întrebări</a:t>
            </a:r>
            <a:endParaRPr lang="en-US"/>
          </a:p>
        </p:txBody>
      </p:sp>
      <p:sp>
        <p:nvSpPr>
          <p:cNvPr id="354307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sunt efectele pe care se bazează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scrierea </a:t>
            </a:r>
            <a:r>
              <a:rPr lang="ro-RO" dirty="0" smtClean="0"/>
              <a:t>și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ștergerea </a:t>
            </a:r>
            <a:r>
              <a:rPr lang="ro-RO" dirty="0" smtClean="0"/>
              <a:t>unei celule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NOR</a:t>
            </a:r>
            <a:r>
              <a:rPr lang="ro-RO" dirty="0" smtClean="0"/>
              <a:t>?</a:t>
            </a:r>
          </a:p>
          <a:p>
            <a:pPr marL="533400" indent="-533400"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sunt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deosebirile </a:t>
            </a:r>
            <a:r>
              <a:rPr lang="ro-RO" dirty="0" smtClean="0"/>
              <a:t>dintre memoriile </a:t>
            </a:r>
            <a:r>
              <a:rPr lang="ro-RO" i="1" dirty="0" smtClean="0"/>
              <a:t>flash</a:t>
            </a:r>
            <a:r>
              <a:rPr lang="ro-RO" dirty="0" smtClean="0"/>
              <a:t> cu arhitectură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NOR </a:t>
            </a:r>
            <a:r>
              <a:rPr lang="ro-RO" dirty="0" smtClean="0"/>
              <a:t>și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NAND</a:t>
            </a:r>
            <a:r>
              <a:rPr lang="ro-RO" dirty="0" smtClean="0"/>
              <a:t>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sunt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operațiile specifice </a:t>
            </a:r>
            <a:r>
              <a:rPr lang="ro-RO" dirty="0" smtClean="0"/>
              <a:t>necesare pentru gestiunea unei memorii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NAND</a:t>
            </a:r>
            <a:r>
              <a:rPr lang="ro-RO" dirty="0" smtClean="0"/>
              <a:t>?</a:t>
            </a:r>
            <a:endParaRPr lang="en-US" dirty="0" smtClean="0"/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este avantajul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memoriei cu unități multiple</a:t>
            </a:r>
            <a:r>
              <a:rPr lang="ro-RO" dirty="0" smtClean="0"/>
              <a:t>?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17.04.2018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4105CF0-A438-4A4E-858C-4DEA6578C7DB}" type="slidenum">
              <a:rPr lang="ro-RO"/>
              <a:pPr/>
              <a:t>59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/>
              <a:t>Structura sistemelor de calcul (03-3)</a:t>
            </a:r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1_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Dark Blue Swoosh-modi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6388</TotalTime>
  <Words>3587</Words>
  <Application>Microsoft Office PowerPoint</Application>
  <PresentationFormat>On-screen Show (4:3)</PresentationFormat>
  <Paragraphs>655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Arial</vt:lpstr>
      <vt:lpstr>Calibri</vt:lpstr>
      <vt:lpstr>Symbol</vt:lpstr>
      <vt:lpstr>Times New Roman</vt:lpstr>
      <vt:lpstr>Dark Blue Swoosh-modified</vt:lpstr>
      <vt:lpstr>1_Dark Blue Swoosh-modified</vt:lpstr>
      <vt:lpstr>Dark Blue Swoosh-modif</vt:lpstr>
      <vt:lpstr>Memorii semiconductoare</vt:lpstr>
      <vt:lpstr>Memorii flash</vt:lpstr>
      <vt:lpstr>Principiul de funcționare (1)</vt:lpstr>
      <vt:lpstr>Principiul de funcționare (2)</vt:lpstr>
      <vt:lpstr>Principiul de funcționare (3)</vt:lpstr>
      <vt:lpstr>Principiul de funcționare (4)</vt:lpstr>
      <vt:lpstr>Principiul de funcționare (5)</vt:lpstr>
      <vt:lpstr>Principiul de funcționare (6)</vt:lpstr>
      <vt:lpstr>Principiul de funcționare (7)</vt:lpstr>
      <vt:lpstr>Memorii flash</vt:lpstr>
      <vt:lpstr>Arhitectura NOR (1)</vt:lpstr>
      <vt:lpstr>Arhitectura NOR (2)</vt:lpstr>
      <vt:lpstr>Arhitectura NOR (3)</vt:lpstr>
      <vt:lpstr>Memorii flash</vt:lpstr>
      <vt:lpstr>Arhitectura NAND (1)</vt:lpstr>
      <vt:lpstr>Arhitectura NAND (2)</vt:lpstr>
      <vt:lpstr>Arhitectura NAND (3)</vt:lpstr>
      <vt:lpstr>Arhitectura NAND (4)</vt:lpstr>
      <vt:lpstr>Memorii flash</vt:lpstr>
      <vt:lpstr>Sisteme de memorie NAND (1)</vt:lpstr>
      <vt:lpstr>Sisteme de memorie NAND (2)</vt:lpstr>
      <vt:lpstr>Sisteme de memorie NAND (3)</vt:lpstr>
      <vt:lpstr>Sisteme de memorie NAND (4)</vt:lpstr>
      <vt:lpstr>Sisteme de memorie NAND (5)</vt:lpstr>
      <vt:lpstr>Sisteme de memorie NAND (6)</vt:lpstr>
      <vt:lpstr>Sisteme de memorie NAND (7)</vt:lpstr>
      <vt:lpstr>Sisteme de memorie NAND (8)</vt:lpstr>
      <vt:lpstr>Memorii flash</vt:lpstr>
      <vt:lpstr>Formatul SD (1)</vt:lpstr>
      <vt:lpstr>Formatul SD (2)</vt:lpstr>
      <vt:lpstr>Formatul SD (3)</vt:lpstr>
      <vt:lpstr>Formatul SD (4)</vt:lpstr>
      <vt:lpstr>Formatul SD (5)</vt:lpstr>
      <vt:lpstr>Formatul SD (6)</vt:lpstr>
      <vt:lpstr>Formatul SD (7)</vt:lpstr>
      <vt:lpstr>Formatul SD (8)</vt:lpstr>
      <vt:lpstr>Memorii flash</vt:lpstr>
      <vt:lpstr>Formatul SSD (1)</vt:lpstr>
      <vt:lpstr>Formatul SSD (2)</vt:lpstr>
      <vt:lpstr>Formatul SSD (3)</vt:lpstr>
      <vt:lpstr>Formatul SSD (4)</vt:lpstr>
      <vt:lpstr>Formatul SSD (5)</vt:lpstr>
      <vt:lpstr>Memorii flash</vt:lpstr>
      <vt:lpstr>Formatul eMMC (1)</vt:lpstr>
      <vt:lpstr>Formatul eMMC (2)</vt:lpstr>
      <vt:lpstr>Formatul eMMC (3)</vt:lpstr>
      <vt:lpstr>Memorii flash</vt:lpstr>
      <vt:lpstr>Formatul UFS (1)</vt:lpstr>
      <vt:lpstr>Formatul UFS (2)</vt:lpstr>
      <vt:lpstr>Formatul UFS (3)</vt:lpstr>
      <vt:lpstr>Sisteme de memorie</vt:lpstr>
      <vt:lpstr>Memoria cu unități multiple (1)</vt:lpstr>
      <vt:lpstr>Memoria cu unități multiple (2)</vt:lpstr>
      <vt:lpstr>Memoria cu unități multiple (3)</vt:lpstr>
      <vt:lpstr>Rezumat (1)</vt:lpstr>
      <vt:lpstr>Rezumat (2)</vt:lpstr>
      <vt:lpstr>Noțiuni, cunoștințe (1)</vt:lpstr>
      <vt:lpstr>Noțiuni, cunoștințe (2)</vt:lpstr>
      <vt:lpstr>Întrebări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SSC-Memorii-3-note</dc:title>
  <dc:creator>Baruch Zoltan</dc:creator>
  <cp:lastModifiedBy>Baruch Zoltan</cp:lastModifiedBy>
  <cp:revision>402</cp:revision>
  <cp:lastPrinted>1601-01-01T00:00:00Z</cp:lastPrinted>
  <dcterms:created xsi:type="dcterms:W3CDTF">2002-05-22T18:25:20Z</dcterms:created>
  <dcterms:modified xsi:type="dcterms:W3CDTF">2018-04-15T12:24:23Z</dcterms:modified>
</cp:coreProperties>
</file>