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6" r:id="rId2"/>
  </p:sldMasterIdLst>
  <p:notesMasterIdLst>
    <p:notesMasterId r:id="rId30"/>
  </p:notesMasterIdLst>
  <p:handoutMasterIdLst>
    <p:handoutMasterId r:id="rId31"/>
  </p:handoutMasterIdLst>
  <p:sldIdLst>
    <p:sldId id="273" r:id="rId3"/>
    <p:sldId id="317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320" r:id="rId20"/>
    <p:sldId id="321" r:id="rId21"/>
    <p:sldId id="291" r:id="rId22"/>
    <p:sldId id="292" r:id="rId23"/>
    <p:sldId id="293" r:id="rId24"/>
    <p:sldId id="294" r:id="rId25"/>
    <p:sldId id="322" r:id="rId26"/>
    <p:sldId id="323" r:id="rId27"/>
    <p:sldId id="324" r:id="rId28"/>
    <p:sldId id="318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323" autoAdjust="0"/>
  </p:normalViewPr>
  <p:slideViewPr>
    <p:cSldViewPr>
      <p:cViewPr varScale="1">
        <p:scale>
          <a:sx n="143" d="100"/>
          <a:sy n="143" d="100"/>
        </p:scale>
        <p:origin x="3336" y="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EDC014F-B22B-4783-B5C9-17F15959707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9578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523A5F53-7EC9-4484-8B11-0D954E3A9C1C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138899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370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304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43667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45061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8393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85607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84310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971796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47881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70430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6096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507634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79865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34977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871023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61350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195747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21251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2360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522150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515864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311644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24361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232745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969463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391297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3A5F53-7EC9-4484-8B11-0D954E3A9C1C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6529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96A526EC-71DF-44D6-A3C7-798FA1409294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ACA7F071-DBEC-4142-91D2-2285A24A89AB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37A5B1-BBCB-4168-A251-62AD8C4F3D8B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C2DDDE5-0AE5-4478-AE69-FE157321D52D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B6F78A-2384-4EBC-B5BC-F90235736041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2AD415-6D8E-4615-A59C-86385D7B305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A526EC-71DF-44D6-A3C7-798FA1409294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8072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A526EC-71DF-44D6-A3C7-798FA1409294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/>
              <a:t>Structura sistemelor de calcul (04)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96A526EC-71DF-44D6-A3C7-798FA1409294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(04)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(04)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96A526EC-71DF-44D6-A3C7-798FA140929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(04)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Cuprins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154984"/>
          </a:xfrm>
        </p:spPr>
        <p:txBody>
          <a:bodyPr/>
          <a:lstStyle/>
          <a:p>
            <a:endParaRPr lang="ro-RO" dirty="0" smtClean="0"/>
          </a:p>
          <a:p>
            <a:endParaRPr lang="en-US" dirty="0"/>
          </a:p>
          <a:p>
            <a:r>
              <a:rPr lang="ro-RO" dirty="0"/>
              <a:t>1. Introducere</a:t>
            </a:r>
          </a:p>
          <a:p>
            <a:r>
              <a:rPr lang="ro-RO" dirty="0"/>
              <a:t>2. Unitatea aritmetică și logică</a:t>
            </a:r>
          </a:p>
          <a:p>
            <a:r>
              <a:rPr lang="ro-RO" dirty="0"/>
              <a:t>3. Sisteme de memorie</a:t>
            </a:r>
            <a:endParaRPr lang="en-US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Arhitecturi RISC</a:t>
            </a:r>
            <a:endParaRPr lang="en-US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o-RO" dirty="0"/>
              <a:t>5. Introducere în arhitecturi </a:t>
            </a:r>
            <a:r>
              <a:rPr lang="ro-RO" dirty="0" smtClean="0"/>
              <a:t>paralele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5ECAD3-DE95-43AB-95F6-7DF81F03B19F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ro-RO" dirty="0" smtClean="0"/>
              <a:t>Arhitecturi </a:t>
            </a:r>
            <a:r>
              <a:rPr lang="ro-RO" dirty="0"/>
              <a:t>RISC</a:t>
            </a:r>
            <a:endParaRPr lang="en-US" dirty="0"/>
          </a:p>
        </p:txBody>
      </p:sp>
      <p:sp>
        <p:nvSpPr>
          <p:cNvPr id="3952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Introducere</a:t>
            </a:r>
            <a:endParaRPr lang="ro-RO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o-RO" dirty="0"/>
              <a:t>Cauze ale </a:t>
            </a:r>
            <a:r>
              <a:rPr lang="ro-RO" dirty="0" smtClean="0"/>
              <a:t>complexității </a:t>
            </a:r>
            <a:r>
              <a:rPr lang="ro-RO" dirty="0"/>
              <a:t>arhitecturale</a:t>
            </a:r>
          </a:p>
          <a:p>
            <a:r>
              <a:rPr lang="ro-RO" dirty="0"/>
              <a:t>Avantaje ale arhitecturilor RISC</a:t>
            </a:r>
          </a:p>
          <a:p>
            <a:r>
              <a:rPr lang="ro-RO" dirty="0" smtClean="0"/>
              <a:t>Ferestre suprapuse de registre</a:t>
            </a:r>
            <a:endParaRPr lang="ro-RO" dirty="0"/>
          </a:p>
          <a:p>
            <a:r>
              <a:rPr lang="ro-RO" dirty="0"/>
              <a:t>Caracteristici ale arhitecturilor RISC</a:t>
            </a:r>
          </a:p>
          <a:p>
            <a:r>
              <a:rPr lang="ro-RO" dirty="0" smtClean="0"/>
              <a:t>Comparație </a:t>
            </a:r>
            <a:r>
              <a:rPr lang="ro-RO" dirty="0"/>
              <a:t>între arhitecturile RISC </a:t>
            </a:r>
            <a:r>
              <a:rPr lang="ro-RO" dirty="0" smtClean="0"/>
              <a:t>și CISC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651A38-95AC-4604-84FF-80EC13593A8B}" type="slidenum">
              <a:rPr lang="ro-RO"/>
              <a:pPr/>
              <a:t>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Introducere (1)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rhitecturile de calculatoare au evoluat progresiv spre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complexitate mai ridicat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</a:p>
          <a:p>
            <a:pPr lvl="1"/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 mare de </a:t>
            </a:r>
            <a:r>
              <a:rPr lang="ro-RO" dirty="0" smtClean="0">
                <a:cs typeface="Times New Roman" pitchFamily="18" charset="0"/>
              </a:rPr>
              <a:t>instrucțiuni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 mare de moduri de adresare</a:t>
            </a:r>
            <a:endParaRPr lang="ro-RO" dirty="0"/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utere de calcul ridicat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</a:t>
            </a:r>
            <a:r>
              <a:rPr lang="ro-RO" dirty="0" smtClean="0">
                <a:cs typeface="Times New Roman" pitchFamily="18" charset="0"/>
              </a:rPr>
              <a:t>instrucțiunilor </a:t>
            </a:r>
            <a:r>
              <a:rPr lang="ro-RO" dirty="0">
                <a:cs typeface="Times New Roman" pitchFamily="18" charset="0"/>
              </a:rPr>
              <a:t>individuale </a:t>
            </a:r>
            <a:endParaRPr lang="ro-RO" dirty="0"/>
          </a:p>
          <a:p>
            <a:pPr lvl="1"/>
            <a:r>
              <a:rPr lang="ro-RO" dirty="0"/>
              <a:t>Registre specializate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Calculato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cu set complex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CISC </a:t>
            </a:r>
            <a:r>
              <a:rPr lang="ro-RO" dirty="0">
                <a:cs typeface="Times New Roman" pitchFamily="18" charset="0"/>
              </a:rPr>
              <a:t>– </a:t>
            </a:r>
            <a:r>
              <a:rPr lang="ro-RO" i="1" dirty="0">
                <a:cs typeface="Times New Roman" pitchFamily="18" charset="0"/>
              </a:rPr>
              <a:t>Complex </a:t>
            </a:r>
            <a:r>
              <a:rPr lang="ro-RO" i="1" dirty="0" err="1">
                <a:cs typeface="Times New Roman" pitchFamily="18" charset="0"/>
              </a:rPr>
              <a:t>Instruction</a:t>
            </a:r>
            <a:r>
              <a:rPr lang="ro-RO" i="1" dirty="0">
                <a:cs typeface="Times New Roman" pitchFamily="18" charset="0"/>
              </a:rPr>
              <a:t> Set Computer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7D1545-D577-4961-AD19-FF1BC114EBAD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Introducere (2)</a:t>
            </a:r>
          </a:p>
        </p:txBody>
      </p:sp>
      <p:sp>
        <p:nvSpPr>
          <p:cNvPr id="3512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Efectele unei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/>
              <a:t>complexe </a:t>
            </a:r>
            <a:r>
              <a:rPr lang="ro-RO" dirty="0">
                <a:cs typeface="Times New Roman" pitchFamily="18" charset="0"/>
              </a:rPr>
              <a:t>trebuie evaluate înainte </a:t>
            </a:r>
            <a:r>
              <a:rPr lang="ro-RO" dirty="0"/>
              <a:t>de</a:t>
            </a:r>
            <a:r>
              <a:rPr lang="ro-RO" dirty="0">
                <a:cs typeface="Times New Roman" pitchFamily="18" charset="0"/>
              </a:rPr>
              <a:t> ad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uga</a:t>
            </a:r>
            <a:r>
              <a:rPr lang="ro-RO" dirty="0"/>
              <a:t>rea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acesteia </a:t>
            </a:r>
            <a:r>
              <a:rPr lang="ro-RO" dirty="0">
                <a:cs typeface="Times New Roman" pitchFamily="18" charset="0"/>
              </a:rPr>
              <a:t>la setul de </a:t>
            </a:r>
            <a:r>
              <a:rPr lang="ro-RO" dirty="0" smtClean="0">
                <a:cs typeface="Times New Roman" pitchFamily="18" charset="0"/>
              </a:rPr>
              <a:t>instrucțiuni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Unele din </a:t>
            </a:r>
            <a:r>
              <a:rPr lang="ro-RO" dirty="0" smtClean="0">
                <a:cs typeface="Times New Roman" pitchFamily="18" charset="0"/>
              </a:rPr>
              <a:t>instrucțiunile </a:t>
            </a:r>
            <a:r>
              <a:rPr lang="ro-RO" dirty="0">
                <a:cs typeface="Times New Roman" pitchFamily="18" charset="0"/>
              </a:rPr>
              <a:t>procesoarel</a:t>
            </a:r>
            <a:r>
              <a:rPr lang="ro-RO" dirty="0"/>
              <a:t>or</a:t>
            </a:r>
            <a:r>
              <a:rPr lang="ro-RO" dirty="0">
                <a:cs typeface="Times New Roman" pitchFamily="18" charset="0"/>
              </a:rPr>
              <a:t> CISC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sunt utilizate rareori de compilatoare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Principiul </a:t>
            </a:r>
            <a:r>
              <a:rPr lang="ro-RO" dirty="0">
                <a:cs typeface="Times New Roman" pitchFamily="18" charset="0"/>
              </a:rPr>
              <a:t>de a nu se ad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uga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utilizate rar la setul de </a:t>
            </a:r>
            <a:r>
              <a:rPr lang="ro-RO" dirty="0" smtClean="0">
                <a:cs typeface="Times New Roman" pitchFamily="18" charset="0"/>
              </a:rPr>
              <a:t>instrucțiuni</a:t>
            </a:r>
            <a:r>
              <a:rPr lang="ro-RO" dirty="0"/>
              <a:t>: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calculator cu set redus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instrucțiuni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RISC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– </a:t>
            </a:r>
            <a:r>
              <a:rPr lang="ro-RO" i="1" dirty="0" err="1">
                <a:cs typeface="Times New Roman" pitchFamily="18" charset="0"/>
              </a:rPr>
              <a:t>Reduced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Instruction</a:t>
            </a:r>
            <a:r>
              <a:rPr lang="ro-RO" i="1" dirty="0">
                <a:cs typeface="Times New Roman" pitchFamily="18" charset="0"/>
              </a:rPr>
              <a:t> Set Computer</a:t>
            </a:r>
            <a:r>
              <a:rPr lang="ro-RO" dirty="0">
                <a:cs typeface="Times New Roman" pitchFamily="18" charset="0"/>
              </a:rPr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8077D8-5548-4A0B-8652-765CFC43D59F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Arhitecturi RISC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 smtClean="0"/>
              <a:t>Introducere</a:t>
            </a:r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Cauze ale complexității arhitecturale</a:t>
            </a:r>
          </a:p>
          <a:p>
            <a:r>
              <a:rPr lang="ro-RO" dirty="0"/>
              <a:t>Avantaje ale arhitecturilor RISC</a:t>
            </a:r>
          </a:p>
          <a:p>
            <a:r>
              <a:rPr lang="ro-RO" dirty="0"/>
              <a:t>Ferestre suprapuse de registre</a:t>
            </a:r>
          </a:p>
          <a:p>
            <a:r>
              <a:rPr lang="ro-RO" dirty="0"/>
              <a:t>Caracteristici ale arhitecturilor RISC</a:t>
            </a:r>
          </a:p>
          <a:p>
            <a:r>
              <a:rPr lang="ro-RO" dirty="0"/>
              <a:t>Comparație între arhitecturile RISC și CISC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A66B94-437B-47D8-B4BE-31281F2B5107}" type="slidenum">
              <a:rPr lang="ro-RO"/>
              <a:pPr/>
              <a:t>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Cauze ale </a:t>
            </a:r>
            <a:r>
              <a:rPr lang="ro-RO" dirty="0" smtClean="0"/>
              <a:t>complexității </a:t>
            </a:r>
            <a:r>
              <a:rPr lang="ro-RO" dirty="0"/>
              <a:t>arhitecturale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Facilitarea utiliz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rii limbajelor de nivel înalt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S-</a:t>
            </a:r>
            <a:r>
              <a:rPr lang="ro-RO" dirty="0">
                <a:cs typeface="Times New Roman" pitchFamily="18" charset="0"/>
              </a:rPr>
              <a:t>au prev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zut </a:t>
            </a:r>
            <a:r>
              <a:rPr lang="ro-RO" dirty="0" smtClean="0">
                <a:cs typeface="Times New Roman" pitchFamily="18" charset="0"/>
              </a:rPr>
              <a:t>instrucțiuni </a:t>
            </a:r>
            <a:r>
              <a:rPr lang="ro-RO" dirty="0">
                <a:cs typeface="Times New Roman" pitchFamily="18" charset="0"/>
              </a:rPr>
              <a:t>mai puternice pentru limbaje</a:t>
            </a:r>
            <a:r>
              <a:rPr lang="en-US" dirty="0">
                <a:cs typeface="Times New Roman" pitchFamily="18" charset="0"/>
              </a:rPr>
              <a:t>le</a:t>
            </a:r>
            <a:r>
              <a:rPr lang="ro-RO" dirty="0">
                <a:cs typeface="Times New Roman" pitchFamily="18" charset="0"/>
              </a:rPr>
              <a:t> de nivel înalt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Migrarea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funcțiilor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la implementarea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prin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software la implementarea prin hardware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Software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 err="1"/>
              <a:t>firmware</a:t>
            </a:r>
            <a:r>
              <a:rPr lang="ro-RO" dirty="0"/>
              <a:t>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hardware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Compatibilitatea în sus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Un </a:t>
            </a:r>
            <a:r>
              <a:rPr lang="ro-RO" dirty="0">
                <a:cs typeface="Times New Roman" pitchFamily="18" charset="0"/>
              </a:rPr>
              <a:t>mod de a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un sistem prin ad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ugarea unor </a:t>
            </a:r>
            <a:r>
              <a:rPr lang="ro-RO" dirty="0" smtClean="0">
                <a:cs typeface="Times New Roman" pitchFamily="18" charset="0"/>
              </a:rPr>
              <a:t>facilit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noi</a:t>
            </a:r>
            <a:r>
              <a:rPr lang="ro-RO" dirty="0"/>
              <a:t>,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mai complexe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EC8EEB-C51C-420C-8E56-DB1192722FFA}" type="slidenum">
              <a:rPr lang="ro-RO"/>
              <a:pPr/>
              <a:t>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Arhitecturi RISC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dirty="0">
              <a:solidFill>
                <a:schemeClr val="tx2"/>
              </a:solidFill>
            </a:endParaRPr>
          </a:p>
          <a:p>
            <a:r>
              <a:rPr lang="ro-RO" dirty="0"/>
              <a:t>Introducere</a:t>
            </a:r>
          </a:p>
          <a:p>
            <a:r>
              <a:rPr lang="ro-RO" dirty="0"/>
              <a:t>Cauze ale complexității arhitecturale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Avantaje ale arhitecturilor RISC</a:t>
            </a:r>
          </a:p>
          <a:p>
            <a:r>
              <a:rPr lang="ro-RO" dirty="0"/>
              <a:t>Ferestre suprapuse de registre</a:t>
            </a:r>
          </a:p>
          <a:p>
            <a:r>
              <a:rPr lang="ro-RO" dirty="0"/>
              <a:t>Caracteristici ale arhitecturilor RISC</a:t>
            </a:r>
          </a:p>
          <a:p>
            <a:r>
              <a:rPr lang="ro-RO" dirty="0"/>
              <a:t>Comparație între arhitecturile RISC și CISC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A401FD-6145-45C9-9323-F253983D0FB9}" type="slidenum">
              <a:rPr lang="ro-RO"/>
              <a:pPr/>
              <a:t>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Avantaje ale arhitecturilor RISC (1)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Obiective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universal acceptate de 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tre </a:t>
            </a:r>
            <a:r>
              <a:rPr lang="ro-RO" dirty="0" smtClean="0">
                <a:cs typeface="Times New Roman" pitchFamily="18" charset="0"/>
              </a:rPr>
              <a:t>proiectanții </a:t>
            </a:r>
            <a:r>
              <a:rPr lang="ro-RO" dirty="0">
                <a:cs typeface="Times New Roman" pitchFamily="18" charset="0"/>
              </a:rPr>
              <a:t>de calculatoare</a:t>
            </a:r>
            <a:r>
              <a:rPr lang="ro-RO" dirty="0"/>
              <a:t>: </a:t>
            </a:r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inimizarea timpului de </a:t>
            </a:r>
            <a:r>
              <a:rPr lang="ro-RO" dirty="0" smtClean="0">
                <a:cs typeface="Times New Roman" pitchFamily="18" charset="0"/>
              </a:rPr>
              <a:t>execuție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Minimizarea costului de proiectare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Metode </a:t>
            </a:r>
            <a:r>
              <a:rPr lang="ro-RO" dirty="0"/>
              <a:t>pentru îndeplinirea obiectivelor:</a:t>
            </a:r>
          </a:p>
          <a:p>
            <a:pPr lvl="1"/>
            <a:r>
              <a:rPr lang="ro-RO" dirty="0" smtClean="0"/>
              <a:t>Î</a:t>
            </a:r>
            <a:r>
              <a:rPr lang="ro-RO" dirty="0" smtClean="0">
                <a:cs typeface="Times New Roman" pitchFamily="18" charset="0"/>
              </a:rPr>
              <a:t>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</a:t>
            </a:r>
            <a:r>
              <a:rPr lang="ro-RO" dirty="0" smtClean="0"/>
              <a:t>rea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tehnologi</a:t>
            </a:r>
            <a:r>
              <a:rPr lang="ro-RO" dirty="0"/>
              <a:t>ei</a:t>
            </a:r>
            <a:r>
              <a:rPr lang="ro-RO" dirty="0">
                <a:cs typeface="Times New Roman" pitchFamily="18" charset="0"/>
              </a:rPr>
              <a:t> componentelor</a:t>
            </a:r>
            <a:endParaRPr lang="ro-RO" dirty="0"/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inimizarea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rului mediu al ciclurilor de ceas pe </a:t>
            </a:r>
            <a:r>
              <a:rPr lang="ro-RO" dirty="0" smtClean="0">
                <a:cs typeface="Times New Roman" pitchFamily="18" charset="0"/>
              </a:rPr>
              <a:t>instrucțiune</a:t>
            </a:r>
            <a:endParaRPr lang="ro-RO" dirty="0"/>
          </a:p>
          <a:p>
            <a:pPr lvl="1"/>
            <a:r>
              <a:rPr lang="ro-RO" dirty="0" smtClean="0"/>
              <a:t>E</a:t>
            </a:r>
            <a:r>
              <a:rPr lang="ro-RO" dirty="0" smtClean="0">
                <a:cs typeface="Times New Roman" pitchFamily="18" charset="0"/>
              </a:rPr>
              <a:t>xecuția </a:t>
            </a:r>
            <a:r>
              <a:rPr lang="ro-RO" dirty="0">
                <a:cs typeface="Times New Roman" pitchFamily="18" charset="0"/>
              </a:rPr>
              <a:t>simultan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mai multor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iuni 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4E836-3A61-4652-95B2-6EAD7E6F4513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Avantaje ale arhitecturilor RISC (2)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>
                <a:cs typeface="Times New Roman" pitchFamily="18" charset="0"/>
              </a:rPr>
              <a:t>Arhitecturile </a:t>
            </a:r>
            <a:r>
              <a:rPr lang="ro-RO" dirty="0"/>
              <a:t>CISC</a:t>
            </a:r>
            <a:r>
              <a:rPr lang="ro-RO" dirty="0">
                <a:cs typeface="Times New Roman" pitchFamily="18" charset="0"/>
              </a:rPr>
              <a:t> necesit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logic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mai complexă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ste necesar un microprogram complex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 parte </a:t>
            </a:r>
            <a:r>
              <a:rPr lang="ro-RO" dirty="0"/>
              <a:t>importantă</a:t>
            </a:r>
            <a:r>
              <a:rPr lang="ro-RO" dirty="0">
                <a:cs typeface="Times New Roman" pitchFamily="18" charset="0"/>
              </a:rPr>
              <a:t> a </a:t>
            </a:r>
            <a:r>
              <a:rPr lang="ro-RO" dirty="0" smtClean="0">
                <a:cs typeface="Times New Roman" pitchFamily="18" charset="0"/>
              </a:rPr>
              <a:t>suprafeței </a:t>
            </a:r>
            <a:r>
              <a:rPr lang="ro-RO" dirty="0">
                <a:cs typeface="Times New Roman" pitchFamily="18" charset="0"/>
              </a:rPr>
              <a:t>circuitului </a:t>
            </a:r>
            <a:r>
              <a:rPr lang="ro-RO" dirty="0"/>
              <a:t>este</a:t>
            </a:r>
            <a:r>
              <a:rPr lang="ro-RO" dirty="0">
                <a:cs typeface="Times New Roman" pitchFamily="18" charset="0"/>
              </a:rPr>
              <a:t> ocupat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memoria de microprogram</a:t>
            </a:r>
            <a:endParaRPr lang="ro-RO" dirty="0"/>
          </a:p>
          <a:p>
            <a:r>
              <a:rPr lang="ro-RO" dirty="0" smtClean="0"/>
              <a:t>S</a:t>
            </a:r>
            <a:r>
              <a:rPr lang="ro-RO" dirty="0" smtClean="0">
                <a:cs typeface="Times New Roman" pitchFamily="18" charset="0"/>
              </a:rPr>
              <a:t>upraf</a:t>
            </a:r>
            <a:r>
              <a:rPr lang="ro-RO" dirty="0" smtClean="0"/>
              <a:t>ața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circuitului necesar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unitatea de control</a:t>
            </a:r>
            <a:r>
              <a:rPr lang="ro-RO" dirty="0"/>
              <a:t>: CISC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40</a:t>
            </a:r>
            <a:r>
              <a:rPr lang="ro-RO" dirty="0" smtClean="0"/>
              <a:t>% .. 60</a:t>
            </a:r>
            <a:r>
              <a:rPr lang="ro-RO" dirty="0"/>
              <a:t>%; RISC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10%</a:t>
            </a:r>
          </a:p>
          <a:p>
            <a:r>
              <a:rPr lang="ro-RO" dirty="0" smtClean="0">
                <a:cs typeface="Times New Roman" pitchFamily="18" charset="0"/>
              </a:rPr>
              <a:t>Suprafața </a:t>
            </a:r>
            <a:r>
              <a:rPr lang="ro-RO" dirty="0">
                <a:cs typeface="Times New Roman" pitchFamily="18" charset="0"/>
              </a:rPr>
              <a:t>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mas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la o arhitectură </a:t>
            </a:r>
            <a:r>
              <a:rPr lang="ro-RO" dirty="0">
                <a:cs typeface="Times New Roman" pitchFamily="18" charset="0"/>
              </a:rPr>
              <a:t>RISC poate fi utilizat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alte </a:t>
            </a:r>
            <a:r>
              <a:rPr lang="ro-RO" dirty="0" smtClean="0">
                <a:cs typeface="Times New Roman" pitchFamily="18" charset="0"/>
              </a:rPr>
              <a:t>componente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B9B526-FFAE-4024-957A-AB473A1D4607}" type="slidenum">
              <a:rPr lang="ro-RO"/>
              <a:pPr/>
              <a:t>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Avantaje ale arhitecturilor RISC (3)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062651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iteza de calcul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rhitecturile RISC sunt mai potrivite pentru utilizarea sistemelor </a:t>
            </a:r>
            <a:r>
              <a:rPr lang="ro-RO" i="1" dirty="0" err="1">
                <a:cs typeface="Times New Roman" pitchFamily="18" charset="0"/>
              </a:rPr>
              <a:t>pipeline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 smtClean="0">
                <a:cs typeface="Times New Roman" pitchFamily="18" charset="0"/>
              </a:rPr>
              <a:t>instrucțiuni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Implementarea în circuite VLSI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nitatea de control a arhitecturilor RISC este implementat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prin hardware</a:t>
            </a:r>
            <a:r>
              <a:rPr lang="ro-RO" dirty="0"/>
              <a:t> (cablată)</a:t>
            </a:r>
          </a:p>
          <a:p>
            <a:pPr lvl="1"/>
            <a:r>
              <a:rPr lang="ro-RO" dirty="0"/>
              <a:t>Un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num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 mare de registre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memoriile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cache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reduc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acceselor la memorie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606A79-68AE-467B-B736-C4AA931385AA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Avantaje ale arhitecturilor RISC (4)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04337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de proiectare</a:t>
            </a:r>
          </a:p>
          <a:p>
            <a:pPr lvl="1"/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impul necesar pentru testare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depanare este mai redus</a:t>
            </a:r>
            <a:endParaRPr lang="ro-RO" dirty="0"/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osibilitatea erorilor este mai redus</a:t>
            </a:r>
            <a:r>
              <a:rPr lang="ro-RO" dirty="0"/>
              <a:t>ă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costuri de proiectare mai reduse</a:t>
            </a:r>
            <a:r>
              <a:rPr lang="ro-RO" dirty="0"/>
              <a:t>;</a:t>
            </a:r>
            <a:r>
              <a:rPr lang="ro-RO" dirty="0">
                <a:cs typeface="Times New Roman" pitchFamily="18" charset="0"/>
              </a:rPr>
              <a:t> fiabilit</a:t>
            </a:r>
            <a:r>
              <a:rPr lang="ro-RO" dirty="0"/>
              <a:t>ate</a:t>
            </a:r>
            <a:r>
              <a:rPr lang="ro-RO" dirty="0">
                <a:cs typeface="Times New Roman" pitchFamily="18" charset="0"/>
              </a:rPr>
              <a:t> de proiectare mai ridicat</a:t>
            </a:r>
            <a:r>
              <a:rPr lang="ro-RO" dirty="0"/>
              <a:t>ă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Facilitarea utiliz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rii limbajelor de nivel înalt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 smtClean="0"/>
              <a:t>Instrucțiuni </a:t>
            </a:r>
            <a:r>
              <a:rPr lang="ro-RO" dirty="0">
                <a:cs typeface="Times New Roman" pitchFamily="18" charset="0"/>
              </a:rPr>
              <a:t>apropiate semantic de caracteristicile limbajelor de nivel înalt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B660CF-F505-4387-BFF5-135EFF3E6F03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Arhitecturi RISC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dirty="0">
              <a:solidFill>
                <a:schemeClr val="tx2"/>
              </a:solidFill>
            </a:endParaRPr>
          </a:p>
          <a:p>
            <a:r>
              <a:rPr lang="ro-RO" dirty="0"/>
              <a:t>Introducere</a:t>
            </a:r>
          </a:p>
          <a:p>
            <a:r>
              <a:rPr lang="ro-RO" dirty="0"/>
              <a:t>Cauze ale complexității arhitecturale</a:t>
            </a:r>
          </a:p>
          <a:p>
            <a:r>
              <a:rPr lang="ro-RO" dirty="0"/>
              <a:t>Avantaje ale arhitecturilor RISC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Ferestre suprapuse de registre</a:t>
            </a:r>
          </a:p>
          <a:p>
            <a:r>
              <a:rPr lang="ro-RO" dirty="0"/>
              <a:t>Caracteristici ale arhitecturilor RISC</a:t>
            </a:r>
          </a:p>
          <a:p>
            <a:r>
              <a:rPr lang="ro-RO" dirty="0"/>
              <a:t>Comparație între arhitecturile RISC și CISC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BBDFD4-258C-418A-943C-9E40AA914432}" type="slidenum">
              <a:rPr lang="ro-RO"/>
              <a:pPr/>
              <a:t>12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695995"/>
          </a:xfrm>
        </p:spPr>
        <p:txBody>
          <a:bodyPr>
            <a:normAutofit/>
          </a:bodyPr>
          <a:lstStyle/>
          <a:p>
            <a:r>
              <a:rPr lang="ro-RO" dirty="0" smtClean="0"/>
              <a:t>Ferestre suprapuse de registre (1)</a:t>
            </a:r>
            <a:endParaRPr lang="ro-RO" dirty="0"/>
          </a:p>
        </p:txBody>
      </p:sp>
      <p:sp>
        <p:nvSpPr>
          <p:cNvPr id="36045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>
            <a:normAutofit lnSpcReduction="10000"/>
          </a:bodyPr>
          <a:lstStyle/>
          <a:p>
            <a:r>
              <a:rPr lang="ro-RO" dirty="0" smtClean="0"/>
              <a:t>Instrucțiunile </a:t>
            </a:r>
            <a:r>
              <a:rPr lang="ro-RO" dirty="0"/>
              <a:t>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apel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revenire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consum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cel mai mult </a:t>
            </a:r>
            <a:r>
              <a:rPr lang="ro-RO" dirty="0" smtClean="0">
                <a:cs typeface="Times New Roman" pitchFamily="18" charset="0"/>
              </a:rPr>
              <a:t>timp 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Un calculator </a:t>
            </a:r>
            <a:r>
              <a:rPr lang="ro-RO" dirty="0"/>
              <a:t>cu un set redus de registre</a:t>
            </a:r>
            <a:r>
              <a:rPr lang="ro-RO" dirty="0">
                <a:cs typeface="Times New Roman" pitchFamily="18" charset="0"/>
              </a:rPr>
              <a:t> necesit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timp ridicat pentru </a:t>
            </a:r>
            <a:r>
              <a:rPr lang="ro-RO" dirty="0"/>
              <a:t>a </a:t>
            </a:r>
            <a:r>
              <a:rPr lang="ro-RO" dirty="0">
                <a:cs typeface="Times New Roman" pitchFamily="18" charset="0"/>
              </a:rPr>
              <a:t>gestiona apelurile de proceduri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revenirile </a:t>
            </a:r>
            <a:endParaRPr lang="ro-RO" dirty="0"/>
          </a:p>
          <a:p>
            <a:r>
              <a:rPr lang="ro-RO" dirty="0"/>
              <a:t>Un principiu de proiectare</a:t>
            </a:r>
            <a:r>
              <a:rPr lang="ro-RO" dirty="0">
                <a:cs typeface="Times New Roman" pitchFamily="18" charset="0"/>
              </a:rPr>
              <a:t> RISC</a:t>
            </a:r>
            <a:r>
              <a:rPr lang="ro-RO" dirty="0"/>
              <a:t>: asigurarea </a:t>
            </a:r>
            <a:r>
              <a:rPr lang="ro-RO" dirty="0">
                <a:cs typeface="Times New Roman" pitchFamily="18" charset="0"/>
              </a:rPr>
              <a:t>un</a:t>
            </a:r>
            <a:r>
              <a:rPr lang="ro-RO" dirty="0"/>
              <a:t>ui</a:t>
            </a:r>
            <a:r>
              <a:rPr lang="ro-RO" dirty="0">
                <a:cs typeface="Times New Roman" pitchFamily="18" charset="0"/>
              </a:rPr>
              <a:t> mijloc eficient de gestiune a procedurilor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Necesitatea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existenței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unui număr mare de registre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FA1714-B890-4DA7-B0F5-C7024D9EB162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Ferestre suprapuse de registre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6147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424936" cy="4438138"/>
          </a:xfrm>
        </p:spPr>
        <p:txBody>
          <a:bodyPr/>
          <a:lstStyle/>
          <a:p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onceptul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ferestrelor suprapuse de registre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etul de registre este </a:t>
            </a:r>
            <a:r>
              <a:rPr lang="ro-RO" dirty="0" smtClean="0">
                <a:cs typeface="Times New Roman" pitchFamily="18" charset="0"/>
              </a:rPr>
              <a:t>împ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it </a:t>
            </a:r>
            <a:r>
              <a:rPr lang="ro-RO" dirty="0">
                <a:cs typeface="Times New Roman" pitchFamily="18" charset="0"/>
              </a:rPr>
              <a:t>în grupe de registre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ferestre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/>
            <a:r>
              <a:rPr lang="ro-RO" dirty="0"/>
              <a:t>R</a:t>
            </a:r>
            <a:r>
              <a:rPr lang="ro-RO" dirty="0">
                <a:cs typeface="Times New Roman" pitchFamily="18" charset="0"/>
              </a:rPr>
              <a:t>egistre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globale</a:t>
            </a:r>
            <a:r>
              <a:rPr lang="ro-RO" dirty="0"/>
              <a:t>, registre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locale</a:t>
            </a:r>
          </a:p>
          <a:p>
            <a:pPr lvl="1"/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iec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rei proceduri i se asigneaz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fereastr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separat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setul de registre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B</a:t>
            </a:r>
            <a:r>
              <a:rPr lang="ro-RO" dirty="0">
                <a:cs typeface="Times New Roman" pitchFamily="18" charset="0"/>
              </a:rPr>
              <a:t>aza ferestrei este adresat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pointerul ferestrei curente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Current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Window</a:t>
            </a:r>
            <a:r>
              <a:rPr lang="ro-RO" i="1" dirty="0">
                <a:cs typeface="Times New Roman" pitchFamily="18" charset="0"/>
              </a:rPr>
              <a:t> Pointer</a:t>
            </a:r>
            <a:r>
              <a:rPr lang="ro-RO" dirty="0">
                <a:cs typeface="Times New Roman" pitchFamily="18" charset="0"/>
              </a:rPr>
              <a:t> – CWP)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7C0A4B-C749-407A-B491-38C50C233C3B}" type="slidenum">
              <a:rPr lang="ro-RO"/>
              <a:pPr/>
              <a:t>14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Ferestre suprapuse de registre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624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95049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Ferestrele de registre pot fi utile pentru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transmiterea eficient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a parametrilor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Ferestrele de registre sunt suprapuse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Parametrii pot fi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transmi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ără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a modifica CWP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dirty="0">
                <a:cs typeface="Times New Roman" pitchFamily="18" charset="0"/>
              </a:rPr>
              <a:t>plasarea acestora în partea care se suprapune din cele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ferestre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arametrii vor fi accesibili atât pentru procedura apelant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, cât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pentru </a:t>
            </a:r>
            <a:r>
              <a:rPr lang="ro-RO" dirty="0" smtClean="0">
                <a:cs typeface="Times New Roman" pitchFamily="18" charset="0"/>
              </a:rPr>
              <a:t>procedura apelat</a:t>
            </a:r>
            <a:r>
              <a:rPr lang="ro-RO" dirty="0" smtClean="0"/>
              <a:t>ă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21C838-F656-4034-AD1D-0E097C7F2A34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Ferestre suprapuse de registre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945A65-2CC4-480A-83BF-0FDE6C4EC90A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  <p:pic>
        <p:nvPicPr>
          <p:cNvPr id="8" name="Content Placeholder 7" descr="ssc6-ferestre-registre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627784" y="1268760"/>
            <a:ext cx="3909556" cy="5013727"/>
          </a:xfr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Arhitecturi RISC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dirty="0">
              <a:solidFill>
                <a:schemeClr val="tx2"/>
              </a:solidFill>
            </a:endParaRPr>
          </a:p>
          <a:p>
            <a:r>
              <a:rPr lang="ro-RO" dirty="0"/>
              <a:t>Introducere</a:t>
            </a:r>
          </a:p>
          <a:p>
            <a:r>
              <a:rPr lang="ro-RO" dirty="0"/>
              <a:t>Cauze ale complexității arhitecturale</a:t>
            </a:r>
          </a:p>
          <a:p>
            <a:r>
              <a:rPr lang="ro-RO" dirty="0"/>
              <a:t>Avantaje ale arhitecturilor RISC</a:t>
            </a:r>
          </a:p>
          <a:p>
            <a:r>
              <a:rPr lang="ro-RO" dirty="0"/>
              <a:t>Ferestre suprapuse de registre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Caracteristici ale arhitecturilor RISC</a:t>
            </a:r>
          </a:p>
          <a:p>
            <a:r>
              <a:rPr lang="ro-RO" dirty="0"/>
              <a:t>Comparație între arhitecturile RISC și CISC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B1D490-4EBA-4258-9F93-D32C2998D89A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Caracteristici ale arhitecturilor RISC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776"/>
            <a:ext cx="8382000" cy="5029168"/>
          </a:xfrm>
        </p:spPr>
        <p:txBody>
          <a:bodyPr/>
          <a:lstStyle/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O</a:t>
            </a:r>
            <a:r>
              <a:rPr lang="ro-RO" dirty="0" smtClean="0">
                <a:cs typeface="Times New Roman" pitchFamily="18" charset="0"/>
              </a:rPr>
              <a:t> arhitectur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RISC este de </a:t>
            </a:r>
            <a:r>
              <a:rPr lang="ro-RO" dirty="0" smtClean="0">
                <a:cs typeface="Times New Roman" pitchFamily="18" charset="0"/>
              </a:rPr>
              <a:t>tip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“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load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/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store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”</a:t>
            </a:r>
            <a:r>
              <a:rPr lang="ro-RO" i="1" dirty="0" smtClean="0"/>
              <a:t> 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>
                <a:cs typeface="Times New Roman" pitchFamily="18" charset="0"/>
              </a:rPr>
              <a:t>Execuția majorit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ii instrucțiunilor necesit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un singur ciclu de ceas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>
                <a:cs typeface="Times New Roman" pitchFamily="18" charset="0"/>
              </a:rPr>
              <a:t>Instrucțiunile au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format fix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>
                <a:cs typeface="Times New Roman" pitchFamily="18" charset="0"/>
              </a:rPr>
              <a:t>Unitatea de control este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cablat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 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um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 redus de formate </a:t>
            </a:r>
            <a:r>
              <a:rPr lang="ro-RO" dirty="0" smtClean="0">
                <a:cs typeface="Times New Roman" pitchFamily="18" charset="0"/>
              </a:rPr>
              <a:t>de instrucțiuni 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>
                <a:cs typeface="Times New Roman" pitchFamily="18" charset="0"/>
              </a:rPr>
              <a:t>UCP are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num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 mare de registre 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990600" lvl="1" indent="-533400">
              <a:spcBef>
                <a:spcPts val="600"/>
              </a:spcBef>
            </a:pPr>
            <a:r>
              <a:rPr lang="ro-RO" dirty="0" smtClean="0"/>
              <a:t>Alternativă: memorie </a:t>
            </a:r>
            <a:r>
              <a:rPr lang="ro-RO" i="1" dirty="0" err="1" smtClean="0"/>
              <a:t>cache</a:t>
            </a:r>
            <a:r>
              <a:rPr lang="ro-RO" dirty="0" smtClean="0"/>
              <a:t> de dimensiuni mari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7F071-DBEC-4142-91D2-2285A24A89AB}" type="slidenum">
              <a:rPr lang="ro-RO" smtClean="0"/>
              <a:pPr/>
              <a:t>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09398"/>
          </a:xfrm>
        </p:spPr>
        <p:txBody>
          <a:bodyPr/>
          <a:lstStyle/>
          <a:p>
            <a:r>
              <a:rPr lang="ro-RO" sz="4400" dirty="0"/>
              <a:t>Caracteristici ale arhitecturilor RISC </a:t>
            </a:r>
            <a:r>
              <a:rPr lang="ro-RO" sz="4400" dirty="0" smtClean="0"/>
              <a:t>(2)</a:t>
            </a:r>
            <a:endParaRPr lang="ro-RO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24744"/>
            <a:ext cx="8382000" cy="5184577"/>
          </a:xfrm>
        </p:spPr>
        <p:txBody>
          <a:bodyPr>
            <a:normAutofit/>
          </a:bodyPr>
          <a:lstStyle/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 startAt="7"/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Compilatorul </a:t>
            </a:r>
            <a:r>
              <a:rPr lang="ro-RO" dirty="0" smtClean="0">
                <a:cs typeface="Times New Roman" pitchFamily="18" charset="0"/>
              </a:rPr>
              <a:t>are o complexitate ridicat</a:t>
            </a:r>
            <a:r>
              <a:rPr lang="ro-RO" dirty="0" smtClean="0"/>
              <a:t>ă</a:t>
            </a:r>
          </a:p>
          <a:p>
            <a:pPr marL="990600" lvl="1" indent="-533400">
              <a:spcBef>
                <a:spcPts val="500"/>
              </a:spcBef>
            </a:pPr>
            <a:r>
              <a:rPr lang="ro-RO" dirty="0" smtClean="0"/>
              <a:t>Tratează salturile întârziate</a:t>
            </a:r>
          </a:p>
          <a:p>
            <a:pPr marL="990600" lvl="1" indent="-533400">
              <a:spcBef>
                <a:spcPts val="500"/>
              </a:spcBef>
            </a:pPr>
            <a:r>
              <a:rPr lang="ro-RO" dirty="0" smtClean="0"/>
              <a:t>Rearanjează instrucțiunile</a:t>
            </a:r>
          </a:p>
          <a:p>
            <a:pPr marL="533400" indent="-533400">
              <a:spcBef>
                <a:spcPts val="600"/>
              </a:spcBef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 startAt="8"/>
            </a:pPr>
            <a:r>
              <a:rPr lang="ro-RO" dirty="0" smtClean="0">
                <a:cs typeface="Times New Roman" pitchFamily="18" charset="0"/>
              </a:rPr>
              <a:t>Exist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relativ puține instrucțiuni </a:t>
            </a:r>
            <a:r>
              <a:rPr lang="ro-RO" dirty="0" smtClean="0"/>
              <a:t>și foarte </a:t>
            </a:r>
            <a:r>
              <a:rPr lang="ro-RO" dirty="0" smtClean="0">
                <a:cs typeface="Times New Roman" pitchFamily="18" charset="0"/>
              </a:rPr>
              <a:t>puține moduri de adresare</a:t>
            </a:r>
          </a:p>
          <a:p>
            <a:pPr marL="533400" indent="-533400">
              <a:spcBef>
                <a:spcPts val="600"/>
              </a:spcBef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 startAt="8"/>
            </a:pPr>
            <a:r>
              <a:rPr lang="ro-RO" dirty="0" smtClean="0"/>
              <a:t>F</a:t>
            </a:r>
            <a:r>
              <a:rPr lang="ro-RO" dirty="0" smtClean="0">
                <a:cs typeface="Times New Roman" pitchFamily="18" charset="0"/>
              </a:rPr>
              <a:t>aciliteaz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opera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iile limbajelor de nivel înalt </a:t>
            </a:r>
            <a:endParaRPr lang="ro-RO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33400" indent="-533400">
              <a:spcBef>
                <a:spcPts val="600"/>
              </a:spcBef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 startAt="8"/>
            </a:pPr>
            <a:r>
              <a:rPr lang="ro-RO" dirty="0" smtClean="0"/>
              <a:t>U</a:t>
            </a:r>
            <a:r>
              <a:rPr lang="ro-RO" dirty="0" smtClean="0">
                <a:cs typeface="Times New Roman" pitchFamily="18" charset="0"/>
              </a:rPr>
              <a:t>tilizeaz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sisteme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pipeline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instruc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iuni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metode pentru rezolvarea problemei salturilor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7F071-DBEC-4142-91D2-2285A24A89AB}" type="slidenum">
              <a:rPr lang="ro-RO" smtClean="0"/>
              <a:pPr/>
              <a:t>19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Arhitecturi RISC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dirty="0">
              <a:solidFill>
                <a:schemeClr val="tx2"/>
              </a:solidFill>
            </a:endParaRPr>
          </a:p>
          <a:p>
            <a:r>
              <a:rPr lang="ro-RO" dirty="0"/>
              <a:t>Introducere</a:t>
            </a:r>
          </a:p>
          <a:p>
            <a:r>
              <a:rPr lang="ro-RO" dirty="0" smtClean="0"/>
              <a:t>Cauze ale complexității arhitecturale</a:t>
            </a:r>
          </a:p>
          <a:p>
            <a:r>
              <a:rPr lang="ro-RO" dirty="0" smtClean="0"/>
              <a:t>Avantaje ale arhitecturilor RISC</a:t>
            </a:r>
          </a:p>
          <a:p>
            <a:r>
              <a:rPr lang="ro-RO" dirty="0" smtClean="0"/>
              <a:t>Ferestre </a:t>
            </a:r>
            <a:r>
              <a:rPr lang="ro-RO" dirty="0"/>
              <a:t>suprapuse de registre</a:t>
            </a:r>
          </a:p>
          <a:p>
            <a:r>
              <a:rPr lang="ro-RO" dirty="0"/>
              <a:t>Caracteristici ale arhitecturilor RISC</a:t>
            </a: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Comparație între arhitecturile RISC și CISC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5AC3F9-F337-43F7-ADF0-C48AF48A92F9}" type="slidenum">
              <a:rPr lang="ro-RO"/>
              <a:pPr/>
              <a:t>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Comparație </a:t>
            </a:r>
            <a:r>
              <a:rPr lang="ro-RO" dirty="0"/>
              <a:t>între arhitecturile RISC </a:t>
            </a:r>
            <a:r>
              <a:rPr lang="ro-RO" dirty="0" smtClean="0"/>
              <a:t>și </a:t>
            </a:r>
            <a:r>
              <a:rPr lang="ro-RO" dirty="0"/>
              <a:t>CISC (1)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439472" cy="4871566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impul de </a:t>
            </a:r>
            <a:r>
              <a:rPr lang="ro-RO" dirty="0" smtClean="0">
                <a:cs typeface="Times New Roman" pitchFamily="18" charset="0"/>
              </a:rPr>
              <a:t>execu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ie </a:t>
            </a:r>
            <a:r>
              <a:rPr lang="ro-RO" dirty="0">
                <a:cs typeface="Times New Roman" pitchFamily="18" charset="0"/>
              </a:rPr>
              <a:t>al unui program poate fi </a:t>
            </a:r>
            <a:r>
              <a:rPr lang="ro-RO" dirty="0" smtClean="0">
                <a:cs typeface="Times New Roman" pitchFamily="18" charset="0"/>
              </a:rPr>
              <a:t>influen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at </a:t>
            </a:r>
            <a:r>
              <a:rPr lang="ro-RO" dirty="0">
                <a:cs typeface="Times New Roman" pitchFamily="18" charset="0"/>
              </a:rPr>
              <a:t>de</a:t>
            </a:r>
            <a:r>
              <a:rPr lang="ro-RO" dirty="0"/>
              <a:t>:</a:t>
            </a:r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iuni </a:t>
            </a:r>
            <a:r>
              <a:rPr lang="ro-RO" dirty="0">
                <a:cs typeface="Times New Roman" pitchFamily="18" charset="0"/>
              </a:rPr>
              <a:t>din program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mediu de cicluri de ceas pe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iune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>
                <a:cs typeface="Times New Roman" pitchFamily="18" charset="0"/>
              </a:rPr>
              <a:t>Durata ciclului de ceas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CISC</a:t>
            </a:r>
            <a:r>
              <a:rPr lang="ro-RO" dirty="0"/>
              <a:t>: r</a:t>
            </a:r>
            <a:r>
              <a:rPr lang="ro-RO" dirty="0">
                <a:cs typeface="Times New Roman" pitchFamily="18" charset="0"/>
              </a:rPr>
              <a:t>educ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de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iuni </a:t>
            </a:r>
            <a:r>
              <a:rPr lang="ro-RO" dirty="0">
                <a:cs typeface="Times New Roman" pitchFamily="18" charset="0"/>
              </a:rPr>
              <a:t>necesare într‑un program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iuni </a:t>
            </a:r>
            <a:r>
              <a:rPr lang="ro-RO" dirty="0">
                <a:cs typeface="Times New Roman" pitchFamily="18" charset="0"/>
              </a:rPr>
              <a:t>speciale </a:t>
            </a:r>
            <a:endParaRPr lang="ro-RO" dirty="0"/>
          </a:p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RISC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reduc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mediu al ciclurilor de ceas </a:t>
            </a:r>
            <a:r>
              <a:rPr lang="ro-RO" dirty="0"/>
              <a:t>pe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</a:t>
            </a:r>
            <a:r>
              <a:rPr lang="ro-RO" dirty="0" smtClean="0"/>
              <a:t>e</a:t>
            </a:r>
            <a:r>
              <a:rPr lang="ro-RO" dirty="0" smtClean="0">
                <a:cs typeface="Times New Roman" pitchFamily="18" charset="0"/>
              </a:rPr>
              <a:t>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BFF1BE-88F4-4340-8B16-19F51614076E}" type="slidenum">
              <a:rPr lang="ro-RO"/>
              <a:pPr/>
              <a:t>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Comparație </a:t>
            </a:r>
            <a:r>
              <a:rPr lang="ro-RO" dirty="0"/>
              <a:t>între arhitecturile RISC </a:t>
            </a:r>
            <a:r>
              <a:rPr lang="ro-RO" dirty="0" smtClean="0"/>
              <a:t>și </a:t>
            </a:r>
            <a:r>
              <a:rPr lang="ro-RO" dirty="0"/>
              <a:t>CISC (2)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752528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RISC </a:t>
            </a:r>
            <a:r>
              <a:rPr lang="ro-RO" dirty="0" smtClean="0"/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CISC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reduc durata ciclului de ceas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RISC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sunt calculatoare de tip </a:t>
            </a:r>
            <a:r>
              <a:rPr lang="ro-RO" i="1" dirty="0">
                <a:cs typeface="Times New Roman" pitchFamily="18" charset="0"/>
              </a:rPr>
              <a:t>“</a:t>
            </a:r>
            <a:r>
              <a:rPr lang="ro-RO" i="1" dirty="0" err="1">
                <a:cs typeface="Times New Roman" pitchFamily="18" charset="0"/>
              </a:rPr>
              <a:t>load</a:t>
            </a:r>
            <a:r>
              <a:rPr lang="ro-RO" i="1" dirty="0">
                <a:cs typeface="Times New Roman" pitchFamily="18" charset="0"/>
              </a:rPr>
              <a:t>/</a:t>
            </a:r>
            <a:r>
              <a:rPr lang="ro-RO" i="1" dirty="0" err="1">
                <a:cs typeface="Times New Roman" pitchFamily="18" charset="0"/>
              </a:rPr>
              <a:t>store</a:t>
            </a:r>
            <a:r>
              <a:rPr lang="ro-RO" dirty="0">
                <a:cs typeface="Times New Roman" pitchFamily="18" charset="0"/>
              </a:rPr>
              <a:t>”</a:t>
            </a:r>
            <a:endParaRPr lang="ro-RO" dirty="0"/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ot </a:t>
            </a:r>
            <a:r>
              <a:rPr lang="ro-RO" dirty="0" smtClean="0">
                <a:cs typeface="Times New Roman" pitchFamily="18" charset="0"/>
              </a:rPr>
              <a:t>ob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ine </a:t>
            </a:r>
            <a:r>
              <a:rPr lang="ro-RO" dirty="0">
                <a:cs typeface="Times New Roman" pitchFamily="18" charset="0"/>
              </a:rPr>
              <a:t>un </a:t>
            </a:r>
            <a:r>
              <a:rPr lang="ro-RO" dirty="0"/>
              <a:t>grad</a:t>
            </a:r>
            <a:r>
              <a:rPr lang="ro-RO" dirty="0">
                <a:cs typeface="Times New Roman" pitchFamily="18" charset="0"/>
              </a:rPr>
              <a:t> ridicat </a:t>
            </a:r>
            <a:r>
              <a:rPr lang="ro-RO" dirty="0"/>
              <a:t>de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concuren</a:t>
            </a:r>
            <a:r>
              <a:rPr lang="ro-RO" dirty="0" smtClean="0"/>
              <a:t>ță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separarea </a:t>
            </a:r>
            <a:r>
              <a:rPr lang="ro-RO" dirty="0" smtClean="0">
                <a:cs typeface="Times New Roman" pitchFamily="18" charset="0"/>
              </a:rPr>
              <a:t>execu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iei 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iunilor </a:t>
            </a:r>
            <a:r>
              <a:rPr lang="ro-RO" dirty="0">
                <a:cs typeface="Times New Roman" pitchFamily="18" charset="0"/>
              </a:rPr>
              <a:t>de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rcare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memorare de alte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iuni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CISC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set de </a:t>
            </a:r>
            <a:r>
              <a:rPr lang="ro-RO" dirty="0" smtClean="0">
                <a:cs typeface="Times New Roman" pitchFamily="18" charset="0"/>
              </a:rPr>
              <a:t>instruc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iuni </a:t>
            </a:r>
            <a:r>
              <a:rPr lang="ro-RO" dirty="0">
                <a:cs typeface="Times New Roman" pitchFamily="18" charset="0"/>
              </a:rPr>
              <a:t>de tip memorie-registru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Nu pot </a:t>
            </a:r>
            <a:r>
              <a:rPr lang="ro-RO" dirty="0" smtClean="0"/>
              <a:t>obține același </a:t>
            </a:r>
            <a:r>
              <a:rPr lang="ro-RO" dirty="0"/>
              <a:t>grad de </a:t>
            </a:r>
            <a:r>
              <a:rPr lang="ro-RO" dirty="0" smtClean="0"/>
              <a:t>concurență </a:t>
            </a:r>
            <a:r>
              <a:rPr lang="ro-RO" dirty="0"/>
              <a:t>ca </a:t>
            </a:r>
            <a:r>
              <a:rPr lang="ro-RO" dirty="0" smtClean="0"/>
              <a:t>și </a:t>
            </a:r>
            <a:r>
              <a:rPr lang="ro-RO" dirty="0"/>
              <a:t>calculatoarele RISC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0D255F-4A17-472A-BB96-086E03AA49A9}" type="slidenum">
              <a:rPr lang="ro-RO"/>
              <a:pPr/>
              <a:t>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212725"/>
            <a:ext cx="8352928" cy="1190625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Comparație </a:t>
            </a:r>
            <a:r>
              <a:rPr lang="ro-RO" dirty="0"/>
              <a:t>între arhitecturile RISC </a:t>
            </a:r>
            <a:r>
              <a:rPr lang="ro-RO" dirty="0" smtClean="0"/>
              <a:t>și </a:t>
            </a:r>
            <a:r>
              <a:rPr lang="ro-RO" dirty="0"/>
              <a:t>CISC (3)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84784"/>
            <a:ext cx="8382000" cy="4752528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Dezavantaje RISC</a:t>
            </a:r>
          </a:p>
          <a:p>
            <a:pPr lvl="1">
              <a:lnSpc>
                <a:spcPct val="90000"/>
              </a:lnSpc>
            </a:pPr>
            <a:r>
              <a:rPr lang="ro-RO" dirty="0" smtClean="0"/>
              <a:t>Instrucțiuni </a:t>
            </a:r>
            <a:r>
              <a:rPr lang="ro-RO" dirty="0"/>
              <a:t>simple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/>
              <a:t> </a:t>
            </a:r>
            <a:r>
              <a:rPr lang="ro-RO" dirty="0" smtClean="0"/>
              <a:t>performanțele </a:t>
            </a:r>
            <a:r>
              <a:rPr lang="ro-RO" dirty="0"/>
              <a:t>depind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eficiența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compilatorului</a:t>
            </a:r>
          </a:p>
          <a:p>
            <a:pPr lvl="1">
              <a:lnSpc>
                <a:spcPct val="90000"/>
              </a:lnSpc>
            </a:pP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locarea registrelor este complex</a:t>
            </a:r>
            <a:r>
              <a:rPr lang="ro-RO" dirty="0"/>
              <a:t>ă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cre</a:t>
            </a:r>
            <a:r>
              <a:rPr lang="ro-RO" dirty="0" smtClean="0"/>
              <a:t>ște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complexitatea compilatorului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impul de dezvoltare </a:t>
            </a:r>
            <a:r>
              <a:rPr lang="ro-RO" dirty="0">
                <a:cs typeface="Times New Roman" pitchFamily="18" charset="0"/>
              </a:rPr>
              <a:t>al programelor este mai lung</a:t>
            </a:r>
            <a:endParaRPr lang="ro-RO" dirty="0"/>
          </a:p>
          <a:p>
            <a:pPr lvl="1">
              <a:lnSpc>
                <a:spcPct val="90000"/>
              </a:lnSpc>
            </a:pPr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rogramele RISC </a:t>
            </a:r>
            <a:r>
              <a:rPr lang="ro-RO" dirty="0"/>
              <a:t>sunt</a:t>
            </a:r>
            <a:r>
              <a:rPr lang="ro-RO" dirty="0">
                <a:cs typeface="Times New Roman" pitchFamily="18" charset="0"/>
              </a:rPr>
              <a:t> mai </a:t>
            </a:r>
            <a:r>
              <a:rPr lang="ro-RO" dirty="0"/>
              <a:t>lungi</a:t>
            </a:r>
          </a:p>
          <a:p>
            <a:pPr>
              <a:lnSpc>
                <a:spcPct val="90000"/>
              </a:lnSpc>
            </a:pPr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roiectarea unui procesor RISC poate fi </a:t>
            </a:r>
            <a:r>
              <a:rPr lang="ro-RO" dirty="0" smtClean="0">
                <a:cs typeface="Times New Roman" pitchFamily="18" charset="0"/>
              </a:rPr>
              <a:t>îmbun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it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prin utilizarea unor principii CISC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B24585-962B-4810-8501-086FC4F8397C}" type="slidenum">
              <a:rPr lang="ro-RO"/>
              <a:pPr/>
              <a:t>23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662815"/>
          </a:xfrm>
        </p:spPr>
        <p:txBody>
          <a:bodyPr/>
          <a:lstStyle/>
          <a:p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Principiul arhitecturilor RISC</a:t>
            </a:r>
            <a:r>
              <a:rPr lang="ro-RO" sz="3300" dirty="0" smtClean="0"/>
              <a:t>: adăugarea la setul de instrucțiuni doar a acelor instrucțiuni care determină un câștig de performanță</a:t>
            </a:r>
          </a:p>
          <a:p>
            <a:r>
              <a:rPr lang="ro-RO" sz="3300" dirty="0" smtClean="0"/>
              <a:t>Arhitecturile RISC au mai multe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 </a:t>
            </a:r>
            <a:r>
              <a:rPr lang="ro-RO" sz="3300" dirty="0" smtClean="0"/>
              <a:t>față de arhitecturile CISC:</a:t>
            </a:r>
          </a:p>
          <a:p>
            <a:pPr lvl="1"/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Viteza</a:t>
            </a:r>
            <a:r>
              <a:rPr lang="ro-RO" sz="2900" dirty="0" smtClean="0">
                <a:solidFill>
                  <a:schemeClr val="tx2"/>
                </a:solidFill>
              </a:rPr>
              <a:t> </a:t>
            </a:r>
            <a:r>
              <a:rPr lang="ro-RO" sz="2900" dirty="0" smtClean="0"/>
              <a:t>mai ridicată: utilizarea mai eficientă a sistemului </a:t>
            </a:r>
            <a:r>
              <a:rPr lang="ro-RO" sz="2900" i="1" dirty="0" err="1"/>
              <a:t>pipeline</a:t>
            </a:r>
            <a:r>
              <a:rPr lang="ro-RO" sz="2900" dirty="0" smtClean="0">
                <a:solidFill>
                  <a:schemeClr val="tx2"/>
                </a:solidFill>
              </a:rPr>
              <a:t> </a:t>
            </a:r>
            <a:r>
              <a:rPr lang="ro-RO" sz="2900" dirty="0" smtClean="0"/>
              <a:t>de instrucțiuni; unitate de control cablată; număr mare de registre</a:t>
            </a:r>
          </a:p>
          <a:p>
            <a:pPr lvl="1"/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de proiectare </a:t>
            </a:r>
            <a:r>
              <a:rPr lang="ro-RO" sz="2900" dirty="0" smtClean="0"/>
              <a:t>mai redus</a:t>
            </a:r>
          </a:p>
          <a:p>
            <a:pPr lvl="1"/>
            <a:r>
              <a:rPr lang="ro-RO" sz="2900" dirty="0" smtClean="0"/>
              <a:t>Facilitarea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utilizării limbajelor de nivel înalt</a:t>
            </a:r>
            <a:endParaRPr lang="ro-RO" sz="29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7F071-DBEC-4142-91D2-2285A24A89AB}" type="slidenum">
              <a:rPr lang="ro-RO" smtClean="0"/>
              <a:pPr/>
              <a:t>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666597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1"/>
            <a:ext cx="8382000" cy="504055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ro-RO" sz="3300" dirty="0" smtClean="0"/>
              <a:t>Conceptul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ferestrelor suprapuse de registre </a:t>
            </a:r>
            <a:r>
              <a:rPr lang="ro-RO" sz="3300" dirty="0" smtClean="0"/>
              <a:t>permite transmiterea eficientă a parametrilor între procedura apelantă și cea apelată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Parametrii sunt accesibili ambelor proceduri fără a modifica pointerul ferestrei curente</a:t>
            </a:r>
          </a:p>
          <a:p>
            <a:pPr>
              <a:spcBef>
                <a:spcPts val="600"/>
              </a:spcBef>
            </a:pPr>
            <a:r>
              <a:rPr lang="ro-RO" sz="3300" dirty="0" smtClean="0"/>
              <a:t>Se poate observa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influența reciprocă </a:t>
            </a:r>
            <a:r>
              <a:rPr lang="ro-RO" sz="3300" dirty="0" smtClean="0"/>
              <a:t>între arhitecturile </a:t>
            </a:r>
            <a:r>
              <a:rPr lang="ro-RO" sz="3300" dirty="0"/>
              <a:t>RISC</a:t>
            </a:r>
            <a:r>
              <a:rPr lang="ro-RO" sz="3300" dirty="0" smtClean="0"/>
              <a:t> și </a:t>
            </a:r>
            <a:r>
              <a:rPr lang="ro-RO" sz="3300" dirty="0"/>
              <a:t>CISC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Unele concepte </a:t>
            </a:r>
            <a:r>
              <a:rPr lang="ro-RO" sz="2900" dirty="0"/>
              <a:t>RISC</a:t>
            </a:r>
            <a:r>
              <a:rPr lang="ro-RO" sz="2900" dirty="0" smtClean="0"/>
              <a:t> au fost incluse în procesoarele </a:t>
            </a:r>
            <a:r>
              <a:rPr lang="ro-RO" sz="2900" dirty="0"/>
              <a:t>CISC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Unele principii </a:t>
            </a:r>
            <a:r>
              <a:rPr lang="ro-RO" sz="2900" dirty="0"/>
              <a:t>CISC</a:t>
            </a:r>
            <a:r>
              <a:rPr lang="ro-RO" sz="2900" dirty="0" smtClean="0"/>
              <a:t> au fost utilizate la proiectarea procesoarelor </a:t>
            </a:r>
            <a:r>
              <a:rPr lang="ro-RO" sz="2900" dirty="0"/>
              <a:t>RISC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7F071-DBEC-4142-91D2-2285A24A89AB}" type="slidenum">
              <a:rPr lang="ro-RO" smtClean="0"/>
              <a:pPr/>
              <a:t>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86967476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81227"/>
          </a:xfrm>
        </p:spPr>
        <p:txBody>
          <a:bodyPr/>
          <a:lstStyle/>
          <a:p>
            <a:pPr marL="576000" lvl="1"/>
            <a:r>
              <a:rPr lang="ro-RO" dirty="0" smtClean="0"/>
              <a:t>Principiul calculatoarelor cu set redus de instrucțiuni (RISC)</a:t>
            </a:r>
          </a:p>
          <a:p>
            <a:pPr marL="576000" lvl="1"/>
            <a:r>
              <a:rPr lang="ro-RO" dirty="0" smtClean="0"/>
              <a:t>Avantaje ale arhitecturilor RISC</a:t>
            </a:r>
          </a:p>
          <a:p>
            <a:pPr marL="576000" lvl="1"/>
            <a:r>
              <a:rPr lang="ro-RO" dirty="0" smtClean="0"/>
              <a:t>Principiul ferestrelor suprapuse de registre</a:t>
            </a:r>
          </a:p>
          <a:p>
            <a:pPr marL="576000" lvl="1"/>
            <a:r>
              <a:rPr lang="ro-RO" dirty="0" smtClean="0"/>
              <a:t>Caracteristici ale arhitecturilor RISC</a:t>
            </a:r>
          </a:p>
          <a:p>
            <a:pPr marL="576000" lvl="1"/>
            <a:r>
              <a:rPr lang="ro-RO" dirty="0" smtClean="0"/>
              <a:t>Comparație între arhitecturile cu set redus de instrucțiuni (RISC) și cele cu set complex de instrucțiuni (CISC)</a:t>
            </a:r>
          </a:p>
          <a:p>
            <a:pPr marL="576000" lvl="1"/>
            <a:r>
              <a:rPr lang="ro-RO" dirty="0" smtClean="0"/>
              <a:t>Dezavantaje ale arhitecturilor RISC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CA7F071-DBEC-4142-91D2-2285A24A89AB}" type="slidenum">
              <a:rPr lang="ro-RO" smtClean="0"/>
              <a:pPr/>
              <a:t>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1563061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Întrebări</a:t>
            </a:r>
            <a:endParaRPr lang="en-US"/>
          </a:p>
        </p:txBody>
      </p:sp>
      <p:sp>
        <p:nvSpPr>
          <p:cNvPr id="3962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21183"/>
          </a:xfrm>
        </p:spPr>
        <p:txBody>
          <a:bodyPr/>
          <a:lstStyle/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avantajele </a:t>
            </a:r>
            <a:r>
              <a:rPr lang="ro-RO" dirty="0"/>
              <a:t>arhitecturilor RISC?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este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principiul ferestrelor suprapuse de registre </a:t>
            </a:r>
            <a:r>
              <a:rPr lang="ro-RO" dirty="0" smtClean="0"/>
              <a:t>și </a:t>
            </a:r>
            <a:r>
              <a:rPr lang="ro-RO" dirty="0"/>
              <a:t>care este avantajul </a:t>
            </a:r>
            <a:r>
              <a:rPr lang="ro-RO" dirty="0" smtClean="0"/>
              <a:t>acestora?</a:t>
            </a:r>
            <a:endParaRPr lang="ro-RO" dirty="0"/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principalele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caracteristici </a:t>
            </a:r>
            <a:r>
              <a:rPr lang="ro-RO" dirty="0"/>
              <a:t>ale arhitecturilor RISC?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Cum </a:t>
            </a:r>
            <a:r>
              <a:rPr lang="ro-RO" dirty="0" smtClean="0"/>
              <a:t>încearcă să reducă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timpul de execuție </a:t>
            </a:r>
            <a:r>
              <a:rPr lang="ro-RO" dirty="0" smtClean="0"/>
              <a:t>al programelor arhitecturile CISC și cele RISC?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F8E0F7-A9C2-4E89-B34A-82D837D50AEB}" type="slidenum">
              <a:rPr lang="ro-RO"/>
              <a:pPr/>
              <a:t>27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(04)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4082</TotalTime>
  <Words>1490</Words>
  <Application>Microsoft Office PowerPoint</Application>
  <PresentationFormat>On-screen Show (4:3)</PresentationFormat>
  <Paragraphs>285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Symbol</vt:lpstr>
      <vt:lpstr>Times New Roman</vt:lpstr>
      <vt:lpstr>Dark Blue Swoosh-modified</vt:lpstr>
      <vt:lpstr>Dark Blue Swoosh-modif</vt:lpstr>
      <vt:lpstr>Cuprins</vt:lpstr>
      <vt:lpstr>4. Arhitecturi RISC</vt:lpstr>
      <vt:lpstr>Introducere (1)</vt:lpstr>
      <vt:lpstr>Introducere (2)</vt:lpstr>
      <vt:lpstr>Arhitecturi RISC</vt:lpstr>
      <vt:lpstr>Cauze ale complexității arhitecturale</vt:lpstr>
      <vt:lpstr>Arhitecturi RISC</vt:lpstr>
      <vt:lpstr>Avantaje ale arhitecturilor RISC (1)</vt:lpstr>
      <vt:lpstr>Avantaje ale arhitecturilor RISC (2)</vt:lpstr>
      <vt:lpstr>Avantaje ale arhitecturilor RISC (3)</vt:lpstr>
      <vt:lpstr>Avantaje ale arhitecturilor RISC (4)</vt:lpstr>
      <vt:lpstr>Arhitecturi RISC</vt:lpstr>
      <vt:lpstr>Ferestre suprapuse de registre (1)</vt:lpstr>
      <vt:lpstr>Ferestre suprapuse de registre (2)</vt:lpstr>
      <vt:lpstr>Ferestre suprapuse de registre (3)</vt:lpstr>
      <vt:lpstr>Ferestre suprapuse de registre (4)</vt:lpstr>
      <vt:lpstr>Arhitecturi RISC</vt:lpstr>
      <vt:lpstr>Caracteristici ale arhitecturilor RISC (1)</vt:lpstr>
      <vt:lpstr>Caracteristici ale arhitecturilor RISC (2)</vt:lpstr>
      <vt:lpstr>Arhitecturi RISC</vt:lpstr>
      <vt:lpstr>Comparație între arhitecturile RISC și CISC (1)</vt:lpstr>
      <vt:lpstr>Comparație între arhitecturile RISC și CISC (2)</vt:lpstr>
      <vt:lpstr>Comparație între arhitecturile RISC și CISC (3)</vt:lpstr>
      <vt:lpstr>Rezumat (1)</vt:lpstr>
      <vt:lpstr>Rezumat (2)</vt:lpstr>
      <vt:lpstr>Noțiuni, cunoștințe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SSC-RISC</dc:title>
  <dc:creator>Baruch Zoltan</dc:creator>
  <cp:lastModifiedBy>Baruch Zoltan</cp:lastModifiedBy>
  <cp:revision>263</cp:revision>
  <cp:lastPrinted>1601-01-01T00:00:00Z</cp:lastPrinted>
  <dcterms:created xsi:type="dcterms:W3CDTF">2002-05-22T18:25:20Z</dcterms:created>
  <dcterms:modified xsi:type="dcterms:W3CDTF">2018-05-12T14:09:26Z</dcterms:modified>
</cp:coreProperties>
</file>