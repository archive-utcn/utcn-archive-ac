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3" r:id="rId1"/>
    <p:sldMasterId id="2147483686" r:id="rId2"/>
  </p:sldMasterIdLst>
  <p:notesMasterIdLst>
    <p:notesMasterId r:id="rId47"/>
  </p:notesMasterIdLst>
  <p:handoutMasterIdLst>
    <p:handoutMasterId r:id="rId48"/>
  </p:handoutMasterIdLst>
  <p:sldIdLst>
    <p:sldId id="273" r:id="rId3"/>
    <p:sldId id="281" r:id="rId4"/>
    <p:sldId id="282" r:id="rId5"/>
    <p:sldId id="283" r:id="rId6"/>
    <p:sldId id="304" r:id="rId7"/>
    <p:sldId id="305" r:id="rId8"/>
    <p:sldId id="306" r:id="rId9"/>
    <p:sldId id="307" r:id="rId10"/>
    <p:sldId id="308" r:id="rId11"/>
    <p:sldId id="309" r:id="rId12"/>
    <p:sldId id="310" r:id="rId13"/>
    <p:sldId id="311" r:id="rId14"/>
    <p:sldId id="312" r:id="rId15"/>
    <p:sldId id="284" r:id="rId16"/>
    <p:sldId id="285" r:id="rId17"/>
    <p:sldId id="286" r:id="rId18"/>
    <p:sldId id="287" r:id="rId19"/>
    <p:sldId id="288" r:id="rId20"/>
    <p:sldId id="289" r:id="rId21"/>
    <p:sldId id="290" r:id="rId22"/>
    <p:sldId id="291" r:id="rId23"/>
    <p:sldId id="292" r:id="rId24"/>
    <p:sldId id="293" r:id="rId25"/>
    <p:sldId id="294" r:id="rId26"/>
    <p:sldId id="295" r:id="rId27"/>
    <p:sldId id="297" r:id="rId28"/>
    <p:sldId id="299" r:id="rId29"/>
    <p:sldId id="300" r:id="rId30"/>
    <p:sldId id="301" r:id="rId31"/>
    <p:sldId id="313" r:id="rId32"/>
    <p:sldId id="314" r:id="rId33"/>
    <p:sldId id="315" r:id="rId34"/>
    <p:sldId id="316" r:id="rId35"/>
    <p:sldId id="317" r:id="rId36"/>
    <p:sldId id="318" r:id="rId37"/>
    <p:sldId id="319" r:id="rId38"/>
    <p:sldId id="320" r:id="rId39"/>
    <p:sldId id="321" r:id="rId40"/>
    <p:sldId id="322" r:id="rId41"/>
    <p:sldId id="332" r:id="rId42"/>
    <p:sldId id="333" r:id="rId43"/>
    <p:sldId id="334" r:id="rId44"/>
    <p:sldId id="335" r:id="rId45"/>
    <p:sldId id="331" r:id="rId46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15620"/>
    <p:restoredTop sz="85215" autoAdjust="0"/>
  </p:normalViewPr>
  <p:slideViewPr>
    <p:cSldViewPr>
      <p:cViewPr varScale="1">
        <p:scale>
          <a:sx n="143" d="100"/>
          <a:sy n="143" d="100"/>
        </p:scale>
        <p:origin x="3284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127" d="100"/>
          <a:sy n="127" d="100"/>
        </p:scale>
        <p:origin x="4900" y="8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notesMaster" Target="notesMasters/notesMaster1.xml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handoutMaster" Target="handoutMasters/handoutMaster1.xml"/><Relationship Id="rId8" Type="http://schemas.openxmlformats.org/officeDocument/2006/relationships/slide" Target="slides/slide6.xml"/><Relationship Id="rId51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1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o-RO"/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o-RO"/>
          </a:p>
        </p:txBody>
      </p:sp>
      <p:sp>
        <p:nvSpPr>
          <p:cNvPr id="6042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45E1F764-0128-4C31-9959-530AC7DC7D5B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791532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ro-RO"/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FCF323BD-B1D5-4C0E-84A2-D89B22ADA869}" type="slidenum">
              <a:rPr lang="ro-RO"/>
              <a:pPr/>
              <a:t>‹#›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7103121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6271317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4342642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599431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948149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31743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610264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195583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11659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137955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10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8023638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11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0396557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12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336820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13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6761374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14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7190588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15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9194645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16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30423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17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2332750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18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9052788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19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8591259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20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1757875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21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44016056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22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999340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23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049330198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24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0573147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25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2904802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26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599685307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27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28099742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28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52530941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29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3499096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30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760843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31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804818689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32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94800943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33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68210386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34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6257813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35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00711836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36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414016424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37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405421634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38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8141573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39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31903262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40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60601985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41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78018048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42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74174796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43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966377722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CF323BD-B1D5-4C0E-84A2-D89B22ADA869}" type="slidenum">
              <a:rPr lang="ro-RO" smtClean="0"/>
              <a:pPr/>
              <a:t>44</a:t>
            </a:fld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7752665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gif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gi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gi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753752"/>
          </a:xfrm>
        </p:spPr>
        <p:txBody>
          <a:bodyPr/>
          <a:lstStyle>
            <a:lvl1pPr>
              <a:lnSpc>
                <a:spcPct val="90000"/>
              </a:lnSpc>
              <a:defRPr/>
            </a:lvl1pPr>
            <a:lvl2pPr>
              <a:lnSpc>
                <a:spcPct val="90000"/>
              </a:lnSpc>
              <a:defRPr/>
            </a:lvl2pPr>
            <a:lvl3pPr>
              <a:lnSpc>
                <a:spcPct val="90000"/>
              </a:lnSpc>
              <a:defRPr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5D41032C-F001-49A9-AEF2-0CC7CB64CFB6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gradFill flip="none" rotWithShape="1"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  <a:tileRect/>
                </a:gra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24437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E10D044D-4DC2-4581-991D-EF1A3C8D650C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2"/>
            <a:ext cx="4114800" cy="4753751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2"/>
            <a:ext cx="4114800" cy="4753751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F794E10-1370-494F-B520-630A3A7D1429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4"/>
            <a:ext cx="4114800" cy="3990429"/>
          </a:xfrm>
        </p:spPr>
        <p:txBody>
          <a:bodyPr/>
          <a:lstStyle>
            <a:lvl1pPr marL="281770" indent="-281770">
              <a:defRPr sz="2400"/>
            </a:lvl1pPr>
            <a:lvl2pPr marL="562218" indent="-265896">
              <a:defRPr sz="22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117974" cy="3990429"/>
          </a:xfrm>
        </p:spPr>
        <p:txBody>
          <a:bodyPr/>
          <a:lstStyle>
            <a:lvl1pPr marL="296321" indent="-296321">
              <a:defRPr sz="2400"/>
            </a:lvl1pPr>
            <a:lvl2pPr marL="570155" indent="-273833">
              <a:defRPr sz="22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A03D30-9720-4BEC-8867-5FFB1E0A9706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7B66234-698C-4C3D-AE75-155DCB60163B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3F65D32-7C38-49EB-81F2-8F5C7FA10285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D41032C-F001-49A9-AEF2-0CC7CB64CFB6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48072"/>
          </a:xfrm>
        </p:spPr>
        <p:txBody>
          <a:bodyPr/>
          <a:lstStyle>
            <a:lvl1pPr algn="ctr">
              <a:defRPr sz="44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524000"/>
            <a:ext cx="8352928" cy="2123658"/>
          </a:xfr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100000"/>
              <a:defRPr sz="3200">
                <a:latin typeface="+mn-lt"/>
              </a:defRPr>
            </a:lvl2pPr>
            <a:lvl3pPr>
              <a:buSzPct val="100000"/>
              <a:buFontTx/>
              <a:buBlip>
                <a:blip r:embed="rId3"/>
              </a:buBlip>
              <a:defRPr>
                <a:latin typeface="+mn-lt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3861048"/>
            <a:ext cx="8352928" cy="2123658"/>
          </a:xfrm>
        </p:spPr>
        <p:txBody>
          <a:bodyPr/>
          <a:lstStyle>
            <a:lvl1pPr>
              <a:buSzPct val="70000"/>
              <a:buFontTx/>
              <a:buBlip>
                <a:blip r:embed="rId4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55000"/>
              <a:defRPr lang="en-US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SzPct val="70000"/>
              <a:buFontTx/>
              <a:buBlip>
                <a:blip r:embed="rId3"/>
              </a:buBlip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marL="396875" lvl="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Click to edit Master text styles</a:t>
            </a:r>
          </a:p>
          <a:p>
            <a:pPr marL="396875" lvl="1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Second level</a:t>
            </a:r>
          </a:p>
          <a:p>
            <a:pPr marL="396875" lvl="2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Third level</a:t>
            </a:r>
          </a:p>
          <a:p>
            <a:pPr marL="396875" lvl="3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Fourth level</a:t>
            </a:r>
          </a:p>
          <a:p>
            <a:pPr marL="396875" lvl="4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o-RO" smtClean="0"/>
              <a:t>Structura sistemelor de calcul (03-5)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D41032C-F001-49A9-AEF2-0CC7CB64CFB6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413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95536" y="1524000"/>
            <a:ext cx="8352928" cy="2209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95536" y="3886200"/>
            <a:ext cx="8352928" cy="2209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/>
            </a:lvl1pPr>
          </a:lstStyle>
          <a:p>
            <a:r>
              <a:rPr lang="ro-RO" smtClean="0"/>
              <a:t>Structura sistemelor de calcul (03-5)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/>
            </a:lvl1pPr>
          </a:lstStyle>
          <a:p>
            <a:fld id="{5D41032C-F001-49A9-AEF2-0CC7CB64CFB6}" type="slidenum">
              <a:rPr lang="ro-RO" smtClean="0"/>
              <a:pPr/>
              <a:t>‹#›</a:t>
            </a:fld>
            <a:endParaRPr lang="ro-RO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30250" y="1905000"/>
            <a:ext cx="7681913" cy="1523495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0249" y="4344988"/>
            <a:ext cx="7681913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381000" y="1411552"/>
            <a:ext cx="8382000" cy="4897768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896445"/>
          </a:xfrm>
        </p:spPr>
        <p:txBody>
          <a:bodyPr/>
          <a:lstStyle>
            <a:lvl1pPr>
              <a:lnSpc>
                <a:spcPct val="90000"/>
              </a:lnSpc>
              <a:defRPr sz="3600"/>
            </a:lvl1pPr>
            <a:lvl2pPr>
              <a:lnSpc>
                <a:spcPct val="90000"/>
              </a:lnSpc>
              <a:defRPr sz="3200"/>
            </a:lvl2pPr>
            <a:lvl3pPr>
              <a:lnSpc>
                <a:spcPct val="90000"/>
              </a:lnSpc>
              <a:defRPr sz="2800"/>
            </a:lvl3pPr>
            <a:lvl4pPr>
              <a:lnSpc>
                <a:spcPct val="90000"/>
              </a:lnSpc>
              <a:defRPr/>
            </a:lvl4pPr>
            <a:lvl5pPr>
              <a:lnSpc>
                <a:spcPct val="90000"/>
              </a:lnSpc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8A1A8A2-B654-4CFC-85EC-A016050C91AE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1000" y="1411552"/>
            <a:ext cx="4114800" cy="4897767"/>
          </a:xfrm>
        </p:spPr>
        <p:txBody>
          <a:bodyPr/>
          <a:lstStyle>
            <a:lvl1pPr marL="339976" indent="-339976">
              <a:lnSpc>
                <a:spcPct val="90000"/>
              </a:lnSpc>
              <a:defRPr sz="3200"/>
            </a:lvl1pPr>
            <a:lvl2pPr marL="673338" indent="-325424">
              <a:lnSpc>
                <a:spcPct val="90000"/>
              </a:lnSpc>
              <a:defRPr sz="2800"/>
            </a:lvl2pPr>
            <a:lvl3pPr marL="953785" indent="-288384">
              <a:lnSpc>
                <a:spcPct val="90000"/>
              </a:lnSpc>
              <a:defRPr sz="2400"/>
            </a:lvl3pPr>
            <a:lvl4pPr marL="1227618" indent="-273833">
              <a:lnSpc>
                <a:spcPct val="90000"/>
              </a:lnSpc>
              <a:defRPr sz="2000"/>
            </a:lvl4pPr>
            <a:lvl5pPr marL="1516002" indent="-280447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11552"/>
            <a:ext cx="4114800" cy="4897767"/>
          </a:xfrm>
        </p:spPr>
        <p:txBody>
          <a:bodyPr/>
          <a:lstStyle>
            <a:lvl1pPr marL="347914" indent="-347914">
              <a:lnSpc>
                <a:spcPct val="90000"/>
              </a:lnSpc>
              <a:defRPr sz="3200"/>
            </a:lvl1pPr>
            <a:lvl2pPr marL="673338" indent="-339976">
              <a:lnSpc>
                <a:spcPct val="90000"/>
              </a:lnSpc>
              <a:defRPr sz="2800"/>
            </a:lvl2pPr>
            <a:lvl3pPr marL="961722" indent="-302936">
              <a:lnSpc>
                <a:spcPct val="90000"/>
              </a:lnSpc>
              <a:defRPr sz="2400"/>
            </a:lvl3pPr>
            <a:lvl4pPr marL="1227618" indent="-265896">
              <a:lnSpc>
                <a:spcPct val="90000"/>
              </a:lnSpc>
              <a:defRPr sz="2000"/>
            </a:lvl4pPr>
            <a:lvl5pPr marL="1516002" indent="-273833">
              <a:lnSpc>
                <a:spcPct val="90000"/>
              </a:lnSpc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254AF97-6E84-46A2-B98D-D31059C06419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328454"/>
            <a:ext cx="4114800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0999" y="2174874"/>
            <a:ext cx="4114800" cy="4134445"/>
          </a:xfrm>
        </p:spPr>
        <p:txBody>
          <a:bodyPr/>
          <a:lstStyle>
            <a:lvl1pPr marL="281770" indent="-281770">
              <a:defRPr sz="2800"/>
            </a:lvl1pPr>
            <a:lvl2pPr marL="562218" indent="-265896">
              <a:defRPr sz="2400"/>
            </a:lvl2pPr>
            <a:lvl3pPr marL="813562" indent="-243407">
              <a:defRPr sz="2000"/>
            </a:lvl3pPr>
            <a:lvl4pPr marL="1050354" indent="-228856">
              <a:defRPr sz="1800"/>
            </a:lvl4pPr>
            <a:lvl5pPr marL="1279210" indent="-206367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981" y="1328454"/>
            <a:ext cx="4117019" cy="775597"/>
          </a:xfrm>
        </p:spPr>
        <p:txBody>
          <a:bodyPr anchor="b"/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2800" b="1"/>
            </a:lvl1pPr>
            <a:lvl2pPr marL="457182" indent="0">
              <a:buNone/>
              <a:defRPr sz="2000" b="1"/>
            </a:lvl2pPr>
            <a:lvl3pPr marL="914363" indent="0">
              <a:buNone/>
              <a:defRPr sz="1800" b="1"/>
            </a:lvl3pPr>
            <a:lvl4pPr marL="1371545" indent="0">
              <a:buNone/>
              <a:defRPr sz="1600" b="1"/>
            </a:lvl4pPr>
            <a:lvl5pPr marL="1828727" indent="0">
              <a:buNone/>
              <a:defRPr sz="1600" b="1"/>
            </a:lvl5pPr>
            <a:lvl6pPr marL="2285909" indent="0">
              <a:buNone/>
              <a:defRPr sz="1600" b="1"/>
            </a:lvl6pPr>
            <a:lvl7pPr marL="2743090" indent="0">
              <a:buNone/>
              <a:defRPr sz="1600" b="1"/>
            </a:lvl7pPr>
            <a:lvl8pPr marL="3200272" indent="0">
              <a:buNone/>
              <a:defRPr sz="1600" b="1"/>
            </a:lvl8pPr>
            <a:lvl9pPr marL="3657454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4"/>
            <a:ext cx="4117974" cy="4134445"/>
          </a:xfrm>
        </p:spPr>
        <p:txBody>
          <a:bodyPr/>
          <a:lstStyle>
            <a:lvl1pPr marL="296321" indent="-296321">
              <a:defRPr sz="2800"/>
            </a:lvl1pPr>
            <a:lvl2pPr marL="570155" indent="-273833">
              <a:defRPr sz="2400"/>
            </a:lvl2pPr>
            <a:lvl3pPr marL="821499" indent="-244730">
              <a:defRPr sz="2000"/>
            </a:lvl3pPr>
            <a:lvl4pPr marL="1050354" indent="-236793">
              <a:defRPr sz="1800"/>
            </a:lvl4pPr>
            <a:lvl5pPr marL="1279210" indent="-220919">
              <a:defRPr sz="18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0B781DE-7E8D-40A1-84D4-25F25E8079DB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3EC91A5-F5CB-4ED5-B8DB-DC4BB8D1C78C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4336754-5158-443C-B27D-03E06682E8E8}" type="slidenum">
              <a:rPr lang="ro-RO" smtClean="0"/>
              <a:pPr/>
              <a:t>‹#›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WALKIN - Prints in GRAYS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 dirty="0"/>
          </a:p>
        </p:txBody>
      </p:sp>
    </p:spTree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Demo, Video etc. &quot;special&quot; slid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69219" y="649805"/>
            <a:ext cx="7043208" cy="1523494"/>
          </a:xfrm>
        </p:spPr>
        <p:txBody>
          <a:bodyPr anchor="ctr" anchorCtr="0">
            <a:noAutofit/>
          </a:bodyPr>
          <a:lstStyle>
            <a:lvl1pPr>
              <a:lnSpc>
                <a:spcPct val="90000"/>
              </a:lnSpc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68955" y="4344988"/>
            <a:ext cx="7043208" cy="461665"/>
          </a:xfrm>
        </p:spPr>
        <p:txBody>
          <a:bodyPr>
            <a:noAutofit/>
          </a:bodyPr>
          <a:lstStyle>
            <a:lvl1pPr marL="0" indent="0" algn="l">
              <a:lnSpc>
                <a:spcPct val="90000"/>
              </a:lnSpc>
              <a:spcBef>
                <a:spcPts val="0"/>
              </a:spcBef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6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4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2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0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2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4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722049" y="2355850"/>
            <a:ext cx="7690114" cy="1384994"/>
          </a:xfrm>
        </p:spPr>
        <p:txBody>
          <a:bodyPr anchor="t" anchorCtr="0">
            <a:noAutofit/>
            <a:scene3d>
              <a:camera prst="orthographicFront"/>
              <a:lightRig rig="flat" dir="t"/>
            </a:scene3d>
            <a:sp3d extrusionH="88900" contourW="2540">
              <a:bevelT w="38100" h="31750"/>
              <a:contourClr>
                <a:srgbClr val="F4A234"/>
              </a:contourClr>
            </a:sp3d>
          </a:bodyPr>
          <a:lstStyle>
            <a:lvl1pPr marL="0" indent="0" algn="l">
              <a:buFont typeface="Arial" pitchFamily="34" charset="0"/>
              <a:buNone/>
              <a:defRPr kumimoji="0" lang="en-US" sz="10000" b="1" i="1" u="none" strike="noStrike" kern="1200" cap="none" spc="-642" normalizeH="0" baseline="0" noProof="0" dirty="0" smtClean="0">
                <a:ln w="11430"/>
                <a:gradFill>
                  <a:gsLst>
                    <a:gs pos="0">
                      <a:srgbClr val="FF9929">
                        <a:lumMod val="20000"/>
                        <a:lumOff val="80000"/>
                      </a:srgbClr>
                    </a:gs>
                    <a:gs pos="28000">
                      <a:srgbClr val="F8F57B"/>
                    </a:gs>
                    <a:gs pos="62000">
                      <a:srgbClr val="D5B953"/>
                    </a:gs>
                    <a:gs pos="88000">
                      <a:srgbClr val="D1943B"/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click to…</a:t>
            </a:r>
          </a:p>
        </p:txBody>
      </p:sp>
    </p:spTree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60648"/>
            <a:ext cx="8352928" cy="609398"/>
          </a:xfrm>
        </p:spPr>
        <p:txBody>
          <a:bodyPr/>
          <a:lstStyle>
            <a:lvl1pPr algn="ctr">
              <a:defRPr sz="4400">
                <a:latin typeface="+mj-lt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536" y="1524000"/>
            <a:ext cx="8352928" cy="2123658"/>
          </a:xfrm>
        </p:spPr>
        <p:txBody>
          <a:bodyPr/>
          <a:lstStyle>
            <a:lvl1pPr marL="396875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100000"/>
              <a:defRPr sz="3200">
                <a:latin typeface="+mn-lt"/>
              </a:defRPr>
            </a:lvl2pPr>
            <a:lvl3pPr>
              <a:buSzPct val="100000"/>
              <a:buFontTx/>
              <a:buBlip>
                <a:blip r:embed="rId3"/>
              </a:buBlip>
              <a:defRPr>
                <a:latin typeface="+mn-lt"/>
              </a:defRPr>
            </a:lvl3pPr>
            <a:lvl4pPr>
              <a:defRPr lang="en-US" sz="20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>
              <a:defRPr sz="2000">
                <a:latin typeface="+mn-lt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95536" y="3886200"/>
            <a:ext cx="8352928" cy="2123658"/>
          </a:xfrm>
        </p:spPr>
        <p:txBody>
          <a:bodyPr/>
          <a:lstStyle>
            <a:lvl1pPr>
              <a:buSzPct val="70000"/>
              <a:buFontTx/>
              <a:buBlip>
                <a:blip r:embed="rId4"/>
              </a:buBlip>
              <a:defRPr lang="en-US" sz="3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>
              <a:buClr>
                <a:schemeClr val="tx2"/>
              </a:buClr>
              <a:buSzPct val="55000"/>
              <a:defRPr lang="en-US" sz="3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>
              <a:buSzPct val="70000"/>
              <a:buFontTx/>
              <a:buBlip>
                <a:blip r:embed="rId3"/>
              </a:buBlip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>
              <a:defRPr sz="2000">
                <a:latin typeface="+mn-lt"/>
              </a:defRPr>
            </a:lvl4pPr>
            <a:lvl5pPr>
              <a:defRPr sz="2000">
                <a:latin typeface="+mn-lt"/>
              </a:defRPr>
            </a:lvl5pPr>
          </a:lstStyle>
          <a:p>
            <a:pPr marL="396875" lvl="0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Click to edit Master text styles</a:t>
            </a:r>
          </a:p>
          <a:p>
            <a:pPr marL="396875" lvl="1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Second level</a:t>
            </a:r>
          </a:p>
          <a:p>
            <a:pPr marL="396875" lvl="2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Third level</a:t>
            </a:r>
          </a:p>
          <a:p>
            <a:pPr marL="396875" lvl="3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Fourth level</a:t>
            </a:r>
          </a:p>
          <a:p>
            <a:pPr marL="396875" lvl="4" indent="-396875" algn="l" defTabSz="914363" rtl="0" eaLnBrk="1" latinLnBrk="0" hangingPunct="1">
              <a:lnSpc>
                <a:spcPct val="90000"/>
              </a:lnSpc>
              <a:spcBef>
                <a:spcPct val="20000"/>
              </a:spcBef>
              <a:buSzPct val="100000"/>
              <a:buFontTx/>
              <a:buBlip>
                <a:blip r:embed="rId2"/>
              </a:buBlip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1520" y="6313488"/>
            <a:ext cx="18725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14.05.2018</a:t>
            </a:r>
            <a:endParaRPr lang="ro-RO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31840" y="6324600"/>
            <a:ext cx="2880320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ro-RO" smtClean="0"/>
              <a:t>Structura sistemelor de calcul (03-5)</a:t>
            </a:r>
            <a:endParaRPr lang="ro-RO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451725" y="6313488"/>
            <a:ext cx="1440755" cy="457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1166936-3B85-4C03-AB82-F1A9CD13B768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4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879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ro-RO" smtClean="0"/>
              <a:t>Structura sistemelor de calcul (03-5)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56350"/>
            <a:ext cx="21602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5D41032C-F001-49A9-AEF2-0CC7CB64CFB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chemeClr val="accent3">
                  <a:lumMod val="40000"/>
                  <a:lumOff val="60000"/>
                </a:schemeClr>
              </a:gs>
              <a:gs pos="36000">
                <a:schemeClr val="accent3">
                  <a:lumMod val="40000"/>
                  <a:lumOff val="60000"/>
                </a:schemeClr>
              </a:gs>
              <a:gs pos="86000">
                <a:schemeClr val="accent3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6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 cstate="print">
            <a:lum/>
          </a:blip>
          <a:srcRect/>
          <a:stretch>
            <a:fillRect l="-1000" r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230188"/>
            <a:ext cx="8382000" cy="664797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412875"/>
            <a:ext cx="8382000" cy="2135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1520" y="6309320"/>
            <a:ext cx="2160240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14.05.2018</a:t>
            </a:r>
            <a:endParaRPr lang="ro-RO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09320"/>
            <a:ext cx="2895600" cy="4320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ro-RO" smtClean="0"/>
              <a:t>Structura sistemelor de calcul (03-5)</a:t>
            </a:r>
            <a:endParaRPr lang="ro-RO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32240" y="6309320"/>
            <a:ext cx="2160240" cy="41215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5C420-F961-44FB-8FC0-1A26FED00326}" type="slidenum">
              <a:rPr lang="ro-RO" smtClean="0"/>
              <a:pPr/>
              <a:t>‹#›</a:t>
            </a:fld>
            <a:endParaRPr lang="ro-RO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</p:sldLayoutIdLst>
  <p:transition>
    <p:fade/>
  </p:transition>
  <p:hf hdr="0"/>
  <p:txStyles>
    <p:titleStyle>
      <a:lvl1pPr algn="ctr" defTabSz="914363" rtl="0" eaLnBrk="1" latinLnBrk="0" hangingPunct="1">
        <a:lnSpc>
          <a:spcPct val="90000"/>
        </a:lnSpc>
        <a:spcBef>
          <a:spcPct val="0"/>
        </a:spcBef>
        <a:buNone/>
        <a:defRPr lang="en-US" sz="4800" b="0" kern="1200" cap="none" spc="-150" dirty="0" smtClean="0">
          <a:ln w="3175">
            <a:noFill/>
          </a:ln>
          <a:gradFill flip="none" rotWithShape="1">
            <a:gsLst>
              <a:gs pos="0">
                <a:srgbClr val="FFFFB9"/>
              </a:gs>
              <a:gs pos="36000">
                <a:srgbClr val="FFFF99"/>
              </a:gs>
              <a:gs pos="86000">
                <a:srgbClr val="F6AE1E"/>
              </a:gs>
            </a:gsLst>
            <a:lin ang="5400000" scaled="0"/>
            <a:tileRect/>
          </a:gra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latin typeface="+mj-lt"/>
          <a:ea typeface="+mn-ea"/>
          <a:cs typeface="Arial" charset="0"/>
        </a:defRPr>
      </a:lvl1pPr>
    </p:titleStyle>
    <p:bodyStyle>
      <a:lvl1pPr marL="396875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4"/>
        </a:buBlip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indent="-3968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344488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4963" indent="-346075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1941513" indent="-336550" algn="l" defTabSz="914363" rtl="0" eaLnBrk="1" latinLnBrk="0" hangingPunct="1">
        <a:lnSpc>
          <a:spcPct val="90000"/>
        </a:lnSpc>
        <a:spcBef>
          <a:spcPct val="20000"/>
        </a:spcBef>
        <a:buFontTx/>
        <a:buBlip>
          <a:blip r:embed="rId15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99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81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63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45" indent="-228591" algn="l" defTabSz="914363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63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45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27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09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90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72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54" algn="l" defTabSz="914363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1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Sisteme de memorie</a:t>
            </a:r>
          </a:p>
        </p:txBody>
      </p:sp>
      <p:sp>
        <p:nvSpPr>
          <p:cNvPr id="21811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ro-RO" dirty="0"/>
              <a:t>Ierarhia memoriilor</a:t>
            </a:r>
          </a:p>
          <a:p>
            <a:r>
              <a:rPr lang="ro-RO" dirty="0"/>
              <a:t>Tipuri de memorii</a:t>
            </a:r>
          </a:p>
          <a:p>
            <a:r>
              <a:rPr lang="ro-RO" dirty="0" smtClean="0"/>
              <a:t>Memorii </a:t>
            </a:r>
            <a:r>
              <a:rPr lang="ro-RO" dirty="0"/>
              <a:t>semiconductoare</a:t>
            </a:r>
          </a:p>
          <a:p>
            <a:r>
              <a:rPr lang="ro-RO" dirty="0"/>
              <a:t>Memoria cu </a:t>
            </a:r>
            <a:r>
              <a:rPr lang="ro-RO" dirty="0" smtClean="0"/>
              <a:t>unități </a:t>
            </a:r>
            <a:r>
              <a:rPr lang="ro-RO" dirty="0"/>
              <a:t>multiple</a:t>
            </a:r>
          </a:p>
          <a:p>
            <a:r>
              <a:rPr lang="ro-RO" dirty="0"/>
              <a:t>Memoria asociativă</a:t>
            </a:r>
          </a:p>
          <a:p>
            <a:r>
              <a:rPr lang="ro-RO" dirty="0"/>
              <a:t>Memoria </a:t>
            </a:r>
            <a:r>
              <a:rPr lang="ro-RO" i="1" dirty="0" err="1"/>
              <a:t>cache</a:t>
            </a:r>
            <a:endParaRPr lang="ro-RO" i="1" dirty="0"/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 virtuală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A3B97FF-2662-4C23-A2ED-CAAA9DE8D173}" type="slidenum">
              <a:rPr lang="ro-RO"/>
              <a:pPr/>
              <a:t>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3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Memoria virtuală</a:t>
            </a:r>
          </a:p>
        </p:txBody>
      </p:sp>
      <p:sp>
        <p:nvSpPr>
          <p:cNvPr id="22630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358116"/>
          </a:xfrm>
        </p:spPr>
        <p:txBody>
          <a:bodyPr/>
          <a:lstStyle/>
          <a:p>
            <a:endParaRPr lang="ro-RO" dirty="0" smtClean="0">
              <a:solidFill>
                <a:schemeClr val="tx2"/>
              </a:solidFill>
            </a:endParaRP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 virtuală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Principiul memoriei virtuale</a:t>
            </a:r>
          </a:p>
          <a:p>
            <a:pPr lvl="1"/>
            <a:r>
              <a:rPr lang="ro-RO" dirty="0"/>
              <a:t>Translatarea adreselor</a:t>
            </a:r>
            <a:endParaRPr lang="en-US" dirty="0"/>
          </a:p>
          <a:p>
            <a:pPr lvl="1"/>
            <a:r>
              <a:rPr lang="ro-RO" dirty="0"/>
              <a:t>Paginarea</a:t>
            </a:r>
          </a:p>
          <a:p>
            <a:pPr lvl="1"/>
            <a:r>
              <a:rPr lang="ro-RO" dirty="0"/>
              <a:t>Segmentarea</a:t>
            </a:r>
          </a:p>
          <a:p>
            <a:pPr lvl="1"/>
            <a:r>
              <a:rPr lang="ro-RO" dirty="0"/>
              <a:t>Paginarea combinată cu segmentarea</a:t>
            </a:r>
          </a:p>
          <a:p>
            <a:pPr lvl="1"/>
            <a:r>
              <a:rPr lang="ro-RO" dirty="0" smtClean="0"/>
              <a:t>Strategii </a:t>
            </a:r>
            <a:r>
              <a:rPr lang="ro-RO" dirty="0"/>
              <a:t>de înlocuire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69DABF-C879-4A00-A2DA-3D6F86B5F893}" type="slidenum">
              <a:rPr lang="ro-RO"/>
              <a:pPr/>
              <a:t>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93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/>
              <a:t>Principiul memoriei virtuale (1)</a:t>
            </a:r>
          </a:p>
        </p:txBody>
      </p:sp>
      <p:sp>
        <p:nvSpPr>
          <p:cNvPr id="295939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84784"/>
            <a:ext cx="8496944" cy="4824536"/>
          </a:xfrm>
        </p:spPr>
        <p:txBody>
          <a:bodyPr>
            <a:normAutofit/>
          </a:bodyPr>
          <a:lstStyle/>
          <a:p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ermite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utilizarea unei memorii cu o dimensiune mai mare decât memoria fizic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 </a:t>
            </a:r>
          </a:p>
          <a:p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ermite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multiprogramarea</a:t>
            </a:r>
          </a:p>
          <a:p>
            <a:pPr lvl="1"/>
            <a:r>
              <a:rPr lang="ro-RO" dirty="0"/>
              <a:t>M</a:t>
            </a:r>
            <a:r>
              <a:rPr lang="ro-RO" dirty="0">
                <a:cs typeface="Times New Roman" pitchFamily="18" charset="0"/>
              </a:rPr>
              <a:t>emoria principal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este partajat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între mai </a:t>
            </a:r>
            <a:r>
              <a:rPr lang="ro-RO" dirty="0"/>
              <a:t>multe programe sau utilizatori</a:t>
            </a:r>
            <a:r>
              <a:rPr lang="ro-RO" dirty="0">
                <a:cs typeface="Times New Roman" pitchFamily="18" charset="0"/>
              </a:rPr>
              <a:t>  </a:t>
            </a:r>
            <a:endParaRPr lang="ro-RO" dirty="0" smtClean="0">
              <a:cs typeface="Times New Roman" pitchFamily="18" charset="0"/>
            </a:endParaRPr>
          </a:p>
          <a:p>
            <a:r>
              <a:rPr lang="ro-RO" dirty="0" smtClean="0"/>
              <a:t>S</a:t>
            </a:r>
            <a:r>
              <a:rPr lang="ro-RO" dirty="0" smtClean="0">
                <a:cs typeface="Times New Roman" pitchFamily="18" charset="0"/>
              </a:rPr>
              <a:t>istemul </a:t>
            </a:r>
            <a:r>
              <a:rPr lang="ro-RO" dirty="0">
                <a:cs typeface="Times New Roman" pitchFamily="18" charset="0"/>
              </a:rPr>
              <a:t>de memorie este adresat printr‑un set </a:t>
            </a:r>
            <a:r>
              <a:rPr lang="ro-RO" i="1" dirty="0">
                <a:cs typeface="Times New Roman" pitchFamily="18" charset="0"/>
              </a:rPr>
              <a:t>V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de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adrese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logice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sau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virtuale</a:t>
            </a:r>
          </a:p>
          <a:p>
            <a:pPr lvl="1"/>
            <a:r>
              <a:rPr lang="ro-RO" dirty="0"/>
              <a:t>N</a:t>
            </a:r>
            <a:r>
              <a:rPr lang="ro-RO" dirty="0">
                <a:cs typeface="Times New Roman" pitchFamily="18" charset="0"/>
              </a:rPr>
              <a:t>u se refer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la a</a:t>
            </a:r>
            <a:r>
              <a:rPr lang="ro-RO" dirty="0" smtClean="0">
                <a:cs typeface="Times New Roman" pitchFamily="18" charset="0"/>
              </a:rPr>
              <a:t>celași spațiu </a:t>
            </a:r>
            <a:r>
              <a:rPr lang="ro-RO" dirty="0">
                <a:cs typeface="Times New Roman" pitchFamily="18" charset="0"/>
              </a:rPr>
              <a:t>din memoria fizic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la diferitele </a:t>
            </a:r>
            <a:r>
              <a:rPr lang="ro-RO" dirty="0" smtClean="0">
                <a:cs typeface="Times New Roman" pitchFamily="18" charset="0"/>
              </a:rPr>
              <a:t>execuții</a:t>
            </a:r>
            <a:endParaRPr lang="ro-RO" dirty="0"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E0D0EBB-AC3B-4895-819D-C87A4497220C}" type="slidenum">
              <a:rPr lang="ro-RO"/>
              <a:pPr/>
              <a:t>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6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/>
              <a:t>Principiul memoriei virtuale (2)</a:t>
            </a:r>
          </a:p>
        </p:txBody>
      </p:sp>
      <p:sp>
        <p:nvSpPr>
          <p:cNvPr id="29696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84784"/>
            <a:ext cx="8352928" cy="3797963"/>
          </a:xfrm>
        </p:spPr>
        <p:txBody>
          <a:bodyPr/>
          <a:lstStyle/>
          <a:p>
            <a:r>
              <a:rPr lang="ro-RO" dirty="0">
                <a:cs typeface="Times New Roman" pitchFamily="18" charset="0"/>
              </a:rPr>
              <a:t>Un set </a:t>
            </a:r>
            <a:r>
              <a:rPr lang="ro-RO" i="1" dirty="0"/>
              <a:t>R</a:t>
            </a:r>
            <a:r>
              <a:rPr lang="ro-RO" dirty="0"/>
              <a:t> </a:t>
            </a:r>
            <a:r>
              <a:rPr lang="ro-RO" dirty="0">
                <a:cs typeface="Times New Roman" pitchFamily="18" charset="0"/>
              </a:rPr>
              <a:t>de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adrese fizice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sau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reale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>
                <a:cs typeface="Times New Roman" pitchFamily="18" charset="0"/>
              </a:rPr>
              <a:t>Identific</a:t>
            </a:r>
            <a:r>
              <a:rPr lang="ro-RO" dirty="0"/>
              <a:t>ă </a:t>
            </a:r>
            <a:r>
              <a:rPr lang="ro-RO" dirty="0" smtClean="0">
                <a:cs typeface="Times New Roman" pitchFamily="18" charset="0"/>
              </a:rPr>
              <a:t>locațiile </a:t>
            </a:r>
            <a:r>
              <a:rPr lang="ro-RO" dirty="0">
                <a:cs typeface="Times New Roman" pitchFamily="18" charset="0"/>
              </a:rPr>
              <a:t>d</a:t>
            </a:r>
            <a:r>
              <a:rPr lang="ro-RO" dirty="0"/>
              <a:t>in m</a:t>
            </a:r>
            <a:r>
              <a:rPr lang="ro-RO" dirty="0">
                <a:cs typeface="Times New Roman" pitchFamily="18" charset="0"/>
              </a:rPr>
              <a:t>emor</a:t>
            </a:r>
            <a:r>
              <a:rPr lang="ro-RO" dirty="0"/>
              <a:t>i</a:t>
            </a:r>
            <a:r>
              <a:rPr lang="ro-RO" dirty="0">
                <a:cs typeface="Times New Roman" pitchFamily="18" charset="0"/>
              </a:rPr>
              <a:t>a fizic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endParaRPr lang="ro-RO" dirty="0"/>
          </a:p>
          <a:p>
            <a:r>
              <a:rPr lang="ro-RO" dirty="0">
                <a:cs typeface="Times New Roman" pitchFamily="18" charset="0"/>
              </a:rPr>
              <a:t>Adresele virtuale </a:t>
            </a:r>
            <a:r>
              <a:rPr lang="ro-RO" dirty="0"/>
              <a:t>– </a:t>
            </a:r>
            <a:r>
              <a:rPr lang="ro-RO" dirty="0" smtClean="0"/>
              <a:t>sunt </a:t>
            </a:r>
            <a:r>
              <a:rPr lang="ro-RO" dirty="0" smtClean="0">
                <a:cs typeface="Times New Roman" pitchFamily="18" charset="0"/>
              </a:rPr>
              <a:t>generate </a:t>
            </a:r>
            <a:r>
              <a:rPr lang="ro-RO" dirty="0">
                <a:cs typeface="Times New Roman" pitchFamily="18" charset="0"/>
              </a:rPr>
              <a:t>în timpul compil</a:t>
            </a:r>
            <a:r>
              <a:rPr lang="ro-RO" dirty="0"/>
              <a:t>ării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și sunt translatate </a:t>
            </a:r>
            <a:r>
              <a:rPr lang="ro-RO" dirty="0">
                <a:cs typeface="Times New Roman" pitchFamily="18" charset="0"/>
              </a:rPr>
              <a:t>în adrese fizice în timpul </a:t>
            </a:r>
            <a:r>
              <a:rPr lang="ro-RO" dirty="0" smtClean="0">
                <a:cs typeface="Times New Roman" pitchFamily="18" charset="0"/>
              </a:rPr>
              <a:t>execuției </a:t>
            </a:r>
            <a:endParaRPr lang="ro-RO" dirty="0"/>
          </a:p>
          <a:p>
            <a:r>
              <a:rPr lang="ro-RO" dirty="0" smtClean="0"/>
              <a:t>Funcție </a:t>
            </a:r>
            <a:r>
              <a:rPr lang="ro-RO" dirty="0"/>
              <a:t>pentru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translatarea adreselor </a:t>
            </a:r>
          </a:p>
          <a:p>
            <a:pPr lvl="1"/>
            <a:r>
              <a:rPr lang="ro-RO" i="1" dirty="0">
                <a:cs typeface="Times New Roman" pitchFamily="18" charset="0"/>
              </a:rPr>
              <a:t>f</a:t>
            </a:r>
            <a:r>
              <a:rPr lang="ro-RO" dirty="0">
                <a:cs typeface="Times New Roman" pitchFamily="18" charset="0"/>
              </a:rPr>
              <a:t> : </a:t>
            </a:r>
            <a:r>
              <a:rPr lang="ro-RO" i="1" dirty="0">
                <a:cs typeface="Times New Roman" pitchFamily="18" charset="0"/>
              </a:rPr>
              <a:t>V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>
                <a:latin typeface="Times New Roman" pitchFamily="18" charset="0"/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cs typeface="Times New Roman" pitchFamily="18" charset="0"/>
              </a:rPr>
              <a:t>R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A7910C-987C-4004-9F4C-E0F9B451A7AC}" type="slidenum">
              <a:rPr lang="ro-RO"/>
              <a:pPr/>
              <a:t>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4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Memoria virtuală</a:t>
            </a:r>
          </a:p>
        </p:txBody>
      </p:sp>
      <p:sp>
        <p:nvSpPr>
          <p:cNvPr id="31949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358116"/>
          </a:xfrm>
        </p:spPr>
        <p:txBody>
          <a:bodyPr/>
          <a:lstStyle/>
          <a:p>
            <a:endParaRPr lang="ro-RO" dirty="0" smtClean="0">
              <a:solidFill>
                <a:schemeClr val="tx2"/>
              </a:solidFill>
            </a:endParaRP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 virtuală</a:t>
            </a:r>
          </a:p>
          <a:p>
            <a:pPr lvl="1"/>
            <a:r>
              <a:rPr lang="ro-RO" dirty="0"/>
              <a:t>Principiul memoriei virtuale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Translatarea adreselor</a:t>
            </a:r>
          </a:p>
          <a:p>
            <a:pPr lvl="1"/>
            <a:r>
              <a:rPr lang="ro-RO" dirty="0"/>
              <a:t>Paginarea</a:t>
            </a:r>
          </a:p>
          <a:p>
            <a:pPr lvl="1"/>
            <a:r>
              <a:rPr lang="ro-RO" dirty="0"/>
              <a:t>Segmentarea</a:t>
            </a:r>
          </a:p>
          <a:p>
            <a:pPr lvl="1"/>
            <a:r>
              <a:rPr lang="ro-RO" dirty="0"/>
              <a:t>Paginarea combinată cu segmentarea</a:t>
            </a:r>
          </a:p>
          <a:p>
            <a:pPr lvl="1"/>
            <a:r>
              <a:rPr lang="ro-RO" dirty="0" smtClean="0"/>
              <a:t>Strategii </a:t>
            </a:r>
            <a:r>
              <a:rPr lang="ro-RO" dirty="0"/>
              <a:t>de înlocuire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23E7F90-0DFE-4072-B1AF-C7009B72B5D3}" type="slidenum">
              <a:rPr lang="ro-RO"/>
              <a:pPr/>
              <a:t>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Translatarea adreselor (1)</a:t>
            </a:r>
          </a:p>
        </p:txBody>
      </p:sp>
      <p:sp>
        <p:nvSpPr>
          <p:cNvPr id="32051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12776"/>
            <a:ext cx="8352928" cy="4683224"/>
          </a:xfrm>
        </p:spPr>
        <p:txBody>
          <a:bodyPr/>
          <a:lstStyle/>
          <a:p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pațiul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de adrese virtuale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V</a:t>
            </a:r>
            <a:r>
              <a:rPr lang="ro-RO" dirty="0"/>
              <a:t>: s</a:t>
            </a:r>
            <a:r>
              <a:rPr lang="ro-RO" dirty="0">
                <a:cs typeface="Times New Roman" pitchFamily="18" charset="0"/>
              </a:rPr>
              <a:t>etul de </a:t>
            </a:r>
            <a:r>
              <a:rPr lang="ro-RO" dirty="0" smtClean="0">
                <a:cs typeface="Times New Roman" pitchFamily="18" charset="0"/>
              </a:rPr>
              <a:t>locații </a:t>
            </a:r>
            <a:r>
              <a:rPr lang="ro-RO" dirty="0">
                <a:cs typeface="Times New Roman" pitchFamily="18" charset="0"/>
              </a:rPr>
              <a:t>abstracte pe care le poate adresa un program</a:t>
            </a:r>
            <a:endParaRPr lang="ro-RO" dirty="0"/>
          </a:p>
          <a:p>
            <a:pPr lvl="1"/>
            <a:r>
              <a:rPr lang="ro-RO" dirty="0"/>
              <a:t>Adresele virtuale </a:t>
            </a:r>
            <a:r>
              <a:rPr lang="ro-RO" dirty="0">
                <a:sym typeface="Symbol" pitchFamily="18" charset="2"/>
              </a:rPr>
              <a:t></a:t>
            </a:r>
            <a:r>
              <a:rPr lang="ro-RO" dirty="0">
                <a:cs typeface="Times New Roman" pitchFamily="18" charset="0"/>
              </a:rPr>
              <a:t> specificate explicit sau implicit de identificatorii </a:t>
            </a:r>
            <a:r>
              <a:rPr lang="ro-RO" dirty="0"/>
              <a:t>din</a:t>
            </a:r>
            <a:r>
              <a:rPr lang="ro-RO" dirty="0">
                <a:cs typeface="Times New Roman" pitchFamily="18" charset="0"/>
              </a:rPr>
              <a:t> program </a:t>
            </a:r>
            <a:endParaRPr lang="ro-RO" dirty="0"/>
          </a:p>
          <a:p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Spațiul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de adrese reale R</a:t>
            </a:r>
            <a:r>
              <a:rPr lang="ro-RO" dirty="0"/>
              <a:t>: </a:t>
            </a:r>
            <a:r>
              <a:rPr lang="ro-RO" dirty="0">
                <a:cs typeface="Times New Roman" pitchFamily="18" charset="0"/>
              </a:rPr>
              <a:t>definit de memoria fizic</a:t>
            </a:r>
            <a:r>
              <a:rPr lang="ro-RO" dirty="0"/>
              <a:t>ă din calculator</a:t>
            </a:r>
          </a:p>
          <a:p>
            <a:pPr lvl="1"/>
            <a:r>
              <a:rPr lang="ro-RO" dirty="0"/>
              <a:t>O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secvenț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liniar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numere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en-US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>
                <a:cs typeface="Times New Roman" pitchFamily="18" charset="0"/>
              </a:rPr>
              <a:t> corespund</a:t>
            </a:r>
            <a:r>
              <a:rPr lang="en-US" dirty="0">
                <a:cs typeface="Times New Roman" pitchFamily="18" charset="0"/>
              </a:rPr>
              <a:t>e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locațiilor </a:t>
            </a:r>
            <a:r>
              <a:rPr lang="ro-RO" dirty="0">
                <a:cs typeface="Times New Roman" pitchFamily="18" charset="0"/>
              </a:rPr>
              <a:t>adresabile de memorie</a:t>
            </a:r>
            <a:r>
              <a:rPr lang="ro-RO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AA18B08-641F-4C85-BBAB-E5E307686950}" type="slidenum">
              <a:rPr lang="ro-RO"/>
              <a:pPr/>
              <a:t>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Translatarea adreselor (2)</a:t>
            </a:r>
          </a:p>
        </p:txBody>
      </p:sp>
      <p:sp>
        <p:nvSpPr>
          <p:cNvPr id="32153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561249"/>
          </a:xfrm>
        </p:spPr>
        <p:txBody>
          <a:bodyPr/>
          <a:lstStyle/>
          <a:p>
            <a:r>
              <a:rPr lang="ro-RO" dirty="0"/>
              <a:t>Translatarea adreselor virtuale în adrese reale</a:t>
            </a:r>
            <a:endParaRPr lang="en-US" dirty="0"/>
          </a:p>
          <a:p>
            <a:r>
              <a:rPr lang="ro-RO" dirty="0"/>
              <a:t>T</a:t>
            </a:r>
            <a:r>
              <a:rPr lang="ro-RO" dirty="0">
                <a:cs typeface="Times New Roman" pitchFamily="18" charset="0"/>
              </a:rPr>
              <a:t>ranslatarea poate fi efectuat</a:t>
            </a:r>
            <a:r>
              <a:rPr lang="ro-RO" dirty="0"/>
              <a:t>ă:</a:t>
            </a: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Î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 timpul compil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rii </a:t>
            </a:r>
            <a:r>
              <a:rPr lang="ro-RO" dirty="0">
                <a:sym typeface="Symbol" pitchFamily="18" charset="2"/>
              </a:rPr>
              <a:t> </a:t>
            </a:r>
            <a:r>
              <a:rPr lang="ro-RO" dirty="0"/>
              <a:t>compilator</a:t>
            </a: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La încărcarea programului </a:t>
            </a:r>
            <a:r>
              <a:rPr lang="ro-RO" dirty="0"/>
              <a:t>pentru </a:t>
            </a:r>
            <a:r>
              <a:rPr lang="ro-RO" dirty="0" smtClean="0"/>
              <a:t>execuție </a:t>
            </a:r>
            <a:r>
              <a:rPr lang="ro-RO" dirty="0">
                <a:sym typeface="Symbol" pitchFamily="18" charset="2"/>
              </a:rPr>
              <a:t> program încărcător</a:t>
            </a:r>
            <a:endParaRPr lang="ro-RO" dirty="0"/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În timpul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execuției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programului </a:t>
            </a:r>
            <a:r>
              <a:rPr lang="ro-RO" dirty="0">
                <a:sym typeface="Symbol" pitchFamily="18" charset="2"/>
              </a:rPr>
              <a:t> unitate de gestiune a memoriei (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MMU – </a:t>
            </a:r>
            <a:r>
              <a:rPr lang="ro-RO" i="1" dirty="0" err="1">
                <a:cs typeface="Times New Roman" pitchFamily="18" charset="0"/>
                <a:sym typeface="Symbol" pitchFamily="18" charset="2"/>
              </a:rPr>
              <a:t>Memory</a:t>
            </a:r>
            <a:r>
              <a:rPr lang="ro-RO" i="1" dirty="0">
                <a:cs typeface="Times New Roman" pitchFamily="18" charset="0"/>
                <a:sym typeface="Symbol" pitchFamily="18" charset="2"/>
              </a:rPr>
              <a:t> Management Unit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)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4236176-EE66-4215-91F3-6D5B2C4FED58}" type="slidenum">
              <a:rPr lang="ro-RO"/>
              <a:pPr/>
              <a:t>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5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Translatarea adreselor (3)</a:t>
            </a:r>
          </a:p>
        </p:txBody>
      </p:sp>
      <p:sp>
        <p:nvSpPr>
          <p:cNvPr id="32256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604337"/>
          </a:xfrm>
        </p:spPr>
        <p:txBody>
          <a:bodyPr/>
          <a:lstStyle/>
          <a:p>
            <a:r>
              <a:rPr lang="ro-RO" dirty="0"/>
              <a:t>Translatare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statică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endParaRPr lang="en-US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/>
              <a:t>Efectuată la compilare sau la încărcare </a:t>
            </a:r>
          </a:p>
          <a:p>
            <a:pPr lvl="1"/>
            <a:r>
              <a:rPr lang="ro-RO" dirty="0" smtClean="0"/>
              <a:t>S</a:t>
            </a:r>
            <a:r>
              <a:rPr lang="ro-RO" dirty="0" smtClean="0">
                <a:cs typeface="Times New Roman" pitchFamily="18" charset="0"/>
              </a:rPr>
              <a:t>pațiul </a:t>
            </a:r>
            <a:r>
              <a:rPr lang="ro-RO" dirty="0">
                <a:cs typeface="Times New Roman" pitchFamily="18" charset="0"/>
              </a:rPr>
              <a:t>adreselor reale ale programului este fix pe durata </a:t>
            </a:r>
            <a:r>
              <a:rPr lang="ro-RO" dirty="0" smtClean="0">
                <a:cs typeface="Times New Roman" pitchFamily="18" charset="0"/>
              </a:rPr>
              <a:t>execuției </a:t>
            </a:r>
            <a:endParaRPr lang="ro-RO" dirty="0"/>
          </a:p>
          <a:p>
            <a:r>
              <a:rPr lang="ro-RO" dirty="0"/>
              <a:t>Translatare </a:t>
            </a:r>
            <a:r>
              <a:rPr lang="ro-RO" i="1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dinamică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/>
              <a:t>Efectuată la </a:t>
            </a:r>
            <a:r>
              <a:rPr lang="ro-RO" dirty="0" smtClean="0"/>
              <a:t>execuție</a:t>
            </a:r>
            <a:endParaRPr lang="ro-RO" dirty="0"/>
          </a:p>
          <a:p>
            <a:pPr lvl="1"/>
            <a:r>
              <a:rPr lang="ro-RO" dirty="0" smtClean="0"/>
              <a:t>S</a:t>
            </a:r>
            <a:r>
              <a:rPr lang="ro-RO" dirty="0" smtClean="0">
                <a:cs typeface="Times New Roman" pitchFamily="18" charset="0"/>
              </a:rPr>
              <a:t>pațiul </a:t>
            </a:r>
            <a:r>
              <a:rPr lang="ro-RO" dirty="0">
                <a:cs typeface="Times New Roman" pitchFamily="18" charset="0"/>
              </a:rPr>
              <a:t>adreselor virtuale ale program</a:t>
            </a:r>
            <a:r>
              <a:rPr lang="ro-RO" dirty="0"/>
              <a:t>ului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/>
              <a:t>poate varia </a:t>
            </a:r>
            <a:r>
              <a:rPr lang="ro-RO" dirty="0">
                <a:cs typeface="Times New Roman" pitchFamily="18" charset="0"/>
              </a:rPr>
              <a:t>în mod dinamic </a:t>
            </a:r>
            <a:r>
              <a:rPr lang="ro-RO" dirty="0" smtClean="0">
                <a:cs typeface="Times New Roman" pitchFamily="18" charset="0"/>
              </a:rPr>
              <a:t>în timpul </a:t>
            </a:r>
            <a:r>
              <a:rPr lang="ro-RO" dirty="0" smtClean="0"/>
              <a:t>execuției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25F776E-B342-4BCE-9F1B-E742F02C775C}" type="slidenum">
              <a:rPr lang="ro-RO"/>
              <a:pPr/>
              <a:t>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5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Translatarea adreselor (4)</a:t>
            </a:r>
          </a:p>
        </p:txBody>
      </p:sp>
      <p:sp>
        <p:nvSpPr>
          <p:cNvPr id="32358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439472" cy="4561249"/>
          </a:xfrm>
        </p:spPr>
        <p:txBody>
          <a:bodyPr/>
          <a:lstStyle/>
          <a:p>
            <a:r>
              <a:rPr lang="ro-RO" dirty="0">
                <a:cs typeface="Times New Roman" pitchFamily="18" charset="0"/>
              </a:rPr>
              <a:t>Un program executabil cuprinde un set de blocuri de </a:t>
            </a:r>
            <a:r>
              <a:rPr lang="ro-RO" dirty="0" smtClean="0">
                <a:cs typeface="Times New Roman" pitchFamily="18" charset="0"/>
              </a:rPr>
              <a:t>instrucțiuni și </a:t>
            </a:r>
            <a:r>
              <a:rPr lang="ro-RO" dirty="0">
                <a:cs typeface="Times New Roman" pitchFamily="18" charset="0"/>
              </a:rPr>
              <a:t>date</a:t>
            </a:r>
            <a:r>
              <a:rPr lang="ro-RO" dirty="0"/>
              <a:t> </a:t>
            </a:r>
          </a:p>
          <a:p>
            <a:r>
              <a:rPr lang="ro-RO" dirty="0"/>
              <a:t>U</a:t>
            </a:r>
            <a:r>
              <a:rPr lang="ro-RO" dirty="0">
                <a:cs typeface="Times New Roman" pitchFamily="18" charset="0"/>
              </a:rPr>
              <a:t>n cuvânt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are propria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adres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efectiv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i="1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ro-RO" baseline="-30000" dirty="0" err="1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ef</a:t>
            </a:r>
            <a:r>
              <a:rPr lang="ro-RO" dirty="0" smtClean="0">
                <a:cs typeface="Times New Roman" pitchFamily="18" charset="0"/>
              </a:rPr>
              <a:t>:</a:t>
            </a:r>
            <a:endParaRPr lang="ro-RO" dirty="0"/>
          </a:p>
          <a:p>
            <a:pPr lvl="1">
              <a:buFont typeface="Wingdings" pitchFamily="2" charset="2"/>
              <a:buNone/>
            </a:pPr>
            <a:r>
              <a:rPr lang="ro-RO" i="1" dirty="0"/>
              <a:t>	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ro-RO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ef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=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B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+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pPr lvl="1">
              <a:buFont typeface="Wingdings" pitchFamily="2" charset="2"/>
              <a:buNone/>
            </a:pPr>
            <a:r>
              <a:rPr lang="ro-RO" dirty="0"/>
              <a:t>	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B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–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adresa de bază </a:t>
            </a:r>
            <a:r>
              <a:rPr lang="ro-RO" dirty="0"/>
              <a:t>a blocului </a:t>
            </a:r>
            <a:r>
              <a:rPr lang="ro-RO" dirty="0">
                <a:sym typeface="Symbol" pitchFamily="18" charset="2"/>
              </a:rPr>
              <a:t></a:t>
            </a:r>
            <a:r>
              <a:rPr lang="ro-RO" dirty="0"/>
              <a:t> </a:t>
            </a:r>
            <a:r>
              <a:rPr lang="ro-RO" dirty="0">
                <a:cs typeface="Times New Roman" pitchFamily="18" charset="0"/>
              </a:rPr>
              <a:t>furnizeaz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biții </a:t>
            </a:r>
            <a:r>
              <a:rPr lang="ro-RO" dirty="0">
                <a:cs typeface="Times New Roman" pitchFamily="18" charset="0"/>
              </a:rPr>
              <a:t>de ordin superior ai adresei efective</a:t>
            </a:r>
            <a:endParaRPr lang="ro-RO" dirty="0"/>
          </a:p>
          <a:p>
            <a:pPr lvl="1">
              <a:lnSpc>
                <a:spcPct val="90000"/>
              </a:lnSpc>
              <a:buFont typeface="Wingdings" pitchFamily="2" charset="2"/>
              <a:buNone/>
            </a:pPr>
            <a:r>
              <a:rPr lang="ro-RO" dirty="0"/>
              <a:t>	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–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deplasamentul </a:t>
            </a:r>
            <a:r>
              <a:rPr lang="ro-RO" dirty="0"/>
              <a:t>cuvântului din bloc </a:t>
            </a:r>
            <a:r>
              <a:rPr lang="ro-RO" dirty="0">
                <a:sym typeface="Symbol" pitchFamily="18" charset="2"/>
              </a:rPr>
              <a:t></a:t>
            </a:r>
            <a:r>
              <a:rPr lang="ro-RO" dirty="0"/>
              <a:t> </a:t>
            </a:r>
            <a:r>
              <a:rPr lang="ro-RO" dirty="0">
                <a:cs typeface="Times New Roman" pitchFamily="18" charset="0"/>
              </a:rPr>
              <a:t>furnizeaz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biții </a:t>
            </a:r>
            <a:r>
              <a:rPr lang="ro-RO" dirty="0">
                <a:cs typeface="Times New Roman" pitchFamily="18" charset="0"/>
              </a:rPr>
              <a:t>de ordin inferior</a:t>
            </a:r>
            <a:r>
              <a:rPr lang="ro-RO" dirty="0"/>
              <a:t> </a:t>
            </a:r>
            <a:r>
              <a:rPr lang="ro-RO" dirty="0">
                <a:cs typeface="Times New Roman" pitchFamily="18" charset="0"/>
              </a:rPr>
              <a:t>ai adresei efective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93D998BC-D692-4A20-B9F4-74E492913A56}" type="slidenum">
              <a:rPr lang="ro-RO"/>
              <a:pPr/>
              <a:t>9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6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Translatarea adreselor (5)</a:t>
            </a:r>
          </a:p>
        </p:txBody>
      </p:sp>
      <p:sp>
        <p:nvSpPr>
          <p:cNvPr id="32461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007251"/>
          </a:xfrm>
        </p:spPr>
        <p:txBody>
          <a:bodyPr/>
          <a:lstStyle/>
          <a:p>
            <a:r>
              <a:rPr lang="ro-RO" dirty="0"/>
              <a:t>O metodă</a:t>
            </a:r>
            <a:r>
              <a:rPr lang="ro-RO" dirty="0">
                <a:cs typeface="Times New Roman" pitchFamily="18" charset="0"/>
              </a:rPr>
              <a:t> de implementare a translat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rii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p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stra</a:t>
            </a:r>
            <a:r>
              <a:rPr lang="ro-RO" dirty="0"/>
              <a:t>rea</a:t>
            </a:r>
            <a:r>
              <a:rPr lang="ro-RO" dirty="0">
                <a:cs typeface="Times New Roman" pitchFamily="18" charset="0"/>
              </a:rPr>
              <a:t> adresel</a:t>
            </a:r>
            <a:r>
              <a:rPr lang="ro-RO" dirty="0"/>
              <a:t>or</a:t>
            </a:r>
            <a:r>
              <a:rPr lang="ro-RO" dirty="0">
                <a:cs typeface="Times New Roman" pitchFamily="18" charset="0"/>
              </a:rPr>
              <a:t> de baz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într‑o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tabel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de adrese ale memoriei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>
                <a:cs typeface="Times New Roman" pitchFamily="18" charset="0"/>
              </a:rPr>
              <a:t>Tabela poate fi p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strat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 memorie, în registrele UCP sau în ambele</a:t>
            </a:r>
            <a:endParaRPr lang="ro-RO" dirty="0"/>
          </a:p>
          <a:p>
            <a:pPr lvl="1"/>
            <a:r>
              <a:rPr lang="ro-RO" dirty="0">
                <a:cs typeface="Times New Roman" pitchFamily="18" charset="0"/>
              </a:rPr>
              <a:t>Logica de generare a adreselor </a:t>
            </a:r>
            <a:r>
              <a:rPr lang="ro-RO" dirty="0"/>
              <a:t>din UCP </a:t>
            </a:r>
            <a:r>
              <a:rPr lang="ro-RO" dirty="0">
                <a:cs typeface="Times New Roman" pitchFamily="18" charset="0"/>
              </a:rPr>
              <a:t>calculeaz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adres</a:t>
            </a:r>
            <a:r>
              <a:rPr lang="ro-RO" dirty="0"/>
              <a:t>a</a:t>
            </a:r>
            <a:r>
              <a:rPr lang="ro-RO" dirty="0">
                <a:cs typeface="Times New Roman" pitchFamily="18" charset="0"/>
              </a:rPr>
              <a:t> efectiv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</a:t>
            </a:r>
            <a:r>
              <a:rPr lang="ro-RO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ef</a:t>
            </a:r>
            <a:endParaRPr lang="ro-RO" baseline="-300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>
                <a:cs typeface="Times New Roman" pitchFamily="18" charset="0"/>
              </a:rPr>
              <a:t>Blocurile pot fi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relocate </a:t>
            </a:r>
            <a:r>
              <a:rPr lang="ro-RO" dirty="0"/>
              <a:t>simplu</a:t>
            </a:r>
            <a:r>
              <a:rPr lang="ro-RO" dirty="0">
                <a:cs typeface="Times New Roman" pitchFamily="18" charset="0"/>
              </a:rPr>
              <a:t> în memorie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67E8CD1-547A-4916-9066-E5A2B590EE51}" type="slidenum">
              <a:rPr lang="ro-RO"/>
              <a:pPr/>
              <a:t>10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Translatarea adreselor (6)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550B4C5-0799-4033-8D0D-B33B88D64A7C}" type="slidenum">
              <a:rPr lang="ro-RO"/>
              <a:pPr/>
              <a:t>11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  <p:pic>
        <p:nvPicPr>
          <p:cNvPr id="8" name="Content Placeholder 7" descr="ssc4-virtual-transl2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971600" y="1844824"/>
            <a:ext cx="7199390" cy="3389382"/>
          </a:xfr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Translatarea adreselor (7)</a:t>
            </a:r>
          </a:p>
        </p:txBody>
      </p:sp>
      <p:sp>
        <p:nvSpPr>
          <p:cNvPr id="32665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438138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Translatarea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dinamic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a adreselor</a:t>
            </a:r>
            <a:r>
              <a:rPr lang="ro-RO" dirty="0"/>
              <a:t>: </a:t>
            </a:r>
          </a:p>
          <a:p>
            <a:pPr lvl="1"/>
            <a:r>
              <a:rPr lang="ro-RO" dirty="0"/>
              <a:t>T</a:t>
            </a:r>
            <a:r>
              <a:rPr lang="ro-RO" dirty="0">
                <a:cs typeface="Times New Roman" pitchFamily="18" charset="0"/>
              </a:rPr>
              <a:t>rebuie control</a:t>
            </a:r>
            <a:r>
              <a:rPr lang="ro-RO" dirty="0"/>
              <a:t>ate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referințele </a:t>
            </a:r>
            <a:r>
              <a:rPr lang="ro-RO" dirty="0">
                <a:cs typeface="Times New Roman" pitchFamily="18" charset="0"/>
              </a:rPr>
              <a:t>efectuate de un bloc la </a:t>
            </a:r>
            <a:r>
              <a:rPr lang="ro-RO" dirty="0" smtClean="0">
                <a:cs typeface="Times New Roman" pitchFamily="18" charset="0"/>
              </a:rPr>
              <a:t>locațiile </a:t>
            </a:r>
            <a:r>
              <a:rPr lang="ro-RO" dirty="0">
                <a:cs typeface="Times New Roman" pitchFamily="18" charset="0"/>
              </a:rPr>
              <a:t>din afara zonei asignate acestuia </a:t>
            </a:r>
            <a:endParaRPr lang="ro-RO" dirty="0"/>
          </a:p>
          <a:p>
            <a:pPr lvl="1"/>
            <a:r>
              <a:rPr lang="ro-RO" dirty="0"/>
              <a:t>S</a:t>
            </a:r>
            <a:r>
              <a:rPr lang="ro-RO" dirty="0">
                <a:cs typeface="Times New Roman" pitchFamily="18" charset="0"/>
              </a:rPr>
              <a:t>crierea în afara zonei asignate </a:t>
            </a:r>
            <a:r>
              <a:rPr lang="ro-RO" dirty="0"/>
              <a:t>blocului </a:t>
            </a:r>
            <a:r>
              <a:rPr lang="ro-RO" dirty="0">
                <a:cs typeface="Times New Roman" pitchFamily="18" charset="0"/>
              </a:rPr>
              <a:t>trebuie prevenit</a:t>
            </a:r>
            <a:r>
              <a:rPr lang="ro-RO" dirty="0"/>
              <a:t>ă </a:t>
            </a:r>
            <a:endParaRPr lang="ro-RO" dirty="0" smtClean="0"/>
          </a:p>
          <a:p>
            <a:pPr lvl="2"/>
            <a:r>
              <a:rPr lang="ro-RO" sz="3000" dirty="0" smtClean="0">
                <a:cs typeface="Times New Roman" pitchFamily="18" charset="0"/>
              </a:rPr>
              <a:t>Specificarea </a:t>
            </a:r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adresei limită </a:t>
            </a:r>
            <a:r>
              <a:rPr lang="ro-RO" sz="3000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L</a:t>
            </a:r>
            <a:r>
              <a:rPr lang="ro-RO" sz="3000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endParaRPr lang="ro-RO" sz="3000" dirty="0" smtClean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2"/>
            <a:r>
              <a:rPr lang="ro-RO" sz="3000" dirty="0" smtClean="0"/>
              <a:t>Specificarea </a:t>
            </a:r>
            <a:r>
              <a:rPr lang="ro-RO" sz="30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dimensiun</a:t>
            </a:r>
            <a:r>
              <a:rPr lang="ro-RO" sz="30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ii</a:t>
            </a:r>
            <a:r>
              <a:rPr lang="ro-RO" sz="3000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sz="3000" dirty="0">
                <a:cs typeface="Times New Roman" pitchFamily="18" charset="0"/>
              </a:rPr>
              <a:t>blocului </a:t>
            </a:r>
            <a:endParaRPr lang="ro-RO" sz="3000" dirty="0"/>
          </a:p>
          <a:p>
            <a:pPr lvl="1"/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B</a:t>
            </a:r>
            <a:r>
              <a:rPr lang="ro-RO" i="1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/>
              <a:t>ş</a:t>
            </a:r>
            <a:r>
              <a:rPr lang="ro-RO" dirty="0">
                <a:cs typeface="Times New Roman" pitchFamily="18" charset="0"/>
              </a:rPr>
              <a:t>i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L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sunt memorate în tabela de adrese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C72035A-6CB3-438A-A77B-8A2630D2D27B}" type="slidenum">
              <a:rPr lang="ro-RO"/>
              <a:pPr/>
              <a:t>12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Translatarea adreselor (8)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19760E0-F8B2-4D34-9234-1D991946F4A1}" type="slidenum">
              <a:rPr lang="ro-RO"/>
              <a:pPr/>
              <a:t>13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  <p:pic>
        <p:nvPicPr>
          <p:cNvPr id="10" name="Content Placeholder 9" descr="ssc4-virtual-transl3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1763688" y="1484784"/>
            <a:ext cx="5599279" cy="4502087"/>
          </a:xfr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9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Memoria virtuală</a:t>
            </a:r>
          </a:p>
        </p:txBody>
      </p:sp>
      <p:sp>
        <p:nvSpPr>
          <p:cNvPr id="29798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358116"/>
          </a:xfrm>
        </p:spPr>
        <p:txBody>
          <a:bodyPr/>
          <a:lstStyle/>
          <a:p>
            <a:endParaRPr lang="ro-RO" dirty="0" smtClean="0">
              <a:solidFill>
                <a:schemeClr val="tx2"/>
              </a:solidFill>
            </a:endParaRP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 virtuală</a:t>
            </a:r>
          </a:p>
          <a:p>
            <a:pPr lvl="1"/>
            <a:r>
              <a:rPr lang="ro-RO" dirty="0"/>
              <a:t>Principiul memoriei virtuale</a:t>
            </a:r>
          </a:p>
          <a:p>
            <a:pPr lvl="1"/>
            <a:r>
              <a:rPr lang="ro-RO" dirty="0"/>
              <a:t>Translatarea adreselor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Paginarea</a:t>
            </a:r>
          </a:p>
          <a:p>
            <a:pPr lvl="1"/>
            <a:r>
              <a:rPr lang="ro-RO" dirty="0"/>
              <a:t>Segmentarea</a:t>
            </a:r>
          </a:p>
          <a:p>
            <a:pPr lvl="1"/>
            <a:r>
              <a:rPr lang="ro-RO" dirty="0"/>
              <a:t>Paginarea combinată cu segmentarea</a:t>
            </a:r>
          </a:p>
          <a:p>
            <a:pPr lvl="1"/>
            <a:r>
              <a:rPr lang="ro-RO" dirty="0" smtClean="0"/>
              <a:t>Strategii </a:t>
            </a:r>
            <a:r>
              <a:rPr lang="ro-RO" dirty="0"/>
              <a:t>de înlocuire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9222CE1-AB0F-4FC6-BD02-47C6784C2E93}" type="slidenum">
              <a:rPr lang="ro-RO"/>
              <a:pPr/>
              <a:t>14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Paginarea (1)</a:t>
            </a:r>
          </a:p>
        </p:txBody>
      </p:sp>
      <p:sp>
        <p:nvSpPr>
          <p:cNvPr id="299011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12776"/>
            <a:ext cx="8352928" cy="4683224"/>
          </a:xfrm>
        </p:spPr>
        <p:txBody>
          <a:bodyPr>
            <a:normAutofit/>
          </a:bodyPr>
          <a:lstStyle/>
          <a:p>
            <a:r>
              <a:rPr lang="ro-RO" dirty="0"/>
              <a:t>D</a:t>
            </a:r>
            <a:r>
              <a:rPr lang="ro-RO" dirty="0">
                <a:cs typeface="Times New Roman" pitchFamily="18" charset="0"/>
              </a:rPr>
              <a:t>ivizarea unui program (proces) în blocuri cu dimensiuni identice</a:t>
            </a:r>
            <a:endParaRPr lang="ro-RO" dirty="0"/>
          </a:p>
          <a:p>
            <a:pPr lvl="1"/>
            <a:r>
              <a:rPr lang="ro-RO" dirty="0"/>
              <a:t>B</a:t>
            </a:r>
            <a:r>
              <a:rPr lang="ro-RO" dirty="0">
                <a:cs typeface="Times New Roman" pitchFamily="18" charset="0"/>
              </a:rPr>
              <a:t>locuri</a:t>
            </a:r>
            <a:r>
              <a:rPr lang="ro-RO" dirty="0"/>
              <a:t>le sunt stocate</a:t>
            </a:r>
            <a:r>
              <a:rPr lang="ro-RO" dirty="0">
                <a:cs typeface="Times New Roman" pitchFamily="18" charset="0"/>
              </a:rPr>
              <a:t> în memoria </a:t>
            </a:r>
            <a:r>
              <a:rPr lang="ro-RO" dirty="0"/>
              <a:t>s</a:t>
            </a:r>
            <a:r>
              <a:rPr lang="ro-RO" dirty="0">
                <a:cs typeface="Times New Roman" pitchFamily="18" charset="0"/>
              </a:rPr>
              <a:t>ecundar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pagini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agini</a:t>
            </a:r>
            <a:r>
              <a:rPr lang="ro-RO" dirty="0"/>
              <a:t>le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/>
              <a:t>sunt</a:t>
            </a:r>
            <a:r>
              <a:rPr lang="ro-RO" dirty="0">
                <a:cs typeface="Times New Roman" pitchFamily="18" charset="0"/>
              </a:rPr>
              <a:t> înc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rcate în memoria principal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/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cadre de pagin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ro-RO" dirty="0"/>
              <a:t>F</a:t>
            </a:r>
            <a:r>
              <a:rPr lang="ro-RO" dirty="0">
                <a:cs typeface="Times New Roman" pitchFamily="18" charset="0"/>
              </a:rPr>
              <a:t>iecare proces trebuie 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streze </a:t>
            </a:r>
            <a:r>
              <a:rPr lang="ro-RO" dirty="0"/>
              <a:t>în </a:t>
            </a:r>
            <a:r>
              <a:rPr lang="ro-RO" dirty="0">
                <a:cs typeface="Times New Roman" pitchFamily="18" charset="0"/>
              </a:rPr>
              <a:t>memoria principal</a:t>
            </a:r>
            <a:r>
              <a:rPr lang="ro-RO" dirty="0"/>
              <a:t>ă </a:t>
            </a:r>
            <a:r>
              <a:rPr lang="ro-RO" dirty="0">
                <a:cs typeface="Times New Roman" pitchFamily="18" charset="0"/>
              </a:rPr>
              <a:t>o tabel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adrese ale memoriei</a:t>
            </a:r>
            <a:r>
              <a:rPr lang="ro-RO" dirty="0"/>
              <a:t>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tabel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de pagini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641390B-51AC-47E8-AEFD-FA142FA1150E}" type="slidenum">
              <a:rPr lang="ro-RO"/>
              <a:pPr/>
              <a:t>15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0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Paginarea (2)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595D67E-3764-4C9F-BF7F-673F65FB3E0A}" type="slidenum">
              <a:rPr lang="ro-RO"/>
              <a:pPr/>
              <a:t>16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148" y="1249942"/>
            <a:ext cx="5322064" cy="4751451"/>
          </a:xfr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0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Paginarea (3)</a:t>
            </a:r>
          </a:p>
        </p:txBody>
      </p:sp>
      <p:sp>
        <p:nvSpPr>
          <p:cNvPr id="301059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84784"/>
            <a:ext cx="8352928" cy="3908762"/>
          </a:xfrm>
        </p:spPr>
        <p:txBody>
          <a:bodyPr/>
          <a:lstStyle/>
          <a:p>
            <a:r>
              <a:rPr lang="ro-RO" dirty="0"/>
              <a:t>Accesul unei</a:t>
            </a:r>
            <a:r>
              <a:rPr lang="ro-RO" dirty="0">
                <a:cs typeface="Times New Roman" pitchFamily="18" charset="0"/>
              </a:rPr>
              <a:t> variabil</a:t>
            </a:r>
            <a:r>
              <a:rPr lang="ro-RO" dirty="0"/>
              <a:t>e</a:t>
            </a:r>
            <a:r>
              <a:rPr lang="ro-RO" dirty="0">
                <a:cs typeface="Times New Roman" pitchFamily="18" charset="0"/>
              </a:rPr>
              <a:t> sau </a:t>
            </a:r>
            <a:r>
              <a:rPr lang="ro-RO" dirty="0" smtClean="0">
                <a:cs typeface="Times New Roman" pitchFamily="18" charset="0"/>
              </a:rPr>
              <a:t>instrucțiun</a:t>
            </a:r>
            <a:r>
              <a:rPr lang="ro-RO" dirty="0" smtClean="0"/>
              <a:t>i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care nu este înc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rcat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 memorie:</a:t>
            </a:r>
            <a:r>
              <a:rPr lang="ro-RO" dirty="0"/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lipsă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de pagin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en-US" dirty="0">
                <a:cs typeface="Times New Roman" pitchFamily="18" charset="0"/>
              </a:rPr>
              <a:t>“</a:t>
            </a:r>
            <a:r>
              <a:rPr lang="ro-RO" i="1" dirty="0">
                <a:cs typeface="Times New Roman" pitchFamily="18" charset="0"/>
              </a:rPr>
              <a:t>page fault</a:t>
            </a:r>
            <a:r>
              <a:rPr lang="en-US" i="1" dirty="0">
                <a:cs typeface="Times New Roman" pitchFamily="18" charset="0"/>
              </a:rPr>
              <a:t>” </a:t>
            </a:r>
            <a:r>
              <a:rPr lang="ro-RO" dirty="0">
                <a:cs typeface="Times New Roman" pitchFamily="18" charset="0"/>
              </a:rPr>
              <a:t>)</a:t>
            </a:r>
            <a:endParaRPr lang="en-US" dirty="0">
              <a:cs typeface="Times New Roman" pitchFamily="18" charset="0"/>
            </a:endParaRPr>
          </a:p>
          <a:p>
            <a:pPr lvl="1"/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agina este depus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într‑un cadru </a:t>
            </a:r>
            <a:r>
              <a:rPr lang="ro-RO" dirty="0"/>
              <a:t>de pagină </a:t>
            </a:r>
            <a:r>
              <a:rPr lang="ro-RO" dirty="0">
                <a:cs typeface="Times New Roman" pitchFamily="18" charset="0"/>
              </a:rPr>
              <a:t>liber </a:t>
            </a:r>
            <a:endParaRPr lang="ro-RO" dirty="0"/>
          </a:p>
          <a:p>
            <a:pPr lvl="1"/>
            <a:r>
              <a:rPr lang="ro-RO" dirty="0">
                <a:cs typeface="Times New Roman" pitchFamily="18" charset="0"/>
              </a:rPr>
              <a:t>Dac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nu exist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un cadru </a:t>
            </a:r>
            <a:r>
              <a:rPr lang="ro-RO" dirty="0"/>
              <a:t>de pagină </a:t>
            </a:r>
            <a:r>
              <a:rPr lang="ro-RO" dirty="0">
                <a:cs typeface="Times New Roman" pitchFamily="18" charset="0"/>
              </a:rPr>
              <a:t>liber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trebuie selectat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una din pagini</a:t>
            </a:r>
            <a:r>
              <a:rPr lang="ro-RO" dirty="0"/>
              <a:t> pentru a fi înlocuită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/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strategie de înlocuire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1E869C4-F800-44CE-A0F9-02C8785CCC86}" type="slidenum">
              <a:rPr lang="ro-RO"/>
              <a:pPr/>
              <a:t>17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0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Paginarea (4)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9880A35-C194-474B-8D1C-EFFE265BA334}" type="slidenum">
              <a:rPr lang="ro-RO"/>
              <a:pPr/>
              <a:t>18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9701" y="1412776"/>
            <a:ext cx="6736958" cy="4602147"/>
          </a:xfrm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1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Paginarea (5)</a:t>
            </a:r>
          </a:p>
        </p:txBody>
      </p:sp>
      <p:sp>
        <p:nvSpPr>
          <p:cNvPr id="304131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12777"/>
            <a:ext cx="8352928" cy="4395049"/>
          </a:xfrm>
        </p:spPr>
        <p:txBody>
          <a:bodyPr/>
          <a:lstStyle/>
          <a:p>
            <a:r>
              <a:rPr lang="ro-RO" dirty="0" smtClean="0"/>
              <a:t>Creșterea vitezei de c</a:t>
            </a:r>
            <a:r>
              <a:rPr lang="ro-RO" dirty="0" smtClean="0">
                <a:cs typeface="Times New Roman" pitchFamily="18" charset="0"/>
              </a:rPr>
              <a:t>onversie a </a:t>
            </a:r>
            <a:r>
              <a:rPr lang="ro-RO" dirty="0">
                <a:cs typeface="Times New Roman" pitchFamily="18" charset="0"/>
              </a:rPr>
              <a:t>adreselor virtuale în adrese </a:t>
            </a:r>
            <a:r>
              <a:rPr lang="ro-RO" dirty="0" smtClean="0">
                <a:cs typeface="Times New Roman" pitchFamily="18" charset="0"/>
              </a:rPr>
              <a:t>fizice:  </a:t>
            </a:r>
          </a:p>
          <a:p>
            <a:pPr lvl="1"/>
            <a:r>
              <a:rPr lang="ro-RO" dirty="0" smtClean="0">
                <a:cs typeface="Times New Roman" pitchFamily="18" charset="0"/>
              </a:rPr>
              <a:t>Se poate utiliza un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buffer de translatare TLB  </a:t>
            </a:r>
            <a:r>
              <a:rPr lang="ro-RO" dirty="0">
                <a:cs typeface="Times New Roman" pitchFamily="18" charset="0"/>
              </a:rPr>
              <a:t>(</a:t>
            </a:r>
            <a:r>
              <a:rPr lang="ro-RO" i="1" dirty="0" err="1">
                <a:cs typeface="Times New Roman" pitchFamily="18" charset="0"/>
              </a:rPr>
              <a:t>Translation</a:t>
            </a:r>
            <a:r>
              <a:rPr lang="ro-RO" i="1" dirty="0">
                <a:cs typeface="Times New Roman" pitchFamily="18" charset="0"/>
              </a:rPr>
              <a:t> </a:t>
            </a:r>
            <a:r>
              <a:rPr lang="ro-RO" i="1" dirty="0" err="1">
                <a:cs typeface="Times New Roman" pitchFamily="18" charset="0"/>
              </a:rPr>
              <a:t>Lookaside</a:t>
            </a:r>
            <a:r>
              <a:rPr lang="ro-RO" i="1" dirty="0">
                <a:cs typeface="Times New Roman" pitchFamily="18" charset="0"/>
              </a:rPr>
              <a:t> Buffer</a:t>
            </a:r>
            <a:r>
              <a:rPr lang="ro-RO" dirty="0">
                <a:cs typeface="Times New Roman" pitchFamily="18" charset="0"/>
              </a:rPr>
              <a:t>) </a:t>
            </a:r>
            <a:endParaRPr lang="ro-RO" dirty="0"/>
          </a:p>
          <a:p>
            <a:pPr lvl="1"/>
            <a:r>
              <a:rPr lang="ro-RO" dirty="0">
                <a:cs typeface="Times New Roman" pitchFamily="18" charset="0"/>
              </a:rPr>
              <a:t>Adresa paginii este înc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rcat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 buffer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>
                <a:cs typeface="Times New Roman" pitchFamily="18" charset="0"/>
              </a:rPr>
              <a:t> este translatat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într‑un 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 </a:t>
            </a:r>
            <a:r>
              <a:rPr lang="ro-RO" dirty="0"/>
              <a:t>al</a:t>
            </a:r>
            <a:r>
              <a:rPr lang="ro-RO" dirty="0">
                <a:cs typeface="Times New Roman" pitchFamily="18" charset="0"/>
              </a:rPr>
              <a:t> cadru</a:t>
            </a:r>
            <a:r>
              <a:rPr lang="ro-RO" dirty="0"/>
              <a:t>lui de pagină</a:t>
            </a:r>
          </a:p>
          <a:p>
            <a:pPr lvl="1"/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oate fi implementat printr‑o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memorie asociativ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59CB00E-875B-4BBC-BEBD-B53D05A0C0F3}" type="slidenum">
              <a:rPr lang="ro-RO"/>
              <a:pPr/>
              <a:t>19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1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Paginarea (6)</a:t>
            </a:r>
          </a:p>
        </p:txBody>
      </p:sp>
      <p:sp>
        <p:nvSpPr>
          <p:cNvPr id="30515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583488" cy="4824437"/>
          </a:xfrm>
        </p:spPr>
        <p:txBody>
          <a:bodyPr>
            <a:normAutofit/>
          </a:bodyPr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Eficiența </a:t>
            </a:r>
            <a:r>
              <a:rPr lang="ro-RO" dirty="0">
                <a:cs typeface="Times New Roman" pitchFamily="18" charset="0"/>
              </a:rPr>
              <a:t>unui sistem de memorie virtual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depinde de minimizarea 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rului </a:t>
            </a:r>
            <a:r>
              <a:rPr lang="ro-RO" dirty="0"/>
              <a:t>lipsurilor</a:t>
            </a:r>
            <a:r>
              <a:rPr lang="ro-RO" dirty="0">
                <a:cs typeface="Times New Roman" pitchFamily="18" charset="0"/>
              </a:rPr>
              <a:t> de pagin</a:t>
            </a:r>
            <a:r>
              <a:rPr lang="ro-RO" dirty="0"/>
              <a:t>ă 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recvența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lipsurilor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de pagin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(PF – </a:t>
            </a:r>
            <a:r>
              <a:rPr lang="ro-RO" i="1" dirty="0">
                <a:cs typeface="Times New Roman" pitchFamily="18" charset="0"/>
              </a:rPr>
              <a:t>Page Fault </a:t>
            </a:r>
            <a:r>
              <a:rPr lang="ro-RO" i="1" dirty="0" err="1">
                <a:cs typeface="Times New Roman" pitchFamily="18" charset="0"/>
              </a:rPr>
              <a:t>Frequency</a:t>
            </a:r>
            <a:r>
              <a:rPr lang="ro-RO" dirty="0">
                <a:cs typeface="Times New Roman" pitchFamily="18" charset="0"/>
              </a:rPr>
              <a:t>)</a:t>
            </a:r>
            <a:r>
              <a:rPr lang="en-US" dirty="0"/>
              <a:t>: </a:t>
            </a:r>
            <a:r>
              <a:rPr lang="en-US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PF = F / (F+S)</a:t>
            </a:r>
          </a:p>
          <a:p>
            <a:pPr lvl="1"/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 </a:t>
            </a:r>
            <a:r>
              <a:rPr lang="ro-RO" dirty="0"/>
              <a:t>– </a:t>
            </a:r>
            <a:r>
              <a:rPr lang="ro-RO" dirty="0">
                <a:cs typeface="Times New Roman" pitchFamily="18" charset="0"/>
              </a:rPr>
              <a:t>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</a:t>
            </a:r>
            <a:r>
              <a:rPr lang="ro-RO" dirty="0"/>
              <a:t>lipsurilor</a:t>
            </a:r>
            <a:r>
              <a:rPr lang="ro-RO" dirty="0">
                <a:cs typeface="Times New Roman" pitchFamily="18" charset="0"/>
              </a:rPr>
              <a:t> de pagin</a:t>
            </a:r>
            <a:r>
              <a:rPr lang="ro-RO" dirty="0"/>
              <a:t>ă</a:t>
            </a:r>
          </a:p>
          <a:p>
            <a:pPr lvl="1">
              <a:lnSpc>
                <a:spcPct val="80000"/>
              </a:lnSpc>
            </a:pP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 </a:t>
            </a:r>
            <a:r>
              <a:rPr lang="ro-RO" dirty="0"/>
              <a:t>– numărul de accese cu succes</a:t>
            </a:r>
            <a:r>
              <a:rPr lang="ro-RO" dirty="0">
                <a:cs typeface="Times New Roman" pitchFamily="18" charset="0"/>
              </a:rPr>
              <a:t> </a:t>
            </a:r>
            <a:endParaRPr lang="ro-RO" dirty="0"/>
          </a:p>
          <a:p>
            <a:r>
              <a:rPr lang="ro-RO" dirty="0">
                <a:cs typeface="Times New Roman" pitchFamily="18" charset="0"/>
              </a:rPr>
              <a:t>Valoarea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PF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trebuie 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fie cât mai redus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pentru a minimiza 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acceselor la </a:t>
            </a:r>
            <a:r>
              <a:rPr lang="ro-RO" dirty="0" smtClean="0">
                <a:cs typeface="Times New Roman" pitchFamily="18" charset="0"/>
              </a:rPr>
              <a:t>disc</a:t>
            </a:r>
            <a:r>
              <a:rPr lang="ro-RO" dirty="0" smtClean="0"/>
              <a:t>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94A5D36-6776-486D-8A30-44ACBBA4F6C7}" type="slidenum">
              <a:rPr lang="ro-RO"/>
              <a:pPr/>
              <a:t>20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1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Paginarea (7)</a:t>
            </a:r>
          </a:p>
        </p:txBody>
      </p:sp>
      <p:sp>
        <p:nvSpPr>
          <p:cNvPr id="30617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173450"/>
          </a:xfrm>
        </p:spPr>
        <p:txBody>
          <a:bodyPr/>
          <a:lstStyle/>
          <a:p>
            <a:r>
              <a:rPr lang="ro-RO" dirty="0">
                <a:cs typeface="Times New Roman" pitchFamily="18" charset="0"/>
              </a:rPr>
              <a:t>Paginarea </a:t>
            </a:r>
            <a:r>
              <a:rPr lang="ro-RO" dirty="0" smtClean="0">
                <a:cs typeface="Times New Roman" pitchFamily="18" charset="0"/>
              </a:rPr>
              <a:t>crește </a:t>
            </a:r>
            <a:r>
              <a:rPr lang="ro-RO" dirty="0">
                <a:cs typeface="Times New Roman" pitchFamily="18" charset="0"/>
              </a:rPr>
              <a:t>timpul de prelucrare necesar unui proces </a:t>
            </a:r>
            <a:endParaRPr lang="ro-RO" dirty="0"/>
          </a:p>
          <a:p>
            <a:pPr lvl="1"/>
            <a:r>
              <a:rPr lang="ro-RO" dirty="0"/>
              <a:t>Pot fi</a:t>
            </a:r>
            <a:r>
              <a:rPr lang="ro-RO" dirty="0">
                <a:cs typeface="Times New Roman" pitchFamily="18" charset="0"/>
              </a:rPr>
              <a:t> necesare dou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accese la disc</a:t>
            </a:r>
            <a:r>
              <a:rPr lang="ro-RO" dirty="0"/>
              <a:t> </a:t>
            </a:r>
          </a:p>
          <a:p>
            <a:pPr lvl="1"/>
            <a:r>
              <a:rPr lang="ro-RO" dirty="0" smtClean="0"/>
              <a:t>E</a:t>
            </a:r>
            <a:r>
              <a:rPr lang="ro-RO" dirty="0" smtClean="0">
                <a:cs typeface="Times New Roman" pitchFamily="18" charset="0"/>
              </a:rPr>
              <a:t>xecuția </a:t>
            </a:r>
            <a:r>
              <a:rPr lang="ro-RO" dirty="0">
                <a:cs typeface="Times New Roman" pitchFamily="18" charset="0"/>
              </a:rPr>
              <a:t>unui algoritm de înlocuire</a:t>
            </a:r>
            <a:r>
              <a:rPr lang="ro-RO" dirty="0"/>
              <a:t> </a:t>
            </a:r>
          </a:p>
          <a:p>
            <a:r>
              <a:rPr lang="ro-RO" dirty="0"/>
              <a:t>N</a:t>
            </a:r>
            <a:r>
              <a:rPr lang="ro-RO" dirty="0">
                <a:cs typeface="Times New Roman" pitchFamily="18" charset="0"/>
              </a:rPr>
              <a:t>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acceselor la disc </a:t>
            </a:r>
            <a:r>
              <a:rPr lang="ro-RO" dirty="0"/>
              <a:t>poate fi redus </a:t>
            </a:r>
            <a:r>
              <a:rPr lang="ro-RO" dirty="0">
                <a:cs typeface="Times New Roman" pitchFamily="18" charset="0"/>
              </a:rPr>
              <a:t>prin ad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ugarea unui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bit de modificare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>
                <a:cs typeface="Times New Roman" pitchFamily="18" charset="0"/>
              </a:rPr>
              <a:t>Dac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bitul de modificare este 0</a:t>
            </a:r>
            <a:r>
              <a:rPr lang="ro-RO" dirty="0"/>
              <a:t>, </a:t>
            </a:r>
            <a:r>
              <a:rPr lang="ro-RO" dirty="0">
                <a:cs typeface="Times New Roman" pitchFamily="18" charset="0"/>
              </a:rPr>
              <a:t>nu este necesar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scrierea paginii pe disc</a:t>
            </a:r>
            <a:r>
              <a:rPr lang="ro-RO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9EA2A4B-8008-4095-92EE-03220025D4EA}" type="slidenum">
              <a:rPr lang="ro-RO"/>
              <a:pPr/>
              <a:t>21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Memoria virtuală</a:t>
            </a:r>
          </a:p>
        </p:txBody>
      </p:sp>
      <p:sp>
        <p:nvSpPr>
          <p:cNvPr id="307203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358116"/>
          </a:xfrm>
        </p:spPr>
        <p:txBody>
          <a:bodyPr/>
          <a:lstStyle/>
          <a:p>
            <a:endParaRPr lang="ro-RO" dirty="0" smtClean="0">
              <a:solidFill>
                <a:schemeClr val="tx2"/>
              </a:solidFill>
            </a:endParaRP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 virtuală</a:t>
            </a:r>
          </a:p>
          <a:p>
            <a:pPr lvl="1"/>
            <a:r>
              <a:rPr lang="ro-RO" dirty="0"/>
              <a:t>Principiul memoriei virtuale</a:t>
            </a:r>
          </a:p>
          <a:p>
            <a:pPr lvl="1"/>
            <a:r>
              <a:rPr lang="ro-RO" dirty="0"/>
              <a:t>Translatarea adreselor</a:t>
            </a:r>
          </a:p>
          <a:p>
            <a:pPr lvl="1"/>
            <a:r>
              <a:rPr lang="ro-RO" dirty="0"/>
              <a:t>Paginarea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Segmentarea</a:t>
            </a:r>
          </a:p>
          <a:p>
            <a:pPr lvl="1"/>
            <a:r>
              <a:rPr lang="ro-RO" dirty="0"/>
              <a:t>Paginarea combinată cu segmentarea</a:t>
            </a:r>
          </a:p>
          <a:p>
            <a:pPr lvl="1"/>
            <a:r>
              <a:rPr lang="ro-RO" dirty="0" smtClean="0"/>
              <a:t>Strategii </a:t>
            </a:r>
            <a:r>
              <a:rPr lang="ro-RO" dirty="0"/>
              <a:t>de înlocuire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D5220419-6721-4BF7-BC98-0CC41F5EE133}" type="slidenum">
              <a:rPr lang="ro-RO"/>
              <a:pPr/>
              <a:t>22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2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Segmentarea (1)</a:t>
            </a:r>
          </a:p>
        </p:txBody>
      </p:sp>
      <p:sp>
        <p:nvSpPr>
          <p:cNvPr id="308227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12776"/>
            <a:ext cx="8352928" cy="4683224"/>
          </a:xfrm>
        </p:spPr>
        <p:txBody>
          <a:bodyPr/>
          <a:lstStyle/>
          <a:p>
            <a:r>
              <a:rPr lang="ro-RO" dirty="0"/>
              <a:t>U</a:t>
            </a:r>
            <a:r>
              <a:rPr lang="ro-RO" dirty="0">
                <a:cs typeface="Times New Roman" pitchFamily="18" charset="0"/>
              </a:rPr>
              <a:t>n program este </a:t>
            </a:r>
            <a:r>
              <a:rPr lang="ro-RO" dirty="0" smtClean="0">
                <a:cs typeface="Times New Roman" pitchFamily="18" charset="0"/>
              </a:rPr>
              <a:t>împ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rțit </a:t>
            </a:r>
            <a:r>
              <a:rPr lang="ro-RO" dirty="0">
                <a:cs typeface="Times New Roman" pitchFamily="18" charset="0"/>
              </a:rPr>
              <a:t>în </a:t>
            </a:r>
            <a:r>
              <a:rPr lang="ro-RO" dirty="0" smtClean="0">
                <a:cs typeface="Times New Roman" pitchFamily="18" charset="0"/>
              </a:rPr>
              <a:t>secțiuni </a:t>
            </a:r>
            <a:r>
              <a:rPr lang="ro-RO" dirty="0">
                <a:cs typeface="Times New Roman" pitchFamily="18" charset="0"/>
              </a:rPr>
              <a:t>de lungime variabil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en-US" dirty="0"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segmente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ro-RO" dirty="0">
                <a:cs typeface="Times New Roman" pitchFamily="18" charset="0"/>
              </a:rPr>
              <a:t>Fiecare proces p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streaz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o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tabel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de segmente</a:t>
            </a:r>
            <a:r>
              <a:rPr lang="ro-RO" dirty="0">
                <a:cs typeface="Times New Roman" pitchFamily="18" charset="0"/>
              </a:rPr>
              <a:t> în memoria principal</a:t>
            </a:r>
            <a:r>
              <a:rPr lang="ro-RO" dirty="0"/>
              <a:t>ă </a:t>
            </a:r>
          </a:p>
          <a:p>
            <a:r>
              <a:rPr lang="ro-RO" dirty="0"/>
              <a:t>S</a:t>
            </a:r>
            <a:r>
              <a:rPr lang="ro-RO" dirty="0">
                <a:cs typeface="Times New Roman" pitchFamily="18" charset="0"/>
              </a:rPr>
              <a:t>egmentele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au lungimi diferite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ele pot începe în orice zon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din memorie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E</a:t>
            </a:r>
            <a:r>
              <a:rPr lang="ro-RO" dirty="0">
                <a:cs typeface="Times New Roman" pitchFamily="18" charset="0"/>
              </a:rPr>
              <a:t>liminarea unui segment </a:t>
            </a:r>
            <a:r>
              <a:rPr lang="ro-RO" dirty="0"/>
              <a:t>din memorie </a:t>
            </a:r>
            <a:r>
              <a:rPr lang="ro-RO" dirty="0">
                <a:cs typeface="Times New Roman" pitchFamily="18" charset="0"/>
              </a:rPr>
              <a:t>nu asigur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întotdeauna </a:t>
            </a:r>
            <a:r>
              <a:rPr lang="ro-RO" dirty="0" smtClean="0">
                <a:cs typeface="Times New Roman" pitchFamily="18" charset="0"/>
              </a:rPr>
              <a:t>spațiu </a:t>
            </a:r>
            <a:r>
              <a:rPr lang="ro-RO" dirty="0">
                <a:cs typeface="Times New Roman" pitchFamily="18" charset="0"/>
              </a:rPr>
              <a:t>suficient pentru un alt segment</a:t>
            </a:r>
            <a:r>
              <a:rPr lang="ro-RO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0CADB38-6E6E-4D48-BD41-BAC38DF82443}" type="slidenum">
              <a:rPr lang="ro-RO"/>
              <a:pPr/>
              <a:t>23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Segmentarea (2)</a:t>
            </a:r>
          </a:p>
        </p:txBody>
      </p:sp>
      <p:sp>
        <p:nvSpPr>
          <p:cNvPr id="30925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ro-RO" dirty="0">
                <a:cs typeface="Times New Roman" pitchFamily="18" charset="0"/>
              </a:rPr>
              <a:t>Segment: set de cuvinte contigue, asociate logic</a:t>
            </a:r>
            <a:r>
              <a:rPr lang="ro-RO" dirty="0"/>
              <a:t> </a:t>
            </a:r>
          </a:p>
          <a:p>
            <a:r>
              <a:rPr lang="ro-RO" dirty="0"/>
              <a:t>Pentru adresarea u</a:t>
            </a:r>
            <a:r>
              <a:rPr lang="ro-RO" dirty="0">
                <a:cs typeface="Times New Roman" pitchFamily="18" charset="0"/>
              </a:rPr>
              <a:t>n</a:t>
            </a:r>
            <a:r>
              <a:rPr lang="ro-RO" dirty="0"/>
              <a:t>ui</a:t>
            </a:r>
            <a:r>
              <a:rPr lang="ro-RO" dirty="0">
                <a:cs typeface="Times New Roman" pitchFamily="18" charset="0"/>
              </a:rPr>
              <a:t> cuvânt dintr‑un segment </a:t>
            </a:r>
            <a:r>
              <a:rPr lang="ro-RO" dirty="0"/>
              <a:t>se </a:t>
            </a:r>
            <a:r>
              <a:rPr lang="ro-RO" dirty="0">
                <a:cs typeface="Times New Roman" pitchFamily="18" charset="0"/>
              </a:rPr>
              <a:t>specific</a:t>
            </a:r>
            <a:r>
              <a:rPr lang="ro-RO" dirty="0"/>
              <a:t>ă:</a:t>
            </a:r>
          </a:p>
          <a:p>
            <a:pPr lvl="1"/>
            <a:r>
              <a:rPr lang="ro-RO" dirty="0"/>
              <a:t>O</a:t>
            </a:r>
            <a:r>
              <a:rPr lang="ro-RO" dirty="0">
                <a:cs typeface="Times New Roman" pitchFamily="18" charset="0"/>
              </a:rPr>
              <a:t> adres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baz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  <a:sym typeface="Symbol" pitchFamily="18" charset="2"/>
              </a:rPr>
              <a:t>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adres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de segment</a:t>
            </a:r>
            <a:endParaRPr lang="ro-RO" i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dirty="0"/>
              <a:t>U</a:t>
            </a:r>
            <a:r>
              <a:rPr lang="ro-RO" dirty="0">
                <a:cs typeface="Times New Roman" pitchFamily="18" charset="0"/>
              </a:rPr>
              <a:t>n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deplasament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în cadrul segmentului</a:t>
            </a:r>
            <a:r>
              <a:rPr lang="ro-RO" dirty="0"/>
              <a:t> </a:t>
            </a:r>
          </a:p>
          <a:p>
            <a:r>
              <a:rPr lang="ro-RO" dirty="0">
                <a:cs typeface="Times New Roman" pitchFamily="18" charset="0"/>
              </a:rPr>
              <a:t>Un program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datele sale pot fi considerate ca o </a:t>
            </a:r>
            <a:r>
              <a:rPr lang="ro-RO" dirty="0" smtClean="0">
                <a:cs typeface="Times New Roman" pitchFamily="18" charset="0"/>
              </a:rPr>
              <a:t>colecție </a:t>
            </a:r>
            <a:r>
              <a:rPr lang="ro-RO" dirty="0">
                <a:cs typeface="Times New Roman" pitchFamily="18" charset="0"/>
              </a:rPr>
              <a:t>de segmente </a:t>
            </a:r>
            <a:r>
              <a:rPr lang="ro-RO" dirty="0" smtClean="0">
                <a:cs typeface="Times New Roman" pitchFamily="18" charset="0"/>
              </a:rPr>
              <a:t>înl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nțuite</a:t>
            </a:r>
            <a:r>
              <a:rPr lang="ro-RO" dirty="0" smtClean="0"/>
              <a:t>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EE05DDA-5F1F-471F-8390-EA79E851D8B1}" type="slidenum">
              <a:rPr lang="ro-RO"/>
              <a:pPr/>
              <a:t>24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2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Segmentarea (3)</a:t>
            </a:r>
          </a:p>
        </p:txBody>
      </p:sp>
      <p:sp>
        <p:nvSpPr>
          <p:cNvPr id="31027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47800"/>
            <a:ext cx="8352928" cy="4648200"/>
          </a:xfrm>
        </p:spPr>
        <p:txBody>
          <a:bodyPr/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Avantaj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al</a:t>
            </a:r>
            <a:r>
              <a:rPr lang="ro-RO" dirty="0"/>
              <a:t>e</a:t>
            </a:r>
            <a:r>
              <a:rPr lang="ro-RO" dirty="0">
                <a:cs typeface="Times New Roman" pitchFamily="18" charset="0"/>
              </a:rPr>
              <a:t> segment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rii</a:t>
            </a:r>
            <a:r>
              <a:rPr lang="ro-RO" dirty="0"/>
              <a:t>:</a:t>
            </a:r>
          </a:p>
          <a:p>
            <a:pPr lvl="1"/>
            <a:r>
              <a:rPr lang="ro-RO" dirty="0"/>
              <a:t>L</a:t>
            </a:r>
            <a:r>
              <a:rPr lang="ro-RO" dirty="0">
                <a:cs typeface="Times New Roman" pitchFamily="18" charset="0"/>
              </a:rPr>
              <a:t>imitele segmentelor corespund limitelor programului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ale datelor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U</a:t>
            </a:r>
            <a:r>
              <a:rPr lang="ro-RO" dirty="0">
                <a:cs typeface="Times New Roman" pitchFamily="18" charset="0"/>
              </a:rPr>
              <a:t>n segment poate fi modificat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recompilat f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a afecta alte segmente</a:t>
            </a:r>
            <a:r>
              <a:rPr lang="ro-RO" dirty="0"/>
              <a:t> </a:t>
            </a:r>
          </a:p>
          <a:p>
            <a:pPr lvl="1"/>
            <a:r>
              <a:rPr lang="ro-RO" dirty="0">
                <a:cs typeface="Times New Roman" pitchFamily="18" charset="0"/>
              </a:rPr>
              <a:t>Anumite tipuri de segmente variaz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 lungime în timpul </a:t>
            </a:r>
            <a:r>
              <a:rPr lang="ro-RO" dirty="0" smtClean="0">
                <a:cs typeface="Times New Roman" pitchFamily="18" charset="0"/>
              </a:rPr>
              <a:t>execu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iei</a:t>
            </a:r>
            <a:endParaRPr lang="ro-RO" dirty="0">
              <a:cs typeface="Times New Roman" pitchFamily="18" charset="0"/>
            </a:endParaRP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Dezavantaje </a:t>
            </a:r>
            <a:r>
              <a:rPr lang="ro-RO" dirty="0"/>
              <a:t>ale segmentării: </a:t>
            </a:r>
          </a:p>
          <a:p>
            <a:pPr lvl="1"/>
            <a:r>
              <a:rPr lang="ro-RO" dirty="0">
                <a:cs typeface="Times New Roman" pitchFamily="18" charset="0"/>
              </a:rPr>
              <a:t>Metod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 alocare </a:t>
            </a:r>
            <a:r>
              <a:rPr lang="ro-RO" dirty="0"/>
              <a:t>mai</a:t>
            </a:r>
            <a:r>
              <a:rPr lang="ro-RO" dirty="0">
                <a:cs typeface="Times New Roman" pitchFamily="18" charset="0"/>
              </a:rPr>
              <a:t> complex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AA82C96-5345-4003-B48E-F0ADDA87F2F1}" type="slidenum">
              <a:rPr lang="ro-RO"/>
              <a:pPr/>
              <a:t>25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3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Segmentarea (4)</a:t>
            </a:r>
          </a:p>
        </p:txBody>
      </p:sp>
      <p:sp>
        <p:nvSpPr>
          <p:cNvPr id="31232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340768"/>
            <a:ext cx="8352928" cy="4896544"/>
          </a:xfrm>
        </p:spPr>
        <p:txBody>
          <a:bodyPr>
            <a:normAutofit/>
          </a:bodyPr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Comparație </a:t>
            </a:r>
            <a:r>
              <a:rPr lang="ro-RO" dirty="0"/>
              <a:t>între paginare </a:t>
            </a:r>
            <a:r>
              <a:rPr lang="ro-RO" dirty="0" smtClean="0"/>
              <a:t>și </a:t>
            </a:r>
            <a:r>
              <a:rPr lang="ro-RO" dirty="0"/>
              <a:t>segmentare:</a:t>
            </a:r>
          </a:p>
          <a:p>
            <a:pPr lvl="1"/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aginarea necesit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un sistem mai simplu de alocare a memoriei decât segmentarea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aginile nu au </a:t>
            </a:r>
            <a:r>
              <a:rPr lang="ro-RO" dirty="0" smtClean="0">
                <a:cs typeface="Times New Roman" pitchFamily="18" charset="0"/>
              </a:rPr>
              <a:t>semnifica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ie </a:t>
            </a:r>
            <a:r>
              <a:rPr lang="ro-RO" dirty="0">
                <a:cs typeface="Times New Roman" pitchFamily="18" charset="0"/>
              </a:rPr>
              <a:t>logic</a:t>
            </a:r>
            <a:r>
              <a:rPr lang="ro-RO" dirty="0"/>
              <a:t>ă </a:t>
            </a:r>
          </a:p>
          <a:p>
            <a:pPr lvl="1"/>
            <a:r>
              <a:rPr lang="ro-RO" dirty="0"/>
              <a:t>În cazul segmentării, apare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fragmentarea memoriei</a:t>
            </a:r>
            <a:r>
              <a:rPr lang="ro-RO" dirty="0"/>
              <a:t> </a:t>
            </a:r>
            <a:r>
              <a:rPr lang="ro-RO" dirty="0">
                <a:sym typeface="Symbol" pitchFamily="18" charset="2"/>
              </a:rPr>
              <a:t> </a:t>
            </a:r>
            <a:r>
              <a:rPr lang="ro-RO" dirty="0"/>
              <a:t>algoritm de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compactare </a:t>
            </a:r>
          </a:p>
          <a:p>
            <a:pPr lvl="2"/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Fragmentare externă</a:t>
            </a:r>
            <a:r>
              <a:rPr lang="ro-RO" sz="3000" dirty="0"/>
              <a:t>: </a:t>
            </a:r>
            <a:r>
              <a:rPr lang="ro-RO" sz="3000" dirty="0" smtClean="0">
                <a:cs typeface="Times New Roman" pitchFamily="18" charset="0"/>
              </a:rPr>
              <a:t>spa</a:t>
            </a:r>
            <a:r>
              <a:rPr lang="ro-RO" sz="3000" dirty="0" smtClean="0"/>
              <a:t>ț</a:t>
            </a:r>
            <a:r>
              <a:rPr lang="ro-RO" sz="3000" dirty="0" smtClean="0">
                <a:cs typeface="Times New Roman" pitchFamily="18" charset="0"/>
              </a:rPr>
              <a:t>iu </a:t>
            </a:r>
            <a:r>
              <a:rPr lang="ro-RO" sz="3000" dirty="0">
                <a:cs typeface="Times New Roman" pitchFamily="18" charset="0"/>
              </a:rPr>
              <a:t>inutilizabil între zonele ocupate</a:t>
            </a:r>
          </a:p>
          <a:p>
            <a:pPr lvl="2"/>
            <a:r>
              <a:rPr lang="ro-RO" sz="30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Fragmentare internă</a:t>
            </a:r>
            <a:r>
              <a:rPr lang="ro-RO" sz="3000" dirty="0"/>
              <a:t>: </a:t>
            </a:r>
            <a:r>
              <a:rPr lang="ro-RO" sz="3000" dirty="0" smtClean="0">
                <a:cs typeface="Times New Roman" pitchFamily="18" charset="0"/>
              </a:rPr>
              <a:t>spa</a:t>
            </a:r>
            <a:r>
              <a:rPr lang="ro-RO" sz="3000" dirty="0" smtClean="0"/>
              <a:t>ț</a:t>
            </a:r>
            <a:r>
              <a:rPr lang="ro-RO" sz="3000" dirty="0" smtClean="0">
                <a:cs typeface="Times New Roman" pitchFamily="18" charset="0"/>
              </a:rPr>
              <a:t>iu </a:t>
            </a:r>
            <a:r>
              <a:rPr lang="ro-RO" sz="3000" dirty="0">
                <a:cs typeface="Times New Roman" pitchFamily="18" charset="0"/>
              </a:rPr>
              <a:t>inutilizabil în interiorul unui </a:t>
            </a:r>
            <a:r>
              <a:rPr lang="ro-RO" sz="3000" dirty="0" smtClean="0">
                <a:cs typeface="Times New Roman" pitchFamily="18" charset="0"/>
              </a:rPr>
              <a:t>bloc (segment)</a:t>
            </a:r>
            <a:endParaRPr lang="ro-RO" sz="3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F78F737-A05B-4E1B-B7F3-C9E8D06B7A18}" type="slidenum">
              <a:rPr lang="ro-RO"/>
              <a:pPr/>
              <a:t>26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Memoria virtuală</a:t>
            </a:r>
          </a:p>
        </p:txBody>
      </p:sp>
      <p:sp>
        <p:nvSpPr>
          <p:cNvPr id="3143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358116"/>
          </a:xfrm>
        </p:spPr>
        <p:txBody>
          <a:bodyPr/>
          <a:lstStyle/>
          <a:p>
            <a:endParaRPr lang="ro-RO" dirty="0" smtClean="0">
              <a:solidFill>
                <a:schemeClr val="tx2"/>
              </a:solidFill>
            </a:endParaRP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 virtuală</a:t>
            </a:r>
          </a:p>
          <a:p>
            <a:pPr lvl="1"/>
            <a:r>
              <a:rPr lang="ro-RO" dirty="0"/>
              <a:t>Principiul memoriei virtuale</a:t>
            </a:r>
          </a:p>
          <a:p>
            <a:pPr lvl="1"/>
            <a:r>
              <a:rPr lang="ro-RO" dirty="0"/>
              <a:t>Translatarea adreselor</a:t>
            </a:r>
          </a:p>
          <a:p>
            <a:pPr lvl="1"/>
            <a:r>
              <a:rPr lang="ro-RO" dirty="0"/>
              <a:t>Paginarea</a:t>
            </a:r>
          </a:p>
          <a:p>
            <a:pPr lvl="1"/>
            <a:r>
              <a:rPr lang="ro-RO" dirty="0"/>
              <a:t>Segmentarea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Paginarea combinată cu segmentarea</a:t>
            </a:r>
          </a:p>
          <a:p>
            <a:pPr lvl="1"/>
            <a:r>
              <a:rPr lang="ro-RO" dirty="0" smtClean="0"/>
              <a:t>Strategii </a:t>
            </a:r>
            <a:r>
              <a:rPr lang="ro-RO" dirty="0"/>
              <a:t>de înlocuire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A44839-4093-4580-8CB8-971F2D36ACF2}" type="slidenum">
              <a:rPr lang="ro-RO"/>
              <a:pPr/>
              <a:t>27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94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212725"/>
            <a:ext cx="8496944" cy="695995"/>
          </a:xfrm>
        </p:spPr>
        <p:txBody>
          <a:bodyPr>
            <a:normAutofit fontScale="90000"/>
          </a:bodyPr>
          <a:lstStyle/>
          <a:p>
            <a:r>
              <a:rPr lang="ro-RO" dirty="0"/>
              <a:t>Paginarea combinată cu segmentarea (1)</a:t>
            </a:r>
          </a:p>
        </p:txBody>
      </p:sp>
      <p:sp>
        <p:nvSpPr>
          <p:cNvPr id="315395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84784"/>
            <a:ext cx="8352928" cy="4074962"/>
          </a:xfrm>
        </p:spPr>
        <p:txBody>
          <a:bodyPr/>
          <a:lstStyle/>
          <a:p>
            <a:r>
              <a:rPr lang="ro-RO" dirty="0"/>
              <a:t>F</a:t>
            </a:r>
            <a:r>
              <a:rPr lang="ro-RO" dirty="0">
                <a:cs typeface="Times New Roman" pitchFamily="18" charset="0"/>
              </a:rPr>
              <a:t>iecare segment este </a:t>
            </a:r>
            <a:r>
              <a:rPr lang="ro-RO" dirty="0" smtClean="0">
                <a:cs typeface="Times New Roman" pitchFamily="18" charset="0"/>
              </a:rPr>
              <a:t>împ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r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it </a:t>
            </a:r>
            <a:r>
              <a:rPr lang="ro-RO" dirty="0">
                <a:cs typeface="Times New Roman" pitchFamily="18" charset="0"/>
              </a:rPr>
              <a:t>în pagini</a:t>
            </a:r>
            <a:r>
              <a:rPr lang="ro-RO" dirty="0"/>
              <a:t> 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Avantajul</a:t>
            </a:r>
            <a:r>
              <a:rPr lang="ro-RO" dirty="0"/>
              <a:t>: </a:t>
            </a:r>
            <a:r>
              <a:rPr lang="ro-RO" dirty="0">
                <a:cs typeface="Times New Roman" pitchFamily="18" charset="0"/>
              </a:rPr>
              <a:t>se elimin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necesitatea de a plasa segmentul într‑o zon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contigu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din memoria principal</a:t>
            </a:r>
            <a:r>
              <a:rPr lang="ro-RO" dirty="0"/>
              <a:t>ă</a:t>
            </a:r>
          </a:p>
          <a:p>
            <a:pPr lvl="1"/>
            <a:r>
              <a:rPr lang="ro-RO" dirty="0"/>
              <a:t>E</a:t>
            </a:r>
            <a:r>
              <a:rPr lang="ro-RO" dirty="0">
                <a:cs typeface="Times New Roman" pitchFamily="18" charset="0"/>
              </a:rPr>
              <a:t>ste nevoie doar de un 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 de cadre de pagin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egal cu num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rul paginilor în care s‑a </a:t>
            </a:r>
            <a:r>
              <a:rPr lang="ro-RO" dirty="0" smtClean="0">
                <a:cs typeface="Times New Roman" pitchFamily="18" charset="0"/>
              </a:rPr>
              <a:t>împ</a:t>
            </a:r>
            <a:r>
              <a:rPr lang="ro-RO" dirty="0" smtClean="0"/>
              <a:t>ă</a:t>
            </a:r>
            <a:r>
              <a:rPr lang="ro-RO" dirty="0" smtClean="0">
                <a:cs typeface="Times New Roman" pitchFamily="18" charset="0"/>
              </a:rPr>
              <a:t>r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it </a:t>
            </a:r>
            <a:r>
              <a:rPr lang="ro-RO" dirty="0">
                <a:cs typeface="Times New Roman" pitchFamily="18" charset="0"/>
              </a:rPr>
              <a:t>segmentul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C</a:t>
            </a:r>
            <a:r>
              <a:rPr lang="ro-RO" dirty="0">
                <a:cs typeface="Times New Roman" pitchFamily="18" charset="0"/>
              </a:rPr>
              <a:t>adre</a:t>
            </a:r>
            <a:r>
              <a:rPr lang="ro-RO" dirty="0"/>
              <a:t>le</a:t>
            </a:r>
            <a:r>
              <a:rPr lang="ro-RO" dirty="0">
                <a:cs typeface="Times New Roman" pitchFamily="18" charset="0"/>
              </a:rPr>
              <a:t> de pagin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nu trebuie 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fie contigue</a:t>
            </a:r>
            <a:r>
              <a:rPr lang="ro-RO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B512C62-C9CB-42A7-B2C6-511B6A4E3663}" type="slidenum">
              <a:rPr lang="ro-RO"/>
              <a:pPr/>
              <a:t>28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418" name="Rectangle 2"/>
          <p:cNvSpPr>
            <a:spLocks noGrp="1" noChangeArrowheads="1"/>
          </p:cNvSpPr>
          <p:nvPr>
            <p:ph type="title"/>
          </p:nvPr>
        </p:nvSpPr>
        <p:spPr>
          <a:xfrm>
            <a:off x="323528" y="212725"/>
            <a:ext cx="8496944" cy="695995"/>
          </a:xfrm>
        </p:spPr>
        <p:txBody>
          <a:bodyPr>
            <a:normAutofit fontScale="90000"/>
          </a:bodyPr>
          <a:lstStyle/>
          <a:p>
            <a:r>
              <a:rPr lang="ro-RO" dirty="0"/>
              <a:t>Paginarea combinată cu segmentarea (2)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22A70D-8D0A-4579-B168-1BABE3F9B1E1}" type="slidenum">
              <a:rPr lang="ro-RO"/>
              <a:pPr/>
              <a:t>29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  <p:pic>
        <p:nvPicPr>
          <p:cNvPr id="8" name="Content Placeholder 7" descr="ssc4-virtual-paginseg1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051720" y="1484784"/>
            <a:ext cx="5056033" cy="4636017"/>
          </a:xfrm>
        </p:spPr>
      </p:pic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Memoria virtuală</a:t>
            </a:r>
          </a:p>
        </p:txBody>
      </p:sp>
      <p:sp>
        <p:nvSpPr>
          <p:cNvPr id="32973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358116"/>
          </a:xfrm>
        </p:spPr>
        <p:txBody>
          <a:bodyPr/>
          <a:lstStyle/>
          <a:p>
            <a:endParaRPr lang="ro-RO" dirty="0" smtClean="0">
              <a:solidFill>
                <a:schemeClr val="tx2"/>
              </a:solidFill>
            </a:endParaRPr>
          </a:p>
          <a:p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Memoria virtuală</a:t>
            </a:r>
          </a:p>
          <a:p>
            <a:pPr lvl="1"/>
            <a:r>
              <a:rPr lang="ro-RO" dirty="0"/>
              <a:t>Principiul memoriei virtuale</a:t>
            </a:r>
          </a:p>
          <a:p>
            <a:pPr lvl="1"/>
            <a:r>
              <a:rPr lang="ro-RO" dirty="0"/>
              <a:t>Translatarea adreselor</a:t>
            </a:r>
          </a:p>
          <a:p>
            <a:pPr lvl="1"/>
            <a:r>
              <a:rPr lang="ro-RO" dirty="0"/>
              <a:t>Paginarea</a:t>
            </a:r>
          </a:p>
          <a:p>
            <a:pPr lvl="1"/>
            <a:r>
              <a:rPr lang="ro-RO" dirty="0"/>
              <a:t>Segmentarea</a:t>
            </a:r>
          </a:p>
          <a:p>
            <a:pPr lvl="1"/>
            <a:r>
              <a:rPr lang="ro-RO" dirty="0"/>
              <a:t>Paginarea combinată cu segmentarea</a:t>
            </a:r>
          </a:p>
          <a:p>
            <a:pPr lvl="1"/>
            <a:r>
              <a:rPr lang="ro-RO" dirty="0">
                <a:gradFill>
                  <a:gsLst>
                    <a:gs pos="0">
                      <a:schemeClr val="accent3">
                        <a:lumMod val="40000"/>
                        <a:lumOff val="60000"/>
                      </a:schemeClr>
                    </a:gs>
                    <a:gs pos="36000">
                      <a:schemeClr val="accent3">
                        <a:lumMod val="40000"/>
                        <a:lumOff val="60000"/>
                      </a:schemeClr>
                    </a:gs>
                    <a:gs pos="86000">
                      <a:schemeClr val="accent3"/>
                    </a:gs>
                  </a:gsLst>
                  <a:lin ang="5400000"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Strategii de înlocuire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6FE8754-A134-49C9-84BD-2316C261C395}" type="slidenum">
              <a:rPr lang="ro-RO"/>
              <a:pPr/>
              <a:t>30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7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Strategii de </a:t>
            </a:r>
            <a:r>
              <a:rPr lang="ro-RO" dirty="0" smtClean="0"/>
              <a:t>înlocuire (1)</a:t>
            </a:r>
            <a:endParaRPr lang="ro-RO" dirty="0"/>
          </a:p>
        </p:txBody>
      </p:sp>
      <p:sp>
        <p:nvSpPr>
          <p:cNvPr id="330755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>
                <a:cs typeface="Times New Roman" pitchFamily="18" charset="0"/>
              </a:rPr>
              <a:t>Criteriul pentru </a:t>
            </a:r>
            <a:r>
              <a:rPr lang="ro-RO" dirty="0" smtClean="0">
                <a:cs typeface="Times New Roman" pitchFamily="18" charset="0"/>
              </a:rPr>
              <a:t>selec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ia </a:t>
            </a:r>
            <a:r>
              <a:rPr lang="ro-RO" dirty="0"/>
              <a:t>unui </a:t>
            </a:r>
            <a:r>
              <a:rPr lang="ro-RO" dirty="0">
                <a:cs typeface="Times New Roman" pitchFamily="18" charset="0"/>
              </a:rPr>
              <a:t>bloc care va fi înlocuit: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strategia de înlocuire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ro-RO" dirty="0"/>
              <a:t>S</a:t>
            </a:r>
            <a:r>
              <a:rPr lang="ro-RO" dirty="0">
                <a:cs typeface="Times New Roman" pitchFamily="18" charset="0"/>
              </a:rPr>
              <a:t>cop</a:t>
            </a:r>
            <a:r>
              <a:rPr lang="ro-RO" dirty="0"/>
              <a:t>ul: </a:t>
            </a:r>
            <a:r>
              <a:rPr lang="ro-RO" dirty="0">
                <a:cs typeface="Times New Roman" pitchFamily="18" charset="0"/>
              </a:rPr>
              <a:t>maximiza</a:t>
            </a:r>
            <a:r>
              <a:rPr lang="ro-RO" dirty="0"/>
              <a:t>rea</a:t>
            </a:r>
            <a:r>
              <a:rPr lang="ro-RO" dirty="0">
                <a:cs typeface="Times New Roman" pitchFamily="18" charset="0"/>
              </a:rPr>
              <a:t> rat</a:t>
            </a:r>
            <a:r>
              <a:rPr lang="ro-RO" dirty="0"/>
              <a:t>ei</a:t>
            </a:r>
            <a:r>
              <a:rPr lang="ro-RO" dirty="0">
                <a:cs typeface="Times New Roman" pitchFamily="18" charset="0"/>
              </a:rPr>
              <a:t> de succes a memoriei mai rapide </a:t>
            </a:r>
            <a:r>
              <a:rPr lang="ro-RO" i="1" dirty="0">
                <a:cs typeface="Times New Roman" pitchFamily="18" charset="0"/>
              </a:rPr>
              <a:t>M</a:t>
            </a:r>
            <a:r>
              <a:rPr lang="ro-RO" baseline="-30000" dirty="0">
                <a:cs typeface="Times New Roman" pitchFamily="18" charset="0"/>
              </a:rPr>
              <a:t>1</a:t>
            </a:r>
            <a:endParaRPr lang="ro-RO" dirty="0"/>
          </a:p>
          <a:p>
            <a:r>
              <a:rPr lang="ro-RO" dirty="0">
                <a:cs typeface="Times New Roman" pitchFamily="18" charset="0"/>
              </a:rPr>
              <a:t>Majoritatea strategiilor iau în considerare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principiul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localit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ăț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ii </a:t>
            </a:r>
            <a:r>
              <a:rPr lang="ro-RO" dirty="0"/>
              <a:t>la </a:t>
            </a:r>
            <a:r>
              <a:rPr lang="ro-RO" dirty="0">
                <a:cs typeface="Times New Roman" pitchFamily="18" charset="0"/>
              </a:rPr>
              <a:t>select</a:t>
            </a:r>
            <a:r>
              <a:rPr lang="ro-RO" dirty="0"/>
              <a:t>area</a:t>
            </a:r>
            <a:r>
              <a:rPr lang="ro-RO" dirty="0">
                <a:cs typeface="Times New Roman" pitchFamily="18" charset="0"/>
              </a:rPr>
              <a:t> un</a:t>
            </a:r>
            <a:r>
              <a:rPr lang="ro-RO" dirty="0"/>
              <a:t>ui</a:t>
            </a:r>
            <a:r>
              <a:rPr lang="ro-RO" dirty="0">
                <a:cs typeface="Times New Roman" pitchFamily="18" charset="0"/>
              </a:rPr>
              <a:t> bloc </a:t>
            </a:r>
            <a:endParaRPr lang="ro-RO" dirty="0"/>
          </a:p>
          <a:p>
            <a:r>
              <a:rPr lang="ro-RO" dirty="0" smtClean="0">
                <a:cs typeface="Times New Roman" pitchFamily="18" charset="0"/>
              </a:rPr>
              <a:t>Eficien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a: </a:t>
            </a:r>
            <a:r>
              <a:rPr lang="ro-RO" dirty="0">
                <a:cs typeface="Times New Roman" pitchFamily="18" charset="0"/>
              </a:rPr>
              <a:t>depinde de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dimensiunea blocului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num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ă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rul de regiuni </a:t>
            </a:r>
            <a:r>
              <a:rPr lang="ro-RO" dirty="0" smtClean="0">
                <a:cs typeface="Times New Roman" pitchFamily="18" charset="0"/>
              </a:rPr>
              <a:t>din </a:t>
            </a:r>
            <a:r>
              <a:rPr lang="ro-RO" dirty="0">
                <a:cs typeface="Times New Roman" pitchFamily="18" charset="0"/>
              </a:rPr>
              <a:t>memoria mai rapid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cs typeface="Times New Roman" pitchFamily="18" charset="0"/>
              </a:rPr>
              <a:t>M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84131E6-1042-4A60-BF71-20817DF44CD3}" type="slidenum">
              <a:rPr lang="ro-RO"/>
              <a:pPr/>
              <a:t>31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778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 smtClean="0"/>
              <a:t>Strategii de </a:t>
            </a:r>
            <a:r>
              <a:rPr lang="ro-RO" dirty="0"/>
              <a:t>înlocuire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31779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trategia optimă de înlocuire OPT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ro-RO" dirty="0" smtClean="0"/>
              <a:t>Strategie ideală </a:t>
            </a:r>
          </a:p>
          <a:p>
            <a:r>
              <a:rPr lang="ro-RO" dirty="0" smtClean="0"/>
              <a:t>A</a:t>
            </a:r>
            <a:r>
              <a:rPr lang="ro-RO" dirty="0" smtClean="0">
                <a:cs typeface="Times New Roman" pitchFamily="18" charset="0"/>
              </a:rPr>
              <a:t>r </a:t>
            </a:r>
            <a:r>
              <a:rPr lang="ro-RO" dirty="0">
                <a:cs typeface="Times New Roman" pitchFamily="18" charset="0"/>
              </a:rPr>
              <a:t>trebui s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determine, la momentul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/>
              <a:t>, </a:t>
            </a:r>
            <a:r>
              <a:rPr lang="ro-RO" dirty="0">
                <a:cs typeface="Times New Roman" pitchFamily="18" charset="0"/>
              </a:rPr>
              <a:t>momentul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i="1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j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&gt;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la care </a:t>
            </a:r>
            <a:r>
              <a:rPr lang="ro-RO" dirty="0" smtClean="0">
                <a:cs typeface="Times New Roman" pitchFamily="18" charset="0"/>
              </a:rPr>
              <a:t>apare </a:t>
            </a:r>
            <a:r>
              <a:rPr lang="ro-RO" dirty="0">
                <a:cs typeface="Times New Roman" pitchFamily="18" charset="0"/>
              </a:rPr>
              <a:t>urm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toarea </a:t>
            </a:r>
            <a:r>
              <a:rPr lang="ro-RO" dirty="0" smtClean="0">
                <a:cs typeface="Times New Roman" pitchFamily="18" charset="0"/>
              </a:rPr>
              <a:t>referin</a:t>
            </a:r>
            <a:r>
              <a:rPr lang="ro-RO" dirty="0" smtClean="0"/>
              <a:t>ță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la blocul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K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care se va înlocui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B</a:t>
            </a:r>
            <a:r>
              <a:rPr lang="ro-RO" dirty="0">
                <a:cs typeface="Times New Roman" pitchFamily="18" charset="0"/>
              </a:rPr>
              <a:t>locul care se va înlocui este cel pentru </a:t>
            </a:r>
            <a:r>
              <a:rPr lang="ro-RO" dirty="0" smtClean="0">
                <a:cs typeface="Times New Roman" pitchFamily="18" charset="0"/>
              </a:rPr>
              <a:t>care  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i="1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j</a:t>
            </a:r>
            <a:r>
              <a:rPr lang="ro-RO" dirty="0">
                <a:solidFill>
                  <a:schemeClr val="tx2"/>
                </a:solidFill>
                <a:cs typeface="Times New Roman" pitchFamily="18" charset="0"/>
              </a:rPr>
              <a:t> </a:t>
            </a:r>
            <a:r>
              <a:rPr lang="ro-RO" dirty="0">
                <a:cs typeface="Times New Roman" pitchFamily="18" charset="0"/>
              </a:rPr>
              <a:t>– 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i="1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i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are valoarea maxim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i="1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K</a:t>
            </a:r>
            <a:endParaRPr lang="ro-RO" i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oate fi implementat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prin efectuarea a dou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treceri peste programul de </a:t>
            </a:r>
            <a:r>
              <a:rPr lang="ro-RO" dirty="0" smtClean="0">
                <a:cs typeface="Times New Roman" pitchFamily="18" charset="0"/>
              </a:rPr>
              <a:t>executat 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800FF42-24AF-4BB1-B709-F238C3C11B19}" type="slidenum">
              <a:rPr lang="ro-RO"/>
              <a:pPr/>
              <a:t>32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802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o-RO" dirty="0" smtClean="0"/>
              <a:t>Strategii de </a:t>
            </a:r>
            <a:r>
              <a:rPr lang="ro-RO" dirty="0"/>
              <a:t>înlocuire </a:t>
            </a:r>
            <a:r>
              <a:rPr lang="ro-RO" dirty="0" smtClean="0"/>
              <a:t>(3)</a:t>
            </a:r>
            <a:endParaRPr lang="ro-RO" dirty="0"/>
          </a:p>
        </p:txBody>
      </p:sp>
      <p:sp>
        <p:nvSpPr>
          <p:cNvPr id="33280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12776"/>
            <a:ext cx="8352928" cy="4896544"/>
          </a:xfrm>
        </p:spPr>
        <p:txBody>
          <a:bodyPr>
            <a:normAutofit lnSpcReduction="10000"/>
          </a:bodyPr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Prima trecere</a:t>
            </a:r>
            <a:r>
              <a:rPr lang="ro-RO" dirty="0" smtClean="0"/>
              <a:t>:</a:t>
            </a:r>
            <a:r>
              <a:rPr lang="ro-RO" dirty="0" smtClean="0">
                <a:cs typeface="Times New Roman" pitchFamily="18" charset="0"/>
              </a:rPr>
              <a:t> o rulare de simulare</a:t>
            </a:r>
            <a:endParaRPr lang="ro-RO" dirty="0" smtClean="0"/>
          </a:p>
          <a:p>
            <a:pPr lvl="1"/>
            <a:r>
              <a:rPr lang="ro-RO" dirty="0" smtClean="0"/>
              <a:t>Se</a:t>
            </a:r>
            <a:r>
              <a:rPr lang="ro-RO" dirty="0" smtClean="0"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determin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secven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a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a adreselor virtuale generate de program</a:t>
            </a:r>
            <a:endParaRPr lang="ro-RO" dirty="0"/>
          </a:p>
          <a:p>
            <a:pPr lvl="1"/>
            <a:r>
              <a:rPr lang="ro-RO" dirty="0">
                <a:cs typeface="Times New Roman" pitchFamily="18" charset="0"/>
              </a:rPr>
              <a:t>Valoarea </a:t>
            </a:r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t</a:t>
            </a:r>
            <a:r>
              <a:rPr lang="ro-RO" i="1" baseline="-30000" dirty="0" err="1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K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poate fi calculat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din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endParaRPr lang="ro-RO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  <a:p>
            <a:pPr lvl="1"/>
            <a:r>
              <a:rPr lang="ro-RO" i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t</a:t>
            </a:r>
            <a:r>
              <a:rPr lang="ro-RO" i="1" baseline="-25000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K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</a:t>
            </a:r>
            <a:r>
              <a:rPr lang="ro-RO" dirty="0"/>
              <a:t>–</a:t>
            </a:r>
            <a:r>
              <a:rPr lang="ro-RO" dirty="0">
                <a:cs typeface="Times New Roman" pitchFamily="18" charset="0"/>
              </a:rPr>
              <a:t> utilizat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pentru a construi </a:t>
            </a:r>
            <a:r>
              <a:rPr lang="ro-RO" dirty="0" smtClean="0">
                <a:cs typeface="Times New Roman" pitchFamily="18" charset="0"/>
              </a:rPr>
              <a:t>secven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a </a:t>
            </a:r>
            <a:r>
              <a:rPr lang="ro-RO" dirty="0">
                <a:cs typeface="Times New Roman" pitchFamily="18" charset="0"/>
              </a:rPr>
              <a:t>optim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OPT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a blocurilor care </a:t>
            </a:r>
            <a:r>
              <a:rPr lang="ro-RO" dirty="0"/>
              <a:t>vor fi</a:t>
            </a:r>
            <a:r>
              <a:rPr lang="ro-RO" dirty="0">
                <a:cs typeface="Times New Roman" pitchFamily="18" charset="0"/>
              </a:rPr>
              <a:t> înlocuit</a:t>
            </a:r>
            <a:r>
              <a:rPr lang="ro-RO" dirty="0"/>
              <a:t>e</a:t>
            </a:r>
            <a:r>
              <a:rPr lang="ro-RO" dirty="0">
                <a:cs typeface="Times New Roman" pitchFamily="18" charset="0"/>
              </a:rPr>
              <a:t> </a:t>
            </a:r>
            <a:endParaRPr lang="ro-RO" dirty="0"/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A doua trecere</a:t>
            </a:r>
            <a:r>
              <a:rPr lang="ro-RO" dirty="0"/>
              <a:t>:</a:t>
            </a:r>
            <a:r>
              <a:rPr lang="ro-RO" dirty="0">
                <a:cs typeface="Times New Roman" pitchFamily="18" charset="0"/>
              </a:rPr>
              <a:t> rularea pentru </a:t>
            </a:r>
            <a:r>
              <a:rPr lang="ro-RO" dirty="0" smtClean="0">
                <a:cs typeface="Times New Roman" pitchFamily="18" charset="0"/>
              </a:rPr>
              <a:t>execu</a:t>
            </a:r>
            <a:r>
              <a:rPr lang="ro-RO" dirty="0" smtClean="0"/>
              <a:t>ț</a:t>
            </a:r>
            <a:r>
              <a:rPr lang="ro-RO" dirty="0" smtClean="0">
                <a:cs typeface="Times New Roman" pitchFamily="18" charset="0"/>
              </a:rPr>
              <a:t>ie</a:t>
            </a:r>
            <a:r>
              <a:rPr lang="ro-RO" dirty="0" smtClean="0"/>
              <a:t> </a:t>
            </a:r>
            <a:endParaRPr lang="ro-RO" dirty="0"/>
          </a:p>
          <a:p>
            <a:pPr lvl="1"/>
            <a:r>
              <a:rPr lang="ro-RO" dirty="0"/>
              <a:t>Se </a:t>
            </a:r>
            <a:r>
              <a:rPr lang="ro-RO" dirty="0">
                <a:cs typeface="Times New Roman" pitchFamily="18" charset="0"/>
              </a:rPr>
              <a:t>utilizeaz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i="1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S</a:t>
            </a:r>
            <a:r>
              <a:rPr lang="ro-RO" baseline="-30000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OPT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 </a:t>
            </a:r>
            <a:r>
              <a:rPr lang="ro-RO" dirty="0">
                <a:cs typeface="Times New Roman" pitchFamily="18" charset="0"/>
              </a:rPr>
              <a:t>pentru a specifica blocurile care trebuie înlocuite</a:t>
            </a:r>
            <a:r>
              <a:rPr lang="ro-RO" dirty="0"/>
              <a:t> 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  <a:cs typeface="Times New Roman" pitchFamily="18" charset="0"/>
              </a:rPr>
              <a:t>OPT </a:t>
            </a:r>
            <a:r>
              <a:rPr lang="ro-RO" dirty="0">
                <a:cs typeface="Times New Roman" pitchFamily="18" charset="0"/>
              </a:rPr>
              <a:t>nu este o strategie practic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</a:t>
            </a:r>
            <a:r>
              <a:rPr lang="ro-RO" dirty="0" smtClean="0">
                <a:cs typeface="Times New Roman" pitchFamily="18" charset="0"/>
              </a:rPr>
              <a:t> </a:t>
            </a:r>
            <a:endParaRPr lang="ro-RO" dirty="0">
              <a:cs typeface="Times New Roman" pitchFamily="18" charset="0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6BB7C05-141D-4020-89CA-97B76D26480E}" type="slidenum">
              <a:rPr lang="ro-RO"/>
              <a:pPr/>
              <a:t>33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Strategii de înlocuire (4)</a:t>
            </a:r>
            <a:endParaRPr lang="ro-RO" dirty="0"/>
          </a:p>
        </p:txBody>
      </p:sp>
      <p:sp>
        <p:nvSpPr>
          <p:cNvPr id="33382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185761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Strategia FIFO </a:t>
            </a:r>
            <a:r>
              <a:rPr lang="ro-RO" dirty="0" smtClean="0"/>
              <a:t>(</a:t>
            </a:r>
            <a:r>
              <a:rPr lang="ro-RO" i="1" dirty="0" err="1" smtClean="0"/>
              <a:t>First</a:t>
            </a:r>
            <a:r>
              <a:rPr lang="ro-RO" i="1" dirty="0" smtClean="0"/>
              <a:t> </a:t>
            </a:r>
            <a:r>
              <a:rPr lang="ro-RO" i="1" dirty="0"/>
              <a:t>In</a:t>
            </a:r>
            <a:r>
              <a:rPr lang="ro-RO" dirty="0"/>
              <a:t>, </a:t>
            </a:r>
            <a:r>
              <a:rPr lang="ro-RO" i="1" dirty="0" err="1"/>
              <a:t>First</a:t>
            </a:r>
            <a:r>
              <a:rPr lang="ro-RO" i="1" dirty="0"/>
              <a:t> </a:t>
            </a:r>
            <a:r>
              <a:rPr lang="ro-RO" i="1" dirty="0" err="1" smtClean="0"/>
              <a:t>Out</a:t>
            </a:r>
            <a:r>
              <a:rPr lang="ro-RO" dirty="0" smtClean="0"/>
              <a:t>)</a:t>
            </a:r>
            <a:endParaRPr lang="ro-RO" i="1" dirty="0"/>
          </a:p>
          <a:p>
            <a:r>
              <a:rPr lang="ro-RO" dirty="0">
                <a:cs typeface="Times New Roman" pitchFamily="18" charset="0"/>
              </a:rPr>
              <a:t>Blocul selectat pentru înlocuire: blocul cel mai </a:t>
            </a:r>
            <a:r>
              <a:rPr lang="ro-RO" dirty="0" smtClean="0">
                <a:cs typeface="Times New Roman" pitchFamily="18" charset="0"/>
              </a:rPr>
              <a:t>puțin </a:t>
            </a:r>
            <a:r>
              <a:rPr lang="ro-RO" dirty="0">
                <a:cs typeface="Times New Roman" pitchFamily="18" charset="0"/>
              </a:rPr>
              <a:t>recent înc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rcat în memoria </a:t>
            </a:r>
            <a:r>
              <a:rPr lang="ro-RO" i="1" dirty="0">
                <a:cs typeface="Times New Roman" pitchFamily="18" charset="0"/>
              </a:rPr>
              <a:t>M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dirty="0"/>
              <a:t> 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Avantaj</a:t>
            </a:r>
            <a:r>
              <a:rPr lang="ro-RO" dirty="0"/>
              <a:t>: </a:t>
            </a:r>
            <a:r>
              <a:rPr lang="ro-RO" dirty="0">
                <a:cs typeface="Times New Roman" pitchFamily="18" charset="0"/>
              </a:rPr>
              <a:t>simplu de implementat</a:t>
            </a:r>
            <a:r>
              <a:rPr lang="ro-RO" dirty="0"/>
              <a:t> </a:t>
            </a:r>
          </a:p>
          <a:p>
            <a:pPr lvl="1"/>
            <a:r>
              <a:rPr lang="ro-RO" dirty="0">
                <a:cs typeface="Times New Roman" pitchFamily="18" charset="0"/>
              </a:rPr>
              <a:t>Fiec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rui bloc i se asociaz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un contor în lista </a:t>
            </a:r>
            <a:r>
              <a:rPr lang="ro-RO" dirty="0" smtClean="0">
                <a:cs typeface="Times New Roman" pitchFamily="18" charset="0"/>
              </a:rPr>
              <a:t>spațiilor </a:t>
            </a:r>
            <a:r>
              <a:rPr lang="ro-RO" dirty="0">
                <a:cs typeface="Times New Roman" pitchFamily="18" charset="0"/>
              </a:rPr>
              <a:t>ocupate</a:t>
            </a:r>
            <a:endParaRPr lang="ro-RO" dirty="0"/>
          </a:p>
          <a:p>
            <a:pPr lvl="1"/>
            <a:r>
              <a:rPr lang="ro-RO" dirty="0"/>
              <a:t>La transferul unui bloc în memoria </a:t>
            </a:r>
            <a:r>
              <a:rPr lang="ro-RO" i="1" dirty="0"/>
              <a:t>M</a:t>
            </a:r>
            <a:r>
              <a:rPr lang="ro-RO" baseline="-25000" dirty="0"/>
              <a:t>1</a:t>
            </a:r>
            <a:r>
              <a:rPr lang="ro-RO" dirty="0"/>
              <a:t>, contoarele sunt actualizate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E277A63-40F5-4051-BE59-98A188C92372}" type="slidenum">
              <a:rPr lang="ro-RO"/>
              <a:pPr/>
              <a:t>34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Strategii de înlocuire (5)</a:t>
            </a:r>
            <a:endParaRPr lang="ro-RO" dirty="0"/>
          </a:p>
        </p:txBody>
      </p:sp>
      <p:sp>
        <p:nvSpPr>
          <p:cNvPr id="33485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Dezavantaj</a:t>
            </a:r>
            <a:r>
              <a:rPr lang="ro-RO" dirty="0"/>
              <a:t>: </a:t>
            </a:r>
            <a:r>
              <a:rPr lang="ro-RO" dirty="0">
                <a:cs typeface="Times New Roman" pitchFamily="18" charset="0"/>
              </a:rPr>
              <a:t>nu ia în considerare principiul </a:t>
            </a:r>
            <a:r>
              <a:rPr lang="ro-RO" dirty="0" smtClean="0">
                <a:cs typeface="Times New Roman" pitchFamily="18" charset="0"/>
              </a:rPr>
              <a:t>localit</a:t>
            </a:r>
            <a:r>
              <a:rPr lang="ro-RO" dirty="0" smtClean="0"/>
              <a:t>ăț</a:t>
            </a:r>
            <a:r>
              <a:rPr lang="ro-RO" dirty="0" smtClean="0">
                <a:cs typeface="Times New Roman" pitchFamily="18" charset="0"/>
              </a:rPr>
              <a:t>ii referințelor </a:t>
            </a:r>
            <a:endParaRPr lang="ro-RO" dirty="0"/>
          </a:p>
          <a:p>
            <a:pPr lvl="1"/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oate m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ri în mod semnificativ timpul necesar pentru </a:t>
            </a:r>
            <a:r>
              <a:rPr lang="ro-RO" dirty="0" smtClean="0">
                <a:cs typeface="Times New Roman" pitchFamily="18" charset="0"/>
              </a:rPr>
              <a:t>execuția </a:t>
            </a:r>
            <a:r>
              <a:rPr lang="ro-RO" dirty="0">
                <a:cs typeface="Times New Roman" pitchFamily="18" charset="0"/>
              </a:rPr>
              <a:t>unui proces</a:t>
            </a:r>
            <a:endParaRPr lang="ro-RO" dirty="0"/>
          </a:p>
          <a:p>
            <a:pPr lvl="1"/>
            <a:r>
              <a:rPr lang="ro-RO" dirty="0"/>
              <a:t>P</a:t>
            </a:r>
            <a:r>
              <a:rPr lang="ro-RO" dirty="0">
                <a:cs typeface="Times New Roman" pitchFamily="18" charset="0"/>
              </a:rPr>
              <a:t>oate înlocui cu </a:t>
            </a:r>
            <a:r>
              <a:rPr lang="ro-RO" dirty="0" smtClean="0">
                <a:cs typeface="Times New Roman" pitchFamily="18" charset="0"/>
              </a:rPr>
              <a:t>aceeași </a:t>
            </a:r>
            <a:r>
              <a:rPr lang="ro-RO" dirty="0">
                <a:cs typeface="Times New Roman" pitchFamily="18" charset="0"/>
              </a:rPr>
              <a:t>probabilitate blocuri utilizate intens </a:t>
            </a:r>
            <a:r>
              <a:rPr lang="ro-RO" dirty="0" smtClean="0"/>
              <a:t>ș</a:t>
            </a:r>
            <a:r>
              <a:rPr lang="ro-RO" dirty="0" smtClean="0">
                <a:cs typeface="Times New Roman" pitchFamily="18" charset="0"/>
              </a:rPr>
              <a:t>i </a:t>
            </a:r>
            <a:r>
              <a:rPr lang="ro-RO" dirty="0">
                <a:cs typeface="Times New Roman" pitchFamily="18" charset="0"/>
              </a:rPr>
              <a:t>blocuri utilizate rar</a:t>
            </a:r>
            <a:endParaRPr lang="ro-RO" dirty="0"/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</a:t>
            </a:r>
            <a:r>
              <a:rPr lang="ro-RO" dirty="0"/>
              <a:t>: </a:t>
            </a:r>
            <a:endParaRPr lang="en-US" dirty="0"/>
          </a:p>
          <a:p>
            <a:pPr lvl="1"/>
            <a:r>
              <a:rPr lang="ro-RO" dirty="0"/>
              <a:t>Ilustrarea </a:t>
            </a:r>
            <a:r>
              <a:rPr lang="ro-RO" dirty="0" smtClean="0"/>
              <a:t>funcționării </a:t>
            </a:r>
            <a:r>
              <a:rPr lang="ro-RO" dirty="0"/>
              <a:t>strategiei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FIFO</a:t>
            </a:r>
          </a:p>
          <a:p>
            <a:pPr lvl="1"/>
            <a:r>
              <a:rPr lang="ro-RO" dirty="0"/>
              <a:t>Determinarea valorii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PF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FD99F31-12D8-493F-A30B-07F238CBB696}" type="slidenum">
              <a:rPr lang="ro-RO"/>
              <a:pPr/>
              <a:t>35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Strategii de înlocuire (6)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6D21E17-D5C7-4C72-B561-30326AA94362}" type="slidenum">
              <a:rPr lang="ro-RO"/>
              <a:pPr/>
              <a:t>36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  <p:pic>
        <p:nvPicPr>
          <p:cNvPr id="8" name="Content Placeholder 7" descr="ssc4-virtual-strateg1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267744" y="1412776"/>
            <a:ext cx="4608586" cy="4725629"/>
          </a:xfrm>
        </p:spPr>
      </p:pic>
    </p:spTree>
  </p:cSld>
  <p:clrMapOvr>
    <a:masterClrMapping/>
  </p:clrMapOvr>
  <p:transition>
    <p:fade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Strategii de înlocuire (7)</a:t>
            </a:r>
            <a:endParaRPr lang="ro-RO" dirty="0"/>
          </a:p>
        </p:txBody>
      </p:sp>
      <p:sp>
        <p:nvSpPr>
          <p:cNvPr id="336899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412875"/>
            <a:ext cx="8382000" cy="4019562"/>
          </a:xfrm>
        </p:spPr>
        <p:txBody>
          <a:bodyPr/>
          <a:lstStyle/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Strategia LRU </a:t>
            </a:r>
            <a:r>
              <a:rPr lang="ro-RO" dirty="0" smtClean="0"/>
              <a:t>(</a:t>
            </a:r>
            <a:r>
              <a:rPr lang="ro-RO" i="1" dirty="0" err="1" smtClean="0">
                <a:cs typeface="Times New Roman" pitchFamily="18" charset="0"/>
              </a:rPr>
              <a:t>Least</a:t>
            </a:r>
            <a:r>
              <a:rPr lang="ro-RO" i="1" dirty="0" smtClean="0">
                <a:cs typeface="Times New Roman" pitchFamily="18" charset="0"/>
              </a:rPr>
              <a:t> </a:t>
            </a:r>
            <a:r>
              <a:rPr lang="ro-RO" i="1" dirty="0" err="1">
                <a:cs typeface="Times New Roman" pitchFamily="18" charset="0"/>
              </a:rPr>
              <a:t>Recently</a:t>
            </a:r>
            <a:r>
              <a:rPr lang="ro-RO" i="1" dirty="0">
                <a:cs typeface="Times New Roman" pitchFamily="18" charset="0"/>
              </a:rPr>
              <a:t> </a:t>
            </a:r>
            <a:r>
              <a:rPr lang="ro-RO" i="1" dirty="0" err="1" smtClean="0">
                <a:cs typeface="Times New Roman" pitchFamily="18" charset="0"/>
              </a:rPr>
              <a:t>Used</a:t>
            </a:r>
            <a:r>
              <a:rPr lang="ro-RO" dirty="0" smtClean="0">
                <a:cs typeface="Times New Roman" pitchFamily="18" charset="0"/>
              </a:rPr>
              <a:t>)</a:t>
            </a:r>
            <a:endParaRPr lang="ro-RO" dirty="0"/>
          </a:p>
          <a:p>
            <a:r>
              <a:rPr lang="ro-RO" dirty="0"/>
              <a:t>Blocul selectat </a:t>
            </a:r>
            <a:r>
              <a:rPr lang="ro-RO" dirty="0">
                <a:cs typeface="Times New Roman" pitchFamily="18" charset="0"/>
              </a:rPr>
              <a:t>pentru înlocuire: blocul care nu a fost utilizat de cel mai mult timp</a:t>
            </a:r>
            <a:r>
              <a:rPr lang="ro-RO" dirty="0"/>
              <a:t> </a:t>
            </a:r>
          </a:p>
          <a:p>
            <a:pPr lvl="1"/>
            <a:r>
              <a:rPr lang="ro-RO" dirty="0">
                <a:cs typeface="Times New Roman" pitchFamily="18" charset="0"/>
              </a:rPr>
              <a:t>Presupunere: blocul cel mai </a:t>
            </a:r>
            <a:r>
              <a:rPr lang="ro-RO" dirty="0" smtClean="0">
                <a:cs typeface="Times New Roman" pitchFamily="18" charset="0"/>
              </a:rPr>
              <a:t>puțin </a:t>
            </a:r>
            <a:r>
              <a:rPr lang="ro-RO" dirty="0">
                <a:cs typeface="Times New Roman" pitchFamily="18" charset="0"/>
              </a:rPr>
              <a:t>recent utilizat este cel mai </a:t>
            </a:r>
            <a:r>
              <a:rPr lang="ro-RO" dirty="0" smtClean="0">
                <a:cs typeface="Times New Roman" pitchFamily="18" charset="0"/>
              </a:rPr>
              <a:t>puțin </a:t>
            </a:r>
            <a:r>
              <a:rPr lang="ro-RO" dirty="0">
                <a:cs typeface="Times New Roman" pitchFamily="18" charset="0"/>
              </a:rPr>
              <a:t>probabil de a fi utilizat în viitor</a:t>
            </a:r>
            <a:endParaRPr lang="ro-RO" dirty="0"/>
          </a:p>
          <a:p>
            <a:pPr lvl="1"/>
            <a:r>
              <a:rPr lang="ro-RO" dirty="0"/>
              <a:t>E</a:t>
            </a:r>
            <a:r>
              <a:rPr lang="ro-RO" dirty="0">
                <a:cs typeface="Times New Roman" pitchFamily="18" charset="0"/>
              </a:rPr>
              <a:t>vit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 înlocuirea blocurilor înc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rcate de mai mult timp, dar frecvent utilizate</a:t>
            </a:r>
            <a:r>
              <a:rPr lang="ro-RO" dirty="0"/>
              <a:t>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56F6D99-7CAD-48CF-8B2D-DF3C791FED85}" type="slidenum">
              <a:rPr lang="ro-RO"/>
              <a:pPr/>
              <a:t>37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Strategii de înlocuire (8)</a:t>
            </a:r>
            <a:endParaRPr lang="ro-RO" dirty="0"/>
          </a:p>
        </p:txBody>
      </p:sp>
      <p:sp>
        <p:nvSpPr>
          <p:cNvPr id="337923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1412776"/>
            <a:ext cx="8352928" cy="4896544"/>
          </a:xfrm>
        </p:spPr>
        <p:txBody>
          <a:bodyPr>
            <a:normAutofit lnSpcReduction="10000"/>
          </a:bodyPr>
          <a:lstStyle/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Dezavantaj</a:t>
            </a:r>
            <a:r>
              <a:rPr lang="ro-RO" dirty="0"/>
              <a:t>: </a:t>
            </a:r>
            <a:r>
              <a:rPr lang="ro-RO" dirty="0" smtClean="0">
                <a:cs typeface="Times New Roman" pitchFamily="18" charset="0"/>
              </a:rPr>
              <a:t>implementarea mai dificilă</a:t>
            </a:r>
            <a:endParaRPr lang="ro-RO" dirty="0"/>
          </a:p>
          <a:p>
            <a:pPr lvl="1"/>
            <a:r>
              <a:rPr lang="ro-RO" dirty="0"/>
              <a:t>Se </a:t>
            </a:r>
            <a:r>
              <a:rPr lang="ro-RO" dirty="0">
                <a:cs typeface="Times New Roman" pitchFamily="18" charset="0"/>
              </a:rPr>
              <a:t>asoci</a:t>
            </a:r>
            <a:r>
              <a:rPr lang="ro-RO" dirty="0"/>
              <a:t>ază</a:t>
            </a:r>
            <a:r>
              <a:rPr lang="ro-RO" dirty="0">
                <a:cs typeface="Times New Roman" pitchFamily="18" charset="0"/>
              </a:rPr>
              <a:t> un contor cu fiecare bloc din </a:t>
            </a:r>
            <a:r>
              <a:rPr lang="ro-RO" i="1" dirty="0">
                <a:cs typeface="Times New Roman" pitchFamily="18" charset="0"/>
              </a:rPr>
              <a:t>M</a:t>
            </a:r>
            <a:r>
              <a:rPr lang="ro-RO" baseline="-30000" dirty="0">
                <a:cs typeface="Times New Roman" pitchFamily="18" charset="0"/>
              </a:rPr>
              <a:t>1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La fiecare</a:t>
            </a:r>
            <a:r>
              <a:rPr lang="ro-RO" dirty="0">
                <a:cs typeface="Times New Roman" pitchFamily="18" charset="0"/>
              </a:rPr>
              <a:t> referi</a:t>
            </a:r>
            <a:r>
              <a:rPr lang="ro-RO" dirty="0"/>
              <a:t>re a unui bloc</a:t>
            </a:r>
            <a:r>
              <a:rPr lang="ro-RO" dirty="0">
                <a:cs typeface="Times New Roman" pitchFamily="18" charset="0"/>
              </a:rPr>
              <a:t>, contorul acestuia este setat la o valoare poziti</a:t>
            </a:r>
            <a:r>
              <a:rPr lang="ro-RO" dirty="0"/>
              <a:t>vă</a:t>
            </a:r>
          </a:p>
          <a:p>
            <a:pPr lvl="1"/>
            <a:r>
              <a:rPr lang="ro-RO" dirty="0">
                <a:cs typeface="Times New Roman" pitchFamily="18" charset="0"/>
              </a:rPr>
              <a:t>La intervale fixe de timp, contoarele tuturor blocurilor sunt decrementate</a:t>
            </a:r>
            <a:r>
              <a:rPr lang="ro-RO" dirty="0"/>
              <a:t> </a:t>
            </a:r>
          </a:p>
          <a:p>
            <a:pPr lvl="1"/>
            <a:r>
              <a:rPr lang="ro-RO" dirty="0"/>
              <a:t>Se </a:t>
            </a:r>
            <a:r>
              <a:rPr lang="ro-RO" dirty="0" smtClean="0"/>
              <a:t>înlocuiește </a:t>
            </a:r>
            <a:r>
              <a:rPr lang="ro-RO" dirty="0"/>
              <a:t>blocul al </a:t>
            </a:r>
            <a:r>
              <a:rPr lang="ro-RO" dirty="0">
                <a:cs typeface="Times New Roman" pitchFamily="18" charset="0"/>
              </a:rPr>
              <a:t>c</a:t>
            </a:r>
            <a:r>
              <a:rPr lang="ro-RO" dirty="0"/>
              <a:t>ă</a:t>
            </a:r>
            <a:r>
              <a:rPr lang="ro-RO" dirty="0">
                <a:cs typeface="Times New Roman" pitchFamily="18" charset="0"/>
              </a:rPr>
              <a:t>rui contor </a:t>
            </a:r>
            <a:r>
              <a:rPr lang="ro-RO" dirty="0" smtClean="0">
                <a:cs typeface="Times New Roman" pitchFamily="18" charset="0"/>
              </a:rPr>
              <a:t>conține </a:t>
            </a:r>
            <a:r>
              <a:rPr lang="ro-RO" dirty="0">
                <a:cs typeface="Times New Roman" pitchFamily="18" charset="0"/>
              </a:rPr>
              <a:t>valoarea cea mai mic</a:t>
            </a:r>
            <a:r>
              <a:rPr lang="ro-RO" dirty="0"/>
              <a:t>ă </a:t>
            </a:r>
          </a:p>
          <a:p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Exemplu</a:t>
            </a:r>
            <a:r>
              <a:rPr lang="ro-RO" dirty="0"/>
              <a:t>: </a:t>
            </a:r>
            <a:endParaRPr lang="ro-RO" dirty="0" smtClean="0"/>
          </a:p>
          <a:p>
            <a:pPr lvl="1"/>
            <a:r>
              <a:rPr lang="ro-RO" dirty="0" smtClean="0"/>
              <a:t>Ilustrarea funcționării </a:t>
            </a:r>
            <a:r>
              <a:rPr lang="ro-RO" dirty="0"/>
              <a:t>strategiei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LRU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2E88B3D-647F-47E4-A34A-6EBC99400B23}" type="slidenum">
              <a:rPr lang="ro-RO"/>
              <a:pPr/>
              <a:t>38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Strategii de înlocuire (9)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B19596-18E5-4FA8-A157-B5BF699D036D}" type="slidenum">
              <a:rPr lang="ro-RO"/>
              <a:pPr/>
              <a:t>39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  <p:pic>
        <p:nvPicPr>
          <p:cNvPr id="8" name="Content Placeholder 7" descr="ssc4-virtual-strateg2.bmp"/>
          <p:cNvPicPr>
            <a:picLocks noGrp="1" noChangeAspect="1"/>
          </p:cNvPicPr>
          <p:nvPr>
            <p:ph idx="1"/>
          </p:nvPr>
        </p:nvPicPr>
        <p:blipFill>
          <a:blip r:embed="rId3" cstate="print"/>
          <a:stretch>
            <a:fillRect/>
          </a:stretch>
        </p:blipFill>
        <p:spPr>
          <a:xfrm>
            <a:off x="2195736" y="1412776"/>
            <a:ext cx="4694997" cy="4754615"/>
          </a:xfrm>
        </p:spPr>
      </p:pic>
    </p:spTree>
  </p:cSld>
  <p:clrMapOvr>
    <a:masterClrMapping/>
  </p:clrMapOvr>
  <p:transition>
    <p:fade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268760"/>
            <a:ext cx="8382000" cy="5087590"/>
          </a:xfrm>
        </p:spPr>
        <p:txBody>
          <a:bodyPr/>
          <a:lstStyle/>
          <a:p>
            <a:pPr>
              <a:spcBef>
                <a:spcPts val="600"/>
              </a:spcBef>
            </a:pPr>
            <a:r>
              <a:rPr lang="ro-RO" sz="3300" dirty="0" smtClean="0"/>
              <a:t>Într-un sistem cu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memorie virtuală</a:t>
            </a:r>
            <a:r>
              <a:rPr lang="ro-RO" sz="3300" dirty="0" smtClean="0"/>
              <a:t>, memoria principală și cea secundară se prezintă ca o memorie unică, adresabilă direct</a:t>
            </a:r>
          </a:p>
          <a:p>
            <a:pPr>
              <a:spcBef>
                <a:spcPts val="600"/>
              </a:spcBef>
            </a:pPr>
            <a:r>
              <a:rPr lang="ro-RO" sz="3300" dirty="0" smtClean="0"/>
              <a:t>Este necesar un mecanism eficient pentru </a:t>
            </a:r>
            <a:r>
              <a:rPr lang="ro-RO" sz="33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translatarea adreselor </a:t>
            </a:r>
            <a:r>
              <a:rPr lang="ro-RO" sz="3300" dirty="0" smtClean="0"/>
              <a:t>virtuale în adrese fizice</a:t>
            </a:r>
          </a:p>
          <a:p>
            <a:pPr lvl="1">
              <a:spcBef>
                <a:spcPts val="400"/>
              </a:spcBef>
            </a:pPr>
            <a:r>
              <a:rPr lang="ro-RO" sz="2900" dirty="0" smtClean="0"/>
              <a:t>Translatarea poate fi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statică </a:t>
            </a:r>
            <a:r>
              <a:rPr lang="ro-RO" sz="2900" dirty="0" smtClean="0"/>
              <a:t>sau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dinamică</a:t>
            </a:r>
          </a:p>
          <a:p>
            <a:pPr lvl="1">
              <a:spcBef>
                <a:spcPts val="400"/>
              </a:spcBef>
            </a:pPr>
            <a:r>
              <a:rPr lang="ro-RO" sz="2900" dirty="0" smtClean="0"/>
              <a:t>Utilizează o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tabelă de adrese </a:t>
            </a:r>
            <a:r>
              <a:rPr lang="ro-RO" sz="2900" dirty="0" smtClean="0"/>
              <a:t>ale memoriei</a:t>
            </a:r>
          </a:p>
          <a:p>
            <a:pPr lvl="1">
              <a:spcBef>
                <a:spcPts val="400"/>
              </a:spcBef>
            </a:pPr>
            <a:r>
              <a:rPr lang="ro-RO" sz="2900" dirty="0" smtClean="0"/>
              <a:t>Pentru creșterea vitezei de translatare, se poate utiliza un 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buffer de translatare </a:t>
            </a:r>
            <a:r>
              <a:rPr lang="ro-RO" sz="2900" dirty="0" smtClean="0"/>
              <a:t>(</a:t>
            </a:r>
            <a:r>
              <a:rPr lang="ro-RO" sz="29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TLB</a:t>
            </a:r>
            <a:r>
              <a:rPr lang="ro-RO" sz="2900" dirty="0" smtClean="0"/>
              <a:t>)</a:t>
            </a:r>
          </a:p>
          <a:p>
            <a:pPr>
              <a:spcBef>
                <a:spcPts val="600"/>
              </a:spcBef>
            </a:pPr>
            <a:r>
              <a:rPr lang="ro-RO" sz="3200" dirty="0"/>
              <a:t>Metode pentru implementarea memoriei virtuale: </a:t>
            </a:r>
            <a:r>
              <a:rPr lang="ro-RO" sz="3200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paginarea</a:t>
            </a:r>
            <a:r>
              <a:rPr lang="ro-RO" sz="3200" dirty="0"/>
              <a:t>, </a:t>
            </a:r>
            <a:r>
              <a:rPr lang="ro-RO" sz="3200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segmentarea</a:t>
            </a:r>
            <a:endParaRPr lang="ro-RO" sz="3200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0D044D-4DC2-4581-991D-EF1A3C8D650C}" type="slidenum">
              <a:rPr lang="ro-RO" smtClean="0"/>
              <a:pPr/>
              <a:t>40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257991349"/>
      </p:ext>
    </p:extLst>
  </p:cSld>
  <p:clrMapOvr>
    <a:masterClrMapping/>
  </p:clrMapOvr>
  <p:transition>
    <p:fade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Rezumat 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439472" cy="4696670"/>
          </a:xfrm>
        </p:spPr>
        <p:txBody>
          <a:bodyPr/>
          <a:lstStyle/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Paginarea</a:t>
            </a:r>
            <a:r>
              <a:rPr lang="ro-RO" dirty="0" smtClean="0"/>
              <a:t>: împărțirea unui proces în pagini cu dimensiuni identice</a:t>
            </a:r>
          </a:p>
          <a:p>
            <a:pPr lvl="1"/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Segmentarea</a:t>
            </a:r>
            <a:r>
              <a:rPr lang="ro-RO" dirty="0" smtClean="0"/>
              <a:t>: </a:t>
            </a:r>
            <a:r>
              <a:rPr lang="ro-RO" dirty="0"/>
              <a:t>împărțirea unui proces în </a:t>
            </a:r>
            <a:r>
              <a:rPr lang="ro-RO" dirty="0" smtClean="0"/>
              <a:t>segmente cu </a:t>
            </a:r>
            <a:r>
              <a:rPr lang="ro-RO" dirty="0"/>
              <a:t>dimensiuni </a:t>
            </a:r>
            <a:r>
              <a:rPr lang="ro-RO" dirty="0" smtClean="0"/>
              <a:t>variabile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Paginarea combinată cu segmentarea </a:t>
            </a:r>
            <a:r>
              <a:rPr lang="ro-RO" dirty="0" smtClean="0"/>
              <a:t>simplifică amplasarea segmentelor </a:t>
            </a:r>
          </a:p>
          <a:p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Strategia de înlocuire</a:t>
            </a:r>
            <a:r>
              <a:rPr lang="ro-RO" dirty="0" smtClean="0"/>
              <a:t>: selecția unui bloc care va fi înlocuit în memoria principală</a:t>
            </a:r>
          </a:p>
          <a:p>
            <a:pPr lvl="1"/>
            <a:r>
              <a:rPr lang="ro-RO" dirty="0" smtClean="0"/>
              <a:t>Strategii practice de înlocuire: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FIFO</a:t>
            </a:r>
            <a:r>
              <a:rPr lang="ro-RO" dirty="0" smtClean="0"/>
              <a:t>,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LRU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0D044D-4DC2-4581-991D-EF1A3C8D650C}" type="slidenum">
              <a:rPr lang="ro-RO" smtClean="0"/>
              <a:pPr/>
              <a:t>41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2056079950"/>
      </p:ext>
    </p:extLst>
  </p:cSld>
  <p:clrMapOvr>
    <a:masterClrMapping/>
  </p:clrMapOvr>
  <p:transition>
    <p:fade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smtClean="0"/>
              <a:t>Noțiuni, cunoștințe (1)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481227"/>
          </a:xfrm>
        </p:spPr>
        <p:txBody>
          <a:bodyPr/>
          <a:lstStyle/>
          <a:p>
            <a:pPr marL="576000" lvl="1"/>
            <a:r>
              <a:rPr lang="ro-RO" dirty="0" smtClean="0"/>
              <a:t>Tipuri de translatare a adreselor virtuale în adrese reale</a:t>
            </a:r>
          </a:p>
          <a:p>
            <a:pPr marL="576000" lvl="1"/>
            <a:r>
              <a:rPr lang="ro-RO" dirty="0" smtClean="0"/>
              <a:t>Schema bloc generală pentru translatarea adreselor virtuale în adrese reale</a:t>
            </a:r>
          </a:p>
          <a:p>
            <a:pPr marL="576000" lvl="1"/>
            <a:r>
              <a:rPr lang="ro-RO" dirty="0" smtClean="0"/>
              <a:t>Principiul paginării</a:t>
            </a:r>
          </a:p>
          <a:p>
            <a:pPr marL="576000" lvl="1"/>
            <a:r>
              <a:rPr lang="ro-RO" dirty="0" smtClean="0"/>
              <a:t>Utilizarea tabelei de pagini pentru translatarea adreselor virtuale în adrese reale</a:t>
            </a:r>
          </a:p>
          <a:p>
            <a:pPr marL="576000" lvl="1"/>
            <a:r>
              <a:rPr lang="ro-RO" dirty="0" smtClean="0"/>
              <a:t>Principiul </a:t>
            </a:r>
            <a:r>
              <a:rPr lang="ro-RO" dirty="0" err="1" smtClean="0"/>
              <a:t>bufferului</a:t>
            </a:r>
            <a:r>
              <a:rPr lang="ro-RO" dirty="0" smtClean="0"/>
              <a:t> de translatare TLB</a:t>
            </a:r>
          </a:p>
          <a:p>
            <a:pPr marL="576000" lvl="1"/>
            <a:r>
              <a:rPr lang="ro-RO" dirty="0"/>
              <a:t>Frecvența lipsurilor de </a:t>
            </a:r>
            <a:r>
              <a:rPr lang="ro-RO" dirty="0" smtClean="0"/>
              <a:t>pagină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0D044D-4DC2-4581-991D-EF1A3C8D650C}" type="slidenum">
              <a:rPr lang="ro-RO" smtClean="0"/>
              <a:pPr/>
              <a:t>42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3777127488"/>
      </p:ext>
    </p:extLst>
  </p:cSld>
  <p:clrMapOvr>
    <a:masterClrMapping/>
  </p:clrMapOvr>
  <p:transition>
    <p:fade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Noțiuni, cunoștințe </a:t>
            </a:r>
            <a:r>
              <a:rPr lang="ro-RO" dirty="0" smtClean="0"/>
              <a:t>(2)</a:t>
            </a:r>
            <a:endParaRPr lang="ro-RO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412875"/>
            <a:ext cx="8382000" cy="4038029"/>
          </a:xfrm>
        </p:spPr>
        <p:txBody>
          <a:bodyPr/>
          <a:lstStyle/>
          <a:p>
            <a:pPr marL="576000" lvl="1"/>
            <a:r>
              <a:rPr lang="ro-RO" dirty="0" smtClean="0"/>
              <a:t>Principiul segmentării </a:t>
            </a:r>
          </a:p>
          <a:p>
            <a:pPr marL="576000" lvl="1"/>
            <a:r>
              <a:rPr lang="ro-RO" dirty="0" smtClean="0"/>
              <a:t>Avantaje și dezavantaje ale segmentării</a:t>
            </a:r>
          </a:p>
          <a:p>
            <a:pPr marL="576000" lvl="1"/>
            <a:r>
              <a:rPr lang="ro-RO" dirty="0" smtClean="0"/>
              <a:t>Comparație între paginare și segmentare</a:t>
            </a:r>
          </a:p>
          <a:p>
            <a:pPr marL="576000" lvl="1"/>
            <a:r>
              <a:rPr lang="ro-RO" dirty="0" smtClean="0"/>
              <a:t>Fragmentarea memoriei</a:t>
            </a:r>
          </a:p>
          <a:p>
            <a:pPr marL="576000" lvl="1"/>
            <a:r>
              <a:rPr lang="ro-RO" dirty="0" smtClean="0"/>
              <a:t>Translatarea adreselor virtuale în adrese reale atunci când paginarea este combinată cu segmentarea</a:t>
            </a:r>
          </a:p>
          <a:p>
            <a:pPr marL="576000" lvl="1"/>
            <a:r>
              <a:rPr lang="ro-RO" dirty="0" smtClean="0"/>
              <a:t>Strategii de înlocuire pentru memoria virtuală</a:t>
            </a:r>
            <a:endParaRPr lang="ro-RO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10D044D-4DC2-4581-991D-EF1A3C8D650C}" type="slidenum">
              <a:rPr lang="ro-RO" smtClean="0"/>
              <a:pPr/>
              <a:t>43</a:t>
            </a:fld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  <p:extLst>
      <p:ext uri="{BB962C8B-B14F-4D97-AF65-F5344CB8AC3E}">
        <p14:creationId xmlns:p14="http://schemas.microsoft.com/office/powerpoint/2010/main" val="1614580331"/>
      </p:ext>
    </p:extLst>
  </p:cSld>
  <p:clrMapOvr>
    <a:masterClrMapping/>
  </p:clrMapOvr>
  <p:transition>
    <p:fade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2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ro-RO"/>
              <a:t>Întrebări</a:t>
            </a:r>
            <a:endParaRPr lang="en-US"/>
          </a:p>
        </p:txBody>
      </p:sp>
      <p:sp>
        <p:nvSpPr>
          <p:cNvPr id="350211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33400" indent="-533400">
              <a:lnSpc>
                <a:spcPct val="9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/>
              <a:t>Care sunt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tipurile de translatare a adreselor</a:t>
            </a:r>
            <a:r>
              <a:rPr lang="ro-RO" dirty="0"/>
              <a:t> </a:t>
            </a:r>
            <a:r>
              <a:rPr lang="ro-RO" dirty="0" smtClean="0"/>
              <a:t>și </a:t>
            </a:r>
            <a:r>
              <a:rPr lang="ro-RO" dirty="0"/>
              <a:t>când se efectuează acestea?</a:t>
            </a:r>
          </a:p>
          <a:p>
            <a:pPr marL="533400" indent="-533400">
              <a:lnSpc>
                <a:spcPct val="9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 smtClean="0"/>
              <a:t>Cum funcționează un </a:t>
            </a:r>
            <a:r>
              <a:rPr lang="ro-RO" dirty="0" smtClean="0">
                <a:solidFill>
                  <a:schemeClr val="accent3">
                    <a:lumMod val="60000"/>
                    <a:lumOff val="40000"/>
                  </a:schemeClr>
                </a:solidFill>
              </a:rPr>
              <a:t>buffer de translatare TLB </a:t>
            </a:r>
            <a:r>
              <a:rPr lang="ro-RO" dirty="0" smtClean="0"/>
              <a:t>și care este rolul acestuia?</a:t>
            </a:r>
          </a:p>
          <a:p>
            <a:pPr marL="533400" indent="-533400">
              <a:lnSpc>
                <a:spcPct val="9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 smtClean="0"/>
              <a:t>Care </a:t>
            </a:r>
            <a:r>
              <a:rPr lang="ro-RO" dirty="0"/>
              <a:t>sunt avantajele </a:t>
            </a:r>
            <a:r>
              <a:rPr lang="ro-RO" dirty="0" smtClean="0"/>
              <a:t>și </a:t>
            </a:r>
            <a:r>
              <a:rPr lang="ro-RO" dirty="0"/>
              <a:t>dezavantajele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segmentării</a:t>
            </a:r>
            <a:r>
              <a:rPr lang="ro-RO" dirty="0"/>
              <a:t>?</a:t>
            </a:r>
          </a:p>
          <a:p>
            <a:pPr marL="533400" indent="-533400">
              <a:lnSpc>
                <a:spcPct val="90000"/>
              </a:lnSpc>
              <a:buClr>
                <a:schemeClr val="accent3">
                  <a:lumMod val="60000"/>
                  <a:lumOff val="40000"/>
                </a:schemeClr>
              </a:buClr>
              <a:buFontTx/>
              <a:buAutoNum type="arabicPeriod"/>
            </a:pPr>
            <a:r>
              <a:rPr lang="ro-RO" dirty="0" smtClean="0"/>
              <a:t>Care </a:t>
            </a:r>
            <a:r>
              <a:rPr lang="ro-RO" dirty="0"/>
              <a:t>sunt avantajele </a:t>
            </a:r>
            <a:r>
              <a:rPr lang="ro-RO" dirty="0" smtClean="0"/>
              <a:t>și </a:t>
            </a:r>
            <a:r>
              <a:rPr lang="ro-RO" dirty="0"/>
              <a:t>dezavantajele strategiei de înlocuire </a:t>
            </a:r>
            <a:r>
              <a:rPr lang="ro-RO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FIFO</a:t>
            </a:r>
            <a:r>
              <a:rPr lang="ro-RO" dirty="0"/>
              <a:t>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smtClean="0"/>
              <a:t>14.05.2018</a:t>
            </a:r>
            <a:endParaRPr lang="ro-R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E057C46D-E21D-4E50-8F92-2819960E5382}" type="slidenum">
              <a:rPr lang="ro-RO"/>
              <a:pPr/>
              <a:t>44</a:t>
            </a:fld>
            <a:endParaRPr lang="ro-R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ro-RO" smtClean="0"/>
              <a:t>Structura sistemelor de calcul (03-5)</a:t>
            </a:r>
            <a:endParaRPr lang="ro-RO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Dark Blue Swoosh-modified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Dark Blue Swoosh-modif">
  <a:themeElements>
    <a:clrScheme name="Blue Template-Template">
      <a:dk1>
        <a:srgbClr val="000000"/>
      </a:dk1>
      <a:lt1>
        <a:srgbClr val="FFFFFF"/>
      </a:lt1>
      <a:dk2>
        <a:srgbClr val="050595"/>
      </a:dk2>
      <a:lt2>
        <a:srgbClr val="FFFF99"/>
      </a:lt2>
      <a:accent1>
        <a:srgbClr val="FFC000"/>
      </a:accent1>
      <a:accent2>
        <a:srgbClr val="3497AE"/>
      </a:accent2>
      <a:accent3>
        <a:srgbClr val="DF8045"/>
      </a:accent3>
      <a:accent4>
        <a:srgbClr val="7DCC2E"/>
      </a:accent4>
      <a:accent5>
        <a:srgbClr val="FF9929"/>
      </a:accent5>
      <a:accent6>
        <a:srgbClr val="7D3DA1"/>
      </a:accent6>
      <a:hlink>
        <a:srgbClr val="F3EB4F"/>
      </a:hlink>
      <a:folHlink>
        <a:srgbClr val="7DDD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ln>
          <a:headEnd type="none" w="med" len="med"/>
          <a:tailEnd type="none" w="med" len="med"/>
        </a:ln>
      </a:spPr>
      <a:bodyPr vert="horz" wrap="square" lIns="91436" tIns="45718" rIns="91436" bIns="45718" numCol="1" rtlCol="0" anchor="ctr" anchorCtr="0" compatLnSpc="1">
        <a:prstTxWarp prst="textNoShape">
          <a:avLst/>
        </a:prstTxWarp>
      </a:bodyPr>
      <a:lstStyle>
        <a:defPPr algn="ctr" defTabSz="914099" fontAlgn="base">
          <a:spcBef>
            <a:spcPct val="0"/>
          </a:spcBef>
          <a:spcAft>
            <a:spcPct val="0"/>
          </a:spcAft>
          <a:defRPr sz="2300" dirty="0" smtClean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Segoe" pitchFamily="34" charset="0"/>
          </a:defRPr>
        </a:defPPr>
      </a:lstStyle>
      <a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Blue Swoosh-modified</Template>
  <TotalTime>3844</TotalTime>
  <Words>2162</Words>
  <Application>Microsoft Office PowerPoint</Application>
  <PresentationFormat>On-screen Show (4:3)</PresentationFormat>
  <Paragraphs>427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44</vt:i4>
      </vt:variant>
    </vt:vector>
  </HeadingPairs>
  <TitlesOfParts>
    <vt:vector size="51" baseType="lpstr">
      <vt:lpstr>Arial</vt:lpstr>
      <vt:lpstr>Calibri</vt:lpstr>
      <vt:lpstr>Symbol</vt:lpstr>
      <vt:lpstr>Times New Roman</vt:lpstr>
      <vt:lpstr>Wingdings</vt:lpstr>
      <vt:lpstr>Dark Blue Swoosh-modified</vt:lpstr>
      <vt:lpstr>Dark Blue Swoosh-modif</vt:lpstr>
      <vt:lpstr>Sisteme de memorie</vt:lpstr>
      <vt:lpstr>Memoria virtuală</vt:lpstr>
      <vt:lpstr>Principiul memoriei virtuale (1)</vt:lpstr>
      <vt:lpstr>Principiul memoriei virtuale (2)</vt:lpstr>
      <vt:lpstr>Memoria virtuală</vt:lpstr>
      <vt:lpstr>Translatarea adreselor (1)</vt:lpstr>
      <vt:lpstr>Translatarea adreselor (2)</vt:lpstr>
      <vt:lpstr>Translatarea adreselor (3)</vt:lpstr>
      <vt:lpstr>Translatarea adreselor (4)</vt:lpstr>
      <vt:lpstr>Translatarea adreselor (5)</vt:lpstr>
      <vt:lpstr>Translatarea adreselor (6)</vt:lpstr>
      <vt:lpstr>Translatarea adreselor (7)</vt:lpstr>
      <vt:lpstr>Translatarea adreselor (8)</vt:lpstr>
      <vt:lpstr>Memoria virtuală</vt:lpstr>
      <vt:lpstr>Paginarea (1)</vt:lpstr>
      <vt:lpstr>Paginarea (2)</vt:lpstr>
      <vt:lpstr>Paginarea (3)</vt:lpstr>
      <vt:lpstr>Paginarea (4)</vt:lpstr>
      <vt:lpstr>Paginarea (5)</vt:lpstr>
      <vt:lpstr>Paginarea (6)</vt:lpstr>
      <vt:lpstr>Paginarea (7)</vt:lpstr>
      <vt:lpstr>Memoria virtuală</vt:lpstr>
      <vt:lpstr>Segmentarea (1)</vt:lpstr>
      <vt:lpstr>Segmentarea (2)</vt:lpstr>
      <vt:lpstr>Segmentarea (3)</vt:lpstr>
      <vt:lpstr>Segmentarea (4)</vt:lpstr>
      <vt:lpstr>Memoria virtuală</vt:lpstr>
      <vt:lpstr>Paginarea combinată cu segmentarea (1)</vt:lpstr>
      <vt:lpstr>Paginarea combinată cu segmentarea (2)</vt:lpstr>
      <vt:lpstr>Memoria virtuală</vt:lpstr>
      <vt:lpstr>Strategii de înlocuire (1)</vt:lpstr>
      <vt:lpstr>Strategii de înlocuire (2)</vt:lpstr>
      <vt:lpstr>Strategii de înlocuire (3)</vt:lpstr>
      <vt:lpstr>Strategii de înlocuire (4)</vt:lpstr>
      <vt:lpstr>Strategii de înlocuire (5)</vt:lpstr>
      <vt:lpstr>Strategii de înlocuire (6)</vt:lpstr>
      <vt:lpstr>Strategii de înlocuire (7)</vt:lpstr>
      <vt:lpstr>Strategii de înlocuire (8)</vt:lpstr>
      <vt:lpstr>Strategii de înlocuire (9)</vt:lpstr>
      <vt:lpstr>Rezumat (1)</vt:lpstr>
      <vt:lpstr>Rezumat (2)</vt:lpstr>
      <vt:lpstr>Noțiuni, cunoștințe (1)</vt:lpstr>
      <vt:lpstr>Noțiuni, cunoștințe (2)</vt:lpstr>
      <vt:lpstr>Întrebări</vt:lpstr>
    </vt:vector>
  </TitlesOfParts>
  <Company>Technical University of Cluj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SSC-Memorii-5</dc:title>
  <dc:creator>Baruch Zoltan</dc:creator>
  <cp:lastModifiedBy>Baruch Zoltan</cp:lastModifiedBy>
  <cp:revision>242</cp:revision>
  <cp:lastPrinted>1601-01-01T00:00:00Z</cp:lastPrinted>
  <dcterms:created xsi:type="dcterms:W3CDTF">2002-05-22T18:25:20Z</dcterms:created>
  <dcterms:modified xsi:type="dcterms:W3CDTF">2018-05-05T13:06:35Z</dcterms:modified>
</cp:coreProperties>
</file>