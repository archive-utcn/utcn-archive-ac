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  <p:sldMasterId id="2147483688" r:id="rId2"/>
  </p:sldMasterIdLst>
  <p:notesMasterIdLst>
    <p:notesMasterId r:id="rId63"/>
  </p:notesMasterIdLst>
  <p:handoutMasterIdLst>
    <p:handoutMasterId r:id="rId64"/>
  </p:handoutMasterIdLst>
  <p:sldIdLst>
    <p:sldId id="486" r:id="rId3"/>
    <p:sldId id="487" r:id="rId4"/>
    <p:sldId id="488" r:id="rId5"/>
    <p:sldId id="489" r:id="rId6"/>
    <p:sldId id="490" r:id="rId7"/>
    <p:sldId id="491" r:id="rId8"/>
    <p:sldId id="492" r:id="rId9"/>
    <p:sldId id="493" r:id="rId10"/>
    <p:sldId id="494" r:id="rId11"/>
    <p:sldId id="495" r:id="rId12"/>
    <p:sldId id="496" r:id="rId13"/>
    <p:sldId id="516" r:id="rId14"/>
    <p:sldId id="518" r:id="rId15"/>
    <p:sldId id="497" r:id="rId16"/>
    <p:sldId id="498" r:id="rId17"/>
    <p:sldId id="499" r:id="rId18"/>
    <p:sldId id="500" r:id="rId19"/>
    <p:sldId id="517" r:id="rId20"/>
    <p:sldId id="519" r:id="rId21"/>
    <p:sldId id="501" r:id="rId22"/>
    <p:sldId id="502" r:id="rId23"/>
    <p:sldId id="503" r:id="rId24"/>
    <p:sldId id="504" r:id="rId25"/>
    <p:sldId id="505" r:id="rId26"/>
    <p:sldId id="461" r:id="rId27"/>
    <p:sldId id="506" r:id="rId28"/>
    <p:sldId id="508" r:id="rId29"/>
    <p:sldId id="509" r:id="rId30"/>
    <p:sldId id="507" r:id="rId31"/>
    <p:sldId id="462" r:id="rId32"/>
    <p:sldId id="485" r:id="rId33"/>
    <p:sldId id="510" r:id="rId34"/>
    <p:sldId id="483" r:id="rId35"/>
    <p:sldId id="404" r:id="rId36"/>
    <p:sldId id="405" r:id="rId37"/>
    <p:sldId id="406" r:id="rId38"/>
    <p:sldId id="523" r:id="rId39"/>
    <p:sldId id="408" r:id="rId40"/>
    <p:sldId id="409" r:id="rId41"/>
    <p:sldId id="410" r:id="rId42"/>
    <p:sldId id="411" r:id="rId43"/>
    <p:sldId id="413" r:id="rId44"/>
    <p:sldId id="511" r:id="rId45"/>
    <p:sldId id="414" r:id="rId46"/>
    <p:sldId id="415" r:id="rId47"/>
    <p:sldId id="416" r:id="rId48"/>
    <p:sldId id="417" r:id="rId49"/>
    <p:sldId id="418" r:id="rId50"/>
    <p:sldId id="419" r:id="rId51"/>
    <p:sldId id="420" r:id="rId52"/>
    <p:sldId id="421" r:id="rId53"/>
    <p:sldId id="422" r:id="rId54"/>
    <p:sldId id="423" r:id="rId55"/>
    <p:sldId id="484" r:id="rId56"/>
    <p:sldId id="512" r:id="rId57"/>
    <p:sldId id="522" r:id="rId58"/>
    <p:sldId id="513" r:id="rId59"/>
    <p:sldId id="514" r:id="rId60"/>
    <p:sldId id="520" r:id="rId61"/>
    <p:sldId id="515" r:id="rId6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911" autoAdjust="0"/>
    <p:restoredTop sz="85269" autoAdjust="0"/>
  </p:normalViewPr>
  <p:slideViewPr>
    <p:cSldViewPr>
      <p:cViewPr varScale="1">
        <p:scale>
          <a:sx n="143" d="100"/>
          <a:sy n="143" d="100"/>
        </p:scale>
        <p:origin x="32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2CA741A-114E-4A97-BCCB-D2DBCAE682CD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739566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3B1E3106-18D5-4E03-B316-F4A1FFD1C7F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9603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38488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95716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9968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6364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13769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71222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>
                <a:solidFill>
                  <a:srgbClr val="000000"/>
                </a:solidFill>
              </a:rPr>
              <a:pPr/>
              <a:t>7</a:t>
            </a:fld>
            <a:endParaRPr lang="ro-RO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67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94501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02820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9469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3400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21622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09202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11904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03446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5476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2795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052966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631341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464372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82238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05277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155268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20318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585423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977092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28858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585368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494274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767653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638139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259858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666351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452321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923246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905579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o-RO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916209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38341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692274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22539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32197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370265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083347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861435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071806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652541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877321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975835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027283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8873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66666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383852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803848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245427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5789325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207705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2013357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1134871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5412199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60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22092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0A7E7227-863E-4A59-A940-DD330594A7A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14F4AD95-6045-4C6E-B1A0-62AABA8621DF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658DB5-0946-4707-AFBD-7C0520101412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BC26B1-4078-4EED-853C-81E87C983B3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E32962-D765-448F-81C6-ACA7EB9F544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2971E1-7675-4C82-AE8D-51AA69D944CA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7E7227-863E-4A59-A940-DD330594A7A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897768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897767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897767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134445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134445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29.05.2018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(05-2)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(05-2)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0A7E7227-863E-4A59-A940-DD330594A7A8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36000">
                <a:schemeClr val="accent3">
                  <a:lumMod val="40000"/>
                  <a:lumOff val="60000"/>
                </a:schemeClr>
              </a:gs>
              <a:gs pos="86000">
                <a:schemeClr val="accent3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3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29.05.2018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(05-2)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5. Introducere în arhitecturi paralele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53582"/>
          </a:xfrm>
        </p:spPr>
        <p:txBody>
          <a:bodyPr/>
          <a:lstStyle/>
          <a:p>
            <a:endParaRPr lang="ro-RO" sz="2800" dirty="0"/>
          </a:p>
          <a:p>
            <a:r>
              <a:rPr lang="ro-RO" dirty="0"/>
              <a:t>Tipuri și nivele de paralelism</a:t>
            </a:r>
          </a:p>
          <a:p>
            <a:r>
              <a:rPr lang="ro-RO" dirty="0"/>
              <a:t>Clasificarea arhitecturilor paralele</a:t>
            </a:r>
          </a:p>
          <a:p>
            <a:r>
              <a:rPr lang="ro-RO" dirty="0"/>
              <a:t>Arhitecturi vectoriale</a:t>
            </a:r>
          </a:p>
          <a:p>
            <a:r>
              <a:rPr lang="ro-RO" dirty="0"/>
              <a:t>Arhitecturi SIMD</a:t>
            </a:r>
          </a:p>
          <a:p>
            <a:r>
              <a:rPr lang="ro-RO" dirty="0"/>
              <a:t>Arhitecturi sistolice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MIMD</a:t>
            </a:r>
          </a:p>
          <a:p>
            <a:r>
              <a:rPr lang="ro-RO" dirty="0" smtClean="0"/>
              <a:t>Arhitecturi </a:t>
            </a:r>
            <a:r>
              <a:rPr lang="ro-RO" dirty="0"/>
              <a:t>cu fire de execuție </a:t>
            </a:r>
            <a:r>
              <a:rPr lang="ro-RO" dirty="0" smtClean="0"/>
              <a:t>multiple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1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79393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Arhitecturi MIMD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884140"/>
          </a:xfrm>
        </p:spPr>
        <p:txBody>
          <a:bodyPr/>
          <a:lstStyle/>
          <a:p>
            <a:pPr>
              <a:spcBef>
                <a:spcPts val="600"/>
              </a:spcBef>
            </a:pPr>
            <a:endParaRPr lang="ro-RO" dirty="0" smtClean="0"/>
          </a:p>
          <a:p>
            <a:pPr>
              <a:spcBef>
                <a:spcPts val="600"/>
              </a:spcBef>
            </a:pPr>
            <a:endParaRPr lang="ro-RO" dirty="0" smtClean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MIMD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Prezentare generală</a:t>
            </a:r>
          </a:p>
          <a:p>
            <a:pPr lvl="1"/>
            <a:r>
              <a:rPr lang="ro-RO" dirty="0" smtClean="0"/>
              <a:t>Arhitecturi cu memorie partajată</a:t>
            </a:r>
          </a:p>
          <a:p>
            <a:pPr lvl="1"/>
            <a:r>
              <a:rPr lang="ro-RO" dirty="0" smtClean="0"/>
              <a:t>Arhitecturi cu transmitere de mesaje</a:t>
            </a:r>
          </a:p>
          <a:p>
            <a:pPr lvl="1"/>
            <a:r>
              <a:rPr lang="ro-RO" dirty="0" smtClean="0"/>
              <a:t>Alte arhitecturi MIMD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2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77207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Prezentare generală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0769"/>
            <a:ext cx="8382000" cy="5015582"/>
          </a:xfrm>
        </p:spPr>
        <p:txBody>
          <a:bodyPr/>
          <a:lstStyle/>
          <a:p>
            <a:r>
              <a:rPr lang="ro-RO" dirty="0" smtClean="0"/>
              <a:t>Arhitecturile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MIMD </a:t>
            </a:r>
            <a:r>
              <a:rPr lang="ro-RO" dirty="0" smtClean="0"/>
              <a:t>sunt mai generale comparativ cu celelalte arhitecturi paralele </a:t>
            </a:r>
            <a:r>
              <a:rPr lang="ro-RO" dirty="0" smtClean="0">
                <a:sym typeface="Symbol"/>
              </a:rPr>
              <a:t> se pot utiliza pentru o clasă largă de aplicații</a:t>
            </a:r>
          </a:p>
          <a:p>
            <a:pPr>
              <a:spcBef>
                <a:spcPts val="600"/>
              </a:spcBef>
            </a:pPr>
            <a:r>
              <a:rPr lang="ro-RO" dirty="0" smtClean="0"/>
              <a:t>Fiecare EP poate executa o instrucțiune diferită în orice moment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Fiecare EP are propria UAL și unitate de comandă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/>
              <a:t>procesor independent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Elementele de procesare sunt interconectate </a:t>
            </a:r>
            <a:r>
              <a:rPr lang="ro-RO" dirty="0" smtClean="0">
                <a:sym typeface="Symbol"/>
              </a:rPr>
              <a:t> transferuri de date, sincronizare </a:t>
            </a:r>
            <a:endParaRPr lang="ro-RO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3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74660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Prezentare generală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439472" cy="4715137"/>
          </a:xfrm>
        </p:spPr>
        <p:txBody>
          <a:bodyPr/>
          <a:lstStyle/>
          <a:p>
            <a:r>
              <a:rPr lang="ro-RO" dirty="0" smtClean="0"/>
              <a:t>Programarea arhitecturilor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MIMD </a:t>
            </a:r>
            <a:r>
              <a:rPr lang="ro-RO" dirty="0" smtClean="0"/>
              <a:t>este mai dificilă </a:t>
            </a:r>
          </a:p>
          <a:p>
            <a:pPr lvl="1"/>
            <a:r>
              <a:rPr lang="ro-RO" dirty="0" smtClean="0"/>
              <a:t>Algoritmul de procesare trebuie să prezinte un grad ridicat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paralelism </a:t>
            </a:r>
          </a:p>
          <a:p>
            <a:r>
              <a:rPr lang="ro-RO" dirty="0" smtClean="0"/>
              <a:t>Performanța teoretică maximă a unui sistem cu </a:t>
            </a:r>
            <a:r>
              <a:rPr lang="ro-RO" i="1" dirty="0" smtClean="0"/>
              <a:t>n</a:t>
            </a:r>
            <a:r>
              <a:rPr lang="ro-RO" dirty="0" smtClean="0"/>
              <a:t> procesoare nu poate fi atinsă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Comunicarea </a:t>
            </a:r>
            <a:r>
              <a:rPr lang="ro-RO" dirty="0" smtClean="0"/>
              <a:t>între procesoare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Sincronizarea </a:t>
            </a:r>
            <a:r>
              <a:rPr lang="ro-RO" dirty="0" smtClean="0"/>
              <a:t>activității procesoarelor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Planificarea </a:t>
            </a:r>
            <a:r>
              <a:rPr lang="ro-RO" dirty="0" smtClean="0"/>
              <a:t>alocării taskurilor la procesoare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4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82633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Prezentare generală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3673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Dificultăți de proiectare </a:t>
            </a:r>
            <a:r>
              <a:rPr lang="ro-RO" dirty="0" smtClean="0"/>
              <a:t>a arhitecturilor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MIMD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Alocarea procesoarelor </a:t>
            </a:r>
            <a:r>
              <a:rPr lang="ro-RO" dirty="0" smtClean="0"/>
              <a:t>la procese:</a:t>
            </a:r>
            <a:r>
              <a:rPr lang="ro-RO" dirty="0" smtClean="0">
                <a:sym typeface="Symbol"/>
              </a:rPr>
              <a:t> în mod dinamic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Sincronizarea procesoarelor</a:t>
            </a:r>
            <a:r>
              <a:rPr lang="ro-RO" dirty="0" smtClean="0"/>
              <a:t>: prevenirea modificării simultane a datelor </a:t>
            </a:r>
            <a:endParaRPr lang="ro-RO" dirty="0" smtClean="0">
              <a:solidFill>
                <a:schemeClr val="tx2"/>
              </a:solidFill>
            </a:endParaRP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Proiectarea rețelelor de interconectare</a:t>
            </a:r>
            <a:r>
              <a:rPr lang="ro-RO" dirty="0" smtClean="0"/>
              <a:t>: între procesoare și memorie; între procesoare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Partiționarea</a:t>
            </a:r>
            <a:r>
              <a:rPr lang="ro-RO" dirty="0" smtClean="0"/>
              <a:t>: identificarea paralelismului în algoritmii de prelucrare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 dirty="0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5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16173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Prezentare generală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89644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Avantajele arhitecturilor MIMD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Performanța ridicată</a:t>
            </a:r>
            <a:r>
              <a:rPr lang="ro-RO" dirty="0" smtClean="0"/>
              <a:t>: în mod ideal, toate cele </a:t>
            </a:r>
            <a:r>
              <a:rPr lang="ro-RO" i="1" dirty="0" smtClean="0"/>
              <a:t>n</a:t>
            </a:r>
            <a:r>
              <a:rPr lang="ro-RO" dirty="0" smtClean="0"/>
              <a:t> procesoare execută în paralel taskuri ale unei prelucrări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Toleranța la defecte</a:t>
            </a:r>
            <a:r>
              <a:rPr lang="ro-RO" dirty="0" smtClean="0"/>
              <a:t>: la defectarea unui procesor sau bloc de memorie, taskurile pot fi realocate altor resurse </a:t>
            </a:r>
          </a:p>
          <a:p>
            <a:pPr lvl="1"/>
            <a:r>
              <a:rPr lang="ro-RO" dirty="0" smtClean="0"/>
              <a:t>Este posibilă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reconfigurarea dinamică a resurselor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6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74105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Prezentare generală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81336"/>
          </a:xfrm>
        </p:spPr>
        <p:txBody>
          <a:bodyPr/>
          <a:lstStyle/>
          <a:p>
            <a:r>
              <a:rPr lang="ro-RO" dirty="0" smtClean="0"/>
              <a:t>Într-o arhitectură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MIMD</a:t>
            </a:r>
            <a:r>
              <a:rPr lang="ro-RO" dirty="0" smtClean="0"/>
              <a:t>, fiecare procesor funcționează independent </a:t>
            </a:r>
          </a:p>
          <a:p>
            <a:r>
              <a:rPr lang="ro-RO" dirty="0" smtClean="0"/>
              <a:t>Rezultatele taskurilor unui procesor pot fi necesare unui alt procesor </a:t>
            </a:r>
          </a:p>
          <a:p>
            <a:pPr lvl="1"/>
            <a:r>
              <a:rPr lang="ro-RO" dirty="0" smtClean="0"/>
              <a:t>Memorarea lor într-o memorie partajată</a:t>
            </a:r>
          </a:p>
          <a:p>
            <a:pPr lvl="1"/>
            <a:r>
              <a:rPr lang="ro-RO" dirty="0" smtClean="0"/>
              <a:t>Transmiterea directă a rezultatelor</a:t>
            </a:r>
          </a:p>
          <a:p>
            <a:r>
              <a:rPr lang="ro-RO" dirty="0" smtClean="0"/>
              <a:t>Tipuri principale de organizare</a:t>
            </a:r>
          </a:p>
          <a:p>
            <a:pPr lvl="1"/>
            <a:r>
              <a:rPr lang="ro-RO" dirty="0" smtClean="0"/>
              <a:t>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memorie partajată</a:t>
            </a:r>
          </a:p>
          <a:p>
            <a:pPr lvl="1"/>
            <a:r>
              <a:rPr lang="ro-RO" dirty="0" smtClean="0"/>
              <a:t>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transmitere de mesaje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7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99361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Arhitecturi MIMD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850285"/>
          </a:xfrm>
        </p:spPr>
        <p:txBody>
          <a:bodyPr/>
          <a:lstStyle/>
          <a:p>
            <a:pPr>
              <a:spcBef>
                <a:spcPts val="600"/>
              </a:spcBef>
            </a:pPr>
            <a:endParaRPr lang="ro-RO" dirty="0"/>
          </a:p>
          <a:p>
            <a:pPr>
              <a:spcBef>
                <a:spcPts val="600"/>
              </a:spcBef>
            </a:pPr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MIMD</a:t>
            </a:r>
          </a:p>
          <a:p>
            <a:pPr lvl="1"/>
            <a:r>
              <a:rPr lang="ro-RO" dirty="0"/>
              <a:t>Prezentare generală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cu memorie partajată</a:t>
            </a:r>
          </a:p>
          <a:p>
            <a:pPr lvl="1"/>
            <a:r>
              <a:rPr lang="ro-RO" dirty="0"/>
              <a:t>Arhitecturi cu transmitere de mesaje</a:t>
            </a:r>
          </a:p>
          <a:p>
            <a:pPr lvl="1"/>
            <a:r>
              <a:rPr lang="ro-RO" dirty="0"/>
              <a:t>Alte </a:t>
            </a:r>
            <a:r>
              <a:rPr lang="ro-RO" dirty="0" smtClean="0"/>
              <a:t>arhitecturi MIMD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8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82849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Arhitecturi cu memorie partajată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/>
          <a:p>
            <a:r>
              <a:rPr lang="ro-RO" dirty="0" smtClean="0"/>
              <a:t>Se mai numesc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multiprocesoare</a:t>
            </a:r>
            <a:endParaRPr lang="ro-RO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ro-RO" dirty="0" smtClean="0"/>
              <a:t>Procesoare interconectate cu module de memorie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Oricare procesor poate accesa oricare modul de memorie </a:t>
            </a:r>
            <a:r>
              <a:rPr lang="ro-RO" dirty="0" smtClean="0">
                <a:sym typeface="Symbol"/>
              </a:rPr>
              <a:t> se simplifică programarea </a:t>
            </a:r>
            <a:endParaRPr lang="ro-RO" dirty="0" smtClean="0"/>
          </a:p>
          <a:p>
            <a:pPr lvl="1">
              <a:spcBef>
                <a:spcPts val="600"/>
              </a:spcBef>
            </a:pPr>
            <a:r>
              <a:rPr lang="ro-RO" dirty="0" smtClean="0"/>
              <a:t>Transferul datelor între procesoare prin RI este rapid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/>
              </a:rPr>
              <a:t>arhitectură cu legătură strânsă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Timpul de acces la memorie este </a:t>
            </a:r>
            <a:r>
              <a:rPr lang="ro-RO" dirty="0"/>
              <a:t>a</a:t>
            </a:r>
            <a:r>
              <a:rPr lang="ro-RO" dirty="0" smtClean="0"/>
              <a:t>celași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/>
              </a:rPr>
              <a:t>arhitectură cu memorie uniformă </a:t>
            </a:r>
            <a:r>
              <a:rPr lang="ro-RO" dirty="0" smtClean="0">
                <a:sym typeface="Symbol"/>
              </a:rPr>
              <a:t>(UMA – </a:t>
            </a:r>
            <a:r>
              <a:rPr lang="ro-RO" i="1" dirty="0" smtClean="0">
                <a:sym typeface="Symbol"/>
              </a:rPr>
              <a:t>Uniform </a:t>
            </a:r>
            <a:r>
              <a:rPr lang="ro-RO" i="1" dirty="0" err="1" smtClean="0">
                <a:sym typeface="Symbol"/>
              </a:rPr>
              <a:t>Memory</a:t>
            </a:r>
            <a:r>
              <a:rPr lang="ro-RO" i="1" dirty="0" smtClean="0">
                <a:sym typeface="Symbol"/>
              </a:rPr>
              <a:t> </a:t>
            </a:r>
            <a:r>
              <a:rPr lang="ro-RO" i="1" dirty="0" err="1" smtClean="0">
                <a:sym typeface="Symbol"/>
              </a:rPr>
              <a:t>Architecture</a:t>
            </a:r>
            <a:r>
              <a:rPr lang="ro-RO" dirty="0" smtClean="0">
                <a:sym typeface="Symbol"/>
              </a:rPr>
              <a:t>)</a:t>
            </a:r>
            <a:endParaRPr lang="ro-RO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9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31601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30188"/>
            <a:ext cx="8496944" cy="664797"/>
          </a:xfrm>
        </p:spPr>
        <p:txBody>
          <a:bodyPr/>
          <a:lstStyle/>
          <a:p>
            <a:r>
              <a:rPr lang="ro-RO" dirty="0"/>
              <a:t>Arhitecturi cu memorie partajată </a:t>
            </a:r>
            <a:r>
              <a:rPr lang="ro-RO" dirty="0" smtClean="0"/>
              <a:t>(2)</a:t>
            </a:r>
            <a:endParaRPr lang="ro-RO" dirty="0"/>
          </a:p>
        </p:txBody>
      </p:sp>
      <p:pic>
        <p:nvPicPr>
          <p:cNvPr id="7" name="Content Placeholder 6" descr="mimd-multiprocesor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71600" y="1844824"/>
            <a:ext cx="7220482" cy="3196749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10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54357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memorie partajată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38248"/>
          </a:xfrm>
        </p:spPr>
        <p:txBody>
          <a:bodyPr/>
          <a:lstStyle/>
          <a:p>
            <a:r>
              <a:rPr lang="ro-RO" dirty="0" smtClean="0"/>
              <a:t>Procesoare care nu sunt conectate la </a:t>
            </a:r>
            <a:r>
              <a:rPr lang="ro-RO" dirty="0"/>
              <a:t>a</a:t>
            </a:r>
            <a:r>
              <a:rPr lang="ro-RO" dirty="0" smtClean="0"/>
              <a:t>celași modul de memorie: este necesară o secvență de transferuri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Procesoare neomogene</a:t>
            </a:r>
            <a:r>
              <a:rPr lang="ro-RO" dirty="0" smtClean="0"/>
              <a:t>: sunt necesare transformări ale datelor </a:t>
            </a:r>
          </a:p>
          <a:p>
            <a:r>
              <a:rPr lang="ro-RO" dirty="0" smtClean="0"/>
              <a:t>Pot apare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conflicte </a:t>
            </a:r>
            <a:r>
              <a:rPr lang="ro-RO" dirty="0" smtClean="0"/>
              <a:t>la accesul memoriei </a:t>
            </a:r>
          </a:p>
          <a:p>
            <a:pPr lvl="1"/>
            <a:r>
              <a:rPr lang="ro-RO" dirty="0" smtClean="0"/>
              <a:t>Memorii cu unități multiple</a:t>
            </a:r>
          </a:p>
          <a:p>
            <a:pPr lvl="1"/>
            <a:r>
              <a:rPr lang="ro-RO" dirty="0" smtClean="0"/>
              <a:t>Intercalarea adreselor de memorie</a:t>
            </a:r>
          </a:p>
          <a:p>
            <a:pPr lvl="1"/>
            <a:r>
              <a:rPr lang="ro-RO" dirty="0" smtClean="0"/>
              <a:t>Memorii cu porturi multiple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11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11408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memorie partajată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4347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</a:t>
            </a:r>
            <a:r>
              <a:rPr lang="ro-RO" dirty="0" smtClean="0"/>
              <a:t>:</a:t>
            </a:r>
          </a:p>
          <a:p>
            <a:pPr lvl="1"/>
            <a:r>
              <a:rPr lang="ro-RO" dirty="0" smtClean="0"/>
              <a:t>Tehnicile de programare a </a:t>
            </a:r>
            <a:r>
              <a:rPr lang="ro-RO" dirty="0" err="1" smtClean="0"/>
              <a:t>uniprocesoarelor</a:t>
            </a:r>
            <a:r>
              <a:rPr lang="ro-RO" dirty="0" smtClean="0"/>
              <a:t> pot fi adaptate în mod simplu pentru multiprocesoare</a:t>
            </a:r>
          </a:p>
          <a:p>
            <a:pPr lvl="1"/>
            <a:r>
              <a:rPr lang="ro-RO" dirty="0" smtClean="0"/>
              <a:t>Nu este necesară mutarea fizică a datelor atunci când procesele comunică între ele </a:t>
            </a:r>
            <a:r>
              <a:rPr lang="ro-RO" dirty="0" smtClean="0">
                <a:sym typeface="Symbol" panose="05050102010706020507" pitchFamily="18" charset="2"/>
              </a:rPr>
              <a:t> comunicația între procese este eficientă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Dezavantaje</a:t>
            </a:r>
            <a:r>
              <a:rPr lang="ro-RO" dirty="0" smtClean="0">
                <a:sym typeface="Symbol" panose="05050102010706020507" pitchFamily="18" charset="2"/>
              </a:rPr>
              <a:t>:</a:t>
            </a:r>
          </a:p>
          <a:p>
            <a:pPr lvl="1"/>
            <a:r>
              <a:rPr lang="ro-RO" dirty="0" smtClean="0"/>
              <a:t>Accesul la datele partajate necesită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construcții de sincronizare </a:t>
            </a:r>
            <a:r>
              <a:rPr lang="ro-RO" dirty="0" smtClean="0">
                <a:sym typeface="Symbol" panose="05050102010706020507" pitchFamily="18" charset="2"/>
              </a:rPr>
              <a:t>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semafoare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12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5905711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memorie partajată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3647"/>
          </a:xfrm>
        </p:spPr>
        <p:txBody>
          <a:bodyPr/>
          <a:lstStyle/>
          <a:p>
            <a:pPr lvl="1"/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Scalabilitatea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redusă </a:t>
            </a:r>
            <a:r>
              <a:rPr lang="ro-RO" dirty="0" smtClean="0"/>
              <a:t>din cauza conflictelor la accesul memoriei; probabilitatea conflictelor crește cu creșterea numărului de procesoare</a:t>
            </a:r>
          </a:p>
          <a:p>
            <a:r>
              <a:rPr lang="ro-RO" dirty="0" smtClean="0"/>
              <a:t>Soluții pentru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îmbunătățirea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scalabilității</a:t>
            </a:r>
            <a:endParaRPr lang="ro-RO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 smtClean="0"/>
              <a:t>RI de viteză ridicată între EP și memorii</a:t>
            </a:r>
          </a:p>
          <a:p>
            <a:pPr lvl="1"/>
            <a:r>
              <a:rPr lang="ro-RO" dirty="0" smtClean="0"/>
              <a:t>Utilizarea unor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memorii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cache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locale </a:t>
            </a:r>
            <a:r>
              <a:rPr lang="ro-RO" dirty="0" smtClean="0">
                <a:sym typeface="Symbol" panose="05050102010706020507" pitchFamily="18" charset="2"/>
              </a:rPr>
              <a:t> apare problema coerenței memoriilor </a:t>
            </a:r>
            <a:r>
              <a:rPr lang="ro-RO" i="1" dirty="0" smtClean="0">
                <a:sym typeface="Symbol" panose="05050102010706020507" pitchFamily="18" charset="2"/>
              </a:rPr>
              <a:t>cache</a:t>
            </a:r>
          </a:p>
          <a:p>
            <a:pPr lvl="1"/>
            <a:r>
              <a:rPr lang="ro-RO" dirty="0" smtClean="0"/>
              <a:t>Implementarea memoriei partajate ca o colecție de memorii locale </a:t>
            </a:r>
            <a:r>
              <a:rPr lang="ro-RO" dirty="0" smtClean="0">
                <a:sym typeface="Symbol" panose="05050102010706020507" pitchFamily="18" charset="2"/>
              </a:rPr>
              <a:t> arhitectură 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memorie partajată virtuală </a:t>
            </a:r>
            <a:endParaRPr lang="ro-RO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13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6911591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Arhitecturi MIMD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850285"/>
          </a:xfrm>
        </p:spPr>
        <p:txBody>
          <a:bodyPr/>
          <a:lstStyle/>
          <a:p>
            <a:pPr>
              <a:spcBef>
                <a:spcPts val="600"/>
              </a:spcBef>
            </a:pPr>
            <a:endParaRPr lang="ro-RO" dirty="0"/>
          </a:p>
          <a:p>
            <a:pPr>
              <a:spcBef>
                <a:spcPts val="600"/>
              </a:spcBef>
            </a:pPr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MIMD</a:t>
            </a:r>
          </a:p>
          <a:p>
            <a:pPr lvl="1"/>
            <a:r>
              <a:rPr lang="ro-RO" dirty="0"/>
              <a:t>Prezentare generală</a:t>
            </a:r>
          </a:p>
          <a:p>
            <a:pPr lvl="1"/>
            <a:r>
              <a:rPr lang="ro-RO" dirty="0"/>
              <a:t>Arhitecturi cu memorie partajată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cu transmitere de mesaje</a:t>
            </a:r>
          </a:p>
          <a:p>
            <a:pPr lvl="1"/>
            <a:r>
              <a:rPr lang="ro-RO" dirty="0"/>
              <a:t>Alte </a:t>
            </a:r>
            <a:r>
              <a:rPr lang="ro-RO" dirty="0" smtClean="0"/>
              <a:t>arhitecturi MIMD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14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19974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 smtClean="0"/>
              <a:t>Arhitecturi cu transmitere de mesaje (1)</a:t>
            </a:r>
            <a:endParaRPr lang="ro-RO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05958"/>
          </a:xfrm>
        </p:spPr>
        <p:txBody>
          <a:bodyPr/>
          <a:lstStyle/>
          <a:p>
            <a:r>
              <a:rPr lang="ro-RO" dirty="0" smtClean="0"/>
              <a:t>Se mai numesc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multicalculatoare</a:t>
            </a:r>
            <a:endParaRPr lang="ro-RO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ro-RO" dirty="0" smtClean="0"/>
              <a:t>Fiecare procesor are un bloc de memorie locală 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Arhitectură cu legătură slabă </a:t>
            </a:r>
            <a:r>
              <a:rPr lang="ro-RO" dirty="0" smtClean="0"/>
              <a:t>sau 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memorie distribuită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Timpul de acces la memorie este diferit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/>
              </a:rPr>
              <a:t>arhitectură cu memorie neuniformă </a:t>
            </a:r>
            <a:r>
              <a:rPr lang="ro-RO" dirty="0" smtClean="0">
                <a:sym typeface="Symbol"/>
              </a:rPr>
              <a:t>(NUMA – </a:t>
            </a:r>
            <a:r>
              <a:rPr lang="ro-RO" i="1" dirty="0" err="1" smtClean="0">
                <a:sym typeface="Symbol"/>
              </a:rPr>
              <a:t>Nonuniform</a:t>
            </a:r>
            <a:r>
              <a:rPr lang="ro-RO" i="1" dirty="0" smtClean="0">
                <a:sym typeface="Symbol"/>
              </a:rPr>
              <a:t> </a:t>
            </a:r>
            <a:r>
              <a:rPr lang="ro-RO" i="1" dirty="0" err="1" smtClean="0">
                <a:sym typeface="Symbol"/>
              </a:rPr>
              <a:t>Memory</a:t>
            </a:r>
            <a:r>
              <a:rPr lang="ro-RO" i="1" dirty="0" smtClean="0">
                <a:sym typeface="Symbol"/>
              </a:rPr>
              <a:t> </a:t>
            </a:r>
            <a:r>
              <a:rPr lang="ro-RO" i="1" dirty="0" err="1" smtClean="0">
                <a:sym typeface="Symbol"/>
              </a:rPr>
              <a:t>Architecture</a:t>
            </a:r>
            <a:r>
              <a:rPr lang="ro-RO" dirty="0" smtClean="0">
                <a:sym typeface="Symbol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ro-RO" dirty="0">
                <a:sym typeface="Symbol"/>
              </a:rPr>
              <a:t>N</a:t>
            </a:r>
            <a:r>
              <a:rPr lang="ro-RO" dirty="0" smtClean="0">
                <a:sym typeface="Symbol"/>
              </a:rPr>
              <a:t>iciun procesor nu poate accesa direct blocul de memorie al altui procesor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15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30584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/>
              <a:t>Arhitecturi cu transmitere de mesaje </a:t>
            </a:r>
            <a:r>
              <a:rPr lang="ro-RO" sz="4400" dirty="0" smtClean="0"/>
              <a:t>(2)</a:t>
            </a:r>
            <a:endParaRPr lang="ro-RO" sz="4400" dirty="0"/>
          </a:p>
        </p:txBody>
      </p:sp>
      <p:pic>
        <p:nvPicPr>
          <p:cNvPr id="7" name="Content Placeholder 6" descr="mimd-multicalculator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83568" y="2348880"/>
            <a:ext cx="7781560" cy="222931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16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27647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/>
              <a:t>Arhitecturi cu transmitere de mesaje </a:t>
            </a:r>
            <a:r>
              <a:rPr lang="ro-RO" sz="4400" dirty="0" smtClean="0"/>
              <a:t>(3)</a:t>
            </a:r>
            <a:endParaRPr lang="ro-RO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16648"/>
          </a:xfrm>
        </p:spPr>
        <p:txBody>
          <a:bodyPr/>
          <a:lstStyle/>
          <a:p>
            <a:r>
              <a:rPr lang="ro-RO" dirty="0" smtClean="0"/>
              <a:t>Interacțiunea </a:t>
            </a:r>
            <a:r>
              <a:rPr lang="ro-RO" dirty="0"/>
              <a:t>între diferite </a:t>
            </a:r>
            <a:r>
              <a:rPr lang="ro-RO" dirty="0" smtClean="0"/>
              <a:t>procesoare se </a:t>
            </a:r>
            <a:r>
              <a:rPr lang="ro-RO" dirty="0"/>
              <a:t>realizează prin transmiterea unor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mesaje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  <a:r>
              <a:rPr lang="ro-RO" dirty="0"/>
              <a:t>între procesoare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Transferul datelor </a:t>
            </a:r>
            <a:r>
              <a:rPr lang="ro-RO" dirty="0" smtClean="0"/>
              <a:t>între două procesoare </a:t>
            </a:r>
          </a:p>
          <a:p>
            <a:pPr lvl="1"/>
            <a:r>
              <a:rPr lang="ro-RO" dirty="0" smtClean="0"/>
              <a:t>Procesorul solicitant transmite 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mesaj </a:t>
            </a:r>
            <a:r>
              <a:rPr lang="ro-RO" dirty="0" smtClean="0"/>
              <a:t>procesorului în memoria căruia se află datele </a:t>
            </a:r>
          </a:p>
          <a:p>
            <a:pPr lvl="1"/>
            <a:r>
              <a:rPr lang="ro-RO" dirty="0" smtClean="0"/>
              <a:t>Procesorul solicitat citește datele din memoria locală și le transmite prin RI </a:t>
            </a:r>
          </a:p>
          <a:p>
            <a:pPr lvl="1"/>
            <a:r>
              <a:rPr lang="ro-RO" dirty="0" smtClean="0"/>
              <a:t>RI </a:t>
            </a:r>
            <a:r>
              <a:rPr lang="ro-RO" dirty="0" err="1" smtClean="0"/>
              <a:t>rutează</a:t>
            </a:r>
            <a:r>
              <a:rPr lang="ro-RO" dirty="0" smtClean="0"/>
              <a:t> datele către procesorul solicitant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17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12853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/>
              <a:t>Arhitecturi cu transmitere de mesaje </a:t>
            </a:r>
            <a:r>
              <a:rPr lang="ro-RO" sz="4400" dirty="0" smtClean="0"/>
              <a:t>(4)</a:t>
            </a:r>
            <a:endParaRPr lang="ro-RO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05849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</a:t>
            </a:r>
            <a:r>
              <a:rPr lang="ro-RO" dirty="0"/>
              <a:t>: </a:t>
            </a:r>
            <a:endParaRPr lang="ro-RO" dirty="0" smtClean="0"/>
          </a:p>
          <a:p>
            <a:pPr lvl="1"/>
            <a:r>
              <a:rPr lang="ro-RO" dirty="0" smtClean="0"/>
              <a:t>Problema </a:t>
            </a:r>
            <a:r>
              <a:rPr lang="ro-RO" dirty="0"/>
              <a:t>conflictului la </a:t>
            </a:r>
            <a:r>
              <a:rPr lang="ro-RO" dirty="0" smtClean="0"/>
              <a:t>memorie este mai puțin severă </a:t>
            </a:r>
            <a:r>
              <a:rPr lang="ro-RO" dirty="0" smtClean="0">
                <a:sym typeface="Symbol" panose="05050102010706020507" pitchFamily="18" charset="2"/>
              </a:rPr>
              <a:t> </a:t>
            </a:r>
            <a:r>
              <a:rPr lang="ro-RO" dirty="0" err="1" smtClean="0"/>
              <a:t>scalabilitate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 smtClean="0"/>
              <a:t>Nu sunt necesare tehnici de sincronizare complexe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Dezavantaje</a:t>
            </a:r>
            <a:r>
              <a:rPr lang="ro-RO" dirty="0" smtClean="0"/>
              <a:t>:</a:t>
            </a:r>
          </a:p>
          <a:p>
            <a:pPr lvl="1"/>
            <a:r>
              <a:rPr lang="ro-RO" dirty="0" smtClean="0"/>
              <a:t>Timpul </a:t>
            </a:r>
            <a:r>
              <a:rPr lang="ro-RO" dirty="0"/>
              <a:t>de așteptare pentru datele solicitate poate fi semnificativ </a:t>
            </a:r>
            <a:r>
              <a:rPr lang="ro-RO" dirty="0">
                <a:sym typeface="Symbol"/>
              </a:rPr>
              <a:t> </a:t>
            </a:r>
            <a:r>
              <a:rPr lang="ro-RO" dirty="0"/>
              <a:t>procesorul solicitant este inactiv </a:t>
            </a:r>
            <a:endParaRPr lang="ro-RO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8237680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/>
              <a:t>Arhitecturi cu transmitere de mesaje </a:t>
            </a:r>
            <a:r>
              <a:rPr lang="ro-RO" sz="4400" dirty="0" smtClean="0"/>
              <a:t>(5)</a:t>
            </a:r>
            <a:endParaRPr lang="ro-RO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28960"/>
          </a:xfrm>
        </p:spPr>
        <p:txBody>
          <a:bodyPr/>
          <a:lstStyle/>
          <a:p>
            <a:pPr lvl="1"/>
            <a:r>
              <a:rPr lang="ro-RO" dirty="0" smtClean="0"/>
              <a:t>Comunicația și sincronizarea bazată pe transmitere de mesaje poate conduce la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blocaje</a:t>
            </a:r>
          </a:p>
          <a:p>
            <a:pPr lvl="1"/>
            <a:r>
              <a:rPr lang="ro-RO" dirty="0" smtClean="0"/>
              <a:t>Transmiterea de mesaje necesită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copierea unor structuri de date</a:t>
            </a:r>
            <a:r>
              <a:rPr lang="ro-RO" dirty="0" smtClean="0"/>
              <a:t> între procese </a:t>
            </a:r>
            <a:r>
              <a:rPr lang="ro-RO" dirty="0" smtClean="0">
                <a:sym typeface="Symbol" panose="05050102010706020507" pitchFamily="18" charset="2"/>
              </a:rPr>
              <a:t> poate reduce semnificativ performanțele</a:t>
            </a:r>
          </a:p>
          <a:p>
            <a:pPr lvl="1"/>
            <a:r>
              <a:rPr lang="ro-RO" dirty="0" smtClean="0"/>
              <a:t>Pentru performanțe ridicate, este necesară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încărcarea echilibrată a procesoarelor </a:t>
            </a:r>
            <a:r>
              <a:rPr lang="ro-RO" dirty="0" smtClean="0">
                <a:sym typeface="Symbol" panose="05050102010706020507" pitchFamily="18" charset="2"/>
              </a:rPr>
              <a:t> partiționarea codului și a datelor între procesoare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19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9713210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Arhitecturi MIMD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850285"/>
          </a:xfrm>
        </p:spPr>
        <p:txBody>
          <a:bodyPr/>
          <a:lstStyle/>
          <a:p>
            <a:pPr>
              <a:spcBef>
                <a:spcPts val="600"/>
              </a:spcBef>
            </a:pPr>
            <a:endParaRPr lang="ro-RO" dirty="0"/>
          </a:p>
          <a:p>
            <a:pPr>
              <a:spcBef>
                <a:spcPts val="600"/>
              </a:spcBef>
            </a:pPr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MIMD</a:t>
            </a:r>
          </a:p>
          <a:p>
            <a:pPr lvl="1"/>
            <a:r>
              <a:rPr lang="ro-RO" dirty="0"/>
              <a:t>Prezentare generală</a:t>
            </a:r>
          </a:p>
          <a:p>
            <a:pPr lvl="1"/>
            <a:r>
              <a:rPr lang="ro-RO" dirty="0"/>
              <a:t>Arhitecturi cu memorie partajată</a:t>
            </a:r>
          </a:p>
          <a:p>
            <a:pPr lvl="1"/>
            <a:r>
              <a:rPr lang="ro-RO" dirty="0"/>
              <a:t>Arhitecturi cu transmitere de mesaje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 arhitecturi MIMD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20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944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Alte arhitecturi MIMD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439472" cy="502496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ro-RO" dirty="0" smtClean="0"/>
              <a:t>Multiprocesoarele și </a:t>
            </a:r>
            <a:r>
              <a:rPr lang="ro-RO" dirty="0" err="1" smtClean="0"/>
              <a:t>multicalculatoarele</a:t>
            </a:r>
            <a:r>
              <a:rPr lang="ro-RO" dirty="0" smtClean="0"/>
              <a:t> reprezintă două extreme </a:t>
            </a:r>
          </a:p>
          <a:p>
            <a:pPr lvl="1">
              <a:spcBef>
                <a:spcPts val="400"/>
              </a:spcBef>
            </a:pPr>
            <a:r>
              <a:rPr lang="ro-RO" dirty="0" smtClean="0"/>
              <a:t>Sistemele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MIMD </a:t>
            </a:r>
            <a:r>
              <a:rPr lang="ro-RO" dirty="0" smtClean="0"/>
              <a:t>pot utiliza o combinație a celor două arhitecturi </a:t>
            </a:r>
          </a:p>
          <a:p>
            <a:pPr>
              <a:spcBef>
                <a:spcPts val="400"/>
              </a:spcBef>
            </a:pPr>
            <a:r>
              <a:rPr lang="ro-RO" dirty="0" smtClean="0"/>
              <a:t>Arhitectură care utilizează numai memorii </a:t>
            </a:r>
            <a:r>
              <a:rPr lang="ro-RO" i="1" dirty="0" err="1" smtClean="0"/>
              <a:t>cache</a:t>
            </a:r>
            <a:r>
              <a:rPr lang="ro-RO" dirty="0" smtClean="0"/>
              <a:t> (COMA – </a:t>
            </a:r>
            <a:r>
              <a:rPr lang="ro-RO" i="1" dirty="0" err="1" smtClean="0"/>
              <a:t>Cache</a:t>
            </a:r>
            <a:r>
              <a:rPr lang="ro-RO" i="1" dirty="0" smtClean="0"/>
              <a:t> </a:t>
            </a:r>
            <a:r>
              <a:rPr lang="ro-RO" i="1" dirty="0" err="1" smtClean="0"/>
              <a:t>Only</a:t>
            </a:r>
            <a:r>
              <a:rPr lang="ro-RO" i="1" dirty="0" smtClean="0"/>
              <a:t> </a:t>
            </a:r>
            <a:r>
              <a:rPr lang="ro-RO" i="1" dirty="0" err="1" smtClean="0"/>
              <a:t>Memory</a:t>
            </a:r>
            <a:r>
              <a:rPr lang="ro-RO" i="1" dirty="0" smtClean="0"/>
              <a:t> </a:t>
            </a:r>
            <a:r>
              <a:rPr lang="ro-RO" i="1" dirty="0" err="1" smtClean="0"/>
              <a:t>Architecture</a:t>
            </a:r>
            <a:r>
              <a:rPr lang="ro-RO" dirty="0" smtClean="0"/>
              <a:t>)</a:t>
            </a:r>
          </a:p>
          <a:p>
            <a:pPr lvl="1">
              <a:spcBef>
                <a:spcPts val="400"/>
              </a:spcBef>
            </a:pPr>
            <a:r>
              <a:rPr lang="ro-RO" dirty="0" smtClean="0"/>
              <a:t>Calculatoarele DDM (</a:t>
            </a:r>
            <a:r>
              <a:rPr lang="ro-RO" i="1" dirty="0" smtClean="0"/>
              <a:t>Data </a:t>
            </a:r>
            <a:r>
              <a:rPr lang="ro-RO" i="1" dirty="0" err="1" smtClean="0"/>
              <a:t>Diffusion</a:t>
            </a:r>
            <a:r>
              <a:rPr lang="ro-RO" i="1" dirty="0" smtClean="0"/>
              <a:t> </a:t>
            </a:r>
            <a:r>
              <a:rPr lang="ro-RO" i="1" dirty="0" err="1" smtClean="0"/>
              <a:t>Machine</a:t>
            </a:r>
            <a:r>
              <a:rPr lang="ro-RO" dirty="0" smtClean="0"/>
              <a:t>)</a:t>
            </a:r>
          </a:p>
          <a:p>
            <a:pPr>
              <a:spcBef>
                <a:spcPts val="400"/>
              </a:spcBef>
            </a:pPr>
            <a:r>
              <a:rPr lang="ro-RO" dirty="0" smtClean="0"/>
              <a:t>Arhitectură cu memorie distribuită și memorii </a:t>
            </a:r>
            <a:r>
              <a:rPr lang="ro-RO" i="1" dirty="0" smtClean="0"/>
              <a:t>cache</a:t>
            </a:r>
            <a:r>
              <a:rPr lang="ro-RO" dirty="0" smtClean="0"/>
              <a:t> </a:t>
            </a:r>
            <a:r>
              <a:rPr lang="ro-RO" dirty="0" smtClean="0">
                <a:sym typeface="Symbol"/>
              </a:rPr>
              <a:t> </a:t>
            </a:r>
            <a:endParaRPr lang="ro-RO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21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91508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Alte arhitecturi </a:t>
            </a:r>
            <a:r>
              <a:rPr lang="ro-RO" dirty="0" smtClean="0"/>
              <a:t>MIMD (2)</a:t>
            </a:r>
            <a:endParaRPr lang="ro-RO" dirty="0"/>
          </a:p>
        </p:txBody>
      </p:sp>
      <p:pic>
        <p:nvPicPr>
          <p:cNvPr id="7" name="Content Placeholder 6" descr="mimd-cache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83568" y="1772816"/>
            <a:ext cx="7781560" cy="339304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22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95508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Alte arhitecturi </a:t>
            </a:r>
            <a:r>
              <a:rPr lang="ro-RO" dirty="0" smtClean="0"/>
              <a:t>MIMD 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38248"/>
          </a:xfrm>
        </p:spPr>
        <p:txBody>
          <a:bodyPr/>
          <a:lstStyle/>
          <a:p>
            <a:r>
              <a:rPr lang="ro-RO" dirty="0" smtClean="0"/>
              <a:t>Spațiul de adrese poate fi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privat </a:t>
            </a:r>
            <a:r>
              <a:rPr lang="ro-RO" dirty="0" smtClean="0"/>
              <a:t>sau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partajat</a:t>
            </a:r>
          </a:p>
          <a:p>
            <a:r>
              <a:rPr lang="ro-RO" dirty="0" smtClean="0"/>
              <a:t>Calculatoare 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memorie locală </a:t>
            </a:r>
            <a:r>
              <a:rPr lang="ro-RO" dirty="0" smtClean="0"/>
              <a:t>și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spațiu de adrese partajat</a:t>
            </a:r>
            <a:r>
              <a:rPr lang="ro-RO" dirty="0" smtClean="0"/>
              <a:t> </a:t>
            </a:r>
          </a:p>
          <a:p>
            <a:pPr lvl="1"/>
            <a:r>
              <a:rPr lang="ro-RO" dirty="0" smtClean="0"/>
              <a:t>Arhitecturi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NUMA </a:t>
            </a:r>
          </a:p>
          <a:p>
            <a:pPr lvl="1"/>
            <a:r>
              <a:rPr lang="ro-RO" dirty="0" smtClean="0"/>
              <a:t>Avantaje: </a:t>
            </a:r>
            <a:r>
              <a:rPr lang="ro-RO" dirty="0" err="1" smtClean="0"/>
              <a:t>scalabilitate</a:t>
            </a:r>
            <a:r>
              <a:rPr lang="ro-RO" dirty="0" smtClean="0"/>
              <a:t>, programare simplă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 smtClean="0"/>
              <a:t>: </a:t>
            </a:r>
            <a:r>
              <a:rPr lang="ro-RO" dirty="0" err="1" smtClean="0"/>
              <a:t>J-Machine</a:t>
            </a:r>
            <a:r>
              <a:rPr lang="ro-RO" dirty="0" smtClean="0"/>
              <a:t> (MIT) </a:t>
            </a:r>
          </a:p>
          <a:p>
            <a:r>
              <a:rPr lang="ro-RO" dirty="0" smtClean="0"/>
              <a:t>Configurația unui sistem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MIMD </a:t>
            </a:r>
            <a:r>
              <a:rPr lang="ro-RO" dirty="0" smtClean="0"/>
              <a:t>depinde de caracteristicile aplicațiilor 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23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25038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5. Introducere în arhitecturi paralele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53582"/>
          </a:xfrm>
        </p:spPr>
        <p:txBody>
          <a:bodyPr/>
          <a:lstStyle/>
          <a:p>
            <a:endParaRPr lang="ro-RO" sz="2800" dirty="0"/>
          </a:p>
          <a:p>
            <a:r>
              <a:rPr lang="ro-RO" dirty="0"/>
              <a:t>Tipuri și nivele de paralelism</a:t>
            </a:r>
          </a:p>
          <a:p>
            <a:r>
              <a:rPr lang="ro-RO" dirty="0"/>
              <a:t>Clasificarea arhitecturilor paralele</a:t>
            </a:r>
          </a:p>
          <a:p>
            <a:r>
              <a:rPr lang="ro-RO" dirty="0"/>
              <a:t>Arhitecturi vectoriale</a:t>
            </a:r>
          </a:p>
          <a:p>
            <a:r>
              <a:rPr lang="ro-RO" dirty="0"/>
              <a:t>Arhitecturi SIMD</a:t>
            </a:r>
          </a:p>
          <a:p>
            <a:r>
              <a:rPr lang="ro-RO" dirty="0"/>
              <a:t>Arhitecturi sistolice</a:t>
            </a:r>
          </a:p>
          <a:p>
            <a:r>
              <a:rPr lang="ro-RO" dirty="0"/>
              <a:t>Arhitecturi MIMD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cu fire de execuție multiple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29.05.2018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24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(05-2)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76977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 smtClean="0"/>
              <a:t>Arhitecturi cu fire de execuție multiple</a:t>
            </a:r>
            <a:endParaRPr lang="ro-RO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816429"/>
          </a:xfrm>
        </p:spPr>
        <p:txBody>
          <a:bodyPr/>
          <a:lstStyle/>
          <a:p>
            <a:endParaRPr lang="ro-RO" dirty="0" smtClean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cu fire de execuție multiple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Prezentare generală</a:t>
            </a:r>
          </a:p>
          <a:p>
            <a:pPr lvl="1"/>
            <a:r>
              <a:rPr lang="ro-RO" dirty="0"/>
              <a:t>Modelul fluxului de control</a:t>
            </a:r>
          </a:p>
          <a:p>
            <a:pPr lvl="1"/>
            <a:r>
              <a:rPr lang="ro-RO" dirty="0" smtClean="0"/>
              <a:t>Modelul fluxului de date</a:t>
            </a:r>
          </a:p>
          <a:p>
            <a:pPr lvl="1"/>
            <a:r>
              <a:rPr lang="ro-RO" dirty="0" smtClean="0"/>
              <a:t>Arhitecturi cu flux de date</a:t>
            </a:r>
          </a:p>
          <a:p>
            <a:pPr lvl="1"/>
            <a:r>
              <a:rPr lang="ro-RO" dirty="0" smtClean="0"/>
              <a:t>Exemple de calculatoare cu flux de date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6236973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Prezentare generală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36736"/>
          </a:xfrm>
        </p:spPr>
        <p:txBody>
          <a:bodyPr/>
          <a:lstStyle/>
          <a:p>
            <a:r>
              <a:rPr lang="ro-RO" dirty="0" smtClean="0"/>
              <a:t>Utilizează un mecanism pentru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comutarea rapidă a contextului</a:t>
            </a:r>
            <a:r>
              <a:rPr lang="ro-RO" dirty="0" smtClean="0"/>
              <a:t> între firele de execuție</a:t>
            </a:r>
          </a:p>
          <a:p>
            <a:pPr lvl="1"/>
            <a:r>
              <a:rPr lang="ro-RO" dirty="0" smtClean="0"/>
              <a:t>Metodă similară cu cea utilizată de sistemele </a:t>
            </a:r>
            <a:r>
              <a:rPr lang="ro-RO" i="1" dirty="0" err="1" smtClean="0"/>
              <a:t>multi-tasking</a:t>
            </a:r>
            <a:r>
              <a:rPr lang="ro-RO" dirty="0" smtClean="0"/>
              <a:t> </a:t>
            </a:r>
          </a:p>
          <a:p>
            <a:pPr lvl="1"/>
            <a:r>
              <a:rPr lang="ro-RO" dirty="0" smtClean="0"/>
              <a:t>Firele de execuție care așteaptă operații de I/E sau de sincronizare sunt suspendate</a:t>
            </a:r>
          </a:p>
          <a:p>
            <a:pPr lvl="1"/>
            <a:r>
              <a:rPr lang="ro-RO" dirty="0" smtClean="0"/>
              <a:t>Contextul unui fir de execuție suspendat este salvat în memorie sau într-un set de registre</a:t>
            </a:r>
          </a:p>
          <a:p>
            <a:pPr lvl="1"/>
            <a:r>
              <a:rPr lang="ro-RO" dirty="0" smtClean="0"/>
              <a:t>La reluarea execuției, procesorul este încărcat cu contextul salvat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1326641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Prezentare generală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2442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Cerința </a:t>
            </a:r>
            <a:r>
              <a:rPr lang="ro-RO" dirty="0" smtClean="0"/>
              <a:t>pentru o eficiență ridicată:</a:t>
            </a:r>
          </a:p>
          <a:p>
            <a:pPr lvl="1"/>
            <a:r>
              <a:rPr lang="ro-RO" dirty="0" smtClean="0"/>
              <a:t>Reducerea timpului de inactivitate al procesorului</a:t>
            </a:r>
          </a:p>
          <a:p>
            <a:r>
              <a:rPr lang="ro-RO" dirty="0" smtClean="0"/>
              <a:t>Trebuie îndeplinite două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condiții</a:t>
            </a:r>
            <a:r>
              <a:rPr lang="ro-RO" dirty="0" smtClean="0"/>
              <a:t>:</a:t>
            </a:r>
          </a:p>
          <a:p>
            <a:pPr lvl="1"/>
            <a:r>
              <a:rPr lang="ro-RO" dirty="0" smtClean="0"/>
              <a:t>Comutarea foarte rapidă a contextului </a:t>
            </a:r>
            <a:r>
              <a:rPr lang="ro-RO" dirty="0" smtClean="0">
                <a:sym typeface="Symbol" panose="05050102010706020507" pitchFamily="18" charset="2"/>
              </a:rPr>
              <a:t> </a:t>
            </a:r>
            <a:r>
              <a:rPr lang="ro-RO" dirty="0" smtClean="0"/>
              <a:t>se realizează prin mecanisme hardware</a:t>
            </a:r>
          </a:p>
          <a:p>
            <a:pPr lvl="1"/>
            <a:r>
              <a:rPr lang="ro-RO" dirty="0" smtClean="0"/>
              <a:t>Disponibilitatea unui număr suficient de fire de execuție</a:t>
            </a:r>
          </a:p>
          <a:p>
            <a:pPr lvl="2"/>
            <a:r>
              <a:rPr lang="ro-RO" dirty="0" smtClean="0"/>
              <a:t>Păstrarea contextului unui număr mare de fire de execuție este costisitoare </a:t>
            </a:r>
            <a:r>
              <a:rPr lang="ro-RO" dirty="0" smtClean="0">
                <a:sym typeface="Symbol" panose="05050102010706020507" pitchFamily="18" charset="2"/>
              </a:rPr>
              <a:t> </a:t>
            </a:r>
            <a:r>
              <a:rPr lang="ro-RO" dirty="0" smtClean="0"/>
              <a:t>compromis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5266704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Prezentare generală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0769"/>
            <a:ext cx="8511480" cy="5059847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Avantajul </a:t>
            </a:r>
            <a:r>
              <a:rPr lang="ro-RO" dirty="0" smtClean="0"/>
              <a:t>acestor arhitecturi: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Tolerează întârzierile datorate accesului la memorii non-locale și sincronizărilor 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Accesul la memorii non-locale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Timpul de acces variază cu distanța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Se asigură ca timpul de comutare să fie mai mic decât cel mai redus timp de acces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Sincronizarea </a:t>
            </a:r>
            <a:r>
              <a:rPr lang="ro-RO" dirty="0" smtClean="0"/>
              <a:t>între procese/fire de execuție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Mecanism hardware pentru detectarea unei situații de sincronizare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6273857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/>
              <a:t>Arhitecturi cu fire de execuție multiple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816429"/>
          </a:xfrm>
        </p:spPr>
        <p:txBody>
          <a:bodyPr/>
          <a:lstStyle/>
          <a:p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cu fire de execuție multiple</a:t>
            </a:r>
          </a:p>
          <a:p>
            <a:pPr lvl="1"/>
            <a:r>
              <a:rPr lang="ro-RO" dirty="0"/>
              <a:t>Prezentare generală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Modelul fluxului de control</a:t>
            </a:r>
          </a:p>
          <a:p>
            <a:pPr lvl="1"/>
            <a:r>
              <a:rPr lang="ro-RO" dirty="0"/>
              <a:t>Modelul fluxului de date</a:t>
            </a:r>
          </a:p>
          <a:p>
            <a:pPr lvl="1"/>
            <a:r>
              <a:rPr lang="ro-RO" dirty="0"/>
              <a:t>Arhitecturi cu flux de date</a:t>
            </a:r>
          </a:p>
          <a:p>
            <a:pPr lvl="1"/>
            <a:r>
              <a:rPr lang="ro-RO" dirty="0"/>
              <a:t>Exemple de calculatoare cu flux de </a:t>
            </a:r>
            <a:r>
              <a:rPr lang="ro-RO" dirty="0" smtClean="0"/>
              <a:t>date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42416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Modelul fluxului de control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27448"/>
          </a:xfrm>
        </p:spPr>
        <p:txBody>
          <a:bodyPr/>
          <a:lstStyle/>
          <a:p>
            <a:r>
              <a:rPr lang="ro-RO" dirty="0"/>
              <a:t>Calculatoare </a:t>
            </a:r>
            <a:r>
              <a:rPr lang="ro-RO" dirty="0" smtClean="0"/>
              <a:t>convenționale: </a:t>
            </a:r>
            <a:r>
              <a:rPr lang="ro-RO" dirty="0"/>
              <a:t>se bazează pe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arhitectura von Neumann </a:t>
            </a:r>
          </a:p>
          <a:p>
            <a:pPr lvl="1"/>
            <a:r>
              <a:rPr lang="ro-RO" dirty="0" smtClean="0"/>
              <a:t>Fluxurile de control și de date sunt separate</a:t>
            </a:r>
          </a:p>
          <a:p>
            <a:r>
              <a:rPr lang="ro-RO" dirty="0" smtClean="0"/>
              <a:t>Instrucțiunile sunt executate secvențial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Instrucțiuni de control </a:t>
            </a:r>
            <a:r>
              <a:rPr lang="ro-RO" dirty="0" smtClean="0"/>
              <a:t>(de ex., salturi): specifică abaterea de la ordinea secvențială</a:t>
            </a:r>
          </a:p>
          <a:p>
            <a:pPr lvl="1"/>
            <a:r>
              <a:rPr lang="ro-RO" dirty="0" smtClean="0"/>
              <a:t>Implementarea: registru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contor de program</a:t>
            </a:r>
          </a:p>
          <a:p>
            <a:pPr lvl="1"/>
            <a:r>
              <a:rPr lang="ro-RO" dirty="0" smtClean="0"/>
              <a:t>Arhitectură </a:t>
            </a:r>
            <a:r>
              <a:rPr lang="ro-RO" dirty="0"/>
              <a:t>cu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flux de control</a:t>
            </a:r>
            <a:r>
              <a:rPr lang="ro-RO" dirty="0"/>
              <a:t>: </a:t>
            </a:r>
            <a:r>
              <a:rPr lang="ro-RO" dirty="0" smtClean="0"/>
              <a:t>funcționarea </a:t>
            </a:r>
            <a:r>
              <a:rPr lang="ro-RO" dirty="0"/>
              <a:t>este controlată de </a:t>
            </a:r>
            <a:r>
              <a:rPr lang="ro-RO" dirty="0" smtClean="0"/>
              <a:t>secvența </a:t>
            </a:r>
            <a:r>
              <a:rPr lang="ro-RO" dirty="0"/>
              <a:t>de </a:t>
            </a:r>
            <a:r>
              <a:rPr lang="ro-RO" dirty="0" smtClean="0"/>
              <a:t>instrucțiuni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642243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fluxului de control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43475"/>
          </a:xfrm>
        </p:spPr>
        <p:txBody>
          <a:bodyPr/>
          <a:lstStyle/>
          <a:p>
            <a:r>
              <a:rPr lang="ro-RO" dirty="0" smtClean="0"/>
              <a:t>Datele sunt memorate în locații de memorie sau registre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Fluxul de date</a:t>
            </a:r>
            <a:r>
              <a:rPr lang="ro-RO" dirty="0" smtClean="0"/>
              <a:t>: determinat de referințele la locațiile de memorie</a:t>
            </a:r>
          </a:p>
          <a:p>
            <a:pPr lvl="1">
              <a:spcBef>
                <a:spcPts val="600"/>
              </a:spcBef>
            </a:pPr>
            <a:r>
              <a:rPr lang="ro-RO" dirty="0"/>
              <a:t>Datele sunt încărcate și prelucrate numai </a:t>
            </a:r>
            <a:r>
              <a:rPr lang="ro-RO" dirty="0" smtClean="0"/>
              <a:t>atunci când </a:t>
            </a:r>
            <a:r>
              <a:rPr lang="ro-RO" dirty="0"/>
              <a:t>instrucțiunile le </a:t>
            </a:r>
            <a:r>
              <a:rPr lang="ro-RO" dirty="0" smtClean="0"/>
              <a:t>solicită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Fluxul de date nu are efect asupra ordinii de execuție a instrucțiunilor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 smtClean="0"/>
              <a:t>: Modelul fluxului de control pentru calculul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= (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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) + (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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8947147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fluxului de control </a:t>
            </a:r>
            <a:r>
              <a:rPr lang="ro-RO" dirty="0" smtClean="0"/>
              <a:t>(3)</a:t>
            </a:r>
            <a:endParaRPr lang="ro-RO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838" y="1412776"/>
            <a:ext cx="5752684" cy="467197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9113665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/>
              <a:t>Arhitecturi cu fire de execuție multiple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884140"/>
          </a:xfrm>
        </p:spPr>
        <p:txBody>
          <a:bodyPr/>
          <a:lstStyle/>
          <a:p>
            <a:endParaRPr lang="ro-RO" dirty="0"/>
          </a:p>
          <a:p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cu fire de execuție multiple</a:t>
            </a:r>
          </a:p>
          <a:p>
            <a:pPr lvl="1"/>
            <a:r>
              <a:rPr lang="ro-RO" dirty="0"/>
              <a:t>Modelul fluxului de control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Modelul fluxului de date</a:t>
            </a:r>
          </a:p>
          <a:p>
            <a:pPr lvl="1"/>
            <a:r>
              <a:rPr lang="ro-RO" dirty="0"/>
              <a:t>Arhitecturi cu flux de date</a:t>
            </a:r>
          </a:p>
          <a:p>
            <a:pPr lvl="1"/>
            <a:r>
              <a:rPr lang="ro-RO" dirty="0"/>
              <a:t>Exemple de calculatoare </a:t>
            </a:r>
            <a:r>
              <a:rPr lang="ro-RO" dirty="0" smtClean="0"/>
              <a:t>cu </a:t>
            </a:r>
            <a:r>
              <a:rPr lang="ro-RO" dirty="0"/>
              <a:t>flux de </a:t>
            </a:r>
            <a:r>
              <a:rPr lang="ro-RO" dirty="0" smtClean="0"/>
              <a:t>date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4786371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fluxului de date </a:t>
            </a:r>
            <a:r>
              <a:rPr lang="ro-RO" dirty="0" smtClean="0"/>
              <a:t>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0769"/>
            <a:ext cx="8439472" cy="5015582"/>
          </a:xfrm>
        </p:spPr>
        <p:txBody>
          <a:bodyPr/>
          <a:lstStyle/>
          <a:p>
            <a:r>
              <a:rPr lang="ro-RO" dirty="0" smtClean="0"/>
              <a:t>Secvența operațiilor nu este specificată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Nu există contor de program </a:t>
            </a:r>
            <a:r>
              <a:rPr lang="ro-RO" dirty="0" smtClean="0"/>
              <a:t>și nici conceptul clasic de variabile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O instrucțiune este gata pentru execuție atunci când operanzii devin disponibili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Arhitectură 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flux de date </a:t>
            </a:r>
            <a:r>
              <a:rPr lang="ro-RO" dirty="0" smtClean="0"/>
              <a:t>(</a:t>
            </a:r>
            <a:r>
              <a:rPr lang="ro-RO" i="1" dirty="0" err="1" smtClean="0"/>
              <a:t>dataflow</a:t>
            </a:r>
            <a:r>
              <a:rPr lang="ro-RO" dirty="0" smtClean="0"/>
              <a:t>): este controlată de date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Gradul de paralelism este ridicat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Graful fluxului de date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Noduri: operatori (procesoare)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fluxului de date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412968"/>
          </a:xfrm>
        </p:spPr>
        <p:txBody>
          <a:bodyPr/>
          <a:lstStyle/>
          <a:p>
            <a:pPr lvl="1"/>
            <a:r>
              <a:rPr lang="ro-RO" dirty="0"/>
              <a:t>Arce: căi pentru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date </a:t>
            </a:r>
            <a:r>
              <a:rPr lang="ro-RO" dirty="0"/>
              <a:t>sau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valori de control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Declanșarea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  <a:r>
              <a:rPr lang="ro-RO" dirty="0" smtClean="0"/>
              <a:t>(execuția operației) unui nod: sunt disponibile datele pe arcele de intrare</a:t>
            </a:r>
          </a:p>
          <a:p>
            <a:pPr lvl="1"/>
            <a:r>
              <a:rPr lang="ro-RO" dirty="0" smtClean="0"/>
              <a:t>Disponibilitatea datelor pe un arc este indicată printr-un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simbol </a:t>
            </a:r>
            <a:r>
              <a:rPr lang="ro-RO" dirty="0" smtClean="0"/>
              <a:t>(</a:t>
            </a:r>
            <a:r>
              <a:rPr lang="ro-RO" i="1" dirty="0" err="1" smtClean="0"/>
              <a:t>token</a:t>
            </a:r>
            <a:r>
              <a:rPr lang="ro-RO" dirty="0" smtClean="0"/>
              <a:t>)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  <p:pic>
        <p:nvPicPr>
          <p:cNvPr id="7" name="Picture 6" descr="flux-declansare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21748" y="4098714"/>
            <a:ext cx="5292864" cy="198394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fluxului de date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0769"/>
            <a:ext cx="8439472" cy="4968551"/>
          </a:xfrm>
        </p:spPr>
        <p:txBody>
          <a:bodyPr/>
          <a:lstStyle/>
          <a:p>
            <a:pPr lvl="1"/>
            <a:r>
              <a:rPr lang="ro-RO" dirty="0" smtClean="0"/>
              <a:t>Două tipuri de simboluri: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 date</a:t>
            </a:r>
            <a:r>
              <a:rPr lang="ro-RO" dirty="0" smtClean="0"/>
              <a:t>;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booleene</a:t>
            </a:r>
          </a:p>
          <a:p>
            <a:pPr lvl="1"/>
            <a:r>
              <a:rPr lang="ro-RO" dirty="0" smtClean="0"/>
              <a:t>Nod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operator </a:t>
            </a:r>
          </a:p>
          <a:p>
            <a:pPr lvl="1"/>
            <a:r>
              <a:rPr lang="ro-RO" dirty="0" smtClean="0"/>
              <a:t>Nod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 decizie</a:t>
            </a:r>
            <a:r>
              <a:rPr lang="ro-RO" dirty="0" smtClean="0"/>
              <a:t>: generează un simbol boolean</a:t>
            </a:r>
          </a:p>
          <a:p>
            <a:pPr lvl="1"/>
            <a:r>
              <a:rPr lang="ro-RO" dirty="0" smtClean="0"/>
              <a:t>Nod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 fuziune</a:t>
            </a:r>
            <a:r>
              <a:rPr lang="ro-RO" dirty="0" smtClean="0"/>
              <a:t>: plasează unul din simbolurile de intrare pe arcul de ieșire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28" y="4077072"/>
            <a:ext cx="7047704" cy="209657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fluxului de date 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pPr lvl="1"/>
            <a:r>
              <a:rPr lang="ro-RO" dirty="0"/>
              <a:t>Nod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comutator</a:t>
            </a:r>
            <a:r>
              <a:rPr lang="ro-RO" dirty="0"/>
              <a:t>: plasează simbolul de intrare pe unul din arcele de ieșire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Poartă T</a:t>
            </a:r>
            <a:r>
              <a:rPr lang="ro-RO" dirty="0"/>
              <a:t>: plasează simbolul de intrare la ieșire dacă simbolul boolean este TRUE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Poartă F</a:t>
            </a:r>
            <a:r>
              <a:rPr lang="ro-RO" dirty="0"/>
              <a:t>: idem, dacă simbolul boolean este F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077072"/>
            <a:ext cx="6902390" cy="211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71167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fluxului de date </a:t>
            </a:r>
            <a:r>
              <a:rPr lang="ro-RO" dirty="0" smtClean="0"/>
              <a:t>(5)</a:t>
            </a:r>
            <a:endParaRPr lang="ro-RO" dirty="0"/>
          </a:p>
        </p:txBody>
      </p:sp>
      <p:pic>
        <p:nvPicPr>
          <p:cNvPr id="7" name="Content Placeholder 6" descr="flux-ex-if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195736" y="1268760"/>
            <a:ext cx="4741843" cy="493173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fluxului de date </a:t>
            </a:r>
            <a:r>
              <a:rPr lang="ro-RO" dirty="0" smtClean="0"/>
              <a:t>(6)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439472" cy="470282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Modelul static al fluxului de date </a:t>
            </a:r>
          </a:p>
          <a:p>
            <a:pPr lvl="1"/>
            <a:r>
              <a:rPr lang="ro-RO" dirty="0" smtClean="0"/>
              <a:t>Declanșarea: numai dacă fiecare arc de intrare conține un simbol; arcele de ieșire nu conțin simboluri</a:t>
            </a:r>
          </a:p>
          <a:p>
            <a:pPr lvl="1"/>
            <a:r>
              <a:rPr lang="ro-RO" dirty="0" smtClean="0"/>
              <a:t>Este necesară o confirmare de la nodul urm.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Modelul dinamic al fluxului de date</a:t>
            </a:r>
          </a:p>
          <a:p>
            <a:pPr lvl="1"/>
            <a:r>
              <a:rPr lang="ro-RO" dirty="0" smtClean="0"/>
              <a:t>Lipsa simbolurilor la ieșire nu este necesară</a:t>
            </a:r>
          </a:p>
          <a:p>
            <a:pPr lvl="1"/>
            <a:r>
              <a:rPr lang="ro-RO" dirty="0" smtClean="0"/>
              <a:t>Un arc poate conține mai multe simboluri</a:t>
            </a:r>
          </a:p>
          <a:p>
            <a:pPr lvl="1"/>
            <a:r>
              <a:rPr lang="ro-RO" dirty="0" smtClean="0"/>
              <a:t>Un simbol trebuie asociat cu un set de date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/>
              <a:t>Arhitecturi cu fire de execuție multiple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884140"/>
          </a:xfrm>
        </p:spPr>
        <p:txBody>
          <a:bodyPr/>
          <a:lstStyle/>
          <a:p>
            <a:endParaRPr lang="ro-RO" dirty="0"/>
          </a:p>
          <a:p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cu fire de execuție multiple</a:t>
            </a:r>
          </a:p>
          <a:p>
            <a:pPr lvl="1"/>
            <a:r>
              <a:rPr lang="ro-RO" dirty="0"/>
              <a:t>Modelul fluxului de control</a:t>
            </a:r>
          </a:p>
          <a:p>
            <a:pPr lvl="1"/>
            <a:r>
              <a:rPr lang="ro-RO" dirty="0"/>
              <a:t>Modelul fluxului de date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cu flux de date</a:t>
            </a:r>
          </a:p>
          <a:p>
            <a:pPr lvl="1"/>
            <a:r>
              <a:rPr lang="ro-RO" dirty="0"/>
              <a:t>Exemple de </a:t>
            </a:r>
            <a:r>
              <a:rPr lang="ro-RO" dirty="0" smtClean="0"/>
              <a:t>calculatoare cu </a:t>
            </a:r>
            <a:r>
              <a:rPr lang="ro-RO" dirty="0"/>
              <a:t>flux de date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Arhitecturi cu flux de date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68453"/>
          </a:xfrm>
        </p:spPr>
        <p:txBody>
          <a:bodyPr/>
          <a:lstStyle/>
          <a:p>
            <a:r>
              <a:rPr lang="ro-RO" dirty="0" smtClean="0"/>
              <a:t>Instrucțiunile cu flux de date nu adresează variabile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/>
              </a:rPr>
              <a:t>conțin variabilele </a:t>
            </a:r>
            <a:r>
              <a:rPr lang="ro-RO" dirty="0" smtClean="0">
                <a:sym typeface="Symbol"/>
              </a:rPr>
              <a:t>utilizate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sym typeface="Symbol"/>
              </a:rPr>
              <a:t>Execuția instrucțiunilor nu afectează alte instrucțiuni gata pentru execuție 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Arhitectură statică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Validarea unei instrucțiuni: atunci când operanzii sunt recepționați şi o altă instrucțiune așteaptă rezultatul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Constrângere impusă prin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semnale de confirmare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flux de </a:t>
            </a:r>
            <a:r>
              <a:rPr lang="ro-RO" dirty="0" smtClean="0"/>
              <a:t>date (</a:t>
            </a:r>
            <a:r>
              <a:rPr lang="ro-RO" dirty="0"/>
              <a:t>2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1871282"/>
          </a:xfrm>
        </p:spPr>
        <p:txBody>
          <a:bodyPr/>
          <a:lstStyle/>
          <a:p>
            <a:pPr lvl="1"/>
            <a:r>
              <a:rPr lang="ro-RO" dirty="0" smtClean="0"/>
              <a:t>Fiecare arc din graful fluxului de date poate conține cel mult un simbol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 de graf al fluxului de date </a:t>
            </a:r>
            <a:r>
              <a:rPr lang="ro-RO" dirty="0" smtClean="0"/>
              <a:t>într-o arhitectură statică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534" y="3440274"/>
            <a:ext cx="3857291" cy="275995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flux de date </a:t>
            </a:r>
            <a:r>
              <a:rPr lang="ro-RO" dirty="0" smtClean="0"/>
              <a:t>(3)</a:t>
            </a:r>
            <a:endParaRPr lang="ro-RO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90" y="1951299"/>
            <a:ext cx="7332179" cy="332566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06412133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flux de </a:t>
            </a:r>
            <a:r>
              <a:rPr lang="ro-RO" dirty="0" smtClean="0"/>
              <a:t>date (</a:t>
            </a:r>
            <a:r>
              <a:rPr lang="ro-RO" dirty="0"/>
              <a:t>4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49047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Structura calculatorului static cu flux de date MIT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Unitatea de procesare: EP multiple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Unitatea de memorie: celule de instrucțiuni 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Celulă de instrucțiune</a:t>
            </a:r>
            <a:r>
              <a:rPr lang="ro-RO" dirty="0" smtClean="0"/>
              <a:t>: conține reprezentarea unui nod al grafului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șablon de activitate </a:t>
            </a:r>
          </a:p>
          <a:p>
            <a:pPr lvl="2">
              <a:spcBef>
                <a:spcPts val="600"/>
              </a:spcBef>
            </a:pPr>
            <a:r>
              <a:rPr lang="ro-RO" sz="3000" dirty="0" smtClean="0"/>
              <a:t>Codul operației, simboluri (date) de intrare, pointeri la celulele destinație 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Pachet de operație</a:t>
            </a:r>
            <a:r>
              <a:rPr lang="ro-RO" dirty="0" smtClean="0"/>
              <a:t>: o instrucțiune validată 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Pachet rezultat</a:t>
            </a:r>
            <a:r>
              <a:rPr lang="ro-RO" dirty="0" smtClean="0"/>
              <a:t>: valoare, adresă destinație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flux de </a:t>
            </a:r>
            <a:r>
              <a:rPr lang="ro-RO" dirty="0" smtClean="0"/>
              <a:t>date (5)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637" y="1268760"/>
            <a:ext cx="5005085" cy="4913807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flux de </a:t>
            </a:r>
            <a:r>
              <a:rPr lang="ro-RO" dirty="0" smtClean="0"/>
              <a:t>date (6)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9515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Arhitectură dinamică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Validarea unei instrucțiuni: atunci când operanzii sunt recepționați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Pot deveni disponibile simultan mai multe seturi de operanzi ale instrucțiunii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Comparativ cu arhitecturile statice: permit un grad mai ridicat de paralelism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Este necesar 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mecanism pentru a distinge diferitele seturi de operanzi </a:t>
            </a:r>
            <a:r>
              <a:rPr lang="ro-RO" dirty="0" smtClean="0"/>
              <a:t>pentru o instrucțiune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flux de </a:t>
            </a:r>
            <a:r>
              <a:rPr lang="ro-RO" dirty="0" smtClean="0"/>
              <a:t>date (7)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1871282"/>
          </a:xfrm>
        </p:spPr>
        <p:txBody>
          <a:bodyPr/>
          <a:lstStyle/>
          <a:p>
            <a:pPr lvl="1"/>
            <a:r>
              <a:rPr lang="ro-RO" dirty="0" smtClean="0"/>
              <a:t>Un arc din graful fluxului de date poate conține mai mult de un simbol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 de graf al fluxului de date </a:t>
            </a:r>
            <a:r>
              <a:rPr lang="ro-RO" dirty="0" smtClean="0"/>
              <a:t>într-o arhitectură dinamică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534" y="3430523"/>
            <a:ext cx="3857291" cy="281981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flux de </a:t>
            </a:r>
            <a:r>
              <a:rPr lang="ro-RO" dirty="0" smtClean="0"/>
              <a:t>date (8)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3673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Diferențierea seturilor de operanzi </a:t>
            </a:r>
            <a:r>
              <a:rPr lang="ro-RO" dirty="0" smtClean="0"/>
              <a:t>într-o arhitectură dinamică </a:t>
            </a:r>
          </a:p>
          <a:p>
            <a:pPr lvl="1"/>
            <a:r>
              <a:rPr lang="ro-RO" dirty="0" smtClean="0"/>
              <a:t>Câmp suplimentar adăugat în pachetul rezultatului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/>
              </a:rPr>
              <a:t>etichetă </a:t>
            </a:r>
          </a:p>
          <a:p>
            <a:pPr lvl="1"/>
            <a:r>
              <a:rPr lang="ro-RO" dirty="0" smtClean="0">
                <a:sym typeface="Symbol"/>
              </a:rPr>
              <a:t>Se compară etichetele </a:t>
            </a:r>
          </a:p>
          <a:p>
            <a:pPr lvl="1"/>
            <a:r>
              <a:rPr lang="ro-RO" dirty="0" smtClean="0"/>
              <a:t>Se poate utiliza o memorie asociativă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/>
              </a:rPr>
              <a:t>memorie de potrivire </a:t>
            </a:r>
          </a:p>
          <a:p>
            <a:pPr lvl="1"/>
            <a:r>
              <a:rPr lang="ro-RO" dirty="0" smtClean="0"/>
              <a:t>Determinarea instrucțiunii validate: pe baza adresei destinației și a etichetei din pachetul rezultat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cu flux de </a:t>
            </a:r>
            <a:r>
              <a:rPr lang="ro-RO" dirty="0" smtClean="0"/>
              <a:t>date (9)</a:t>
            </a:r>
            <a:endParaRPr lang="ro-RO" dirty="0"/>
          </a:p>
        </p:txBody>
      </p:sp>
      <p:pic>
        <p:nvPicPr>
          <p:cNvPr id="7" name="Content Placeholder 6" descr="flux-unitate-memorie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691680" y="1268760"/>
            <a:ext cx="5759635" cy="500653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/>
              <a:t>Arhitecturi cu fire de execuție multiple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884140"/>
          </a:xfrm>
        </p:spPr>
        <p:txBody>
          <a:bodyPr/>
          <a:lstStyle/>
          <a:p>
            <a:endParaRPr lang="ro-RO" dirty="0"/>
          </a:p>
          <a:p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cu fire de execuție multiple</a:t>
            </a:r>
          </a:p>
          <a:p>
            <a:pPr lvl="1"/>
            <a:r>
              <a:rPr lang="ro-RO" dirty="0"/>
              <a:t>Modelul fluxului de control</a:t>
            </a:r>
          </a:p>
          <a:p>
            <a:pPr lvl="1"/>
            <a:r>
              <a:rPr lang="ro-RO" dirty="0"/>
              <a:t>Modelul fluxului de date</a:t>
            </a:r>
          </a:p>
          <a:p>
            <a:pPr lvl="1"/>
            <a:r>
              <a:rPr lang="ro-RO" dirty="0"/>
              <a:t>Arhitecturi cu flux de date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Exemple de calculatoare cu flux de date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218795"/>
          </a:xfrm>
        </p:spPr>
        <p:txBody>
          <a:bodyPr/>
          <a:lstStyle/>
          <a:p>
            <a:r>
              <a:rPr lang="ro-RO" sz="4400" dirty="0" smtClean="0"/>
              <a:t>Exemple de calculatoare cu</a:t>
            </a:r>
            <a:br>
              <a:rPr lang="ro-RO" sz="4400" dirty="0" smtClean="0"/>
            </a:br>
            <a:r>
              <a:rPr lang="ro-RO" sz="4400" dirty="0" smtClean="0"/>
              <a:t>flux de date (1)</a:t>
            </a:r>
            <a:endParaRPr lang="ro-RO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56792"/>
            <a:ext cx="8382000" cy="4608512"/>
          </a:xfrm>
        </p:spPr>
        <p:txBody>
          <a:bodyPr/>
          <a:lstStyle/>
          <a:p>
            <a:r>
              <a:rPr lang="ro-RO" dirty="0" smtClean="0"/>
              <a:t>Calculatoarele cu flux de date nu au avut un succes comercial </a:t>
            </a:r>
          </a:p>
          <a:p>
            <a:pPr lvl="1"/>
            <a:r>
              <a:rPr lang="ro-RO" dirty="0" smtClean="0"/>
              <a:t>Complexitatea hardware semnificativă </a:t>
            </a:r>
          </a:p>
          <a:p>
            <a:pPr lvl="1"/>
            <a:r>
              <a:rPr lang="ro-RO" dirty="0" smtClean="0"/>
              <a:t>Dificultatea transmiterii eficiente a simbolurilor de date</a:t>
            </a:r>
          </a:p>
          <a:p>
            <a:pPr lvl="1"/>
            <a:r>
              <a:rPr lang="ro-RO" dirty="0" smtClean="0"/>
              <a:t>Necesită memorii asociative de dimensiuni mari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/>
              <a:t>păstrarea dependențelor de date</a:t>
            </a:r>
          </a:p>
          <a:p>
            <a:pPr lvl="1"/>
            <a:r>
              <a:rPr lang="ro-RO" dirty="0" smtClean="0"/>
              <a:t>Dificultatea dezvoltării și compilării limbajelor cu flux de date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218795"/>
          </a:xfrm>
        </p:spPr>
        <p:txBody>
          <a:bodyPr/>
          <a:lstStyle/>
          <a:p>
            <a:r>
              <a:rPr lang="ro-RO" sz="4400" dirty="0"/>
              <a:t>Exemple de calculatoare cu </a:t>
            </a:r>
            <a:r>
              <a:rPr lang="ro-RO" sz="4400" dirty="0" smtClean="0"/>
              <a:t/>
            </a:r>
            <a:br>
              <a:rPr lang="ro-RO" sz="4400" dirty="0" smtClean="0"/>
            </a:br>
            <a:r>
              <a:rPr lang="ro-RO" sz="4400" dirty="0" smtClean="0"/>
              <a:t>flux </a:t>
            </a:r>
            <a:r>
              <a:rPr lang="ro-RO" sz="4400" dirty="0"/>
              <a:t>de date </a:t>
            </a:r>
            <a:r>
              <a:rPr lang="ro-RO" sz="4400" dirty="0" smtClean="0"/>
              <a:t>(2)</a:t>
            </a:r>
            <a:endParaRPr lang="ro-RO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56792"/>
            <a:ext cx="8382000" cy="4659737"/>
          </a:xfrm>
        </p:spPr>
        <p:txBody>
          <a:bodyPr/>
          <a:lstStyle/>
          <a:p>
            <a:r>
              <a:rPr lang="ro-RO" dirty="0" smtClean="0"/>
              <a:t>Concepte ale fluxului de date incluse în procesoare specializate: DSP, GPU</a:t>
            </a:r>
          </a:p>
          <a:p>
            <a:r>
              <a:rPr lang="ro-RO" dirty="0" smtClean="0"/>
              <a:t>Procesoare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superscalare </a:t>
            </a:r>
          </a:p>
          <a:p>
            <a:pPr lvl="1"/>
            <a:r>
              <a:rPr lang="ro-RO" dirty="0" smtClean="0"/>
              <a:t>Permit execuția instrucțiunilor într-o ordine diferită de cea din program (</a:t>
            </a:r>
            <a:r>
              <a:rPr lang="ro-RO" i="1" dirty="0" smtClean="0"/>
              <a:t>out-of-</a:t>
            </a:r>
            <a:r>
              <a:rPr lang="ro-RO" i="1" dirty="0" err="1" smtClean="0"/>
              <a:t>order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/>
              <a:t>Formă restrânsă de flux de date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/>
              <a:t>flux local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Fereastră de execuție</a:t>
            </a:r>
            <a:r>
              <a:rPr lang="ro-RO" dirty="0" smtClean="0"/>
              <a:t>: instrucțiunile sunt executate când operanzii sunt disponibili</a:t>
            </a:r>
          </a:p>
          <a:p>
            <a:pPr lvl="1"/>
            <a:r>
              <a:rPr lang="ro-RO" dirty="0" smtClean="0"/>
              <a:t>O fereastră de execuție: 32 .. 200 instrucțiuni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218795"/>
          </a:xfrm>
        </p:spPr>
        <p:txBody>
          <a:bodyPr/>
          <a:lstStyle/>
          <a:p>
            <a:r>
              <a:rPr lang="ro-RO" sz="4400" dirty="0"/>
              <a:t>Exemple de calculatoare cu </a:t>
            </a:r>
            <a:br>
              <a:rPr lang="ro-RO" sz="4400" dirty="0"/>
            </a:br>
            <a:r>
              <a:rPr lang="ro-RO" sz="4400" dirty="0"/>
              <a:t>flux de date </a:t>
            </a:r>
            <a:r>
              <a:rPr lang="ro-RO" sz="4400" dirty="0" smtClean="0"/>
              <a:t>(3)</a:t>
            </a:r>
            <a:endParaRPr lang="ro-RO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56791"/>
            <a:ext cx="8382000" cy="4799559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Calculatorul dinamic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Manchester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MDM – </a:t>
            </a:r>
            <a:r>
              <a:rPr lang="ro-RO" i="1" dirty="0" err="1" smtClean="0"/>
              <a:t>Manchester</a:t>
            </a:r>
            <a:r>
              <a:rPr lang="ro-RO" i="1" dirty="0" smtClean="0"/>
              <a:t> </a:t>
            </a:r>
            <a:r>
              <a:rPr lang="ro-RO" i="1" dirty="0" err="1" smtClean="0"/>
              <a:t>Dataflow</a:t>
            </a:r>
            <a:r>
              <a:rPr lang="ro-RO" i="1" dirty="0" smtClean="0"/>
              <a:t> </a:t>
            </a:r>
            <a:r>
              <a:rPr lang="ro-RO" i="1" dirty="0" err="1" smtClean="0"/>
              <a:t>Machine</a:t>
            </a:r>
            <a:r>
              <a:rPr lang="ro-RO" i="1" dirty="0" smtClean="0"/>
              <a:t> </a:t>
            </a:r>
          </a:p>
          <a:p>
            <a:pPr>
              <a:spcBef>
                <a:spcPts val="600"/>
              </a:spcBef>
            </a:pP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Multiprocesorul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Monsoon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(MIT, </a:t>
            </a:r>
            <a:r>
              <a:rPr lang="ro-RO" dirty="0" err="1" smtClean="0"/>
              <a:t>Motorola</a:t>
            </a:r>
            <a:r>
              <a:rPr lang="ro-RO" dirty="0" smtClean="0"/>
              <a:t>)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Utilizează limbajul paralel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Id</a:t>
            </a:r>
            <a:endParaRPr lang="ro-RO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Calculatorul EDDEN </a:t>
            </a:r>
            <a:r>
              <a:rPr lang="ro-RO" dirty="0" smtClean="0"/>
              <a:t>(</a:t>
            </a:r>
            <a:r>
              <a:rPr lang="ro-RO" dirty="0" err="1" smtClean="0"/>
              <a:t>Sanyo</a:t>
            </a:r>
            <a:r>
              <a:rPr lang="ro-RO" dirty="0" smtClean="0"/>
              <a:t> Electric)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EDDEN – </a:t>
            </a:r>
            <a:r>
              <a:rPr lang="ro-RO" i="1" dirty="0" err="1" smtClean="0"/>
              <a:t>Enhanced</a:t>
            </a:r>
            <a:r>
              <a:rPr lang="ro-RO" i="1" dirty="0" smtClean="0"/>
              <a:t> </a:t>
            </a:r>
            <a:r>
              <a:rPr lang="ro-RO" i="1" dirty="0" err="1" smtClean="0"/>
              <a:t>Data-Driven</a:t>
            </a:r>
            <a:r>
              <a:rPr lang="ro-RO" i="1" dirty="0" smtClean="0"/>
              <a:t> </a:t>
            </a:r>
            <a:r>
              <a:rPr lang="ro-RO" i="1" dirty="0" err="1" smtClean="0"/>
              <a:t>Engine</a:t>
            </a:r>
            <a:endParaRPr lang="ro-RO" i="1" dirty="0" smtClean="0"/>
          </a:p>
          <a:p>
            <a:pPr lvl="1">
              <a:spcBef>
                <a:spcPts val="600"/>
              </a:spcBef>
            </a:pPr>
            <a:r>
              <a:rPr lang="ro-RO" dirty="0" smtClean="0"/>
              <a:t>Versiunea comercială: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Cyberflow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/64</a:t>
            </a:r>
            <a:r>
              <a:rPr lang="ro-RO" dirty="0" smtClean="0"/>
              <a:t> 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Calculatoare hibride</a:t>
            </a:r>
            <a:r>
              <a:rPr lang="ro-RO" dirty="0" smtClean="0"/>
              <a:t>: flux de date + flux de control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52070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Arhitecturile MIMD </a:t>
            </a:r>
            <a:r>
              <a:rPr lang="ro-RO" sz="3300" dirty="0" smtClean="0"/>
              <a:t>sunt mai generale față de alte arhitecturi paralele, dar programarea lor este mai dificilă</a:t>
            </a:r>
          </a:p>
          <a:p>
            <a:r>
              <a:rPr lang="ro-RO" sz="3300" dirty="0"/>
              <a:t>C</a:t>
            </a:r>
            <a:r>
              <a:rPr lang="ro-RO" sz="3300" dirty="0" smtClean="0"/>
              <a:t>ategorii principale de arhitecturi MIMD: cu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memorie partajată </a:t>
            </a:r>
            <a:r>
              <a:rPr lang="ro-RO" sz="3300" dirty="0" smtClean="0"/>
              <a:t>și cu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transmitere de mesaje</a:t>
            </a:r>
          </a:p>
          <a:p>
            <a:r>
              <a:rPr lang="ro-RO" sz="3300" dirty="0" smtClean="0"/>
              <a:t>Arhitecturile MIMD cu memorie partajată se numesc și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multiprocesoare</a:t>
            </a:r>
            <a:r>
              <a:rPr lang="ro-RO" sz="3300" dirty="0" smtClean="0">
                <a:solidFill>
                  <a:schemeClr val="tx2"/>
                </a:solidFill>
              </a:rPr>
              <a:t> </a:t>
            </a:r>
            <a:r>
              <a:rPr lang="ro-RO" sz="3300" dirty="0"/>
              <a:t>sau arhitecturi cu memorie uniformă</a:t>
            </a:r>
          </a:p>
          <a:p>
            <a:pPr lvl="1"/>
            <a:r>
              <a:rPr lang="ro-RO" sz="2900" dirty="0" smtClean="0"/>
              <a:t>Programarea este simplă, dar </a:t>
            </a:r>
            <a:r>
              <a:rPr lang="ro-RO" sz="2900" dirty="0" err="1" smtClean="0"/>
              <a:t>scalabilitatea</a:t>
            </a:r>
            <a:r>
              <a:rPr lang="ro-RO" sz="2900" dirty="0" smtClean="0"/>
              <a:t> este redusă din cauza conflictelor la accesul memoriei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21683720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68761"/>
            <a:ext cx="8382000" cy="5030608"/>
          </a:xfrm>
        </p:spPr>
        <p:txBody>
          <a:bodyPr/>
          <a:lstStyle/>
          <a:p>
            <a:r>
              <a:rPr lang="ro-RO" sz="3300" dirty="0" smtClean="0"/>
              <a:t>Arhitecturile MIMD cu transmitere de mesaje se numesc și </a:t>
            </a:r>
            <a:r>
              <a:rPr lang="ro-RO" sz="33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multicalculatoare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300" dirty="0" smtClean="0"/>
              <a:t>sau</a:t>
            </a:r>
            <a:r>
              <a:rPr lang="ro-RO" sz="3300" dirty="0" smtClean="0">
                <a:solidFill>
                  <a:schemeClr val="tx2"/>
                </a:solidFill>
              </a:rPr>
              <a:t> </a:t>
            </a:r>
            <a:r>
              <a:rPr lang="ro-RO" sz="3300" dirty="0" smtClean="0"/>
              <a:t>arhitecturi cu memorie distribuită</a:t>
            </a:r>
          </a:p>
          <a:p>
            <a:pPr lvl="1"/>
            <a:r>
              <a:rPr lang="ro-RO" sz="2900" dirty="0" err="1" smtClean="0"/>
              <a:t>Scalabilitatea</a:t>
            </a:r>
            <a:r>
              <a:rPr lang="ro-RO" sz="2900" dirty="0" smtClean="0"/>
              <a:t> este îmbunătățită, dar este necesară copierea unor structuri de date între procese</a:t>
            </a:r>
            <a:endParaRPr lang="ro-RO" sz="2900" dirty="0"/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Arhitecturile cu fire de execuție multiple </a:t>
            </a:r>
            <a:r>
              <a:rPr lang="ro-RO" sz="3300" dirty="0" smtClean="0"/>
              <a:t>asigură comutarea rapidă a contextului între firele de execuție</a:t>
            </a:r>
          </a:p>
          <a:p>
            <a:pPr lvl="1"/>
            <a:r>
              <a:rPr lang="ro-RO" sz="2900" dirty="0" smtClean="0"/>
              <a:t>Trebuie să fie disponibile suficiente fire de execuție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8278137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85953"/>
          </a:xfrm>
        </p:spPr>
        <p:txBody>
          <a:bodyPr/>
          <a:lstStyle/>
          <a:p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Arhitecturile cu flux de date </a:t>
            </a:r>
            <a:r>
              <a:rPr lang="ro-RO" sz="3300" dirty="0"/>
              <a:t>nu conțin un contor de program, ci sunt controlate de date</a:t>
            </a:r>
          </a:p>
          <a:p>
            <a:pPr lvl="1"/>
            <a:r>
              <a:rPr lang="ro-RO" sz="2900" dirty="0"/>
              <a:t>Două tipuri de arhitecturi cu flux de date: </a:t>
            </a:r>
            <a:r>
              <a:rPr lang="ro-RO" sz="29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statice </a:t>
            </a:r>
            <a:r>
              <a:rPr lang="ro-RO" sz="2900" dirty="0"/>
              <a:t>și </a:t>
            </a:r>
            <a:r>
              <a:rPr lang="ro-RO" sz="29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dinamice</a:t>
            </a:r>
          </a:p>
          <a:p>
            <a:pPr lvl="1"/>
            <a:r>
              <a:rPr lang="ro-RO" sz="2900" dirty="0"/>
              <a:t>Arhitecturile dinamice trebuie să conțină un mecanism pentru a distinge între ele diferitele seturi de operanzi ai unei </a:t>
            </a:r>
            <a:r>
              <a:rPr lang="ro-RO" sz="2900" dirty="0" smtClean="0"/>
              <a:t>instrucțiuni</a:t>
            </a:r>
          </a:p>
          <a:p>
            <a:pPr lvl="1"/>
            <a:r>
              <a:rPr lang="ro-RO" sz="2900" dirty="0" smtClean="0"/>
              <a:t>Diferențierea se poate realiza cu un câmp de etichetă adăugat la pachetul rezultatului</a:t>
            </a:r>
            <a:endParaRPr lang="ro-RO" sz="2900" dirty="0"/>
          </a:p>
          <a:p>
            <a:pPr lvl="1"/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Procesoarele superscalare </a:t>
            </a:r>
            <a:r>
              <a:rPr lang="ro-RO" sz="2900" dirty="0" smtClean="0"/>
              <a:t>utilizează o formă restrânsă de flux de date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1602641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24425"/>
          </a:xfrm>
        </p:spPr>
        <p:txBody>
          <a:bodyPr/>
          <a:lstStyle/>
          <a:p>
            <a:pPr marL="576000" lvl="1"/>
            <a:r>
              <a:rPr lang="ro-RO" dirty="0" smtClean="0"/>
              <a:t>Prezentare generală a arhitecturilor MIMD</a:t>
            </a:r>
          </a:p>
          <a:p>
            <a:pPr marL="576000" lvl="1"/>
            <a:r>
              <a:rPr lang="ro-RO" dirty="0" smtClean="0"/>
              <a:t>Avantaje ale arhitecturilor MIMD</a:t>
            </a:r>
          </a:p>
          <a:p>
            <a:pPr marL="576000" lvl="1"/>
            <a:r>
              <a:rPr lang="ro-RO" dirty="0"/>
              <a:t>Prezentare generală a </a:t>
            </a:r>
            <a:r>
              <a:rPr lang="ro-RO" dirty="0" smtClean="0"/>
              <a:t>arhitecturilor cu memorie partajată</a:t>
            </a:r>
          </a:p>
          <a:p>
            <a:pPr marL="576000" lvl="1"/>
            <a:r>
              <a:rPr lang="ro-RO" dirty="0" smtClean="0"/>
              <a:t>Avantaje </a:t>
            </a:r>
            <a:r>
              <a:rPr lang="ro-RO" dirty="0"/>
              <a:t>și dezavantaje ale </a:t>
            </a:r>
            <a:r>
              <a:rPr lang="ro-RO" dirty="0" smtClean="0"/>
              <a:t>arhitecturilor cu memorie partajată</a:t>
            </a:r>
          </a:p>
          <a:p>
            <a:pPr marL="576000" lvl="1"/>
            <a:r>
              <a:rPr lang="ro-RO" dirty="0" smtClean="0"/>
              <a:t>Soluții pentru îmbunătățirea </a:t>
            </a:r>
            <a:r>
              <a:rPr lang="ro-RO" dirty="0" err="1" smtClean="0"/>
              <a:t>scalabilității</a:t>
            </a:r>
            <a:r>
              <a:rPr lang="ro-RO" dirty="0"/>
              <a:t> arhitecturilor cu memorie </a:t>
            </a:r>
            <a:r>
              <a:rPr lang="ro-RO" dirty="0" smtClean="0"/>
              <a:t>partajată</a:t>
            </a:r>
          </a:p>
          <a:p>
            <a:pPr marL="576000" lvl="1"/>
            <a:r>
              <a:rPr lang="ro-RO" dirty="0" smtClean="0"/>
              <a:t>Prezentare generală a arhitecturilor cu transmitere de mesaje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40039446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Noțiuni, cunoștințe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481227"/>
          </a:xfrm>
        </p:spPr>
        <p:txBody>
          <a:bodyPr/>
          <a:lstStyle/>
          <a:p>
            <a:pPr marL="576000" lvl="1"/>
            <a:r>
              <a:rPr lang="ro-RO" dirty="0" smtClean="0"/>
              <a:t>Avantaje </a:t>
            </a:r>
            <a:r>
              <a:rPr lang="ro-RO" dirty="0"/>
              <a:t>și dezavantaje ale arhitecturilor cu transmitere de </a:t>
            </a:r>
            <a:r>
              <a:rPr lang="ro-RO" dirty="0" smtClean="0"/>
              <a:t>mesaje</a:t>
            </a:r>
          </a:p>
          <a:p>
            <a:pPr marL="576000" lvl="1"/>
            <a:r>
              <a:rPr lang="ro-RO" dirty="0" smtClean="0"/>
              <a:t>Arhitecturi cu memorie distribuită și memorii </a:t>
            </a:r>
            <a:r>
              <a:rPr lang="ro-RO" i="1" dirty="0" smtClean="0"/>
              <a:t>cache</a:t>
            </a:r>
          </a:p>
          <a:p>
            <a:pPr marL="576000" lvl="1"/>
            <a:r>
              <a:rPr lang="ro-RO" dirty="0" smtClean="0"/>
              <a:t>Prezentare generală a arhitecturilor cu fire de execuție multiple</a:t>
            </a:r>
          </a:p>
          <a:p>
            <a:pPr marL="576000" lvl="1"/>
            <a:r>
              <a:rPr lang="ro-RO" dirty="0" smtClean="0"/>
              <a:t>Modelul fluxului de control</a:t>
            </a:r>
          </a:p>
          <a:p>
            <a:pPr marL="576000" lvl="1"/>
            <a:r>
              <a:rPr lang="ro-RO" dirty="0" smtClean="0"/>
              <a:t>Modelul fluxului de date</a:t>
            </a:r>
          </a:p>
          <a:p>
            <a:pPr marL="576000" lvl="1"/>
            <a:r>
              <a:rPr lang="ro-RO" dirty="0" smtClean="0"/>
              <a:t>Graful fluxului de date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08078853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Noțiuni, cunoștințe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939540"/>
          </a:xfrm>
        </p:spPr>
        <p:txBody>
          <a:bodyPr/>
          <a:lstStyle/>
          <a:p>
            <a:pPr marL="576000" lvl="1"/>
            <a:r>
              <a:rPr lang="ro-RO" dirty="0"/>
              <a:t>Modelul static și </a:t>
            </a:r>
            <a:r>
              <a:rPr lang="ro-RO" dirty="0" smtClean="0"/>
              <a:t>modelul dinamic </a:t>
            </a:r>
            <a:r>
              <a:rPr lang="ro-RO" dirty="0"/>
              <a:t>al fluxului de date</a:t>
            </a:r>
          </a:p>
          <a:p>
            <a:pPr marL="576000" lvl="1"/>
            <a:r>
              <a:rPr lang="ro-RO" dirty="0" smtClean="0"/>
              <a:t>Arhitectură statică cu flux de date</a:t>
            </a:r>
          </a:p>
          <a:p>
            <a:pPr marL="576000" lvl="1"/>
            <a:r>
              <a:rPr lang="ro-RO" dirty="0" smtClean="0"/>
              <a:t>Structura calculatorului static cu flux de date MIT</a:t>
            </a:r>
          </a:p>
          <a:p>
            <a:pPr marL="576000" lvl="1"/>
            <a:r>
              <a:rPr lang="ro-RO" dirty="0" smtClean="0"/>
              <a:t>Arhitectură dinamică cu flux de date</a:t>
            </a:r>
          </a:p>
          <a:p>
            <a:pPr marL="576000" lvl="1"/>
            <a:r>
              <a:rPr lang="ro-RO" dirty="0" smtClean="0"/>
              <a:t>Diferențierea seturilor de operanzi într-o arhitectură dinamică cu flux de date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29470420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Întrebări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10383"/>
          </a:xfrm>
        </p:spPr>
        <p:txBody>
          <a:bodyPr/>
          <a:lstStyle/>
          <a:p>
            <a:pPr marL="532800" indent="-532800">
              <a:buClr>
                <a:schemeClr val="accent3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ro-RO" dirty="0" smtClean="0"/>
              <a:t>Care este deosebirea </a:t>
            </a:r>
            <a:r>
              <a:rPr lang="ro-RO" dirty="0"/>
              <a:t>d</a:t>
            </a:r>
            <a:r>
              <a:rPr lang="ro-RO" dirty="0" smtClean="0"/>
              <a:t>intre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multiproce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-soare </a:t>
            </a:r>
            <a:r>
              <a:rPr lang="ro-RO" dirty="0" smtClean="0"/>
              <a:t>și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multicalculatoare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din punctul de vedere al accesului la memorie?</a:t>
            </a:r>
          </a:p>
          <a:p>
            <a:pPr marL="532800" indent="-532800">
              <a:buClr>
                <a:schemeClr val="accent3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ro-RO" dirty="0" smtClean="0"/>
              <a:t>Care sunt avantajele și dezavantajele arhitecturilor 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transmitere de mesaje</a:t>
            </a:r>
            <a:r>
              <a:rPr lang="ro-RO" dirty="0" smtClean="0"/>
              <a:t>?</a:t>
            </a:r>
          </a:p>
          <a:p>
            <a:pPr marL="532800" indent="-532800">
              <a:buClr>
                <a:schemeClr val="accent3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ro-RO" dirty="0" smtClean="0"/>
              <a:t>Care sunt condițiile de validare a unei instrucțiuni în cazul arhitecturilor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statice </a:t>
            </a:r>
            <a:r>
              <a:rPr lang="ro-RO" dirty="0" smtClean="0"/>
              <a:t>și a celor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dinamice cu flux de date</a:t>
            </a:r>
            <a:r>
              <a:rPr lang="ro-RO" dirty="0" smtClean="0"/>
              <a:t>?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29.05.2018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60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6794051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5331</TotalTime>
  <Words>3118</Words>
  <Application>Microsoft Office PowerPoint</Application>
  <PresentationFormat>On-screen Show (4:3)</PresentationFormat>
  <Paragraphs>586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Symbol</vt:lpstr>
      <vt:lpstr>Times New Roman</vt:lpstr>
      <vt:lpstr>Dark Blue Swoosh-modified</vt:lpstr>
      <vt:lpstr>Dark Blue Swoosh-modif</vt:lpstr>
      <vt:lpstr>5. Introducere în arhitecturi paralele</vt:lpstr>
      <vt:lpstr>Arhitecturi MIMD</vt:lpstr>
      <vt:lpstr>Prezentare generală (1)</vt:lpstr>
      <vt:lpstr>Prezentare generală (2)</vt:lpstr>
      <vt:lpstr>Prezentare generală (3)</vt:lpstr>
      <vt:lpstr>Prezentare generală (4)</vt:lpstr>
      <vt:lpstr>Prezentare generală (5)</vt:lpstr>
      <vt:lpstr>Arhitecturi MIMD</vt:lpstr>
      <vt:lpstr>Arhitecturi cu memorie partajată (1)</vt:lpstr>
      <vt:lpstr>Arhitecturi cu memorie partajată (2)</vt:lpstr>
      <vt:lpstr>Arhitecturi cu memorie partajată (3)</vt:lpstr>
      <vt:lpstr>Arhitecturi cu memorie partajată (4)</vt:lpstr>
      <vt:lpstr>Arhitecturi cu memorie partajată (5)</vt:lpstr>
      <vt:lpstr>Arhitecturi MIMD</vt:lpstr>
      <vt:lpstr>Arhitecturi cu transmitere de mesaje (1)</vt:lpstr>
      <vt:lpstr>Arhitecturi cu transmitere de mesaje (2)</vt:lpstr>
      <vt:lpstr>Arhitecturi cu transmitere de mesaje (3)</vt:lpstr>
      <vt:lpstr>Arhitecturi cu transmitere de mesaje (4)</vt:lpstr>
      <vt:lpstr>Arhitecturi cu transmitere de mesaje (5)</vt:lpstr>
      <vt:lpstr>Arhitecturi MIMD</vt:lpstr>
      <vt:lpstr>Alte arhitecturi MIMD (1)</vt:lpstr>
      <vt:lpstr>Alte arhitecturi MIMD (2)</vt:lpstr>
      <vt:lpstr>Alte arhitecturi MIMD (3)</vt:lpstr>
      <vt:lpstr>5. Introducere în arhitecturi paralele</vt:lpstr>
      <vt:lpstr>Arhitecturi cu fire de execuție multiple</vt:lpstr>
      <vt:lpstr>Prezentare generală (1)</vt:lpstr>
      <vt:lpstr>Prezentare generală (2)</vt:lpstr>
      <vt:lpstr>Prezentare generală (3)</vt:lpstr>
      <vt:lpstr>Arhitecturi cu fire de execuție multiple</vt:lpstr>
      <vt:lpstr>Modelul fluxului de control (1)</vt:lpstr>
      <vt:lpstr>Modelul fluxului de control (2)</vt:lpstr>
      <vt:lpstr>Modelul fluxului de control (3)</vt:lpstr>
      <vt:lpstr>Arhitecturi cu fire de execuție multiple</vt:lpstr>
      <vt:lpstr>Modelul fluxului de date (1)</vt:lpstr>
      <vt:lpstr>Modelul fluxului de date (2)</vt:lpstr>
      <vt:lpstr>Modelul fluxului de date (3)</vt:lpstr>
      <vt:lpstr>Modelul fluxului de date (4)</vt:lpstr>
      <vt:lpstr>Modelul fluxului de date (5)</vt:lpstr>
      <vt:lpstr>Modelul fluxului de date (6)</vt:lpstr>
      <vt:lpstr>Arhitecturi cu fire de execuție multiple</vt:lpstr>
      <vt:lpstr>Arhitecturi cu flux de date (1)</vt:lpstr>
      <vt:lpstr>Arhitecturi cu flux de date (2)</vt:lpstr>
      <vt:lpstr>Arhitecturi cu flux de date (3)</vt:lpstr>
      <vt:lpstr>Arhitecturi cu flux de date (4)</vt:lpstr>
      <vt:lpstr>Arhitecturi cu flux de date (5)</vt:lpstr>
      <vt:lpstr>Arhitecturi cu flux de date (6)</vt:lpstr>
      <vt:lpstr>Arhitecturi cu flux de date (7)</vt:lpstr>
      <vt:lpstr>Arhitecturi cu flux de date (8)</vt:lpstr>
      <vt:lpstr>Arhitecturi cu flux de date (9)</vt:lpstr>
      <vt:lpstr>Arhitecturi cu fire de execuție multiple</vt:lpstr>
      <vt:lpstr>Exemple de calculatoare cu flux de date (1)</vt:lpstr>
      <vt:lpstr>Exemple de calculatoare cu  flux de date (2)</vt:lpstr>
      <vt:lpstr>Exemple de calculatoare cu  flux de date (3)</vt:lpstr>
      <vt:lpstr>Rezumat (1)</vt:lpstr>
      <vt:lpstr>Rezumat (2)</vt:lpstr>
      <vt:lpstr>Rezumat (3)</vt:lpstr>
      <vt:lpstr>Noțiuni, cunoștințe (1)</vt:lpstr>
      <vt:lpstr>Noțiuni, cunoștințe (2)</vt:lpstr>
      <vt:lpstr>Noțiuni, cunoștințe (3)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SSC-Arh-Paralele-2</dc:title>
  <dc:creator>Baruch Zoltan</dc:creator>
  <cp:lastModifiedBy>Baruch Zoltan</cp:lastModifiedBy>
  <cp:revision>364</cp:revision>
  <cp:lastPrinted>1601-01-01T00:00:00Z</cp:lastPrinted>
  <dcterms:created xsi:type="dcterms:W3CDTF">2002-05-22T18:25:20Z</dcterms:created>
  <dcterms:modified xsi:type="dcterms:W3CDTF">2018-05-19T16:48:05Z</dcterms:modified>
</cp:coreProperties>
</file>