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8" r:id="rId1"/>
  </p:sldMasterIdLst>
  <p:notesMasterIdLst>
    <p:notesMasterId r:id="rId60"/>
  </p:notesMasterIdLst>
  <p:handoutMasterIdLst>
    <p:handoutMasterId r:id="rId61"/>
  </p:handoutMasterIdLst>
  <p:sldIdLst>
    <p:sldId id="349" r:id="rId2"/>
    <p:sldId id="366" r:id="rId3"/>
    <p:sldId id="285" r:id="rId4"/>
    <p:sldId id="286" r:id="rId5"/>
    <p:sldId id="287" r:id="rId6"/>
    <p:sldId id="288" r:id="rId7"/>
    <p:sldId id="293" r:id="rId8"/>
    <p:sldId id="294" r:id="rId9"/>
    <p:sldId id="367" r:id="rId10"/>
    <p:sldId id="295" r:id="rId11"/>
    <p:sldId id="296" r:id="rId12"/>
    <p:sldId id="291" r:id="rId13"/>
    <p:sldId id="292" r:id="rId14"/>
    <p:sldId id="368" r:id="rId15"/>
    <p:sldId id="297" r:id="rId16"/>
    <p:sldId id="298" r:id="rId17"/>
    <p:sldId id="299" r:id="rId18"/>
    <p:sldId id="301" r:id="rId19"/>
    <p:sldId id="302" r:id="rId20"/>
    <p:sldId id="303" r:id="rId21"/>
    <p:sldId id="369" r:id="rId22"/>
    <p:sldId id="306" r:id="rId23"/>
    <p:sldId id="312" r:id="rId24"/>
    <p:sldId id="308" r:id="rId25"/>
    <p:sldId id="309" r:id="rId26"/>
    <p:sldId id="311" r:id="rId27"/>
    <p:sldId id="314" r:id="rId28"/>
    <p:sldId id="315" r:id="rId29"/>
    <p:sldId id="316" r:id="rId30"/>
    <p:sldId id="370" r:id="rId31"/>
    <p:sldId id="321" r:id="rId32"/>
    <p:sldId id="322" r:id="rId33"/>
    <p:sldId id="323" r:id="rId34"/>
    <p:sldId id="324" r:id="rId35"/>
    <p:sldId id="371" r:id="rId36"/>
    <p:sldId id="372" r:id="rId37"/>
    <p:sldId id="352" r:id="rId38"/>
    <p:sldId id="353" r:id="rId39"/>
    <p:sldId id="387" r:id="rId40"/>
    <p:sldId id="388" r:id="rId41"/>
    <p:sldId id="373" r:id="rId42"/>
    <p:sldId id="356" r:id="rId43"/>
    <p:sldId id="389" r:id="rId44"/>
    <p:sldId id="390" r:id="rId45"/>
    <p:sldId id="374" r:id="rId46"/>
    <p:sldId id="375" r:id="rId47"/>
    <p:sldId id="376" r:id="rId48"/>
    <p:sldId id="391" r:id="rId49"/>
    <p:sldId id="382" r:id="rId50"/>
    <p:sldId id="385" r:id="rId51"/>
    <p:sldId id="386" r:id="rId52"/>
    <p:sldId id="383" r:id="rId53"/>
    <p:sldId id="384" r:id="rId54"/>
    <p:sldId id="394" r:id="rId55"/>
    <p:sldId id="395" r:id="rId56"/>
    <p:sldId id="392" r:id="rId57"/>
    <p:sldId id="393" r:id="rId58"/>
    <p:sldId id="365" r:id="rId5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85376" autoAdjust="0"/>
  </p:normalViewPr>
  <p:slideViewPr>
    <p:cSldViewPr>
      <p:cViewPr varScale="1">
        <p:scale>
          <a:sx n="143" d="100"/>
          <a:sy n="143" d="100"/>
        </p:scale>
        <p:origin x="3284" y="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7" d="100"/>
          <a:sy n="127" d="100"/>
        </p:scale>
        <p:origin x="4900" y="8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o-RO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ro-RO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o-RO"/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B903166-CC5A-4C39-AD7A-A7308E8543A6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141379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DFCB5DCB-4F1C-4D5F-96B4-C594C350D7AA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506011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631648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6181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29024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63751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083270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46505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779084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91958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798036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10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976040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11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358453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12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5202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13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433511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14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859881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15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852799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16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939891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17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272643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18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668598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19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842249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20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606388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21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289910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22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660849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23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441906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24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500377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25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005813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26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762258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27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292826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28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923402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29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466218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30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8231965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31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0539541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32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117214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33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084546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34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2760746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35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6830788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36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2314088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37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4443233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38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2278173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39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9606325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40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3616461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41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6768906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42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1679966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43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3499360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44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8560310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45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4566312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46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3244168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47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1424825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GB" sz="120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48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1141360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49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57571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50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063718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51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9632442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52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9743875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53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4165660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54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2998621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55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0299156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56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6637752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57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2106240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58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8009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475375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A63AC408-1B0E-4840-B17F-FE79CE7B545F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smtClean="0"/>
              <a:t>Structura sistemelor de calcul (03-2)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gradFill flip="none" rotWithShape="1"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24437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849572B3-FF6B-4953-9EBB-EE6BF2211D45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smtClean="0"/>
              <a:t>Structura sistemelor de calcul (03-2)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2"/>
            <a:ext cx="4114800" cy="4753751"/>
          </a:xfrm>
        </p:spPr>
        <p:txBody>
          <a:bodyPr/>
          <a:lstStyle>
            <a:lvl1pPr marL="339976" indent="-339976">
              <a:lnSpc>
                <a:spcPct val="90000"/>
              </a:lnSpc>
              <a:defRPr sz="3200"/>
            </a:lvl1pPr>
            <a:lvl2pPr marL="673338" indent="-325424">
              <a:lnSpc>
                <a:spcPct val="90000"/>
              </a:lnSpc>
              <a:defRPr sz="2800"/>
            </a:lvl2pPr>
            <a:lvl3pPr marL="953785" indent="-288384">
              <a:lnSpc>
                <a:spcPct val="90000"/>
              </a:lnSpc>
              <a:defRPr sz="2400"/>
            </a:lvl3pPr>
            <a:lvl4pPr marL="1227618" indent="-273833">
              <a:lnSpc>
                <a:spcPct val="90000"/>
              </a:lnSpc>
              <a:defRPr sz="2000"/>
            </a:lvl4pPr>
            <a:lvl5pPr marL="1516002" indent="-280447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2"/>
            <a:ext cx="4114800" cy="4753751"/>
          </a:xfrm>
        </p:spPr>
        <p:txBody>
          <a:bodyPr/>
          <a:lstStyle>
            <a:lvl1pPr marL="347914" indent="-347914">
              <a:lnSpc>
                <a:spcPct val="90000"/>
              </a:lnSpc>
              <a:defRPr sz="3200"/>
            </a:lvl1pPr>
            <a:lvl2pPr marL="673338" indent="-339976">
              <a:lnSpc>
                <a:spcPct val="90000"/>
              </a:lnSpc>
              <a:defRPr sz="2800"/>
            </a:lvl2pPr>
            <a:lvl3pPr marL="961722" indent="-302936">
              <a:lnSpc>
                <a:spcPct val="90000"/>
              </a:lnSpc>
              <a:defRPr sz="2400"/>
            </a:lvl3pPr>
            <a:lvl4pPr marL="1227618" indent="-265896">
              <a:lnSpc>
                <a:spcPct val="90000"/>
              </a:lnSpc>
              <a:defRPr sz="2000"/>
            </a:lvl4pPr>
            <a:lvl5pPr marL="1516002" indent="-273833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E6BA2-6FEE-4CEE-918C-B59C9FFA1653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(03-2)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28454"/>
            <a:ext cx="4114800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4"/>
            <a:ext cx="4114800" cy="3990429"/>
          </a:xfrm>
        </p:spPr>
        <p:txBody>
          <a:bodyPr/>
          <a:lstStyle>
            <a:lvl1pPr marL="281770" indent="-281770">
              <a:defRPr sz="2400"/>
            </a:lvl1pPr>
            <a:lvl2pPr marL="562218" indent="-265896">
              <a:defRPr sz="2200"/>
            </a:lvl2pPr>
            <a:lvl3pPr marL="813562" indent="-243407">
              <a:defRPr sz="2000"/>
            </a:lvl3pPr>
            <a:lvl4pPr marL="1050354" indent="-228856">
              <a:defRPr sz="1800"/>
            </a:lvl4pPr>
            <a:lvl5pPr marL="1279210" indent="-206367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328454"/>
            <a:ext cx="4117019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4"/>
            <a:ext cx="4117974" cy="3990429"/>
          </a:xfrm>
        </p:spPr>
        <p:txBody>
          <a:bodyPr/>
          <a:lstStyle>
            <a:lvl1pPr marL="296321" indent="-296321">
              <a:defRPr sz="2400"/>
            </a:lvl1pPr>
            <a:lvl2pPr marL="570155" indent="-273833">
              <a:defRPr sz="2200"/>
            </a:lvl2pPr>
            <a:lvl3pPr marL="821499" indent="-244730">
              <a:defRPr sz="2000"/>
            </a:lvl3pPr>
            <a:lvl4pPr marL="1050354" indent="-236793">
              <a:defRPr sz="1800"/>
            </a:lvl4pPr>
            <a:lvl5pPr marL="1279210" indent="-220919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45BD2E-0E0A-4C11-9AEC-B38B25F6828C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(03-2)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B79CA5-5E57-4F7B-AFBB-9F8ED52ACF6E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(03-2)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6E9AD5-D5A7-41A1-A602-B70795CEF871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(03-2)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3AC408-1B0E-4840-B17F-FE79CE7B545F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(03-2)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352928" cy="64135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95536" y="1524000"/>
            <a:ext cx="8352928" cy="2209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5536" y="3886200"/>
            <a:ext cx="8352928" cy="2209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520" y="6313488"/>
            <a:ext cx="1872555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/>
            </a:lvl1pPr>
          </a:lstStyle>
          <a:p>
            <a:r>
              <a:rPr lang="ro-RO" smtClean="0"/>
              <a:t>Structura sistemelor de calcul (03-2)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440755" cy="457200"/>
          </a:xfrm>
        </p:spPr>
        <p:txBody>
          <a:bodyPr/>
          <a:lstStyle>
            <a:lvl1pPr>
              <a:defRPr/>
            </a:lvl1pPr>
          </a:lstStyle>
          <a:p>
            <a:fld id="{4227405F-82EE-4E2C-88FE-E12B8BB60B66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2875"/>
            <a:ext cx="8382000" cy="2135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520" y="6356350"/>
            <a:ext cx="216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879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smtClean="0"/>
              <a:t>Structura sistemelor de calcul (03-2)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32240" y="6356350"/>
            <a:ext cx="216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A63AC408-1B0E-4840-B17F-FE79CE7B545F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transition>
    <p:fade/>
  </p:transition>
  <p:hf hdr="0"/>
  <p:txStyles>
    <p:titleStyle>
      <a:lvl1pPr algn="ctr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50" dirty="0" smtClean="0">
          <a:ln w="3175">
            <a:noFill/>
          </a:ln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36000">
                <a:schemeClr val="accent3">
                  <a:lumMod val="40000"/>
                  <a:lumOff val="60000"/>
                </a:schemeClr>
              </a:gs>
              <a:gs pos="86000">
                <a:schemeClr val="accent3"/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4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 smtClean="0"/>
              <a:t>Memorii </a:t>
            </a:r>
            <a:r>
              <a:rPr lang="ro-RO" dirty="0"/>
              <a:t>semiconductoare</a:t>
            </a:r>
            <a:endParaRPr lang="en-US" dirty="0"/>
          </a:p>
        </p:txBody>
      </p:sp>
      <p:sp>
        <p:nvSpPr>
          <p:cNvPr id="31437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72815"/>
            <a:ext cx="8382000" cy="4358116"/>
          </a:xfrm>
        </p:spPr>
        <p:txBody>
          <a:bodyPr/>
          <a:lstStyle/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Memorii semiconductoare</a:t>
            </a:r>
          </a:p>
          <a:p>
            <a:pPr lvl="1"/>
            <a:r>
              <a:rPr lang="ro-RO" dirty="0"/>
              <a:t>Celula de memorie </a:t>
            </a:r>
            <a:r>
              <a:rPr lang="ro-RO" dirty="0" smtClean="0"/>
              <a:t>și </a:t>
            </a:r>
            <a:r>
              <a:rPr lang="ro-RO" dirty="0"/>
              <a:t>unitatea de memorie</a:t>
            </a:r>
          </a:p>
          <a:p>
            <a:pPr lvl="1"/>
            <a:r>
              <a:rPr lang="ro-RO" dirty="0"/>
              <a:t>Organizarea memoriilor</a:t>
            </a:r>
          </a:p>
          <a:p>
            <a:pPr lvl="1"/>
            <a:r>
              <a:rPr lang="ro-RO" dirty="0"/>
              <a:t>Proiectarea memoriilor</a:t>
            </a:r>
          </a:p>
          <a:p>
            <a:pPr lvl="1"/>
            <a:r>
              <a:rPr lang="ro-RO" dirty="0"/>
              <a:t>Exemplu de circuit de memorie comercial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Memorii DRAM</a:t>
            </a:r>
          </a:p>
          <a:p>
            <a:pPr lvl="1"/>
            <a:r>
              <a:rPr lang="ro-RO" dirty="0" smtClean="0"/>
              <a:t>Memorii </a:t>
            </a:r>
            <a:r>
              <a:rPr lang="ro-RO" i="1" dirty="0" smtClean="0"/>
              <a:t>flash </a:t>
            </a:r>
            <a:endParaRPr lang="ro-RO" i="1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CCC6410-DBE9-42C1-8277-37F90BD220DE}" type="slidenum">
              <a:rPr lang="ro-RO"/>
              <a:pPr/>
              <a:t>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(03-2)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Memorii </a:t>
            </a:r>
            <a:r>
              <a:rPr lang="ro-RO" dirty="0" smtClean="0"/>
              <a:t>DRAM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32092"/>
          </a:xfrm>
        </p:spPr>
        <p:txBody>
          <a:bodyPr/>
          <a:lstStyle/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Memorii DRAM 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Parametrii memoriilor DRAM </a:t>
            </a:r>
          </a:p>
          <a:p>
            <a:pPr lvl="1"/>
            <a:r>
              <a:rPr lang="ro-RO" dirty="0" smtClean="0"/>
              <a:t>Accesul în mod pagină </a:t>
            </a:r>
          </a:p>
          <a:p>
            <a:pPr lvl="1"/>
            <a:r>
              <a:rPr lang="ro-RO" dirty="0" smtClean="0"/>
              <a:t>Categorii de memorii DRAM </a:t>
            </a:r>
          </a:p>
          <a:p>
            <a:pPr lvl="1"/>
            <a:r>
              <a:rPr lang="ro-RO" dirty="0" smtClean="0"/>
              <a:t>Memoria SDRAM</a:t>
            </a:r>
          </a:p>
          <a:p>
            <a:pPr lvl="1"/>
            <a:r>
              <a:rPr lang="ro-RO" dirty="0" smtClean="0"/>
              <a:t>Memoria DDR SDRAM</a:t>
            </a:r>
          </a:p>
          <a:p>
            <a:pPr lvl="1"/>
            <a:r>
              <a:rPr lang="ro-RO" dirty="0" smtClean="0"/>
              <a:t>Memoria DDR3 SDRAM </a:t>
            </a:r>
          </a:p>
          <a:p>
            <a:pPr lvl="1"/>
            <a:r>
              <a:rPr lang="ro-RO" dirty="0" smtClean="0"/>
              <a:t>Memoria DDR4 SDRAM </a:t>
            </a:r>
          </a:p>
          <a:p>
            <a:pPr lvl="1"/>
            <a:r>
              <a:rPr lang="ro-RO" dirty="0" smtClean="0"/>
              <a:t>Module de memorie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2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(03-2)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/>
              <a:t>Parametrii memoriilor DRAM (1)</a:t>
            </a:r>
          </a:p>
        </p:txBody>
      </p:sp>
      <p:sp>
        <p:nvSpPr>
          <p:cNvPr id="231427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412776"/>
            <a:ext cx="8391306" cy="4713387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Timpul de acces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(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ro-RO" baseline="-30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</a:t>
            </a:r>
            <a:r>
              <a:rPr lang="ro-RO" dirty="0">
                <a:cs typeface="Times New Roman" pitchFamily="18" charset="0"/>
              </a:rPr>
              <a:t>)</a:t>
            </a:r>
            <a:r>
              <a:rPr lang="ro-RO" dirty="0"/>
              <a:t>:</a:t>
            </a:r>
            <a:r>
              <a:rPr lang="ro-RO" dirty="0">
                <a:cs typeface="Times New Roman" pitchFamily="18" charset="0"/>
              </a:rPr>
              <a:t> timpul între plasarea adresei de linie </a:t>
            </a:r>
            <a:r>
              <a:rPr lang="ro-RO" dirty="0" smtClean="0">
                <a:cs typeface="Times New Roman" pitchFamily="18" charset="0"/>
              </a:rPr>
              <a:t>și </a:t>
            </a:r>
            <a:r>
              <a:rPr lang="ro-RO" dirty="0">
                <a:cs typeface="Times New Roman" pitchFamily="18" charset="0"/>
              </a:rPr>
              <a:t>momentul în care cuvântul solicitat apare în </a:t>
            </a:r>
            <a:r>
              <a:rPr lang="ro-RO" dirty="0" err="1">
                <a:cs typeface="Times New Roman" pitchFamily="18" charset="0"/>
              </a:rPr>
              <a:t>bufferul</a:t>
            </a:r>
            <a:r>
              <a:rPr lang="ro-RO" dirty="0">
                <a:cs typeface="Times New Roman" pitchFamily="18" charset="0"/>
              </a:rPr>
              <a:t> de </a:t>
            </a:r>
            <a:r>
              <a:rPr lang="ro-RO" dirty="0" smtClean="0">
                <a:cs typeface="Times New Roman" pitchFamily="18" charset="0"/>
              </a:rPr>
              <a:t>ieșire</a:t>
            </a:r>
            <a:r>
              <a:rPr lang="ro-RO" dirty="0" smtClean="0"/>
              <a:t> </a:t>
            </a:r>
            <a:endParaRPr lang="ro-RO" dirty="0"/>
          </a:p>
          <a:p>
            <a:pPr>
              <a:lnSpc>
                <a:spcPct val="90000"/>
              </a:lnSpc>
            </a:pP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Durata ciclului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(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ro-RO" baseline="-30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</a:t>
            </a:r>
            <a:r>
              <a:rPr lang="ro-RO" dirty="0">
                <a:cs typeface="Times New Roman" pitchFamily="18" charset="0"/>
              </a:rPr>
              <a:t>)</a:t>
            </a:r>
            <a:r>
              <a:rPr lang="ro-RO" dirty="0"/>
              <a:t>: </a:t>
            </a:r>
            <a:r>
              <a:rPr lang="ro-RO" dirty="0">
                <a:cs typeface="Times New Roman" pitchFamily="18" charset="0"/>
              </a:rPr>
              <a:t>timpul minim între </a:t>
            </a:r>
            <a:r>
              <a:rPr lang="ro-RO" dirty="0" smtClean="0">
                <a:cs typeface="Times New Roman" pitchFamily="18" charset="0"/>
              </a:rPr>
              <a:t>operațiile secvențiale </a:t>
            </a:r>
            <a:r>
              <a:rPr lang="ro-RO" dirty="0">
                <a:cs typeface="Times New Roman" pitchFamily="18" charset="0"/>
              </a:rPr>
              <a:t>de citire</a:t>
            </a:r>
            <a:endParaRPr lang="ro-RO" dirty="0"/>
          </a:p>
          <a:p>
            <a:pPr lvl="1">
              <a:lnSpc>
                <a:spcPct val="90000"/>
              </a:lnSpc>
            </a:pPr>
            <a:r>
              <a:rPr lang="ro-RO" i="1" dirty="0" err="1"/>
              <a:t>t</a:t>
            </a:r>
            <a:r>
              <a:rPr lang="ro-RO" baseline="-25000" dirty="0" err="1"/>
              <a:t>M</a:t>
            </a:r>
            <a:r>
              <a:rPr lang="ro-RO" dirty="0"/>
              <a:t> </a:t>
            </a:r>
            <a:r>
              <a:rPr lang="en-US" dirty="0"/>
              <a:t>&gt; </a:t>
            </a:r>
            <a:r>
              <a:rPr lang="ro-RO" i="1" dirty="0" err="1"/>
              <a:t>t</a:t>
            </a:r>
            <a:r>
              <a:rPr lang="ro-RO" baseline="-25000" dirty="0" err="1"/>
              <a:t>A</a:t>
            </a:r>
            <a:endParaRPr lang="ro-RO" baseline="-25000" dirty="0"/>
          </a:p>
          <a:p>
            <a:pPr>
              <a:lnSpc>
                <a:spcPct val="90000"/>
              </a:lnSpc>
            </a:pP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Timp de preînc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rcare RAS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(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ro-RO" baseline="-30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RP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– </a:t>
            </a:r>
            <a:r>
              <a:rPr lang="ro-RO" i="1" dirty="0">
                <a:cs typeface="Times New Roman" pitchFamily="18" charset="0"/>
              </a:rPr>
              <a:t>RAS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 err="1">
                <a:cs typeface="Times New Roman" pitchFamily="18" charset="0"/>
              </a:rPr>
              <a:t>Precharge</a:t>
            </a:r>
            <a:r>
              <a:rPr lang="ro-RO" i="1" dirty="0">
                <a:cs typeface="Times New Roman" pitchFamily="18" charset="0"/>
              </a:rPr>
              <a:t> </a:t>
            </a:r>
            <a:r>
              <a:rPr lang="ro-RO" i="1" dirty="0" err="1">
                <a:cs typeface="Times New Roman" pitchFamily="18" charset="0"/>
              </a:rPr>
              <a:t>time</a:t>
            </a:r>
            <a:r>
              <a:rPr lang="ro-RO" dirty="0">
                <a:cs typeface="Times New Roman" pitchFamily="18" charset="0"/>
              </a:rPr>
              <a:t>)</a:t>
            </a:r>
            <a:r>
              <a:rPr lang="ro-RO" dirty="0"/>
              <a:t>: t</a:t>
            </a:r>
            <a:r>
              <a:rPr lang="ro-RO" dirty="0">
                <a:cs typeface="Times New Roman" pitchFamily="18" charset="0"/>
              </a:rPr>
              <a:t>impul necesar pentru rescrierea </a:t>
            </a:r>
            <a:r>
              <a:rPr lang="ro-RO" dirty="0" smtClean="0">
                <a:cs typeface="Times New Roman" pitchFamily="18" charset="0"/>
              </a:rPr>
              <a:t>conținutului și activarea </a:t>
            </a:r>
            <a:r>
              <a:rPr lang="ro-RO" dirty="0">
                <a:cs typeface="Times New Roman" pitchFamily="18" charset="0"/>
              </a:rPr>
              <a:t>semnalului </a:t>
            </a:r>
            <a:r>
              <a:rPr lang="ro-RO" i="1" dirty="0">
                <a:cs typeface="Times New Roman" pitchFamily="18" charset="0"/>
              </a:rPr>
              <a:t>RAS</a:t>
            </a:r>
            <a:r>
              <a:rPr lang="ro-RO" dirty="0">
                <a:cs typeface="Times New Roman" pitchFamily="18" charset="0"/>
              </a:rPr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A036D7-F58B-4B8B-8A0D-9659A5F67564}" type="slidenum">
              <a:rPr lang="ro-RO"/>
              <a:pPr/>
              <a:t>3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(03-2)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/>
              <a:t>Parametrii memoriilor DRAM (2)</a:t>
            </a:r>
          </a:p>
        </p:txBody>
      </p:sp>
      <p:sp>
        <p:nvSpPr>
          <p:cNvPr id="23245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511480" cy="4824437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ro-RO" dirty="0"/>
              <a:t>	</a:t>
            </a:r>
            <a:r>
              <a:rPr lang="ro-RO" dirty="0" smtClean="0"/>
              <a:t>Operații </a:t>
            </a:r>
            <a:r>
              <a:rPr lang="ro-RO" dirty="0"/>
              <a:t>executate la un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cces pentru citire</a:t>
            </a:r>
            <a:r>
              <a:rPr lang="ro-RO" dirty="0"/>
              <a:t>:</a:t>
            </a:r>
          </a:p>
          <a:p>
            <a:r>
              <a:rPr lang="ro-RO" dirty="0">
                <a:cs typeface="Times New Roman" pitchFamily="18" charset="0"/>
              </a:rPr>
              <a:t>Procesorul transmite adresa datei  </a:t>
            </a:r>
            <a:endParaRPr lang="ro-RO" dirty="0"/>
          </a:p>
          <a:p>
            <a:r>
              <a:rPr lang="ro-RO" dirty="0">
                <a:cs typeface="Times New Roman" pitchFamily="18" charset="0"/>
              </a:rPr>
              <a:t>Controlerul de memorie determin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adresele de linie </a:t>
            </a:r>
            <a:r>
              <a:rPr lang="ro-RO" dirty="0" smtClean="0">
                <a:cs typeface="Times New Roman" pitchFamily="18" charset="0"/>
              </a:rPr>
              <a:t>și </a:t>
            </a:r>
            <a:r>
              <a:rPr lang="ro-RO" dirty="0">
                <a:cs typeface="Times New Roman" pitchFamily="18" charset="0"/>
              </a:rPr>
              <a:t>de coloan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ale datei</a:t>
            </a:r>
          </a:p>
          <a:p>
            <a:r>
              <a:rPr lang="ro-RO" dirty="0">
                <a:cs typeface="Times New Roman" pitchFamily="18" charset="0"/>
              </a:rPr>
              <a:t>Controlerul de memorie transmite adresa de linie </a:t>
            </a:r>
            <a:r>
              <a:rPr lang="ro-RO" dirty="0" smtClean="0">
                <a:cs typeface="Times New Roman" pitchFamily="18" charset="0"/>
              </a:rPr>
              <a:t>și </a:t>
            </a:r>
            <a:r>
              <a:rPr lang="ro-RO" dirty="0">
                <a:cs typeface="Times New Roman" pitchFamily="18" charset="0"/>
              </a:rPr>
              <a:t>activeaz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semnalul </a:t>
            </a:r>
            <a:r>
              <a:rPr lang="ro-RO" i="1" dirty="0">
                <a:cs typeface="Times New Roman" pitchFamily="18" charset="0"/>
              </a:rPr>
              <a:t>RAS</a:t>
            </a:r>
            <a:endParaRPr lang="ro-RO" dirty="0"/>
          </a:p>
          <a:p>
            <a:pPr lvl="1"/>
            <a:r>
              <a:rPr lang="ro-RO" dirty="0"/>
              <a:t>D</a:t>
            </a:r>
            <a:r>
              <a:rPr lang="ro-RO" dirty="0">
                <a:cs typeface="Times New Roman" pitchFamily="18" charset="0"/>
              </a:rPr>
              <a:t>ecodificatorul adresei de linie selecteaz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linia în care este memorat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data</a:t>
            </a:r>
            <a:r>
              <a:rPr lang="ro-RO" dirty="0" smtClean="0"/>
              <a:t> </a:t>
            </a:r>
            <a:r>
              <a:rPr lang="ro-RO" dirty="0"/>
              <a:t>sau </a:t>
            </a:r>
            <a:r>
              <a:rPr lang="ro-RO" dirty="0" smtClean="0"/>
              <a:t>citește </a:t>
            </a:r>
            <a:r>
              <a:rPr lang="ro-RO" dirty="0"/>
              <a:t>linia </a:t>
            </a:r>
            <a:r>
              <a:rPr lang="ro-RO" dirty="0" smtClean="0"/>
              <a:t>și </a:t>
            </a:r>
            <a:r>
              <a:rPr lang="ro-RO" dirty="0"/>
              <a:t>o depune într-un buffer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B7BC37-9715-4513-824E-18515252EF76}" type="slidenum">
              <a:rPr lang="ro-RO"/>
              <a:pPr/>
              <a:t>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(03-2)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/>
              <a:t>Parametrii memoriilor DRAM (3)</a:t>
            </a:r>
          </a:p>
        </p:txBody>
      </p:sp>
      <p:sp>
        <p:nvSpPr>
          <p:cNvPr id="233475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524000"/>
            <a:ext cx="8352928" cy="4308872"/>
          </a:xfrm>
        </p:spPr>
        <p:txBody>
          <a:bodyPr/>
          <a:lstStyle/>
          <a:p>
            <a:pPr lvl="1"/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Timpul de acces la linie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(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ro-RO" baseline="-30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RA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– </a:t>
            </a:r>
            <a:r>
              <a:rPr lang="ro-RO" i="1" dirty="0" err="1">
                <a:cs typeface="Times New Roman" pitchFamily="18" charset="0"/>
              </a:rPr>
              <a:t>Row</a:t>
            </a:r>
            <a:r>
              <a:rPr lang="ro-RO" i="1" dirty="0">
                <a:cs typeface="Times New Roman" pitchFamily="18" charset="0"/>
              </a:rPr>
              <a:t> Access </a:t>
            </a:r>
            <a:r>
              <a:rPr lang="ro-RO" i="1" dirty="0" err="1">
                <a:cs typeface="Times New Roman" pitchFamily="18" charset="0"/>
              </a:rPr>
              <a:t>time</a:t>
            </a:r>
            <a:r>
              <a:rPr lang="ro-RO" dirty="0">
                <a:cs typeface="Times New Roman" pitchFamily="18" charset="0"/>
              </a:rPr>
              <a:t>), numit </a:t>
            </a:r>
            <a:r>
              <a:rPr lang="ro-RO" dirty="0" smtClean="0">
                <a:cs typeface="Times New Roman" pitchFamily="18" charset="0"/>
              </a:rPr>
              <a:t>și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timp de acces </a:t>
            </a:r>
            <a:r>
              <a:rPr lang="ro-RO" dirty="0">
                <a:cs typeface="Times New Roman" pitchFamily="18" charset="0"/>
              </a:rPr>
              <a:t>(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ro-RO" baseline="-30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</a:t>
            </a:r>
            <a:r>
              <a:rPr lang="ro-RO" dirty="0">
                <a:cs typeface="Times New Roman" pitchFamily="18" charset="0"/>
              </a:rPr>
              <a:t>)</a:t>
            </a:r>
            <a:r>
              <a:rPr lang="ro-RO" dirty="0"/>
              <a:t> sau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timp de acces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aleatoriu</a:t>
            </a:r>
            <a:r>
              <a:rPr lang="ro-RO" dirty="0" smtClean="0"/>
              <a:t>: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timpul dintre activarea semnalului </a:t>
            </a:r>
            <a:r>
              <a:rPr lang="ro-RO" i="1" dirty="0">
                <a:cs typeface="Times New Roman" pitchFamily="18" charset="0"/>
              </a:rPr>
              <a:t>RAS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și selecția </a:t>
            </a:r>
            <a:r>
              <a:rPr lang="ro-RO" dirty="0">
                <a:cs typeface="Times New Roman" pitchFamily="18" charset="0"/>
              </a:rPr>
              <a:t>liniei sau </a:t>
            </a:r>
            <a:r>
              <a:rPr lang="ro-RO" dirty="0" smtClean="0">
                <a:cs typeface="Times New Roman" pitchFamily="18" charset="0"/>
              </a:rPr>
              <a:t>prezența </a:t>
            </a:r>
            <a:r>
              <a:rPr lang="ro-RO" dirty="0">
                <a:cs typeface="Times New Roman" pitchFamily="18" charset="0"/>
              </a:rPr>
              <a:t>datei în </a:t>
            </a:r>
            <a:r>
              <a:rPr lang="ro-RO" dirty="0" err="1">
                <a:cs typeface="Times New Roman" pitchFamily="18" charset="0"/>
              </a:rPr>
              <a:t>bufferul</a:t>
            </a:r>
            <a:r>
              <a:rPr lang="ro-RO" dirty="0">
                <a:cs typeface="Times New Roman" pitchFamily="18" charset="0"/>
              </a:rPr>
              <a:t> de </a:t>
            </a:r>
            <a:r>
              <a:rPr lang="ro-RO" dirty="0" smtClean="0">
                <a:cs typeface="Times New Roman" pitchFamily="18" charset="0"/>
              </a:rPr>
              <a:t>ieșire</a:t>
            </a:r>
            <a:endParaRPr lang="ro-RO" dirty="0"/>
          </a:p>
          <a:p>
            <a:r>
              <a:rPr lang="ro-RO" dirty="0">
                <a:cs typeface="Times New Roman" pitchFamily="18" charset="0"/>
              </a:rPr>
              <a:t>Controlerul de memorie transmite adresa de coloan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și </a:t>
            </a:r>
            <a:r>
              <a:rPr lang="ro-RO" dirty="0">
                <a:cs typeface="Times New Roman" pitchFamily="18" charset="0"/>
              </a:rPr>
              <a:t>activeaz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semnalul </a:t>
            </a:r>
            <a:r>
              <a:rPr lang="ro-RO" i="1" dirty="0">
                <a:cs typeface="Times New Roman" pitchFamily="18" charset="0"/>
              </a:rPr>
              <a:t>CAS</a:t>
            </a:r>
            <a:endParaRPr lang="ro-RO" dirty="0"/>
          </a:p>
          <a:p>
            <a:pPr lvl="1"/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Întârzierea între semnalele RAS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și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CAS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(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ro-RO" baseline="-30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RCD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– </a:t>
            </a:r>
            <a:r>
              <a:rPr lang="ro-RO" i="1" dirty="0">
                <a:cs typeface="Times New Roman" pitchFamily="18" charset="0"/>
              </a:rPr>
              <a:t>RAS-</a:t>
            </a:r>
            <a:r>
              <a:rPr lang="ro-RO" i="1" dirty="0" err="1">
                <a:cs typeface="Times New Roman" pitchFamily="18" charset="0"/>
              </a:rPr>
              <a:t>to</a:t>
            </a:r>
            <a:r>
              <a:rPr lang="ro-RO" i="1" dirty="0">
                <a:cs typeface="Times New Roman" pitchFamily="18" charset="0"/>
              </a:rPr>
              <a:t>-CAS </a:t>
            </a:r>
            <a:r>
              <a:rPr lang="ro-RO" i="1" dirty="0" err="1" smtClean="0">
                <a:cs typeface="Times New Roman" pitchFamily="18" charset="0"/>
              </a:rPr>
              <a:t>Delay</a:t>
            </a:r>
            <a:r>
              <a:rPr lang="ro-RO" dirty="0">
                <a:cs typeface="Times New Roman" pitchFamily="18" charset="0"/>
              </a:rPr>
              <a:t>)</a:t>
            </a:r>
            <a:r>
              <a:rPr lang="ro-RO" dirty="0">
                <a:latin typeface="Arial" charset="0"/>
                <a:cs typeface="Times New Roman" pitchFamily="18" charset="0"/>
              </a:rPr>
              <a:t> </a:t>
            </a:r>
            <a:endParaRPr lang="ro-RO" dirty="0">
              <a:latin typeface="Arial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73151D-45DC-47EA-B05A-92430289CE92}" type="slidenum">
              <a:rPr lang="ro-RO"/>
              <a:pPr/>
              <a:t>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(03-2)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/>
              <a:t>Parametrii memoriilor DRAM (4)</a:t>
            </a:r>
          </a:p>
        </p:txBody>
      </p:sp>
      <p:sp>
        <p:nvSpPr>
          <p:cNvPr id="23449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439472" cy="4824437"/>
          </a:xfrm>
        </p:spPr>
        <p:txBody>
          <a:bodyPr/>
          <a:lstStyle/>
          <a:p>
            <a:pPr lvl="1"/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Timp de acces la coloan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(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ro-RO" baseline="-30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CA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– </a:t>
            </a:r>
            <a:r>
              <a:rPr lang="ro-RO" i="1" dirty="0" err="1">
                <a:cs typeface="Times New Roman" pitchFamily="18" charset="0"/>
              </a:rPr>
              <a:t>Column</a:t>
            </a:r>
            <a:r>
              <a:rPr lang="ro-RO" i="1" dirty="0">
                <a:cs typeface="Times New Roman" pitchFamily="18" charset="0"/>
              </a:rPr>
              <a:t> Access </a:t>
            </a:r>
            <a:r>
              <a:rPr lang="ro-RO" i="1" dirty="0" err="1">
                <a:cs typeface="Times New Roman" pitchFamily="18" charset="0"/>
              </a:rPr>
              <a:t>time</a:t>
            </a:r>
            <a:r>
              <a:rPr lang="ro-RO" dirty="0">
                <a:cs typeface="Times New Roman" pitchFamily="18" charset="0"/>
              </a:rPr>
              <a:t>)</a:t>
            </a:r>
            <a:r>
              <a:rPr lang="ro-RO" dirty="0">
                <a:latin typeface="Arial" charset="0"/>
                <a:cs typeface="Times New Roman" pitchFamily="18" charset="0"/>
              </a:rPr>
              <a:t>: </a:t>
            </a:r>
            <a:r>
              <a:rPr lang="ro-RO" dirty="0">
                <a:cs typeface="Times New Roman" pitchFamily="18" charset="0"/>
              </a:rPr>
              <a:t>timpul după care va fi disponibilă data solicitat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de la activarea semnalului </a:t>
            </a:r>
            <a:r>
              <a:rPr lang="ro-RO" i="1" dirty="0">
                <a:cs typeface="Times New Roman" pitchFamily="18" charset="0"/>
              </a:rPr>
              <a:t>CAS</a:t>
            </a:r>
            <a:endParaRPr lang="ro-RO" i="1" dirty="0"/>
          </a:p>
          <a:p>
            <a:pPr lvl="1"/>
            <a:r>
              <a:rPr lang="ro-RO" dirty="0">
                <a:cs typeface="Times New Roman" pitchFamily="18" charset="0"/>
              </a:rPr>
              <a:t>Pentru memoriile sincrone se utilizeaz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laten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ț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semnalului CAS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(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t</a:t>
            </a:r>
            <a:r>
              <a:rPr lang="ro-RO" baseline="-250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CL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>
                <a:cs typeface="Times New Roman" pitchFamily="18" charset="0"/>
              </a:rPr>
              <a:t>–</a:t>
            </a:r>
            <a:r>
              <a:rPr lang="ro-RO" dirty="0"/>
              <a:t>  </a:t>
            </a:r>
            <a:r>
              <a:rPr lang="ro-RO" i="1" dirty="0">
                <a:cs typeface="Times New Roman" pitchFamily="18" charset="0"/>
              </a:rPr>
              <a:t>CAS </a:t>
            </a:r>
            <a:r>
              <a:rPr lang="ro-RO" i="1" dirty="0" err="1">
                <a:cs typeface="Times New Roman" pitchFamily="18" charset="0"/>
              </a:rPr>
              <a:t>Latency</a:t>
            </a:r>
            <a:r>
              <a:rPr lang="ro-RO" dirty="0">
                <a:cs typeface="Times New Roman" pitchFamily="18" charset="0"/>
              </a:rPr>
              <a:t>)</a:t>
            </a:r>
            <a:r>
              <a:rPr lang="ro-RO" dirty="0"/>
              <a:t>; </a:t>
            </a:r>
            <a:r>
              <a:rPr lang="ro-RO" dirty="0" smtClean="0">
                <a:cs typeface="Times New Roman" pitchFamily="18" charset="0"/>
              </a:rPr>
              <a:t>exprimată </a:t>
            </a:r>
            <a:r>
              <a:rPr lang="ro-RO" dirty="0">
                <a:cs typeface="Times New Roman" pitchFamily="18" charset="0"/>
              </a:rPr>
              <a:t>ca un </a:t>
            </a:r>
            <a:r>
              <a:rPr lang="ro-RO" dirty="0" smtClean="0">
                <a:cs typeface="Times New Roman" pitchFamily="18" charset="0"/>
              </a:rPr>
              <a:t>num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r </a:t>
            </a:r>
            <a:r>
              <a:rPr lang="ro-RO" dirty="0">
                <a:cs typeface="Times New Roman" pitchFamily="18" charset="0"/>
              </a:rPr>
              <a:t>întreg de cicluri de ceas </a:t>
            </a:r>
            <a:endParaRPr lang="ro-RO" dirty="0"/>
          </a:p>
          <a:p>
            <a:r>
              <a:rPr lang="ro-RO" dirty="0">
                <a:cs typeface="Times New Roman" pitchFamily="18" charset="0"/>
              </a:rPr>
              <a:t>Data selectat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este transmis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din </a:t>
            </a:r>
            <a:r>
              <a:rPr lang="ro-RO" dirty="0" err="1">
                <a:cs typeface="Times New Roman" pitchFamily="18" charset="0"/>
              </a:rPr>
              <a:t>bufferul</a:t>
            </a:r>
            <a:r>
              <a:rPr lang="ro-RO" dirty="0">
                <a:cs typeface="Times New Roman" pitchFamily="18" charset="0"/>
              </a:rPr>
              <a:t> de </a:t>
            </a:r>
            <a:r>
              <a:rPr lang="ro-RO" dirty="0" smtClean="0">
                <a:cs typeface="Times New Roman" pitchFamily="18" charset="0"/>
              </a:rPr>
              <a:t>ieșire </a:t>
            </a:r>
            <a:r>
              <a:rPr lang="ro-RO" dirty="0">
                <a:cs typeface="Times New Roman" pitchFamily="18" charset="0"/>
              </a:rPr>
              <a:t>pe magistrala de date</a:t>
            </a:r>
            <a:r>
              <a:rPr lang="ro-RO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441106-2983-4A04-AB85-01930E8F1AD7}" type="slidenum">
              <a:rPr lang="ro-RO"/>
              <a:pPr/>
              <a:t>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(03-2)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/>
              <a:t>Parametrii memoriilor DRAM (5)</a:t>
            </a:r>
          </a:p>
        </p:txBody>
      </p:sp>
      <p:sp>
        <p:nvSpPr>
          <p:cNvPr id="2396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Rata de transfer la vârf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(</a:t>
            </a:r>
            <a:r>
              <a:rPr lang="ro-RO" i="1" dirty="0" err="1" smtClean="0">
                <a:cs typeface="Times New Roman" pitchFamily="18" charset="0"/>
              </a:rPr>
              <a:t>peak</a:t>
            </a:r>
            <a:r>
              <a:rPr lang="ro-RO" i="1" dirty="0" smtClean="0">
                <a:cs typeface="Times New Roman" pitchFamily="18" charset="0"/>
              </a:rPr>
              <a:t> </a:t>
            </a:r>
            <a:r>
              <a:rPr lang="ro-RO" i="1" dirty="0" err="1">
                <a:cs typeface="Times New Roman" pitchFamily="18" charset="0"/>
              </a:rPr>
              <a:t>bandwidth</a:t>
            </a:r>
            <a:r>
              <a:rPr lang="ro-RO" dirty="0">
                <a:cs typeface="Times New Roman" pitchFamily="18" charset="0"/>
              </a:rPr>
              <a:t>) a unui modul DRAM</a:t>
            </a:r>
            <a:r>
              <a:rPr lang="ro-RO" dirty="0"/>
              <a:t>:</a:t>
            </a:r>
            <a:r>
              <a:rPr lang="ro-RO" dirty="0">
                <a:cs typeface="Times New Roman" pitchFamily="18" charset="0"/>
              </a:rPr>
              <a:t> transferul la rata maxim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pentru o </a:t>
            </a:r>
            <a:r>
              <a:rPr lang="ro-RO" dirty="0" smtClean="0">
                <a:cs typeface="Times New Roman" pitchFamily="18" charset="0"/>
              </a:rPr>
              <a:t>configurație </a:t>
            </a:r>
            <a:r>
              <a:rPr lang="ro-RO" dirty="0">
                <a:cs typeface="Times New Roman" pitchFamily="18" charset="0"/>
              </a:rPr>
              <a:t>a magistralei de memorie</a:t>
            </a:r>
            <a:r>
              <a:rPr lang="ro-RO" dirty="0"/>
              <a:t> </a:t>
            </a:r>
          </a:p>
          <a:p>
            <a:pPr lvl="1"/>
            <a:r>
              <a:rPr lang="ro-RO" dirty="0"/>
              <a:t>I</a:t>
            </a:r>
            <a:r>
              <a:rPr lang="ro-RO" dirty="0">
                <a:cs typeface="Times New Roman" pitchFamily="18" charset="0"/>
              </a:rPr>
              <a:t>gnor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timpul </a:t>
            </a:r>
            <a:r>
              <a:rPr lang="ro-RO" dirty="0" smtClean="0">
                <a:cs typeface="Times New Roman" pitchFamily="18" charset="0"/>
              </a:rPr>
              <a:t>inițial </a:t>
            </a:r>
            <a:r>
              <a:rPr lang="ro-RO" dirty="0">
                <a:cs typeface="Times New Roman" pitchFamily="18" charset="0"/>
              </a:rPr>
              <a:t>necesar pentru înc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rcarea datei din modulul DRAM</a:t>
            </a:r>
            <a:r>
              <a:rPr lang="ro-RO" dirty="0"/>
              <a:t> </a:t>
            </a:r>
          </a:p>
          <a:p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Rata de transfer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susținut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/>
              <a:t>: 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ine </a:t>
            </a:r>
            <a:r>
              <a:rPr lang="ro-RO" dirty="0">
                <a:cs typeface="Times New Roman" pitchFamily="18" charset="0"/>
              </a:rPr>
              <a:t>cont de un acces </a:t>
            </a:r>
            <a:r>
              <a:rPr lang="ro-RO" dirty="0" smtClean="0">
                <a:cs typeface="Times New Roman" pitchFamily="18" charset="0"/>
              </a:rPr>
              <a:t>inițial </a:t>
            </a:r>
            <a:r>
              <a:rPr lang="ro-RO" dirty="0">
                <a:cs typeface="Times New Roman" pitchFamily="18" charset="0"/>
              </a:rPr>
              <a:t>la memorie, urmat de transferul a patru cuvinte la rata maxim</a:t>
            </a:r>
            <a:r>
              <a:rPr lang="ro-RO" dirty="0"/>
              <a:t>ă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552B0B-4709-4E7A-BC39-241B16704CCE}" type="slidenum">
              <a:rPr lang="ro-RO"/>
              <a:pPr/>
              <a:t>7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(03-2)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/>
              <a:t>Parametrii memoriilor DRAM (6)</a:t>
            </a:r>
          </a:p>
        </p:txBody>
      </p:sp>
      <p:sp>
        <p:nvSpPr>
          <p:cNvPr id="240643" name="Rectangle 1027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erformanța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unui modul DRAM </a:t>
            </a:r>
            <a:r>
              <a:rPr lang="ro-RO" dirty="0"/>
              <a:t>se poate exprima</a:t>
            </a:r>
            <a:r>
              <a:rPr lang="ro-RO" dirty="0">
                <a:cs typeface="Times New Roman" pitchFamily="18" charset="0"/>
              </a:rPr>
              <a:t> sub forma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x‑y‑y‑y</a:t>
            </a:r>
          </a:p>
          <a:p>
            <a:pPr lvl="1">
              <a:lnSpc>
                <a:spcPct val="90000"/>
              </a:lnSpc>
            </a:pPr>
            <a:r>
              <a:rPr lang="ro-RO" dirty="0"/>
              <a:t>I</a:t>
            </a:r>
            <a:r>
              <a:rPr lang="ro-RO" dirty="0">
                <a:cs typeface="Times New Roman" pitchFamily="18" charset="0"/>
              </a:rPr>
              <a:t>ndic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timpul de acces la primul cuvânt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la urm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toarele trei cuvinte</a:t>
            </a:r>
            <a:r>
              <a:rPr lang="ro-RO" dirty="0"/>
              <a:t> </a:t>
            </a:r>
            <a:r>
              <a:rPr lang="ro-RO" dirty="0" smtClean="0"/>
              <a:t>(ex</a:t>
            </a:r>
            <a:r>
              <a:rPr lang="ro-RO" dirty="0"/>
              <a:t>.: 5-2-2-2)</a:t>
            </a:r>
          </a:p>
          <a:p>
            <a:pPr>
              <a:lnSpc>
                <a:spcPct val="90000"/>
              </a:lnSpc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Performanța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unei memorii sincrone </a:t>
            </a:r>
            <a:r>
              <a:rPr lang="ro-RO" dirty="0"/>
              <a:t>se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/>
              <a:t>indică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/>
              <a:t>sub forma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x:y:z</a:t>
            </a:r>
          </a:p>
          <a:p>
            <a:pPr lvl="1">
              <a:lnSpc>
                <a:spcPct val="90000"/>
              </a:lnSpc>
            </a:pP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ro-RO" baseline="-30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CL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: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ro-RO" baseline="-30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RCD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: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ro-RO" baseline="-30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RP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>
              <a:lnSpc>
                <a:spcPct val="90000"/>
              </a:lnSpc>
            </a:pPr>
            <a:r>
              <a:rPr lang="ro-RO" dirty="0"/>
              <a:t>Se</a:t>
            </a:r>
            <a:r>
              <a:rPr lang="ro-RO" dirty="0">
                <a:cs typeface="Times New Roman" pitchFamily="18" charset="0"/>
              </a:rPr>
              <a:t> exprim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în cicluri de ceas </a:t>
            </a:r>
            <a:r>
              <a:rPr lang="ro-RO" dirty="0"/>
              <a:t>(ex.: 2:</a:t>
            </a:r>
            <a:r>
              <a:rPr lang="ro-RO" dirty="0" err="1"/>
              <a:t>2</a:t>
            </a:r>
            <a:r>
              <a:rPr lang="ro-RO" dirty="0"/>
              <a:t>:</a:t>
            </a:r>
            <a:r>
              <a:rPr lang="ro-RO" dirty="0" err="1"/>
              <a:t>2</a:t>
            </a:r>
            <a:r>
              <a:rPr lang="ro-RO" dirty="0"/>
              <a:t>)</a:t>
            </a:r>
          </a:p>
          <a:p>
            <a:pPr lvl="1">
              <a:lnSpc>
                <a:spcPct val="90000"/>
              </a:lnSpc>
            </a:pPr>
            <a:r>
              <a:rPr lang="ro-RO" dirty="0" smtClean="0"/>
              <a:t>L</a:t>
            </a:r>
            <a:r>
              <a:rPr lang="ro-RO" dirty="0" smtClean="0">
                <a:cs typeface="Times New Roman" pitchFamily="18" charset="0"/>
              </a:rPr>
              <a:t>atența </a:t>
            </a:r>
            <a:r>
              <a:rPr lang="ro-RO" dirty="0">
                <a:cs typeface="Times New Roman" pitchFamily="18" charset="0"/>
              </a:rPr>
              <a:t>semnalului </a:t>
            </a:r>
            <a:r>
              <a:rPr lang="ro-RO" i="1" dirty="0">
                <a:cs typeface="Times New Roman" pitchFamily="18" charset="0"/>
              </a:rPr>
              <a:t>CAS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/>
              <a:t>se poate exprima </a:t>
            </a:r>
            <a:r>
              <a:rPr lang="ro-RO" dirty="0" smtClean="0"/>
              <a:t>și </a:t>
            </a:r>
            <a:r>
              <a:rPr lang="ro-RO" dirty="0">
                <a:cs typeface="Times New Roman" pitchFamily="18" charset="0"/>
              </a:rPr>
              <a:t>sub forma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CL2 </a:t>
            </a:r>
            <a:r>
              <a:rPr lang="ro-RO" dirty="0">
                <a:cs typeface="Times New Roman" pitchFamily="18" charset="0"/>
              </a:rPr>
              <a:t>(CAS2) sau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CL3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/>
              <a:t>(CAS3)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129C85-56B9-452D-884B-AF7385CDE683}" type="slidenum">
              <a:rPr lang="ro-RO"/>
              <a:pPr/>
              <a:t>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(03-2)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Memorii DRAM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Memorii DRAM </a:t>
            </a:r>
          </a:p>
          <a:p>
            <a:pPr lvl="1"/>
            <a:r>
              <a:rPr lang="ro-RO" dirty="0" smtClean="0"/>
              <a:t>Parametrii memoriilor DRAM 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Accesul în mod pagină </a:t>
            </a:r>
          </a:p>
          <a:p>
            <a:pPr lvl="1"/>
            <a:r>
              <a:rPr lang="ro-RO" dirty="0" smtClean="0"/>
              <a:t>Categorii de memorii DRAM </a:t>
            </a:r>
          </a:p>
          <a:p>
            <a:pPr lvl="1"/>
            <a:r>
              <a:rPr lang="ro-RO" dirty="0" smtClean="0"/>
              <a:t>Memoria SDRAM</a:t>
            </a:r>
          </a:p>
          <a:p>
            <a:pPr lvl="1"/>
            <a:r>
              <a:rPr lang="ro-RO" dirty="0" smtClean="0"/>
              <a:t>Memoria DDR SDRAM</a:t>
            </a:r>
          </a:p>
          <a:p>
            <a:pPr lvl="1"/>
            <a:r>
              <a:rPr lang="ro-RO" dirty="0" smtClean="0"/>
              <a:t>Memoria DDR3 SDRAM </a:t>
            </a:r>
          </a:p>
          <a:p>
            <a:pPr lvl="1"/>
            <a:r>
              <a:rPr lang="ro-RO" dirty="0" smtClean="0"/>
              <a:t>Memoria DDR4 SDRAM </a:t>
            </a:r>
          </a:p>
          <a:p>
            <a:pPr lvl="1"/>
            <a:r>
              <a:rPr lang="ro-RO" dirty="0" smtClean="0"/>
              <a:t>Module de memorie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9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(03-2)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Accesul în mod </a:t>
            </a:r>
            <a:r>
              <a:rPr lang="ro-RO" dirty="0"/>
              <a:t>pagină (1)</a:t>
            </a:r>
          </a:p>
        </p:txBody>
      </p:sp>
      <p:sp>
        <p:nvSpPr>
          <p:cNvPr id="241667" name="Rectangle 1027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89364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o-RO" dirty="0">
                <a:cs typeface="Times New Roman" pitchFamily="18" charset="0"/>
              </a:rPr>
              <a:t>Dac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/>
              <a:t>la </a:t>
            </a:r>
            <a:r>
              <a:rPr lang="ro-RO" dirty="0">
                <a:cs typeface="Times New Roman" pitchFamily="18" charset="0"/>
              </a:rPr>
              <a:t>o </a:t>
            </a:r>
            <a:r>
              <a:rPr lang="ro-RO" dirty="0" smtClean="0">
                <a:cs typeface="Times New Roman" pitchFamily="18" charset="0"/>
              </a:rPr>
              <a:t>secvenț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de accese </a:t>
            </a:r>
            <a:r>
              <a:rPr lang="ro-RO" dirty="0"/>
              <a:t>a</a:t>
            </a:r>
            <a:r>
              <a:rPr lang="ro-RO" dirty="0">
                <a:cs typeface="Times New Roman" pitchFamily="18" charset="0"/>
              </a:rPr>
              <a:t>dres</a:t>
            </a:r>
            <a:r>
              <a:rPr lang="ro-RO" dirty="0"/>
              <a:t>a</a:t>
            </a:r>
            <a:r>
              <a:rPr lang="ro-RO" dirty="0">
                <a:cs typeface="Times New Roman" pitchFamily="18" charset="0"/>
              </a:rPr>
              <a:t> de linie</a:t>
            </a:r>
            <a:r>
              <a:rPr lang="ro-RO" dirty="0"/>
              <a:t> este </a:t>
            </a:r>
            <a:r>
              <a:rPr lang="ro-RO" dirty="0" smtClean="0"/>
              <a:t>aceeași</a:t>
            </a:r>
            <a:r>
              <a:rPr lang="ro-RO" dirty="0"/>
              <a:t>:</a:t>
            </a:r>
            <a:r>
              <a:rPr lang="ro-RO" dirty="0">
                <a:cs typeface="Times New Roman" pitchFamily="18" charset="0"/>
              </a:rPr>
              <a:t> este suficient s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se transfere adresa de linie o singur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endParaRPr lang="ro-RO" dirty="0"/>
          </a:p>
          <a:p>
            <a:pPr lvl="1">
              <a:lnSpc>
                <a:spcPct val="90000"/>
              </a:lnSpc>
            </a:pPr>
            <a:r>
              <a:rPr lang="ro-RO" dirty="0"/>
              <a:t>Se</a:t>
            </a:r>
            <a:r>
              <a:rPr lang="ro-RO" dirty="0">
                <a:cs typeface="Times New Roman" pitchFamily="18" charset="0"/>
              </a:rPr>
              <a:t> memor</a:t>
            </a:r>
            <a:r>
              <a:rPr lang="ro-RO" dirty="0"/>
              <a:t>ează</a:t>
            </a:r>
            <a:r>
              <a:rPr lang="ro-RO" dirty="0">
                <a:cs typeface="Times New Roman" pitchFamily="18" charset="0"/>
              </a:rPr>
              <a:t> într‑un </a:t>
            </a:r>
            <a:r>
              <a:rPr lang="ro-RO" dirty="0" err="1">
                <a:cs typeface="Times New Roman" pitchFamily="18" charset="0"/>
              </a:rPr>
              <a:t>buffer</a:t>
            </a:r>
            <a:r>
              <a:rPr lang="ro-RO" dirty="0">
                <a:cs typeface="Times New Roman" pitchFamily="18" charset="0"/>
              </a:rPr>
              <a:t> intern </a:t>
            </a:r>
            <a:r>
              <a:rPr lang="ro-RO" dirty="0"/>
              <a:t>o </a:t>
            </a:r>
            <a:r>
              <a:rPr lang="ro-RO" dirty="0">
                <a:cs typeface="Times New Roman" pitchFamily="18" charset="0"/>
              </a:rPr>
              <a:t>lini</a:t>
            </a:r>
            <a:r>
              <a:rPr lang="ro-RO" dirty="0"/>
              <a:t>e</a:t>
            </a:r>
            <a:r>
              <a:rPr lang="ro-RO" dirty="0">
                <a:cs typeface="Times New Roman" pitchFamily="18" charset="0"/>
              </a:rPr>
              <a:t> de date, numit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pagin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>
                <a:sym typeface="Symbol" pitchFamily="18" charset="2"/>
              </a:rPr>
              <a:t>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mod pagină</a:t>
            </a:r>
          </a:p>
          <a:p>
            <a:pPr lvl="1">
              <a:lnSpc>
                <a:spcPct val="90000"/>
              </a:lnSpc>
            </a:pPr>
            <a:r>
              <a:rPr lang="ro-RO" dirty="0">
                <a:cs typeface="Times New Roman" pitchFamily="18" charset="0"/>
              </a:rPr>
              <a:t>Pentru un acces ulterior la </a:t>
            </a:r>
            <a:r>
              <a:rPr lang="ro-RO" dirty="0" smtClean="0">
                <a:cs typeface="Times New Roman" pitchFamily="18" charset="0"/>
              </a:rPr>
              <a:t>aceeași </a:t>
            </a:r>
            <a:r>
              <a:rPr lang="ro-RO" dirty="0">
                <a:cs typeface="Times New Roman" pitchFamily="18" charset="0"/>
              </a:rPr>
              <a:t>pagin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trebuie s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se transfere numai o adres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de coloan</a:t>
            </a:r>
            <a:r>
              <a:rPr lang="ro-RO" dirty="0"/>
              <a:t>ă </a:t>
            </a:r>
          </a:p>
          <a:p>
            <a:pPr lvl="1">
              <a:lnSpc>
                <a:spcPct val="90000"/>
              </a:lnSpc>
            </a:pPr>
            <a:r>
              <a:rPr lang="ro-RO" dirty="0"/>
              <a:t>N</a:t>
            </a:r>
            <a:r>
              <a:rPr lang="ro-RO" dirty="0">
                <a:cs typeface="Times New Roman" pitchFamily="18" charset="0"/>
              </a:rPr>
              <a:t>u este necesar s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se refac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datele din pagin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la fiecare acces al unui cuvânt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4225DE-C1C2-4028-86C0-4E4C7E87987A}" type="slidenum">
              <a:rPr lang="ro-RO"/>
              <a:pPr/>
              <a:t>10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(03-2)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Accesul în mod </a:t>
            </a:r>
            <a:r>
              <a:rPr lang="ro-RO" dirty="0"/>
              <a:t>pagină (2)</a:t>
            </a:r>
          </a:p>
        </p:txBody>
      </p:sp>
      <p:sp>
        <p:nvSpPr>
          <p:cNvPr id="242691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524000"/>
            <a:ext cx="8352928" cy="4118050"/>
          </a:xfrm>
        </p:spPr>
        <p:txBody>
          <a:bodyPr/>
          <a:lstStyle/>
          <a:p>
            <a:r>
              <a:rPr lang="ro-RO" dirty="0"/>
              <a:t>În modul pagină:</a:t>
            </a:r>
          </a:p>
          <a:p>
            <a:pPr lvl="1"/>
            <a:r>
              <a:rPr lang="ro-RO" dirty="0"/>
              <a:t>Semnalul </a:t>
            </a:r>
            <a:r>
              <a:rPr lang="ro-RO" i="1" dirty="0"/>
              <a:t>RAS</a:t>
            </a:r>
            <a:r>
              <a:rPr lang="ro-RO" dirty="0"/>
              <a:t> este </a:t>
            </a:r>
            <a:r>
              <a:rPr lang="ro-RO" dirty="0" smtClean="0">
                <a:cs typeface="Times New Roman" pitchFamily="18" charset="0"/>
              </a:rPr>
              <a:t>mențin</a:t>
            </a:r>
            <a:r>
              <a:rPr lang="ro-RO" dirty="0" smtClean="0"/>
              <a:t>ut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activ pe durata unei </a:t>
            </a:r>
            <a:r>
              <a:rPr lang="ro-RO" dirty="0" smtClean="0">
                <a:cs typeface="Times New Roman" pitchFamily="18" charset="0"/>
              </a:rPr>
              <a:t>secvențe </a:t>
            </a:r>
            <a:r>
              <a:rPr lang="ro-RO" dirty="0">
                <a:cs typeface="Times New Roman" pitchFamily="18" charset="0"/>
              </a:rPr>
              <a:t>de transferuri</a:t>
            </a:r>
            <a:endParaRPr lang="en-US" dirty="0"/>
          </a:p>
          <a:p>
            <a:pPr lvl="1"/>
            <a:r>
              <a:rPr lang="ro-RO" dirty="0"/>
              <a:t>Se</a:t>
            </a:r>
            <a:r>
              <a:rPr lang="ro-RO" dirty="0">
                <a:cs typeface="Times New Roman" pitchFamily="18" charset="0"/>
              </a:rPr>
              <a:t>mnalul </a:t>
            </a:r>
            <a:r>
              <a:rPr lang="ro-RO" i="1" dirty="0">
                <a:cs typeface="Times New Roman" pitchFamily="18" charset="0"/>
              </a:rPr>
              <a:t>CAS</a:t>
            </a:r>
            <a:r>
              <a:rPr lang="ro-RO" dirty="0">
                <a:cs typeface="Times New Roman" pitchFamily="18" charset="0"/>
              </a:rPr>
              <a:t> este comutat în modul normal</a:t>
            </a:r>
            <a:endParaRPr lang="ro-RO" dirty="0"/>
          </a:p>
          <a:p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urata ciclului în mod pagin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/>
              <a:t>(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ro-RO" baseline="-30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PC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/>
              <a:t>– </a:t>
            </a:r>
            <a:r>
              <a:rPr lang="ro-RO" i="1" dirty="0">
                <a:cs typeface="Times New Roman" pitchFamily="18" charset="0"/>
              </a:rPr>
              <a:t>page mode </a:t>
            </a:r>
            <a:r>
              <a:rPr lang="ro-RO" i="1" dirty="0" err="1">
                <a:cs typeface="Times New Roman" pitchFamily="18" charset="0"/>
              </a:rPr>
              <a:t>cycle</a:t>
            </a:r>
            <a:r>
              <a:rPr lang="ro-RO" i="1" dirty="0">
                <a:cs typeface="Times New Roman" pitchFamily="18" charset="0"/>
              </a:rPr>
              <a:t> </a:t>
            </a:r>
            <a:r>
              <a:rPr lang="ro-RO" i="1" dirty="0" err="1">
                <a:cs typeface="Times New Roman" pitchFamily="18" charset="0"/>
              </a:rPr>
              <a:t>time</a:t>
            </a:r>
            <a:r>
              <a:rPr lang="ro-RO" dirty="0">
                <a:cs typeface="Times New Roman" pitchFamily="18" charset="0"/>
              </a:rPr>
              <a:t>)</a:t>
            </a:r>
            <a:endParaRPr lang="ro-RO" dirty="0"/>
          </a:p>
          <a:p>
            <a:pPr lvl="1"/>
            <a:r>
              <a:rPr lang="ro-RO" dirty="0">
                <a:cs typeface="Times New Roman" pitchFamily="18" charset="0"/>
              </a:rPr>
              <a:t>Pentru o memorie cu </a:t>
            </a:r>
            <a:r>
              <a:rPr lang="ro-RO" i="1" dirty="0" err="1">
                <a:cs typeface="Times New Roman" pitchFamily="18" charset="0"/>
              </a:rPr>
              <a:t>t</a:t>
            </a:r>
            <a:r>
              <a:rPr lang="ro-RO" baseline="-30000" dirty="0" err="1">
                <a:cs typeface="Times New Roman" pitchFamily="18" charset="0"/>
              </a:rPr>
              <a:t>RA</a:t>
            </a:r>
            <a:r>
              <a:rPr lang="ro-RO" dirty="0">
                <a:cs typeface="Times New Roman" pitchFamily="18" charset="0"/>
              </a:rPr>
              <a:t> = 60 </a:t>
            </a:r>
            <a:r>
              <a:rPr lang="ro-RO" dirty="0" err="1">
                <a:cs typeface="Times New Roman" pitchFamily="18" charset="0"/>
              </a:rPr>
              <a:t>ns</a:t>
            </a:r>
            <a:r>
              <a:rPr lang="ro-RO" dirty="0">
                <a:cs typeface="Times New Roman" pitchFamily="18" charset="0"/>
              </a:rPr>
              <a:t>, o valoare tipic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este </a:t>
            </a:r>
            <a:r>
              <a:rPr lang="ro-RO" i="1" dirty="0" err="1">
                <a:cs typeface="Times New Roman" pitchFamily="18" charset="0"/>
              </a:rPr>
              <a:t>t</a:t>
            </a:r>
            <a:r>
              <a:rPr lang="ro-RO" baseline="-30000" dirty="0" err="1">
                <a:cs typeface="Times New Roman" pitchFamily="18" charset="0"/>
              </a:rPr>
              <a:t>PC</a:t>
            </a:r>
            <a:r>
              <a:rPr lang="ro-RO" dirty="0">
                <a:cs typeface="Times New Roman" pitchFamily="18" charset="0"/>
              </a:rPr>
              <a:t> = 35 </a:t>
            </a:r>
            <a:r>
              <a:rPr lang="ro-RO" dirty="0" err="1">
                <a:cs typeface="Times New Roman" pitchFamily="18" charset="0"/>
              </a:rPr>
              <a:t>ns</a:t>
            </a:r>
            <a:r>
              <a:rPr lang="ro-RO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E8D90A-1A0A-43B2-8441-3ECC1042866B}" type="slidenum">
              <a:rPr lang="ro-RO"/>
              <a:pPr/>
              <a:t>11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(03-2)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60648"/>
            <a:ext cx="8352928" cy="720080"/>
          </a:xfrm>
        </p:spPr>
        <p:txBody>
          <a:bodyPr>
            <a:normAutofit/>
          </a:bodyPr>
          <a:lstStyle/>
          <a:p>
            <a:r>
              <a:rPr lang="ro-RO" dirty="0"/>
              <a:t>Accesul în mod pagină </a:t>
            </a:r>
            <a:r>
              <a:rPr lang="ro-RO" dirty="0" smtClean="0"/>
              <a:t>(3)</a:t>
            </a:r>
            <a:endParaRPr lang="ro-RO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1"/>
          </p:nvPr>
        </p:nvSpPr>
        <p:spPr>
          <a:xfrm>
            <a:off x="395536" y="1524000"/>
            <a:ext cx="8352928" cy="886397"/>
          </a:xfrm>
        </p:spPr>
        <p:txBody>
          <a:bodyPr/>
          <a:lstStyle/>
          <a:p>
            <a:pPr algn="ctr"/>
            <a:r>
              <a:rPr lang="ro-RO" dirty="0" smtClean="0"/>
              <a:t>Patru accese la memorie într-o linie fără modul pagină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Structura sistemelor de calcul (03-2)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9A53F-2EC1-49F3-9073-3429F1CCEE91}" type="slidenum">
              <a:rPr lang="ro-RO"/>
              <a:pPr/>
              <a:t>12</a:t>
            </a:fld>
            <a:endParaRPr lang="ro-RO"/>
          </a:p>
        </p:txBody>
      </p:sp>
      <p:pic>
        <p:nvPicPr>
          <p:cNvPr id="9" name="Content Placeholder 8" descr="ssc4-paramdram1-a.bmp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827584" y="2852936"/>
            <a:ext cx="7490781" cy="2711506"/>
          </a:xfr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60648"/>
            <a:ext cx="8352928" cy="720080"/>
          </a:xfrm>
        </p:spPr>
        <p:txBody>
          <a:bodyPr>
            <a:normAutofit/>
          </a:bodyPr>
          <a:lstStyle/>
          <a:p>
            <a:r>
              <a:rPr lang="ro-RO" dirty="0"/>
              <a:t>Accesul în mod pagină </a:t>
            </a:r>
            <a:r>
              <a:rPr lang="ro-RO" dirty="0" smtClean="0"/>
              <a:t>(4)</a:t>
            </a:r>
            <a:endParaRPr lang="ro-RO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1"/>
          </p:nvPr>
        </p:nvSpPr>
        <p:spPr>
          <a:xfrm>
            <a:off x="395536" y="1524000"/>
            <a:ext cx="8352928" cy="886397"/>
          </a:xfrm>
        </p:spPr>
        <p:txBody>
          <a:bodyPr/>
          <a:lstStyle/>
          <a:p>
            <a:pPr algn="ctr"/>
            <a:r>
              <a:rPr lang="ro-RO" dirty="0" smtClean="0"/>
              <a:t>Patru accese la memorie într-o linie în modul pagină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Structura sistemelor de calcul (03-2)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C8EB1-DE65-4CB7-AD71-45F07AFB5EAB}" type="slidenum">
              <a:rPr lang="ro-RO"/>
              <a:pPr/>
              <a:t>13</a:t>
            </a:fld>
            <a:endParaRPr lang="ro-RO"/>
          </a:p>
        </p:txBody>
      </p:sp>
      <p:pic>
        <p:nvPicPr>
          <p:cNvPr id="9" name="Content Placeholder 8" descr="ssc4-paramdram1-b.bmp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827584" y="2852936"/>
            <a:ext cx="7490781" cy="2711506"/>
          </a:xfr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Memorii DRAM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Memorii DRAM </a:t>
            </a:r>
          </a:p>
          <a:p>
            <a:pPr lvl="1"/>
            <a:r>
              <a:rPr lang="ro-RO" dirty="0" smtClean="0"/>
              <a:t>Parametrii memoriilor DRAM </a:t>
            </a:r>
          </a:p>
          <a:p>
            <a:pPr lvl="1"/>
            <a:r>
              <a:rPr lang="ro-RO" dirty="0" smtClean="0"/>
              <a:t>Accesul în mod pagină 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Categorii de memorii DRAM </a:t>
            </a:r>
          </a:p>
          <a:p>
            <a:pPr lvl="1"/>
            <a:r>
              <a:rPr lang="ro-RO" dirty="0" smtClean="0"/>
              <a:t>Memoria SDRAM</a:t>
            </a:r>
          </a:p>
          <a:p>
            <a:pPr lvl="1"/>
            <a:r>
              <a:rPr lang="ro-RO" dirty="0" smtClean="0"/>
              <a:t>Memoria DDR SDRAM</a:t>
            </a:r>
          </a:p>
          <a:p>
            <a:pPr lvl="1"/>
            <a:r>
              <a:rPr lang="ro-RO" dirty="0" smtClean="0"/>
              <a:t>Memoria DDR3 SDRAM </a:t>
            </a:r>
          </a:p>
          <a:p>
            <a:pPr lvl="1"/>
            <a:r>
              <a:rPr lang="ro-RO" dirty="0" smtClean="0"/>
              <a:t>Memoria DDR4 SDRAM </a:t>
            </a:r>
          </a:p>
          <a:p>
            <a:pPr lvl="1"/>
            <a:r>
              <a:rPr lang="ro-RO" dirty="0" smtClean="0"/>
              <a:t>Module de memorie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14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(03-2)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Categorii de memorii </a:t>
            </a:r>
            <a:r>
              <a:rPr lang="ro-RO" dirty="0" smtClean="0"/>
              <a:t>DRAM (1)</a:t>
            </a:r>
            <a:endParaRPr lang="ro-RO" dirty="0"/>
          </a:p>
        </p:txBody>
      </p:sp>
      <p:sp>
        <p:nvSpPr>
          <p:cNvPr id="243715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524000"/>
            <a:ext cx="8352928" cy="4572000"/>
          </a:xfrm>
        </p:spPr>
        <p:txBody>
          <a:bodyPr>
            <a:normAutofit fontScale="92500"/>
          </a:bodyPr>
          <a:lstStyle/>
          <a:p>
            <a:r>
              <a:rPr lang="ro-RO" dirty="0"/>
              <a:t>Majoritatea </a:t>
            </a:r>
            <a:r>
              <a:rPr lang="ro-RO" dirty="0">
                <a:cs typeface="Times New Roman" pitchFamily="18" charset="0"/>
              </a:rPr>
              <a:t>memorii</a:t>
            </a:r>
            <a:r>
              <a:rPr lang="ro-RO" dirty="0"/>
              <a:t>lor</a:t>
            </a:r>
            <a:r>
              <a:rPr lang="ro-RO" dirty="0">
                <a:cs typeface="Times New Roman" pitchFamily="18" charset="0"/>
              </a:rPr>
              <a:t> DRAM au </a:t>
            </a:r>
            <a:r>
              <a:rPr lang="ro-RO" dirty="0" smtClean="0">
                <a:cs typeface="Times New Roman" pitchFamily="18" charset="0"/>
              </a:rPr>
              <a:t>aceeași </a:t>
            </a:r>
            <a:r>
              <a:rPr lang="ro-RO" dirty="0">
                <a:cs typeface="Times New Roman" pitchFamily="18" charset="0"/>
              </a:rPr>
              <a:t>întârziere </a:t>
            </a:r>
            <a:r>
              <a:rPr lang="ro-RO" dirty="0" smtClean="0">
                <a:cs typeface="Times New Roman" pitchFamily="18" charset="0"/>
              </a:rPr>
              <a:t>inițial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pentru accesul la primul cuvânt de memorie (50 </a:t>
            </a:r>
            <a:r>
              <a:rPr lang="ro-RO" dirty="0"/>
              <a:t>..</a:t>
            </a:r>
            <a:r>
              <a:rPr lang="ro-RO" dirty="0">
                <a:cs typeface="Times New Roman" pitchFamily="18" charset="0"/>
              </a:rPr>
              <a:t> 60 </a:t>
            </a:r>
            <a:r>
              <a:rPr lang="ro-RO" dirty="0" err="1">
                <a:cs typeface="Times New Roman" pitchFamily="18" charset="0"/>
              </a:rPr>
              <a:t>ns</a:t>
            </a:r>
            <a:r>
              <a:rPr lang="ro-RO" dirty="0">
                <a:cs typeface="Times New Roman" pitchFamily="18" charset="0"/>
              </a:rPr>
              <a:t>)</a:t>
            </a:r>
            <a:r>
              <a:rPr lang="ro-RO" dirty="0"/>
              <a:t> </a:t>
            </a:r>
          </a:p>
          <a:p>
            <a:r>
              <a:rPr lang="ro-RO" dirty="0"/>
              <a:t>Se utilizează diferite</a:t>
            </a:r>
            <a:r>
              <a:rPr lang="ro-RO" dirty="0">
                <a:latin typeface="Arial" charset="0"/>
              </a:rPr>
              <a:t> </a:t>
            </a:r>
            <a:r>
              <a:rPr lang="ro-RO" dirty="0">
                <a:cs typeface="Times New Roman" pitchFamily="18" charset="0"/>
              </a:rPr>
              <a:t>tehnici pentru executare</a:t>
            </a:r>
            <a:r>
              <a:rPr lang="ro-RO" dirty="0"/>
              <a:t>a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operațiilor </a:t>
            </a:r>
            <a:r>
              <a:rPr lang="ro-RO" dirty="0">
                <a:cs typeface="Times New Roman" pitchFamily="18" charset="0"/>
              </a:rPr>
              <a:t>dup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citirea primului cuvânt </a:t>
            </a:r>
            <a:r>
              <a:rPr lang="ro-RO" dirty="0"/>
              <a:t> </a:t>
            </a:r>
          </a:p>
          <a:p>
            <a:r>
              <a:rPr lang="ro-RO" dirty="0" smtClean="0"/>
              <a:t>Categorii de </a:t>
            </a:r>
            <a:r>
              <a:rPr lang="ro-RO" dirty="0"/>
              <a:t>memorii DRAM:</a:t>
            </a:r>
          </a:p>
          <a:p>
            <a:pPr lvl="1"/>
            <a:r>
              <a:rPr lang="ro-RO" dirty="0"/>
              <a:t>Cu</a:t>
            </a:r>
            <a:r>
              <a:rPr lang="ro-RO" dirty="0">
                <a:solidFill>
                  <a:schemeClr val="tx2"/>
                </a:solidFill>
              </a:rPr>
              <a:t>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interfață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asincronă</a:t>
            </a:r>
          </a:p>
          <a:p>
            <a:pPr lvl="1"/>
            <a:r>
              <a:rPr lang="ro-RO" dirty="0"/>
              <a:t>Cu</a:t>
            </a:r>
            <a:r>
              <a:rPr lang="ro-RO" dirty="0">
                <a:solidFill>
                  <a:schemeClr val="tx2"/>
                </a:solidFill>
              </a:rPr>
              <a:t>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interfață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sincronă</a:t>
            </a:r>
          </a:p>
          <a:p>
            <a:pPr lvl="1"/>
            <a:r>
              <a:rPr lang="ro-RO" dirty="0"/>
              <a:t>Bazate pe</a:t>
            </a:r>
            <a:r>
              <a:rPr lang="ro-RO" dirty="0">
                <a:solidFill>
                  <a:schemeClr val="tx2"/>
                </a:solidFill>
              </a:rPr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protocoale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59DAFD-BCB2-469B-8FEB-FD1335F73CA7}" type="slidenum">
              <a:rPr lang="ro-RO"/>
              <a:pPr/>
              <a:t>15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(03-2)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695995"/>
          </a:xfrm>
        </p:spPr>
        <p:txBody>
          <a:bodyPr>
            <a:normAutofit/>
          </a:bodyPr>
          <a:lstStyle/>
          <a:p>
            <a:r>
              <a:rPr lang="ro-RO" dirty="0"/>
              <a:t>Categorii de memorii DRAM </a:t>
            </a:r>
            <a:r>
              <a:rPr lang="ro-RO" dirty="0" smtClean="0"/>
              <a:t>(2)</a:t>
            </a:r>
            <a:endParaRPr lang="ro-RO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Memorii DRAM cu interfață asincronă </a:t>
            </a:r>
          </a:p>
          <a:p>
            <a:pPr lvl="1"/>
            <a:r>
              <a:rPr lang="ro-RO" dirty="0" smtClean="0"/>
              <a:t>O</a:t>
            </a:r>
            <a:r>
              <a:rPr lang="ro-RO" dirty="0" smtClean="0">
                <a:cs typeface="Times New Roman" pitchFamily="18" charset="0"/>
              </a:rPr>
              <a:t>perațiil</a:t>
            </a:r>
            <a:r>
              <a:rPr lang="ro-RO" dirty="0" smtClean="0"/>
              <a:t>or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interne </a:t>
            </a:r>
            <a:r>
              <a:rPr lang="ro-RO" dirty="0"/>
              <a:t>l</a:t>
            </a:r>
            <a:r>
              <a:rPr lang="ro-RO" dirty="0">
                <a:cs typeface="Times New Roman" pitchFamily="18" charset="0"/>
              </a:rPr>
              <a:t>i se asigneaz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intervale minime de timp</a:t>
            </a:r>
            <a:r>
              <a:rPr lang="ro-RO" dirty="0"/>
              <a:t> </a:t>
            </a:r>
          </a:p>
          <a:p>
            <a:pPr lvl="1"/>
            <a:r>
              <a:rPr lang="ro-RO" dirty="0"/>
              <a:t>D</a:t>
            </a:r>
            <a:r>
              <a:rPr lang="ro-RO" dirty="0">
                <a:cs typeface="Times New Roman" pitchFamily="18" charset="0"/>
              </a:rPr>
              <a:t>ac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apare un impuls de ceas înainte de terminarea interval</a:t>
            </a:r>
            <a:r>
              <a:rPr lang="ro-RO" dirty="0"/>
              <a:t>ului</a:t>
            </a:r>
            <a:r>
              <a:rPr lang="ro-RO" dirty="0">
                <a:cs typeface="Times New Roman" pitchFamily="18" charset="0"/>
              </a:rPr>
              <a:t> minim,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trebuie s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se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aștepte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un nou impuls de ceas </a:t>
            </a:r>
            <a:r>
              <a:rPr lang="ro-RO" dirty="0">
                <a:sym typeface="Symbol" pitchFamily="18" charset="2"/>
              </a:rPr>
              <a:t> </a:t>
            </a:r>
            <a:r>
              <a:rPr lang="ro-RO" dirty="0" smtClean="0">
                <a:sym typeface="Symbol" pitchFamily="18" charset="2"/>
              </a:rPr>
              <a:t>p</a:t>
            </a:r>
            <a:r>
              <a:rPr lang="ro-RO" dirty="0" smtClean="0"/>
              <a:t>erformanțele </a:t>
            </a:r>
            <a:r>
              <a:rPr lang="ro-RO" dirty="0"/>
              <a:t>sunt limitate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Îmbunătățirea performanțelor</a:t>
            </a:r>
            <a:r>
              <a:rPr lang="ro-RO" dirty="0"/>
              <a:t>: </a:t>
            </a:r>
            <a:r>
              <a:rPr lang="ro-RO" dirty="0" smtClean="0">
                <a:cs typeface="Times New Roman" pitchFamily="18" charset="0"/>
              </a:rPr>
              <a:t>creș</a:t>
            </a:r>
            <a:r>
              <a:rPr lang="ro-RO" dirty="0" smtClean="0"/>
              <a:t>terea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num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rul</a:t>
            </a:r>
            <a:r>
              <a:rPr lang="ro-RO" dirty="0"/>
              <a:t>ui</a:t>
            </a:r>
            <a:r>
              <a:rPr lang="ro-RO" dirty="0">
                <a:cs typeface="Times New Roman" pitchFamily="18" charset="0"/>
              </a:rPr>
              <a:t> de </a:t>
            </a:r>
            <a:r>
              <a:rPr lang="ro-RO" dirty="0" smtClean="0">
                <a:cs typeface="Times New Roman" pitchFamily="18" charset="0"/>
              </a:rPr>
              <a:t>biți </a:t>
            </a:r>
            <a:r>
              <a:rPr lang="ro-RO" dirty="0">
                <a:cs typeface="Times New Roman" pitchFamily="18" charset="0"/>
              </a:rPr>
              <a:t>pe acces</a:t>
            </a:r>
            <a:r>
              <a:rPr lang="ro-RO" dirty="0"/>
              <a:t>; suprapunerea </a:t>
            </a:r>
            <a:r>
              <a:rPr lang="ro-RO" dirty="0" smtClean="0"/>
              <a:t>operațiilor</a:t>
            </a:r>
            <a:r>
              <a:rPr lang="ro-RO" dirty="0"/>
              <a:t>; eliminarea unor </a:t>
            </a:r>
            <a:r>
              <a:rPr lang="ro-RO" dirty="0" smtClean="0"/>
              <a:t>operații interne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1AF050-C625-45F6-97C0-FD22E6C5DEF0}" type="slidenum">
              <a:rPr lang="ro-RO"/>
              <a:pPr/>
              <a:t>16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(03-2)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695995"/>
          </a:xfrm>
        </p:spPr>
        <p:txBody>
          <a:bodyPr>
            <a:normAutofit/>
          </a:bodyPr>
          <a:lstStyle/>
          <a:p>
            <a:r>
              <a:rPr lang="ro-RO" dirty="0"/>
              <a:t>Categorii de memorii DRAM </a:t>
            </a:r>
            <a:r>
              <a:rPr lang="ro-RO" dirty="0" smtClean="0"/>
              <a:t>(3)</a:t>
            </a:r>
            <a:endParaRPr lang="ro-RO" dirty="0"/>
          </a:p>
        </p:txBody>
      </p:sp>
      <p:sp>
        <p:nvSpPr>
          <p:cNvPr id="2457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Porturi de I/E cu un num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 mai mare de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biți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2"/>
            <a:r>
              <a:rPr lang="ro-RO" sz="3000" dirty="0"/>
              <a:t>Sunt </a:t>
            </a:r>
            <a:r>
              <a:rPr lang="ro-RO" sz="3000" dirty="0">
                <a:cs typeface="Times New Roman" pitchFamily="18" charset="0"/>
              </a:rPr>
              <a:t>neces</a:t>
            </a:r>
            <a:r>
              <a:rPr lang="ro-RO" sz="3000" dirty="0"/>
              <a:t>ari</a:t>
            </a:r>
            <a:r>
              <a:rPr lang="ro-RO" sz="3000" dirty="0">
                <a:cs typeface="Times New Roman" pitchFamily="18" charset="0"/>
              </a:rPr>
              <a:t> pini suplimentari de I/E</a:t>
            </a:r>
            <a:r>
              <a:rPr lang="ro-RO" sz="3000" dirty="0"/>
              <a:t> </a:t>
            </a:r>
            <a:r>
              <a:rPr lang="ro-RO" sz="3000" dirty="0">
                <a:sym typeface="Symbol" pitchFamily="18" charset="2"/>
              </a:rPr>
              <a:t></a:t>
            </a:r>
            <a:r>
              <a:rPr lang="ro-RO" sz="3000" dirty="0">
                <a:latin typeface="Arial" charset="0"/>
                <a:sym typeface="Symbol" pitchFamily="18" charset="2"/>
              </a:rPr>
              <a:t> </a:t>
            </a:r>
            <a:r>
              <a:rPr lang="ro-RO" sz="3000" dirty="0" smtClean="0"/>
              <a:t>crește prețul</a:t>
            </a:r>
            <a:endParaRPr lang="ro-RO" sz="3000" dirty="0"/>
          </a:p>
          <a:p>
            <a:pPr lvl="2"/>
            <a:r>
              <a:rPr lang="ro-RO" sz="3000" dirty="0" smtClean="0">
                <a:cs typeface="Times New Roman" pitchFamily="18" charset="0"/>
              </a:rPr>
              <a:t>Crește </a:t>
            </a:r>
            <a:r>
              <a:rPr lang="ro-RO" sz="3000" dirty="0">
                <a:cs typeface="Times New Roman" pitchFamily="18" charset="0"/>
              </a:rPr>
              <a:t>curentul absorbit</a:t>
            </a:r>
            <a:r>
              <a:rPr lang="ro-RO" sz="3000" dirty="0"/>
              <a:t> </a:t>
            </a:r>
            <a:r>
              <a:rPr lang="ro-RO" sz="3000" dirty="0">
                <a:sym typeface="Symbol" pitchFamily="18" charset="2"/>
              </a:rPr>
              <a:t> </a:t>
            </a:r>
            <a:r>
              <a:rPr lang="ro-RO" sz="3000" dirty="0">
                <a:cs typeface="Times New Roman" pitchFamily="18" charset="0"/>
              </a:rPr>
              <a:t>scade</a:t>
            </a:r>
            <a:r>
              <a:rPr lang="ro-RO" sz="3000" dirty="0">
                <a:latin typeface="Arial" charset="0"/>
              </a:rPr>
              <a:t> </a:t>
            </a:r>
            <a:r>
              <a:rPr lang="ro-RO" sz="3000" dirty="0">
                <a:cs typeface="Times New Roman" pitchFamily="18" charset="0"/>
              </a:rPr>
              <a:t>viteza</a:t>
            </a:r>
            <a:r>
              <a:rPr lang="ro-RO" sz="3000" dirty="0"/>
              <a:t> </a:t>
            </a:r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uprapuner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ea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diferitelor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operații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liminarea unor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operații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interne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2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FPM </a:t>
            </a:r>
            <a:r>
              <a:rPr lang="ro-RO" dirty="0">
                <a:cs typeface="Times New Roman" pitchFamily="18" charset="0"/>
              </a:rPr>
              <a:t>(</a:t>
            </a:r>
            <a:r>
              <a:rPr lang="ro-RO" i="1" dirty="0">
                <a:cs typeface="Times New Roman" pitchFamily="18" charset="0"/>
              </a:rPr>
              <a:t>Fast Page Mode</a:t>
            </a:r>
            <a:r>
              <a:rPr lang="ro-RO" dirty="0">
                <a:cs typeface="Times New Roman" pitchFamily="18" charset="0"/>
              </a:rPr>
              <a:t>)</a:t>
            </a:r>
            <a:endParaRPr lang="ro-RO" dirty="0"/>
          </a:p>
          <a:p>
            <a:pPr lvl="2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EDO </a:t>
            </a:r>
            <a:r>
              <a:rPr lang="ro-RO" dirty="0">
                <a:cs typeface="Times New Roman" pitchFamily="18" charset="0"/>
              </a:rPr>
              <a:t>(</a:t>
            </a:r>
            <a:r>
              <a:rPr lang="ro-RO" i="1" dirty="0" err="1">
                <a:cs typeface="Times New Roman" pitchFamily="18" charset="0"/>
              </a:rPr>
              <a:t>Extended</a:t>
            </a:r>
            <a:r>
              <a:rPr lang="ro-RO" i="1" dirty="0">
                <a:cs typeface="Times New Roman" pitchFamily="18" charset="0"/>
              </a:rPr>
              <a:t> Data </a:t>
            </a:r>
            <a:r>
              <a:rPr lang="ro-RO" i="1" dirty="0" err="1">
                <a:cs typeface="Times New Roman" pitchFamily="18" charset="0"/>
              </a:rPr>
              <a:t>Out</a:t>
            </a:r>
            <a:r>
              <a:rPr lang="ro-RO" dirty="0">
                <a:cs typeface="Times New Roman" pitchFamily="18" charset="0"/>
              </a:rPr>
              <a:t>) </a:t>
            </a:r>
            <a:endParaRPr lang="ro-RO" dirty="0"/>
          </a:p>
          <a:p>
            <a:pPr lvl="2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BEDO </a:t>
            </a:r>
            <a:r>
              <a:rPr lang="ro-RO" dirty="0">
                <a:cs typeface="Times New Roman" pitchFamily="18" charset="0"/>
              </a:rPr>
              <a:t>(</a:t>
            </a:r>
            <a:r>
              <a:rPr lang="ro-RO" i="1" dirty="0" err="1">
                <a:cs typeface="Times New Roman" pitchFamily="18" charset="0"/>
              </a:rPr>
              <a:t>Burst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 err="1">
                <a:cs typeface="Times New Roman" pitchFamily="18" charset="0"/>
              </a:rPr>
              <a:t>Extended</a:t>
            </a:r>
            <a:r>
              <a:rPr lang="ro-RO" i="1" dirty="0">
                <a:cs typeface="Times New Roman" pitchFamily="18" charset="0"/>
              </a:rPr>
              <a:t> Data </a:t>
            </a:r>
            <a:r>
              <a:rPr lang="ro-RO" i="1" dirty="0" err="1">
                <a:cs typeface="Times New Roman" pitchFamily="18" charset="0"/>
              </a:rPr>
              <a:t>Out</a:t>
            </a:r>
            <a:r>
              <a:rPr lang="ro-RO" dirty="0">
                <a:cs typeface="Times New Roman" pitchFamily="18" charset="0"/>
              </a:rPr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C7DE3D6-34E3-4E0D-B92B-B1B1EEAD36CE}" type="slidenum">
              <a:rPr lang="ro-RO"/>
              <a:pPr/>
              <a:t>17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(03-2)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695995"/>
          </a:xfrm>
        </p:spPr>
        <p:txBody>
          <a:bodyPr>
            <a:normAutofit/>
          </a:bodyPr>
          <a:lstStyle/>
          <a:p>
            <a:r>
              <a:rPr lang="ro-RO" dirty="0"/>
              <a:t>Categorii de memorii DRAM </a:t>
            </a:r>
            <a:r>
              <a:rPr lang="ro-RO" dirty="0" smtClean="0"/>
              <a:t>(4)</a:t>
            </a:r>
            <a:endParaRPr lang="ro-RO" dirty="0"/>
          </a:p>
        </p:txBody>
      </p:sp>
      <p:sp>
        <p:nvSpPr>
          <p:cNvPr id="24781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438138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Memorii DRAM cu interfață sincronă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Se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elimin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perioadele de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așteptare </a:t>
            </a:r>
            <a:r>
              <a:rPr lang="ro-RO" dirty="0">
                <a:cs typeface="Times New Roman" pitchFamily="18" charset="0"/>
              </a:rPr>
              <a:t>de 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tre procesor</a:t>
            </a:r>
            <a:r>
              <a:rPr lang="ro-RO" dirty="0"/>
              <a:t> </a:t>
            </a:r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 memoreaz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anumite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informații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de la procesor </a:t>
            </a:r>
            <a:r>
              <a:rPr lang="ro-RO" dirty="0">
                <a:cs typeface="Times New Roman" pitchFamily="18" charset="0"/>
              </a:rPr>
              <a:t>sub controlul ceasului sistem</a:t>
            </a:r>
            <a:r>
              <a:rPr lang="ro-RO" dirty="0"/>
              <a:t>: </a:t>
            </a:r>
            <a:r>
              <a:rPr lang="ro-RO" dirty="0" smtClean="0">
                <a:cs typeface="Times New Roman" pitchFamily="18" charset="0"/>
              </a:rPr>
              <a:t>adresele, </a:t>
            </a:r>
            <a:r>
              <a:rPr lang="ro-RO" dirty="0">
                <a:cs typeface="Times New Roman" pitchFamily="18" charset="0"/>
              </a:rPr>
              <a:t>datele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semnalele de control</a:t>
            </a:r>
            <a:r>
              <a:rPr lang="ro-RO" dirty="0"/>
              <a:t> </a:t>
            </a:r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easul sistem este singurul semnal de sincronizare </a:t>
            </a:r>
            <a:r>
              <a:rPr lang="ro-RO" dirty="0">
                <a:cs typeface="Times New Roman" pitchFamily="18" charset="0"/>
              </a:rPr>
              <a:t>care trebuie furnizat memoriei</a:t>
            </a:r>
            <a:endParaRPr lang="ro-RO" dirty="0"/>
          </a:p>
          <a:p>
            <a:pPr lvl="1"/>
            <a:r>
              <a:rPr lang="ro-RO" dirty="0"/>
              <a:t>Intrările sunt simplificate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37B9AD-1E10-4798-B1F4-E72841F2ABD9}" type="slidenum">
              <a:rPr lang="ro-RO"/>
              <a:pPr/>
              <a:t>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(03-2)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695995"/>
          </a:xfrm>
        </p:spPr>
        <p:txBody>
          <a:bodyPr>
            <a:normAutofit/>
          </a:bodyPr>
          <a:lstStyle/>
          <a:p>
            <a:r>
              <a:rPr lang="ro-RO" dirty="0"/>
              <a:t>Categorii de memorii DRAM </a:t>
            </a:r>
            <a:r>
              <a:rPr lang="ro-RO" dirty="0" smtClean="0"/>
              <a:t>(5)</a:t>
            </a:r>
            <a:endParaRPr lang="ro-RO" dirty="0"/>
          </a:p>
        </p:txBody>
      </p:sp>
      <p:sp>
        <p:nvSpPr>
          <p:cNvPr id="2488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ro-RO" dirty="0"/>
              <a:t>M</a:t>
            </a:r>
            <a:r>
              <a:rPr lang="ro-RO" dirty="0">
                <a:cs typeface="Times New Roman" pitchFamily="18" charset="0"/>
              </a:rPr>
              <a:t>emorii DRAM c</a:t>
            </a:r>
            <a:r>
              <a:rPr lang="ro-RO" dirty="0"/>
              <a:t>u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interfaț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sincron</a:t>
            </a:r>
            <a:r>
              <a:rPr lang="ro-RO" dirty="0"/>
              <a:t>ă: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SDRAM</a:t>
            </a:r>
          </a:p>
          <a:p>
            <a:pPr lvl="1"/>
            <a:r>
              <a:rPr lang="ro-RO" dirty="0"/>
              <a:t>Sunt standardizate de comitetul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JEDEC </a:t>
            </a:r>
            <a:r>
              <a:rPr lang="ro-RO" dirty="0">
                <a:cs typeface="Times New Roman" pitchFamily="18" charset="0"/>
              </a:rPr>
              <a:t>(</a:t>
            </a:r>
            <a:r>
              <a:rPr lang="ro-RO" i="1" dirty="0" err="1">
                <a:cs typeface="Times New Roman" pitchFamily="18" charset="0"/>
              </a:rPr>
              <a:t>Joint</a:t>
            </a:r>
            <a:r>
              <a:rPr lang="ro-RO" i="1" dirty="0">
                <a:cs typeface="Times New Roman" pitchFamily="18" charset="0"/>
              </a:rPr>
              <a:t> Electron </a:t>
            </a:r>
            <a:r>
              <a:rPr lang="ro-RO" i="1" dirty="0" err="1">
                <a:cs typeface="Times New Roman" pitchFamily="18" charset="0"/>
              </a:rPr>
              <a:t>Device</a:t>
            </a:r>
            <a:r>
              <a:rPr lang="ro-RO" i="1" dirty="0">
                <a:cs typeface="Times New Roman" pitchFamily="18" charset="0"/>
              </a:rPr>
              <a:t> </a:t>
            </a:r>
            <a:r>
              <a:rPr lang="ro-RO" i="1" dirty="0" err="1">
                <a:cs typeface="Times New Roman" pitchFamily="18" charset="0"/>
              </a:rPr>
              <a:t>Engineering</a:t>
            </a:r>
            <a:r>
              <a:rPr lang="ro-RO" i="1" dirty="0">
                <a:cs typeface="Times New Roman" pitchFamily="18" charset="0"/>
              </a:rPr>
              <a:t> </a:t>
            </a:r>
            <a:r>
              <a:rPr lang="ro-RO" i="1" dirty="0" err="1">
                <a:cs typeface="Times New Roman" pitchFamily="18" charset="0"/>
              </a:rPr>
              <a:t>Council</a:t>
            </a:r>
            <a:r>
              <a:rPr lang="ro-RO" dirty="0" smtClean="0">
                <a:cs typeface="Times New Roman" pitchFamily="18" charset="0"/>
              </a:rPr>
              <a:t>) </a:t>
            </a:r>
            <a:endParaRPr lang="ro-RO" dirty="0"/>
          </a:p>
          <a:p>
            <a:pPr lvl="2"/>
            <a:r>
              <a:rPr lang="ro-RO" sz="30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PC150 </a:t>
            </a:r>
            <a:r>
              <a:rPr lang="ro-RO" sz="3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SDRAM</a:t>
            </a:r>
          </a:p>
          <a:p>
            <a:pPr lvl="2"/>
            <a:r>
              <a:rPr lang="ro-RO" sz="3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DDR SDRAM </a:t>
            </a:r>
            <a:r>
              <a:rPr lang="ro-RO" sz="3000" dirty="0"/>
              <a:t>(</a:t>
            </a:r>
            <a:r>
              <a:rPr lang="ro-RO" sz="3000" i="1" dirty="0" err="1"/>
              <a:t>Double</a:t>
            </a:r>
            <a:r>
              <a:rPr lang="ro-RO" sz="3000" i="1" dirty="0"/>
              <a:t> Data Rate</a:t>
            </a:r>
            <a:r>
              <a:rPr lang="ro-RO" sz="3000" dirty="0"/>
              <a:t> SDRAM)</a:t>
            </a:r>
          </a:p>
          <a:p>
            <a:pPr lvl="2"/>
            <a:r>
              <a:rPr lang="ro-RO" sz="3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ESDRAM </a:t>
            </a:r>
            <a:r>
              <a:rPr lang="ro-RO" sz="3000" dirty="0"/>
              <a:t>(</a:t>
            </a:r>
            <a:r>
              <a:rPr lang="ro-RO" sz="3000" i="1" dirty="0" err="1"/>
              <a:t>Enhanced</a:t>
            </a:r>
            <a:r>
              <a:rPr lang="ro-RO" sz="3000" dirty="0"/>
              <a:t> SDRAM)</a:t>
            </a:r>
          </a:p>
          <a:p>
            <a:pPr lvl="2"/>
            <a:r>
              <a:rPr lang="ro-RO" sz="3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Memoria cu canale virtuale </a:t>
            </a:r>
            <a:r>
              <a:rPr lang="ro-RO" sz="3000" dirty="0"/>
              <a:t>(</a:t>
            </a:r>
            <a:r>
              <a:rPr lang="ro-RO" sz="3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VCM </a:t>
            </a:r>
            <a:r>
              <a:rPr lang="ro-RO" sz="3000" dirty="0"/>
              <a:t>– </a:t>
            </a:r>
            <a:r>
              <a:rPr lang="ro-RO" sz="3000" i="1" dirty="0"/>
              <a:t>Virtual </a:t>
            </a:r>
            <a:r>
              <a:rPr lang="ro-RO" sz="3000" i="1" dirty="0" err="1"/>
              <a:t>Channel</a:t>
            </a:r>
            <a:r>
              <a:rPr lang="ro-RO" sz="3000" i="1" dirty="0"/>
              <a:t> </a:t>
            </a:r>
            <a:r>
              <a:rPr lang="ro-RO" sz="3000" i="1" dirty="0" err="1"/>
              <a:t>Memory</a:t>
            </a:r>
            <a:r>
              <a:rPr lang="ro-RO" sz="3000" dirty="0"/>
              <a:t>)</a:t>
            </a:r>
          </a:p>
          <a:p>
            <a:pPr lvl="2"/>
            <a:r>
              <a:rPr lang="ro-RO" sz="3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FCRAM </a:t>
            </a:r>
            <a:r>
              <a:rPr lang="ro-RO" sz="3000" dirty="0"/>
              <a:t>(</a:t>
            </a:r>
            <a:r>
              <a:rPr lang="ro-RO" sz="3000" i="1" dirty="0"/>
              <a:t>Fast </a:t>
            </a:r>
            <a:r>
              <a:rPr lang="ro-RO" sz="3000" i="1" dirty="0" err="1"/>
              <a:t>Cycle</a:t>
            </a:r>
            <a:r>
              <a:rPr lang="ro-RO" sz="3000" dirty="0"/>
              <a:t> RAM)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FD18F6D-8C73-4D0C-906C-6733D0A990A4}" type="slidenum">
              <a:rPr lang="ro-RO"/>
              <a:pPr/>
              <a:t>19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(03-2)</a:t>
            </a:r>
          </a:p>
        </p:txBody>
      </p:sp>
      <p:pic>
        <p:nvPicPr>
          <p:cNvPr id="7" name="Picture 6" descr="jedec-logo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380312" y="2852936"/>
            <a:ext cx="1533525" cy="4000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/>
              <a:t>Categorii de memorii DRAM </a:t>
            </a:r>
            <a:r>
              <a:rPr lang="ro-RO" dirty="0" smtClean="0"/>
              <a:t>(6)</a:t>
            </a:r>
            <a:endParaRPr lang="ro-RO" dirty="0"/>
          </a:p>
        </p:txBody>
      </p:sp>
      <p:sp>
        <p:nvSpPr>
          <p:cNvPr id="249859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484784"/>
            <a:ext cx="8352928" cy="4611216"/>
          </a:xfrm>
        </p:spPr>
        <p:txBody>
          <a:bodyPr>
            <a:normAutofit/>
          </a:bodyPr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Memorii DRAM bazate pe protocoale </a:t>
            </a:r>
          </a:p>
          <a:p>
            <a:pPr lvl="1"/>
            <a:r>
              <a:rPr lang="ro-RO" dirty="0" smtClean="0">
                <a:cs typeface="Times New Roman" pitchFamily="18" charset="0"/>
              </a:rPr>
              <a:t>Categoriile </a:t>
            </a:r>
            <a:r>
              <a:rPr lang="ro-RO" dirty="0">
                <a:cs typeface="Times New Roman" pitchFamily="18" charset="0"/>
              </a:rPr>
              <a:t>precedente de memorii au linii separate de adrese, date </a:t>
            </a:r>
            <a:r>
              <a:rPr lang="ro-RO" dirty="0" smtClean="0">
                <a:cs typeface="Times New Roman" pitchFamily="18" charset="0"/>
              </a:rPr>
              <a:t>și </a:t>
            </a:r>
            <a:r>
              <a:rPr lang="ro-RO" dirty="0">
                <a:cs typeface="Times New Roman" pitchFamily="18" charset="0"/>
              </a:rPr>
              <a:t>control</a:t>
            </a:r>
            <a:endParaRPr lang="ro-RO" dirty="0"/>
          </a:p>
          <a:p>
            <a:pPr lvl="2"/>
            <a:r>
              <a:rPr lang="ro-RO" sz="3000" dirty="0"/>
              <a:t>Aceasta</a:t>
            </a:r>
            <a:r>
              <a:rPr lang="ro-RO" sz="3000" dirty="0">
                <a:cs typeface="Times New Roman" pitchFamily="18" charset="0"/>
              </a:rPr>
              <a:t> </a:t>
            </a:r>
            <a:r>
              <a:rPr lang="ro-RO" sz="3000" dirty="0"/>
              <a:t>poate</a:t>
            </a:r>
            <a:r>
              <a:rPr lang="ro-RO" sz="3000" dirty="0">
                <a:latin typeface="Arial" charset="0"/>
                <a:cs typeface="Times New Roman" pitchFamily="18" charset="0"/>
              </a:rPr>
              <a:t> </a:t>
            </a:r>
            <a:r>
              <a:rPr lang="ro-RO" sz="3000" dirty="0"/>
              <a:t>limita</a:t>
            </a:r>
            <a:r>
              <a:rPr lang="ro-RO" sz="3000" dirty="0">
                <a:latin typeface="Arial" charset="0"/>
                <a:cs typeface="Times New Roman" pitchFamily="18" charset="0"/>
              </a:rPr>
              <a:t> </a:t>
            </a:r>
            <a:r>
              <a:rPr lang="ro-RO" sz="3000" dirty="0"/>
              <a:t>viteza de </a:t>
            </a:r>
            <a:r>
              <a:rPr lang="ro-RO" sz="3000" dirty="0" smtClean="0"/>
              <a:t>funcționare </a:t>
            </a:r>
            <a:endParaRPr lang="ro-RO" sz="3000" dirty="0"/>
          </a:p>
          <a:p>
            <a:pPr lvl="1"/>
            <a:r>
              <a:rPr lang="ro-RO" dirty="0" smtClean="0"/>
              <a:t>M</a:t>
            </a:r>
            <a:r>
              <a:rPr lang="ro-RO" dirty="0" smtClean="0">
                <a:cs typeface="Times New Roman" pitchFamily="18" charset="0"/>
              </a:rPr>
              <a:t>emoriile DRAM bazate </a:t>
            </a:r>
            <a:r>
              <a:rPr lang="ro-RO" dirty="0">
                <a:cs typeface="Times New Roman" pitchFamily="18" charset="0"/>
              </a:rPr>
              <a:t>pe protocoale </a:t>
            </a:r>
            <a:r>
              <a:rPr lang="ro-RO" dirty="0" smtClean="0">
                <a:cs typeface="Times New Roman" pitchFamily="18" charset="0"/>
              </a:rPr>
              <a:t>utilizează aceeași magistral</a:t>
            </a:r>
            <a:r>
              <a:rPr lang="ro-RO" dirty="0" smtClean="0"/>
              <a:t>ă pentru </a:t>
            </a:r>
            <a:r>
              <a:rPr lang="ro-RO" dirty="0"/>
              <a:t>adrese, date </a:t>
            </a:r>
            <a:r>
              <a:rPr lang="ro-RO" dirty="0" smtClean="0"/>
              <a:t>și semnale de control</a:t>
            </a:r>
            <a:r>
              <a:rPr lang="ro-RO" dirty="0" smtClean="0">
                <a:cs typeface="Times New Roman" pitchFamily="18" charset="0"/>
              </a:rPr>
              <a:t> </a:t>
            </a:r>
            <a:endParaRPr lang="ro-RO" dirty="0"/>
          </a:p>
          <a:p>
            <a:pPr lvl="2"/>
            <a:r>
              <a:rPr lang="ro-RO" sz="30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Rambus</a:t>
            </a:r>
            <a:r>
              <a:rPr lang="ro-RO" sz="3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DRAM</a:t>
            </a:r>
          </a:p>
          <a:p>
            <a:pPr lvl="2"/>
            <a:r>
              <a:rPr lang="ro-RO" sz="3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SLDRAM</a:t>
            </a:r>
            <a:r>
              <a:rPr lang="ro-RO" sz="3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sz="3000" dirty="0">
                <a:cs typeface="Times New Roman" pitchFamily="18" charset="0"/>
              </a:rPr>
              <a:t>(</a:t>
            </a:r>
            <a:r>
              <a:rPr lang="ro-RO" sz="3000" i="1" dirty="0" err="1">
                <a:cs typeface="Times New Roman" pitchFamily="18" charset="0"/>
              </a:rPr>
              <a:t>SyncLink</a:t>
            </a:r>
            <a:r>
              <a:rPr lang="ro-RO" sz="3000" dirty="0">
                <a:cs typeface="Times New Roman" pitchFamily="18" charset="0"/>
              </a:rPr>
              <a:t> DRAM)</a:t>
            </a:r>
            <a:r>
              <a:rPr lang="ro-RO" sz="3000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6CA2303-11C2-4089-AA39-438A50449B46}" type="slidenum">
              <a:rPr lang="ro-RO"/>
              <a:pPr/>
              <a:t>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(03-2)</a:t>
            </a: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Memorii DRAM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Memorii DRAM </a:t>
            </a:r>
          </a:p>
          <a:p>
            <a:pPr lvl="1"/>
            <a:r>
              <a:rPr lang="ro-RO" dirty="0" smtClean="0"/>
              <a:t>Parametrii memoriilor DRAM </a:t>
            </a:r>
          </a:p>
          <a:p>
            <a:pPr lvl="1"/>
            <a:r>
              <a:rPr lang="ro-RO" dirty="0" smtClean="0"/>
              <a:t>Accesul în mod pagină </a:t>
            </a:r>
          </a:p>
          <a:p>
            <a:pPr lvl="1"/>
            <a:r>
              <a:rPr lang="ro-RO" dirty="0" smtClean="0"/>
              <a:t>Categorii de memorii DRAM 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Memoria SDRAM</a:t>
            </a:r>
          </a:p>
          <a:p>
            <a:pPr lvl="1"/>
            <a:r>
              <a:rPr lang="ro-RO" dirty="0" smtClean="0"/>
              <a:t>Memoria DDR SDRAM</a:t>
            </a:r>
          </a:p>
          <a:p>
            <a:pPr lvl="1"/>
            <a:r>
              <a:rPr lang="ro-RO" dirty="0" smtClean="0"/>
              <a:t>Memoria DDR3 SDRAM </a:t>
            </a:r>
          </a:p>
          <a:p>
            <a:pPr lvl="1"/>
            <a:r>
              <a:rPr lang="ro-RO" dirty="0" smtClean="0"/>
              <a:t>Memoria DDR4 SDRAM </a:t>
            </a:r>
          </a:p>
          <a:p>
            <a:pPr lvl="1"/>
            <a:r>
              <a:rPr lang="ro-RO" dirty="0" smtClean="0"/>
              <a:t>Module de memorie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21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(03-2)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 smtClean="0"/>
              <a:t>Memoria </a:t>
            </a:r>
            <a:r>
              <a:rPr lang="ro-RO" dirty="0"/>
              <a:t>SDRAM (1)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847481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Deosebiri față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de memoria DRAM asincronă</a:t>
            </a:r>
            <a:r>
              <a:rPr lang="ro-RO" dirty="0"/>
              <a:t>:</a:t>
            </a:r>
          </a:p>
          <a:p>
            <a:pPr lvl="1"/>
            <a:r>
              <a:rPr lang="ro-RO" dirty="0"/>
              <a:t>U</a:t>
            </a:r>
            <a:r>
              <a:rPr lang="ro-RO" dirty="0">
                <a:cs typeface="Times New Roman" pitchFamily="18" charset="0"/>
              </a:rPr>
              <a:t>tilizeaz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o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arhitectur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cu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unit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ăț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(bancuri)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multiple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endParaRPr lang="ro-RO" dirty="0"/>
          </a:p>
          <a:p>
            <a:pPr lvl="1"/>
            <a:r>
              <a:rPr lang="ro-RO" dirty="0"/>
              <a:t>P</a:t>
            </a:r>
            <a:r>
              <a:rPr lang="ro-RO" dirty="0">
                <a:cs typeface="Times New Roman" pitchFamily="18" charset="0"/>
              </a:rPr>
              <a:t>oate </a:t>
            </a:r>
            <a:r>
              <a:rPr lang="ro-RO" dirty="0" smtClean="0">
                <a:cs typeface="Times New Roman" pitchFamily="18" charset="0"/>
              </a:rPr>
              <a:t>funcționa </a:t>
            </a:r>
            <a:r>
              <a:rPr lang="ro-RO" dirty="0">
                <a:cs typeface="Times New Roman" pitchFamily="18" charset="0"/>
              </a:rPr>
              <a:t>în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mod exploziv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/>
              <a:t>(</a:t>
            </a:r>
            <a:r>
              <a:rPr lang="en-US" i="1" dirty="0"/>
              <a:t>“</a:t>
            </a:r>
            <a:r>
              <a:rPr lang="ro-RO" i="1" dirty="0" err="1"/>
              <a:t>burst</a:t>
            </a:r>
            <a:r>
              <a:rPr lang="en-US" i="1" dirty="0"/>
              <a:t>”</a:t>
            </a:r>
            <a:r>
              <a:rPr lang="ro-RO" i="1" dirty="0"/>
              <a:t> </a:t>
            </a:r>
            <a:r>
              <a:rPr lang="ro-RO" dirty="0"/>
              <a:t>) pentru </a:t>
            </a:r>
            <a:r>
              <a:rPr lang="ro-RO" dirty="0">
                <a:cs typeface="Times New Roman" pitchFamily="18" charset="0"/>
              </a:rPr>
              <a:t>2 </a:t>
            </a:r>
            <a:r>
              <a:rPr lang="ro-RO" dirty="0" smtClean="0">
                <a:cs typeface="Times New Roman" pitchFamily="18" charset="0"/>
              </a:rPr>
              <a:t>biți</a:t>
            </a:r>
            <a:r>
              <a:rPr lang="ro-RO" dirty="0">
                <a:cs typeface="Times New Roman" pitchFamily="18" charset="0"/>
              </a:rPr>
              <a:t>, 4 </a:t>
            </a:r>
            <a:r>
              <a:rPr lang="ro-RO" dirty="0" smtClean="0">
                <a:cs typeface="Times New Roman" pitchFamily="18" charset="0"/>
              </a:rPr>
              <a:t>biți</a:t>
            </a:r>
            <a:r>
              <a:rPr lang="ro-RO" dirty="0">
                <a:cs typeface="Times New Roman" pitchFamily="18" charset="0"/>
              </a:rPr>
              <a:t>, 8 </a:t>
            </a:r>
            <a:r>
              <a:rPr lang="ro-RO" dirty="0" smtClean="0">
                <a:cs typeface="Times New Roman" pitchFamily="18" charset="0"/>
              </a:rPr>
              <a:t>biți </a:t>
            </a:r>
            <a:r>
              <a:rPr lang="ro-RO" dirty="0">
                <a:cs typeface="Times New Roman" pitchFamily="18" charset="0"/>
              </a:rPr>
              <a:t>sau o pagin</a:t>
            </a:r>
            <a:r>
              <a:rPr lang="ro-RO" dirty="0"/>
              <a:t>ă</a:t>
            </a:r>
            <a:endParaRPr lang="en-US" dirty="0"/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Metoda de control</a:t>
            </a:r>
          </a:p>
          <a:p>
            <a:pPr lvl="2"/>
            <a:r>
              <a:rPr lang="ro-RO" sz="3000" dirty="0" smtClean="0">
                <a:cs typeface="Times New Roman" pitchFamily="18" charset="0"/>
              </a:rPr>
              <a:t>Este </a:t>
            </a:r>
            <a:r>
              <a:rPr lang="ro-RO" sz="3000" dirty="0">
                <a:cs typeface="Times New Roman" pitchFamily="18" charset="0"/>
              </a:rPr>
              <a:t>controlat</a:t>
            </a:r>
            <a:r>
              <a:rPr lang="ro-RO" sz="3000" dirty="0"/>
              <a:t>ă</a:t>
            </a:r>
            <a:r>
              <a:rPr lang="ro-RO" sz="3000" dirty="0">
                <a:cs typeface="Times New Roman" pitchFamily="18" charset="0"/>
              </a:rPr>
              <a:t> prin </a:t>
            </a:r>
            <a:r>
              <a:rPr lang="ro-RO" sz="3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comenzi plasate pe magistral</a:t>
            </a:r>
            <a:r>
              <a:rPr lang="ro-RO" sz="3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en-US" sz="3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3000" dirty="0">
                <a:sym typeface="Symbol" pitchFamily="18" charset="2"/>
              </a:rPr>
              <a:t> </a:t>
            </a:r>
            <a:r>
              <a:rPr lang="ro-RO" sz="3000" dirty="0">
                <a:sym typeface="Symbol" pitchFamily="18" charset="2"/>
              </a:rPr>
              <a:t>interpretate pe frontul crescător al semnalului de ceas</a:t>
            </a:r>
            <a:endParaRPr lang="en-US" sz="3000" dirty="0">
              <a:solidFill>
                <a:schemeClr val="tx2"/>
              </a:solidFill>
              <a:sym typeface="Symbol" pitchFamily="18" charset="2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25CBA85-9384-49E2-BBE7-39020D8CF118}" type="slidenum">
              <a:rPr lang="ro-RO"/>
              <a:pPr/>
              <a:t>22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(03-2)</a:t>
            </a: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 smtClean="0"/>
              <a:t>Memoria </a:t>
            </a:r>
            <a:r>
              <a:rPr lang="ro-RO" dirty="0"/>
              <a:t>SDRAM (</a:t>
            </a:r>
            <a:r>
              <a:rPr lang="en-US" dirty="0"/>
              <a:t>2</a:t>
            </a:r>
            <a:r>
              <a:rPr lang="ro-RO" dirty="0"/>
              <a:t>)</a:t>
            </a:r>
          </a:p>
        </p:txBody>
      </p:sp>
      <p:sp>
        <p:nvSpPr>
          <p:cNvPr id="2590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Circuitul SPD </a:t>
            </a:r>
            <a:r>
              <a:rPr lang="ro-RO" dirty="0"/>
              <a:t>(</a:t>
            </a:r>
            <a:r>
              <a:rPr lang="ro-RO" i="1" dirty="0"/>
              <a:t>Serial </a:t>
            </a:r>
            <a:r>
              <a:rPr lang="ro-RO" i="1" dirty="0" err="1"/>
              <a:t>Presence</a:t>
            </a:r>
            <a:r>
              <a:rPr lang="ro-RO" i="1" dirty="0"/>
              <a:t> </a:t>
            </a:r>
            <a:r>
              <a:rPr lang="ro-RO" i="1" dirty="0" err="1"/>
              <a:t>Detect</a:t>
            </a:r>
            <a:r>
              <a:rPr lang="ro-RO" dirty="0"/>
              <a:t>)</a:t>
            </a:r>
          </a:p>
          <a:p>
            <a:pPr lvl="1">
              <a:lnSpc>
                <a:spcPct val="90000"/>
              </a:lnSpc>
            </a:pPr>
            <a:r>
              <a:rPr lang="ro-RO" dirty="0"/>
              <a:t>Memorie EEPROM </a:t>
            </a:r>
            <a:r>
              <a:rPr lang="ro-RO" dirty="0" smtClean="0"/>
              <a:t>conținută </a:t>
            </a:r>
            <a:r>
              <a:rPr lang="ro-RO" dirty="0"/>
              <a:t>de modulele de memorie SDRAM </a:t>
            </a:r>
          </a:p>
          <a:p>
            <a:pPr lvl="1">
              <a:lnSpc>
                <a:spcPct val="90000"/>
              </a:lnSpc>
            </a:pPr>
            <a:r>
              <a:rPr lang="ro-RO" dirty="0" smtClean="0"/>
              <a:t>C</a:t>
            </a:r>
            <a:r>
              <a:rPr lang="ro-RO" dirty="0" smtClean="0">
                <a:cs typeface="Times New Roman" pitchFamily="18" charset="0"/>
              </a:rPr>
              <a:t>onține informații </a:t>
            </a:r>
            <a:r>
              <a:rPr lang="ro-RO" dirty="0">
                <a:cs typeface="Times New Roman" pitchFamily="18" charset="0"/>
              </a:rPr>
              <a:t>despre modulul SDRAM </a:t>
            </a:r>
            <a:r>
              <a:rPr lang="ro-RO" dirty="0">
                <a:latin typeface="Arial" charset="0"/>
                <a:cs typeface="Times New Roman" pitchFamily="18" charset="0"/>
              </a:rPr>
              <a:t>→</a:t>
            </a:r>
            <a:r>
              <a:rPr lang="en-US" dirty="0">
                <a:latin typeface="Arial" charset="0"/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set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ri de temporizare</a:t>
            </a:r>
            <a:endParaRPr lang="ro-RO" dirty="0"/>
          </a:p>
          <a:p>
            <a:pPr>
              <a:lnSpc>
                <a:spcPct val="90000"/>
              </a:lnSpc>
            </a:pP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Viteza memoriilor SDRAM</a:t>
            </a:r>
          </a:p>
          <a:p>
            <a:pPr lvl="1">
              <a:lnSpc>
                <a:spcPct val="90000"/>
              </a:lnSpc>
            </a:pPr>
            <a:r>
              <a:rPr lang="ro-RO" dirty="0"/>
              <a:t>E</a:t>
            </a:r>
            <a:r>
              <a:rPr lang="ro-RO" dirty="0">
                <a:cs typeface="Times New Roman" pitchFamily="18" charset="0"/>
              </a:rPr>
              <a:t>ste exprimat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în MHz</a:t>
            </a:r>
            <a:endParaRPr lang="ro-RO" dirty="0"/>
          </a:p>
          <a:p>
            <a:pPr lvl="1">
              <a:lnSpc>
                <a:spcPct val="90000"/>
              </a:lnSpc>
            </a:pP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urata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minimă 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ciclului de ceas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 smtClean="0"/>
              <a:t>(în ns</a:t>
            </a:r>
            <a:r>
              <a:rPr lang="ro-RO" dirty="0"/>
              <a:t>) </a:t>
            </a:r>
            <a:r>
              <a:rPr lang="ro-RO" dirty="0">
                <a:cs typeface="Times New Roman" pitchFamily="18" charset="0"/>
              </a:rPr>
              <a:t>este marcat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pe capsulele de memorie </a:t>
            </a:r>
            <a:endParaRPr lang="ro-RO" dirty="0"/>
          </a:p>
          <a:p>
            <a:pPr lvl="1">
              <a:lnSpc>
                <a:spcPct val="90000"/>
              </a:lnSpc>
            </a:pP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–10</a:t>
            </a:r>
            <a:r>
              <a:rPr lang="ro-RO" dirty="0"/>
              <a:t>: </a:t>
            </a:r>
            <a:r>
              <a:rPr lang="ro-RO" dirty="0" err="1" smtClean="0"/>
              <a:t>f</a:t>
            </a:r>
            <a:r>
              <a:rPr lang="ro-RO" baseline="-25000" dirty="0" err="1" smtClean="0"/>
              <a:t>max</a:t>
            </a:r>
            <a:r>
              <a:rPr lang="ro-RO" dirty="0" smtClean="0"/>
              <a:t> a </a:t>
            </a:r>
            <a:r>
              <a:rPr lang="ro-RO" dirty="0" smtClean="0">
                <a:cs typeface="Times New Roman" pitchFamily="18" charset="0"/>
              </a:rPr>
              <a:t>ceasului </a:t>
            </a:r>
            <a:r>
              <a:rPr lang="ro-RO" dirty="0">
                <a:cs typeface="Times New Roman" pitchFamily="18" charset="0"/>
              </a:rPr>
              <a:t>este de 100 MHz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F31330-62C2-4F32-B862-45A89354FB07}" type="slidenum">
              <a:rPr lang="ro-RO"/>
              <a:pPr/>
              <a:t>23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(03-2)</a:t>
            </a: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 smtClean="0"/>
              <a:t>Memoria </a:t>
            </a:r>
            <a:r>
              <a:rPr lang="ro-RO" dirty="0"/>
              <a:t>SDRAM </a:t>
            </a:r>
            <a:r>
              <a:rPr lang="ro-RO" dirty="0" smtClean="0"/>
              <a:t>(3)</a:t>
            </a:r>
            <a:endParaRPr lang="ro-RO" dirty="0"/>
          </a:p>
        </p:txBody>
      </p:sp>
      <p:sp>
        <p:nvSpPr>
          <p:cNvPr id="25497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795159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Semnalele unei memorii SDRAM</a:t>
            </a:r>
          </a:p>
          <a:p>
            <a:pPr lvl="1"/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CLK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/>
              <a:t>(</a:t>
            </a:r>
            <a:r>
              <a:rPr lang="ro-RO" i="1" dirty="0" err="1"/>
              <a:t>Clock</a:t>
            </a:r>
            <a:r>
              <a:rPr lang="ro-RO" dirty="0"/>
              <a:t>): semnal de ceas</a:t>
            </a:r>
          </a:p>
          <a:p>
            <a:pPr lvl="2"/>
            <a:r>
              <a:rPr lang="ro-RO" sz="3000" dirty="0">
                <a:cs typeface="Times New Roman" pitchFamily="18" charset="0"/>
              </a:rPr>
              <a:t>Frontul cresc</a:t>
            </a:r>
            <a:r>
              <a:rPr lang="ro-RO" sz="3000" dirty="0"/>
              <a:t>ă</a:t>
            </a:r>
            <a:r>
              <a:rPr lang="ro-RO" sz="3000" dirty="0">
                <a:cs typeface="Times New Roman" pitchFamily="18" charset="0"/>
              </a:rPr>
              <a:t>tor al semnalului de ceas </a:t>
            </a:r>
            <a:r>
              <a:rPr lang="ro-RO" sz="3000" dirty="0" smtClean="0">
                <a:cs typeface="Times New Roman" pitchFamily="18" charset="0"/>
              </a:rPr>
              <a:t>inițiaz</a:t>
            </a:r>
            <a:r>
              <a:rPr lang="ro-RO" sz="3000" dirty="0" smtClean="0"/>
              <a:t>ă</a:t>
            </a:r>
            <a:r>
              <a:rPr lang="ro-RO" sz="3000" dirty="0" smtClean="0">
                <a:cs typeface="Times New Roman" pitchFamily="18" charset="0"/>
              </a:rPr>
              <a:t> </a:t>
            </a:r>
            <a:r>
              <a:rPr lang="ro-RO" sz="3000" dirty="0">
                <a:cs typeface="Times New Roman" pitchFamily="18" charset="0"/>
              </a:rPr>
              <a:t>decodificarea </a:t>
            </a:r>
            <a:r>
              <a:rPr lang="ro-RO" sz="3000" dirty="0" smtClean="0">
                <a:cs typeface="Times New Roman" pitchFamily="18" charset="0"/>
              </a:rPr>
              <a:t>și execuția </a:t>
            </a:r>
            <a:r>
              <a:rPr lang="ro-RO" sz="3000" dirty="0">
                <a:cs typeface="Times New Roman" pitchFamily="18" charset="0"/>
              </a:rPr>
              <a:t>comenzilor</a:t>
            </a:r>
            <a:r>
              <a:rPr lang="ro-RO" sz="3000" dirty="0"/>
              <a:t> </a:t>
            </a:r>
          </a:p>
          <a:p>
            <a:pPr lvl="2"/>
            <a:r>
              <a:rPr lang="ro-RO" sz="3000" dirty="0"/>
              <a:t>Se </a:t>
            </a:r>
            <a:r>
              <a:rPr lang="ro-RO" sz="3000" dirty="0">
                <a:cs typeface="Times New Roman" pitchFamily="18" charset="0"/>
              </a:rPr>
              <a:t>utilizeaz</a:t>
            </a:r>
            <a:r>
              <a:rPr lang="ro-RO" sz="3000" dirty="0"/>
              <a:t>ă</a:t>
            </a:r>
            <a:r>
              <a:rPr lang="ro-RO" sz="3000" dirty="0">
                <a:cs typeface="Times New Roman" pitchFamily="18" charset="0"/>
              </a:rPr>
              <a:t> </a:t>
            </a:r>
            <a:r>
              <a:rPr lang="ro-RO" sz="3000" dirty="0"/>
              <a:t>2</a:t>
            </a:r>
            <a:r>
              <a:rPr lang="ro-RO" sz="3000" dirty="0">
                <a:cs typeface="Times New Roman" pitchFamily="18" charset="0"/>
              </a:rPr>
              <a:t> sau </a:t>
            </a:r>
            <a:r>
              <a:rPr lang="ro-RO" sz="3000" dirty="0"/>
              <a:t>4</a:t>
            </a:r>
            <a:r>
              <a:rPr lang="ro-RO" sz="3000" dirty="0">
                <a:cs typeface="Times New Roman" pitchFamily="18" charset="0"/>
              </a:rPr>
              <a:t> linii de ceas</a:t>
            </a:r>
            <a:r>
              <a:rPr lang="ro-RO" sz="3000" dirty="0"/>
              <a:t> </a:t>
            </a:r>
          </a:p>
          <a:p>
            <a:pPr lvl="1"/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CKE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(</a:t>
            </a:r>
            <a:r>
              <a:rPr lang="ro-RO" i="1" dirty="0" err="1">
                <a:cs typeface="Times New Roman" pitchFamily="18" charset="0"/>
              </a:rPr>
              <a:t>Clock</a:t>
            </a:r>
            <a:r>
              <a:rPr lang="ro-RO" i="1" dirty="0">
                <a:cs typeface="Times New Roman" pitchFamily="18" charset="0"/>
              </a:rPr>
              <a:t> </a:t>
            </a:r>
            <a:r>
              <a:rPr lang="ro-RO" i="1" dirty="0" err="1">
                <a:cs typeface="Times New Roman" pitchFamily="18" charset="0"/>
              </a:rPr>
              <a:t>Enable</a:t>
            </a:r>
            <a:r>
              <a:rPr lang="ro-RO" dirty="0">
                <a:cs typeface="Times New Roman" pitchFamily="18" charset="0"/>
              </a:rPr>
              <a:t>)</a:t>
            </a:r>
            <a:r>
              <a:rPr lang="ro-RO" dirty="0"/>
              <a:t>: activarea </a:t>
            </a:r>
            <a:r>
              <a:rPr lang="ro-RO" dirty="0" smtClean="0"/>
              <a:t>/ </a:t>
            </a:r>
            <a:r>
              <a:rPr lang="ro-RO" dirty="0"/>
              <a:t>dezactivarea semnalului </a:t>
            </a:r>
            <a:r>
              <a:rPr lang="ro-RO" i="1" dirty="0"/>
              <a:t>CLK</a:t>
            </a:r>
          </a:p>
          <a:p>
            <a:pPr lvl="2"/>
            <a:r>
              <a:rPr lang="ro-RO" sz="3000" dirty="0"/>
              <a:t>Dacă</a:t>
            </a:r>
            <a:r>
              <a:rPr lang="ro-RO" sz="3000" dirty="0">
                <a:cs typeface="Times New Roman" pitchFamily="18" charset="0"/>
              </a:rPr>
              <a:t> semnalul </a:t>
            </a:r>
            <a:r>
              <a:rPr lang="ro-RO" sz="3000" i="1" dirty="0">
                <a:cs typeface="Times New Roman" pitchFamily="18" charset="0"/>
              </a:rPr>
              <a:t>CLK</a:t>
            </a:r>
            <a:r>
              <a:rPr lang="ro-RO" sz="3000" dirty="0">
                <a:cs typeface="Times New Roman" pitchFamily="18" charset="0"/>
              </a:rPr>
              <a:t> este dezactivat, </a:t>
            </a:r>
            <a:r>
              <a:rPr lang="ro-RO" sz="3000" dirty="0" err="1">
                <a:cs typeface="Times New Roman" pitchFamily="18" charset="0"/>
              </a:rPr>
              <a:t>bufferele</a:t>
            </a:r>
            <a:r>
              <a:rPr lang="ro-RO" sz="3000" dirty="0">
                <a:cs typeface="Times New Roman" pitchFamily="18" charset="0"/>
              </a:rPr>
              <a:t> de intrare sunt dezactivate pentru a economisi </a:t>
            </a:r>
            <a:r>
              <a:rPr lang="ro-RO" sz="3000" dirty="0" smtClean="0">
                <a:cs typeface="Times New Roman" pitchFamily="18" charset="0"/>
              </a:rPr>
              <a:t>puterea consumat</a:t>
            </a:r>
            <a:r>
              <a:rPr lang="ro-RO" sz="3000" dirty="0" smtClean="0"/>
              <a:t>ă</a:t>
            </a:r>
            <a:r>
              <a:rPr lang="ro-RO" sz="3000" dirty="0" smtClean="0">
                <a:cs typeface="Times New Roman" pitchFamily="18" charset="0"/>
              </a:rPr>
              <a:t> </a:t>
            </a:r>
            <a:endParaRPr lang="ro-RO" sz="3000" dirty="0"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9F4CDD-A190-42CF-835F-ADC9B55B6EC7}" type="slidenum">
              <a:rPr lang="ro-RO"/>
              <a:pPr/>
              <a:t>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(03-2)</a:t>
            </a: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 smtClean="0"/>
              <a:t>Memoria </a:t>
            </a:r>
            <a:r>
              <a:rPr lang="ro-RO" dirty="0"/>
              <a:t>SDRAM </a:t>
            </a:r>
            <a:r>
              <a:rPr lang="ro-RO" dirty="0" smtClean="0"/>
              <a:t>(4)</a:t>
            </a:r>
            <a:endParaRPr lang="ro-RO" dirty="0"/>
          </a:p>
        </p:txBody>
      </p:sp>
      <p:sp>
        <p:nvSpPr>
          <p:cNvPr id="25600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>
            <a:normAutofit/>
          </a:bodyPr>
          <a:lstStyle/>
          <a:p>
            <a:pPr lvl="1"/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CS </a:t>
            </a:r>
            <a:r>
              <a:rPr lang="ro-RO" dirty="0">
                <a:cs typeface="Times New Roman" pitchFamily="18" charset="0"/>
              </a:rPr>
              <a:t>(</a:t>
            </a:r>
            <a:r>
              <a:rPr lang="ro-RO" i="1" dirty="0">
                <a:cs typeface="Times New Roman" pitchFamily="18" charset="0"/>
              </a:rPr>
              <a:t>Chip Select</a:t>
            </a:r>
            <a:r>
              <a:rPr lang="ro-RO" dirty="0">
                <a:cs typeface="Times New Roman" pitchFamily="18" charset="0"/>
              </a:rPr>
              <a:t>)</a:t>
            </a:r>
            <a:endParaRPr lang="ro-RO" dirty="0"/>
          </a:p>
          <a:p>
            <a:pPr lvl="1"/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RAS</a:t>
            </a:r>
            <a:r>
              <a:rPr lang="ro-RO" dirty="0"/>
              <a:t>,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CAS</a:t>
            </a:r>
            <a:r>
              <a:rPr lang="ro-RO" dirty="0"/>
              <a:t>,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WE</a:t>
            </a:r>
          </a:p>
          <a:p>
            <a:pPr lvl="2"/>
            <a:r>
              <a:rPr lang="ro-RO" sz="3000" dirty="0"/>
              <a:t>Au</a:t>
            </a:r>
            <a:r>
              <a:rPr lang="ro-RO" sz="3000" dirty="0">
                <a:cs typeface="Times New Roman" pitchFamily="18" charset="0"/>
              </a:rPr>
              <a:t> </a:t>
            </a:r>
            <a:r>
              <a:rPr lang="ro-RO" sz="3000" dirty="0" smtClean="0">
                <a:cs typeface="Times New Roman" pitchFamily="18" charset="0"/>
              </a:rPr>
              <a:t>aceeași </a:t>
            </a:r>
            <a:r>
              <a:rPr lang="ro-RO" sz="3000" dirty="0">
                <a:cs typeface="Times New Roman" pitchFamily="18" charset="0"/>
              </a:rPr>
              <a:t>func</a:t>
            </a:r>
            <a:r>
              <a:rPr lang="ro-RO" sz="3000" dirty="0"/>
              <a:t>ţ</a:t>
            </a:r>
            <a:r>
              <a:rPr lang="ro-RO" sz="3000" dirty="0">
                <a:cs typeface="Times New Roman" pitchFamily="18" charset="0"/>
              </a:rPr>
              <a:t>ie ca </a:t>
            </a:r>
            <a:r>
              <a:rPr lang="ro-RO" sz="3000" dirty="0" smtClean="0"/>
              <a:t>ș</a:t>
            </a:r>
            <a:r>
              <a:rPr lang="ro-RO" sz="3000" dirty="0" smtClean="0">
                <a:cs typeface="Times New Roman" pitchFamily="18" charset="0"/>
              </a:rPr>
              <a:t>i </a:t>
            </a:r>
            <a:r>
              <a:rPr lang="ro-RO" sz="3000" dirty="0">
                <a:cs typeface="Times New Roman" pitchFamily="18" charset="0"/>
              </a:rPr>
              <a:t>pentru memoriile DRAM asincrone</a:t>
            </a:r>
            <a:r>
              <a:rPr lang="ro-RO" sz="3000" dirty="0"/>
              <a:t> </a:t>
            </a:r>
          </a:p>
          <a:p>
            <a:pPr lvl="1"/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DQ</a:t>
            </a:r>
            <a:r>
              <a:rPr lang="ro-RO" dirty="0"/>
              <a:t>: </a:t>
            </a:r>
            <a:r>
              <a:rPr lang="ro-RO" dirty="0">
                <a:cs typeface="Times New Roman" pitchFamily="18" charset="0"/>
              </a:rPr>
              <a:t>linii </a:t>
            </a:r>
            <a:r>
              <a:rPr lang="ro-RO" dirty="0" smtClean="0">
                <a:cs typeface="Times New Roman" pitchFamily="18" charset="0"/>
              </a:rPr>
              <a:t>bidirecționale </a:t>
            </a:r>
            <a:r>
              <a:rPr lang="ro-RO" dirty="0">
                <a:cs typeface="Times New Roman" pitchFamily="18" charset="0"/>
              </a:rPr>
              <a:t>de date</a:t>
            </a:r>
            <a:r>
              <a:rPr lang="ro-RO" dirty="0"/>
              <a:t> </a:t>
            </a:r>
          </a:p>
          <a:p>
            <a:pPr lvl="1"/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DQM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(</a:t>
            </a:r>
            <a:r>
              <a:rPr lang="ro-RO" i="1" dirty="0">
                <a:cs typeface="Times New Roman" pitchFamily="18" charset="0"/>
              </a:rPr>
              <a:t>DQ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 err="1">
                <a:cs typeface="Times New Roman" pitchFamily="18" charset="0"/>
              </a:rPr>
              <a:t>Mask</a:t>
            </a:r>
            <a:r>
              <a:rPr lang="ro-RO" dirty="0">
                <a:cs typeface="Times New Roman" pitchFamily="18" charset="0"/>
              </a:rPr>
              <a:t>)</a:t>
            </a:r>
            <a:endParaRPr lang="ro-RO" dirty="0"/>
          </a:p>
          <a:p>
            <a:pPr lvl="2"/>
            <a:r>
              <a:rPr lang="ro-RO" sz="3000" dirty="0"/>
              <a:t>U</a:t>
            </a:r>
            <a:r>
              <a:rPr lang="ro-RO" sz="3000" dirty="0">
                <a:cs typeface="Times New Roman" pitchFamily="18" charset="0"/>
              </a:rPr>
              <a:t>tilizat pentru controlul liniilor de date</a:t>
            </a:r>
            <a:r>
              <a:rPr lang="ro-RO" sz="3000" dirty="0"/>
              <a:t> </a:t>
            </a:r>
          </a:p>
          <a:p>
            <a:pPr lvl="1"/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/>
              <a:t>(</a:t>
            </a:r>
            <a:r>
              <a:rPr lang="ro-RO" i="1" dirty="0" err="1"/>
              <a:t>Address</a:t>
            </a:r>
            <a:r>
              <a:rPr lang="ro-RO" dirty="0"/>
              <a:t>) </a:t>
            </a:r>
          </a:p>
          <a:p>
            <a:pPr lvl="1"/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BA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/>
              <a:t>(</a:t>
            </a:r>
            <a:r>
              <a:rPr lang="ro-RO" i="1" dirty="0"/>
              <a:t>Bank </a:t>
            </a:r>
            <a:r>
              <a:rPr lang="ro-RO" i="1" dirty="0" err="1"/>
              <a:t>Address</a:t>
            </a:r>
            <a:r>
              <a:rPr lang="ro-RO" dirty="0"/>
              <a:t>) </a:t>
            </a:r>
            <a:endParaRPr lang="ro-RO" dirty="0"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3E299DC-DF3F-494D-A40E-4679DC95604E}" type="slidenum">
              <a:rPr lang="ro-RO"/>
              <a:pPr/>
              <a:t>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(03-2)</a:t>
            </a: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Memoria SDRAM (5)</a:t>
            </a:r>
            <a:endParaRPr lang="ro-RO" dirty="0"/>
          </a:p>
        </p:txBody>
      </p:sp>
      <p:sp>
        <p:nvSpPr>
          <p:cNvPr id="258051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295400"/>
            <a:ext cx="8352928" cy="4413516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Comenzi SDRAM</a:t>
            </a:r>
          </a:p>
          <a:p>
            <a:pPr lvl="1"/>
            <a:r>
              <a:rPr lang="ro-RO" dirty="0" smtClean="0">
                <a:cs typeface="Times New Roman" pitchFamily="18" charset="0"/>
              </a:rPr>
              <a:t>Sunt codificate prin combina</a:t>
            </a:r>
            <a:r>
              <a:rPr lang="ro-RO" dirty="0" smtClean="0"/>
              <a:t>ţ</a:t>
            </a:r>
            <a:r>
              <a:rPr lang="ro-RO" dirty="0" smtClean="0">
                <a:cs typeface="Times New Roman" pitchFamily="18" charset="0"/>
              </a:rPr>
              <a:t>ii ale semnalelor </a:t>
            </a:r>
            <a:r>
              <a:rPr lang="ro-RO" i="1" dirty="0"/>
              <a:t>CS</a:t>
            </a:r>
            <a:r>
              <a:rPr lang="ro-RO" dirty="0"/>
              <a:t>, </a:t>
            </a:r>
            <a:r>
              <a:rPr lang="ro-RO" i="1" dirty="0"/>
              <a:t>RAS</a:t>
            </a:r>
            <a:r>
              <a:rPr lang="ro-RO" dirty="0"/>
              <a:t>, </a:t>
            </a:r>
            <a:r>
              <a:rPr lang="ro-RO" i="1" dirty="0"/>
              <a:t>CAS</a:t>
            </a:r>
            <a:r>
              <a:rPr lang="ro-RO" dirty="0"/>
              <a:t>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i="1" dirty="0"/>
              <a:t>WE</a:t>
            </a:r>
          </a:p>
          <a:p>
            <a:pPr lvl="1"/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No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Operation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/>
              <a:t>(NOP)</a:t>
            </a:r>
          </a:p>
          <a:p>
            <a:pPr lvl="2"/>
            <a:r>
              <a:rPr lang="ro-RO" sz="3000" dirty="0">
                <a:cs typeface="Times New Roman" pitchFamily="18" charset="0"/>
              </a:rPr>
              <a:t>Activează un circuit de memorie </a:t>
            </a:r>
            <a:r>
              <a:rPr lang="ro-RO" sz="3000" dirty="0" smtClean="0"/>
              <a:t>ș</a:t>
            </a:r>
            <a:r>
              <a:rPr lang="ro-RO" sz="3000" dirty="0" smtClean="0">
                <a:cs typeface="Times New Roman" pitchFamily="18" charset="0"/>
              </a:rPr>
              <a:t>i </a:t>
            </a:r>
            <a:r>
              <a:rPr lang="ro-RO" sz="3000" dirty="0">
                <a:cs typeface="Times New Roman" pitchFamily="18" charset="0"/>
              </a:rPr>
              <a:t>îl plasează în starea inactiv</a:t>
            </a:r>
            <a:r>
              <a:rPr lang="ro-RO" sz="3000" dirty="0"/>
              <a:t>ă</a:t>
            </a:r>
            <a:r>
              <a:rPr lang="ro-RO" sz="3000" dirty="0">
                <a:cs typeface="Times New Roman" pitchFamily="18" charset="0"/>
              </a:rPr>
              <a:t> </a:t>
            </a:r>
            <a:endParaRPr lang="ro-RO" sz="3000" dirty="0"/>
          </a:p>
          <a:p>
            <a:pPr lvl="1"/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Activate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/>
              <a:t>(ACT)</a:t>
            </a:r>
          </a:p>
          <a:p>
            <a:pPr lvl="2"/>
            <a:r>
              <a:rPr lang="ro-RO" sz="3000" dirty="0"/>
              <a:t>S</a:t>
            </a:r>
            <a:r>
              <a:rPr lang="ro-RO" sz="3000" dirty="0">
                <a:cs typeface="Times New Roman" pitchFamily="18" charset="0"/>
              </a:rPr>
              <a:t>electeaz</a:t>
            </a:r>
            <a:r>
              <a:rPr lang="ro-RO" sz="3000" dirty="0"/>
              <a:t>ă</a:t>
            </a:r>
            <a:r>
              <a:rPr lang="ro-RO" sz="3000" dirty="0">
                <a:cs typeface="Times New Roman" pitchFamily="18" charset="0"/>
              </a:rPr>
              <a:t> un anumit banc de memorie </a:t>
            </a:r>
            <a:r>
              <a:rPr lang="ro-RO" sz="3000" dirty="0" smtClean="0"/>
              <a:t>ș</a:t>
            </a:r>
            <a:r>
              <a:rPr lang="ro-RO" sz="3000" dirty="0" smtClean="0">
                <a:cs typeface="Times New Roman" pitchFamily="18" charset="0"/>
              </a:rPr>
              <a:t>i </a:t>
            </a:r>
            <a:r>
              <a:rPr lang="ro-RO" sz="3000" dirty="0">
                <a:cs typeface="Times New Roman" pitchFamily="18" charset="0"/>
              </a:rPr>
              <a:t>activeaz</a:t>
            </a:r>
            <a:r>
              <a:rPr lang="ro-RO" sz="3000" dirty="0"/>
              <a:t>ă</a:t>
            </a:r>
            <a:r>
              <a:rPr lang="ro-RO" sz="3000" dirty="0">
                <a:cs typeface="Times New Roman" pitchFamily="18" charset="0"/>
              </a:rPr>
              <a:t> o linie din bancul </a:t>
            </a:r>
            <a:r>
              <a:rPr lang="ro-RO" sz="3000" dirty="0" smtClean="0">
                <a:cs typeface="Times New Roman" pitchFamily="18" charset="0"/>
              </a:rPr>
              <a:t>selectat </a:t>
            </a:r>
            <a:endParaRPr lang="ro-RO" sz="3000" dirty="0"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DAFADB-6FD0-4902-BEB7-C8F437C5CA9D}" type="slidenum">
              <a:rPr lang="ro-RO"/>
              <a:pPr/>
              <a:t>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(03-2)</a:t>
            </a: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Memoria SDRAM (6)</a:t>
            </a:r>
            <a:endParaRPr lang="ro-RO" dirty="0"/>
          </a:p>
        </p:txBody>
      </p:sp>
      <p:sp>
        <p:nvSpPr>
          <p:cNvPr id="26214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644348"/>
          </a:xfrm>
        </p:spPr>
        <p:txBody>
          <a:bodyPr/>
          <a:lstStyle/>
          <a:p>
            <a:pPr lvl="1"/>
            <a:r>
              <a:rPr lang="ro-RO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Read</a:t>
            </a:r>
            <a:r>
              <a:rPr lang="ro-RO" dirty="0" smtClean="0"/>
              <a:t>, </a:t>
            </a:r>
            <a:r>
              <a:rPr lang="ro-RO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Write</a:t>
            </a:r>
            <a:endParaRPr lang="ro-RO" i="1" dirty="0" smtClean="0">
              <a:solidFill>
                <a:schemeClr val="accent3">
                  <a:lumMod val="60000"/>
                  <a:lumOff val="40000"/>
                </a:schemeClr>
              </a:solidFill>
              <a:cs typeface="Times New Roman" pitchFamily="18" charset="0"/>
            </a:endParaRPr>
          </a:p>
          <a:p>
            <a:pPr lvl="2"/>
            <a:r>
              <a:rPr lang="ro-RO" sz="3000" dirty="0" smtClean="0">
                <a:cs typeface="Times New Roman" pitchFamily="18" charset="0"/>
              </a:rPr>
              <a:t>Ini</a:t>
            </a:r>
            <a:r>
              <a:rPr lang="ro-RO" sz="3000" dirty="0" smtClean="0"/>
              <a:t>ț</a:t>
            </a:r>
            <a:r>
              <a:rPr lang="ro-RO" sz="3000" dirty="0" smtClean="0">
                <a:cs typeface="Times New Roman" pitchFamily="18" charset="0"/>
              </a:rPr>
              <a:t>iază un acces de citire </a:t>
            </a:r>
            <a:r>
              <a:rPr lang="ro-RO" sz="3000" dirty="0" smtClean="0"/>
              <a:t>sau scriere</a:t>
            </a:r>
          </a:p>
          <a:p>
            <a:pPr lvl="1"/>
            <a:r>
              <a:rPr lang="ro-RO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Read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/</a:t>
            </a:r>
            <a:r>
              <a:rPr lang="ro-RO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Write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with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Auto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Precharge</a:t>
            </a:r>
            <a:endParaRPr lang="ro-RO" i="1" dirty="0">
              <a:solidFill>
                <a:schemeClr val="accent3">
                  <a:lumMod val="60000"/>
                  <a:lumOff val="40000"/>
                </a:schemeClr>
              </a:solidFill>
              <a:cs typeface="Times New Roman" pitchFamily="18" charset="0"/>
            </a:endParaRPr>
          </a:p>
          <a:p>
            <a:pPr lvl="2"/>
            <a:r>
              <a:rPr lang="ro-RO" sz="3000" dirty="0"/>
              <a:t>C</a:t>
            </a:r>
            <a:r>
              <a:rPr lang="ro-RO" sz="3000" dirty="0">
                <a:cs typeface="Times New Roman" pitchFamily="18" charset="0"/>
              </a:rPr>
              <a:t>ombin</a:t>
            </a:r>
            <a:r>
              <a:rPr lang="ro-RO" sz="3000" dirty="0"/>
              <a:t>ă</a:t>
            </a:r>
            <a:r>
              <a:rPr lang="ro-RO" sz="3000" dirty="0">
                <a:cs typeface="Times New Roman" pitchFamily="18" charset="0"/>
              </a:rPr>
              <a:t> o </a:t>
            </a:r>
            <a:r>
              <a:rPr lang="ro-RO" sz="3000" dirty="0" smtClean="0">
                <a:cs typeface="Times New Roman" pitchFamily="18" charset="0"/>
              </a:rPr>
              <a:t>opera</a:t>
            </a:r>
            <a:r>
              <a:rPr lang="ro-RO" sz="3000" dirty="0" smtClean="0"/>
              <a:t>ț</a:t>
            </a:r>
            <a:r>
              <a:rPr lang="ro-RO" sz="3000" dirty="0" smtClean="0">
                <a:cs typeface="Times New Roman" pitchFamily="18" charset="0"/>
              </a:rPr>
              <a:t>ie </a:t>
            </a:r>
            <a:r>
              <a:rPr lang="ro-RO" sz="3000" dirty="0">
                <a:cs typeface="Times New Roman" pitchFamily="18" charset="0"/>
              </a:rPr>
              <a:t>de citire sau scriere cu o </a:t>
            </a:r>
            <a:r>
              <a:rPr lang="ro-RO" sz="3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preînc</a:t>
            </a:r>
            <a:r>
              <a:rPr lang="ro-RO" sz="3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sz="3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rcare automat</a:t>
            </a:r>
            <a:r>
              <a:rPr lang="ro-RO" sz="3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sz="3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sz="3000" dirty="0">
                <a:cs typeface="Times New Roman" pitchFamily="18" charset="0"/>
              </a:rPr>
              <a:t>a unui banc</a:t>
            </a:r>
            <a:r>
              <a:rPr lang="ro-RO" sz="3000" dirty="0"/>
              <a:t>,</a:t>
            </a:r>
            <a:r>
              <a:rPr lang="ro-RO" sz="3000" dirty="0">
                <a:cs typeface="Times New Roman" pitchFamily="18" charset="0"/>
              </a:rPr>
              <a:t> f</a:t>
            </a:r>
            <a:r>
              <a:rPr lang="ro-RO" sz="3000" dirty="0"/>
              <a:t>ă</a:t>
            </a:r>
            <a:r>
              <a:rPr lang="ro-RO" sz="3000" dirty="0">
                <a:cs typeface="Times New Roman" pitchFamily="18" charset="0"/>
              </a:rPr>
              <a:t>r</a:t>
            </a:r>
            <a:r>
              <a:rPr lang="ro-RO" sz="3000" dirty="0"/>
              <a:t>ă</a:t>
            </a:r>
            <a:r>
              <a:rPr lang="ro-RO" sz="3000" dirty="0">
                <a:cs typeface="Times New Roman" pitchFamily="18" charset="0"/>
              </a:rPr>
              <a:t> o comand</a:t>
            </a:r>
            <a:r>
              <a:rPr lang="ro-RO" sz="3000" dirty="0"/>
              <a:t>ă</a:t>
            </a:r>
            <a:r>
              <a:rPr lang="ro-RO" sz="3000" dirty="0">
                <a:cs typeface="Times New Roman" pitchFamily="18" charset="0"/>
              </a:rPr>
              <a:t> explicit</a:t>
            </a:r>
            <a:r>
              <a:rPr lang="ro-RO" sz="3000" dirty="0"/>
              <a:t>ă</a:t>
            </a:r>
            <a:r>
              <a:rPr lang="ro-RO" sz="3000" dirty="0">
                <a:cs typeface="Times New Roman" pitchFamily="18" charset="0"/>
              </a:rPr>
              <a:t> de preînc</a:t>
            </a:r>
            <a:r>
              <a:rPr lang="ro-RO" sz="3000" dirty="0"/>
              <a:t>ă</a:t>
            </a:r>
            <a:r>
              <a:rPr lang="ro-RO" sz="3000" dirty="0">
                <a:cs typeface="Times New Roman" pitchFamily="18" charset="0"/>
              </a:rPr>
              <a:t>rcare</a:t>
            </a:r>
            <a:r>
              <a:rPr lang="ro-RO" sz="3000" dirty="0"/>
              <a:t> </a:t>
            </a:r>
          </a:p>
          <a:p>
            <a:pPr lvl="2"/>
            <a:r>
              <a:rPr lang="ro-RO" sz="3000" dirty="0">
                <a:cs typeface="Times New Roman" pitchFamily="18" charset="0"/>
              </a:rPr>
              <a:t>Avantajul</a:t>
            </a:r>
            <a:r>
              <a:rPr lang="ro-RO" sz="3000" dirty="0"/>
              <a:t>: </a:t>
            </a:r>
            <a:r>
              <a:rPr lang="ro-RO" sz="3000" dirty="0">
                <a:cs typeface="Times New Roman" pitchFamily="18" charset="0"/>
              </a:rPr>
              <a:t>preînc</a:t>
            </a:r>
            <a:r>
              <a:rPr lang="ro-RO" sz="3000" dirty="0"/>
              <a:t>ă</a:t>
            </a:r>
            <a:r>
              <a:rPr lang="ro-RO" sz="3000" dirty="0">
                <a:cs typeface="Times New Roman" pitchFamily="18" charset="0"/>
              </a:rPr>
              <a:t>rcarea este efectuat</a:t>
            </a:r>
            <a:r>
              <a:rPr lang="ro-RO" sz="3000" dirty="0"/>
              <a:t>ă</a:t>
            </a:r>
            <a:r>
              <a:rPr lang="ro-RO" sz="3000" dirty="0">
                <a:cs typeface="Times New Roman" pitchFamily="18" charset="0"/>
              </a:rPr>
              <a:t> în momentul de timp cel mai avansat în cadrul unui transfer exploziv</a:t>
            </a:r>
            <a:endParaRPr lang="ro-RO" sz="3000" dirty="0"/>
          </a:p>
          <a:p>
            <a:pPr lvl="2"/>
            <a:r>
              <a:rPr lang="ro-RO" sz="3000" dirty="0" smtClean="0"/>
              <a:t>Execuția </a:t>
            </a:r>
            <a:r>
              <a:rPr lang="ro-RO" sz="3000" dirty="0"/>
              <a:t>comenzii </a:t>
            </a:r>
            <a:r>
              <a:rPr lang="ro-RO" sz="3000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Read</a:t>
            </a:r>
            <a:r>
              <a:rPr lang="ro-RO" sz="3000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sz="3000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with</a:t>
            </a:r>
            <a:r>
              <a:rPr lang="ro-RO" sz="3000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Auto </a:t>
            </a:r>
            <a:r>
              <a:rPr lang="ro-RO" sz="3000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Precharge</a:t>
            </a:r>
            <a:endParaRPr lang="en-US" sz="3000" dirty="0">
              <a:solidFill>
                <a:schemeClr val="accent3">
                  <a:lumMod val="60000"/>
                  <a:lumOff val="40000"/>
                </a:schemeClr>
              </a:solidFill>
              <a:sym typeface="Symbol" pitchFamily="18" charset="2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99C7CB-369A-4A28-B5FA-2D082E57596F}" type="slidenum">
              <a:rPr lang="ro-RO"/>
              <a:pPr/>
              <a:t>27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(03-2)</a:t>
            </a: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Memoria SDRAM (7)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4F7A3CA-4408-43DC-850C-D59D417B8608}" type="slidenum">
              <a:rPr lang="ro-RO"/>
              <a:pPr/>
              <a:t>28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(03-2)</a:t>
            </a:r>
          </a:p>
        </p:txBody>
      </p:sp>
      <p:pic>
        <p:nvPicPr>
          <p:cNvPr id="8" name="Content Placeholder 7" descr="ssc4-sdram1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259632" y="1268760"/>
            <a:ext cx="6629413" cy="4910186"/>
          </a:xfrm>
        </p:spPr>
      </p:pic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Memoria SDRAM (8)</a:t>
            </a:r>
            <a:endParaRPr lang="ro-RO" dirty="0"/>
          </a:p>
        </p:txBody>
      </p:sp>
      <p:sp>
        <p:nvSpPr>
          <p:cNvPr id="26521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>
            <a:normAutofit lnSpcReduction="10000"/>
          </a:bodyPr>
          <a:lstStyle/>
          <a:p>
            <a:pPr lvl="1"/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Burst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Terminate</a:t>
            </a:r>
          </a:p>
          <a:p>
            <a:pPr lvl="2"/>
            <a:r>
              <a:rPr lang="ro-RO" sz="3000" dirty="0"/>
              <a:t>U</a:t>
            </a:r>
            <a:r>
              <a:rPr lang="ro-RO" sz="3000" dirty="0">
                <a:cs typeface="Times New Roman" pitchFamily="18" charset="0"/>
              </a:rPr>
              <a:t>tilizat</a:t>
            </a:r>
            <a:r>
              <a:rPr lang="ro-RO" sz="3000" dirty="0"/>
              <a:t>ă</a:t>
            </a:r>
            <a:r>
              <a:rPr lang="ro-RO" sz="3000" dirty="0">
                <a:cs typeface="Times New Roman" pitchFamily="18" charset="0"/>
              </a:rPr>
              <a:t> pentru terminarea transferurilor explozive</a:t>
            </a:r>
            <a:r>
              <a:rPr lang="ro-RO" sz="3000" dirty="0"/>
              <a:t> </a:t>
            </a:r>
          </a:p>
          <a:p>
            <a:pPr lvl="1"/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Precharge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Selected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Bank</a:t>
            </a:r>
          </a:p>
          <a:p>
            <a:pPr lvl="2"/>
            <a:r>
              <a:rPr lang="ro-RO" sz="3000" dirty="0"/>
              <a:t>I</a:t>
            </a:r>
            <a:r>
              <a:rPr lang="ro-RO" sz="3000" dirty="0">
                <a:cs typeface="Times New Roman" pitchFamily="18" charset="0"/>
              </a:rPr>
              <a:t>ndic</a:t>
            </a:r>
            <a:r>
              <a:rPr lang="ro-RO" sz="3000" dirty="0"/>
              <a:t>ă</a:t>
            </a:r>
            <a:r>
              <a:rPr lang="ro-RO" sz="3000" dirty="0">
                <a:cs typeface="Times New Roman" pitchFamily="18" charset="0"/>
              </a:rPr>
              <a:t> bancului activ </a:t>
            </a:r>
            <a:r>
              <a:rPr lang="ro-RO" sz="3000" dirty="0" smtClean="0">
                <a:cs typeface="Times New Roman" pitchFamily="18" charset="0"/>
              </a:rPr>
              <a:t>s</a:t>
            </a:r>
            <a:r>
              <a:rPr lang="ro-RO" sz="3000" dirty="0" smtClean="0"/>
              <a:t>ă</a:t>
            </a:r>
            <a:r>
              <a:rPr lang="ro-RO" sz="3000" dirty="0" smtClean="0">
                <a:cs typeface="Times New Roman" pitchFamily="18" charset="0"/>
              </a:rPr>
              <a:t> </a:t>
            </a:r>
            <a:r>
              <a:rPr lang="ro-RO" sz="3000" dirty="0">
                <a:cs typeface="Times New Roman" pitchFamily="18" charset="0"/>
              </a:rPr>
              <a:t>se </a:t>
            </a:r>
            <a:r>
              <a:rPr lang="ro-RO" sz="3000" dirty="0" err="1">
                <a:cs typeface="Times New Roman" pitchFamily="18" charset="0"/>
              </a:rPr>
              <a:t>preîncarce</a:t>
            </a:r>
            <a:r>
              <a:rPr lang="ro-RO" sz="3000" dirty="0">
                <a:cs typeface="Times New Roman" pitchFamily="18" charset="0"/>
              </a:rPr>
              <a:t> pentru a fi preg</a:t>
            </a:r>
            <a:r>
              <a:rPr lang="ro-RO" sz="3000" dirty="0"/>
              <a:t>ă</a:t>
            </a:r>
            <a:r>
              <a:rPr lang="ro-RO" sz="3000" dirty="0">
                <a:cs typeface="Times New Roman" pitchFamily="18" charset="0"/>
              </a:rPr>
              <a:t>tit pentru urm</a:t>
            </a:r>
            <a:r>
              <a:rPr lang="ro-RO" sz="3000" dirty="0"/>
              <a:t>ă</a:t>
            </a:r>
            <a:r>
              <a:rPr lang="ro-RO" sz="3000" dirty="0">
                <a:cs typeface="Times New Roman" pitchFamily="18" charset="0"/>
              </a:rPr>
              <a:t>torul acces</a:t>
            </a:r>
            <a:r>
              <a:rPr lang="ro-RO" sz="3000" dirty="0"/>
              <a:t> </a:t>
            </a:r>
          </a:p>
          <a:p>
            <a:pPr lvl="1"/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Precharge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All</a:t>
            </a:r>
            <a:endParaRPr lang="ro-RO" i="1" dirty="0">
              <a:solidFill>
                <a:schemeClr val="accent3">
                  <a:lumMod val="60000"/>
                  <a:lumOff val="40000"/>
                </a:schemeClr>
              </a:solidFill>
              <a:cs typeface="Times New Roman" pitchFamily="18" charset="0"/>
            </a:endParaRPr>
          </a:p>
          <a:p>
            <a:pPr lvl="2"/>
            <a:r>
              <a:rPr lang="ro-RO" sz="3000" dirty="0">
                <a:cs typeface="Times New Roman" pitchFamily="18" charset="0"/>
              </a:rPr>
              <a:t>Toate bancurile sunt preînc</a:t>
            </a:r>
            <a:r>
              <a:rPr lang="ro-RO" sz="3000" dirty="0"/>
              <a:t>ă</a:t>
            </a:r>
            <a:r>
              <a:rPr lang="ro-RO" sz="3000" dirty="0">
                <a:cs typeface="Times New Roman" pitchFamily="18" charset="0"/>
              </a:rPr>
              <a:t>rcate simultan</a:t>
            </a:r>
            <a:r>
              <a:rPr lang="ro-RO" sz="3000" dirty="0"/>
              <a:t> </a:t>
            </a:r>
            <a:endParaRPr lang="ro-RO" sz="3000" dirty="0" smtClean="0"/>
          </a:p>
          <a:p>
            <a:pPr lvl="1"/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Auto </a:t>
            </a:r>
            <a:r>
              <a:rPr lang="ro-RO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Refresh</a:t>
            </a:r>
            <a:endParaRPr lang="ro-RO" i="1" dirty="0" smtClean="0">
              <a:solidFill>
                <a:schemeClr val="accent3">
                  <a:lumMod val="60000"/>
                  <a:lumOff val="40000"/>
                </a:schemeClr>
              </a:solidFill>
              <a:cs typeface="Times New Roman" pitchFamily="18" charset="0"/>
            </a:endParaRPr>
          </a:p>
          <a:p>
            <a:pPr lvl="2"/>
            <a:r>
              <a:rPr lang="ro-RO" sz="3000" dirty="0" smtClean="0"/>
              <a:t>R</a:t>
            </a:r>
            <a:r>
              <a:rPr lang="ro-RO" sz="3000" dirty="0" smtClean="0">
                <a:cs typeface="Times New Roman" pitchFamily="18" charset="0"/>
              </a:rPr>
              <a:t>eîmprosp</a:t>
            </a:r>
            <a:r>
              <a:rPr lang="ro-RO" sz="3000" dirty="0" smtClean="0"/>
              <a:t>ă</a:t>
            </a:r>
            <a:r>
              <a:rPr lang="ro-RO" sz="3000" dirty="0" smtClean="0">
                <a:cs typeface="Times New Roman" pitchFamily="18" charset="0"/>
              </a:rPr>
              <a:t>teaz</a:t>
            </a:r>
            <a:r>
              <a:rPr lang="ro-RO" sz="3000" dirty="0" smtClean="0"/>
              <a:t>ă</a:t>
            </a:r>
            <a:r>
              <a:rPr lang="ro-RO" sz="3000" dirty="0" smtClean="0">
                <a:cs typeface="Times New Roman" pitchFamily="18" charset="0"/>
              </a:rPr>
              <a:t> matricea de memorie SDRAM în mod explicit</a:t>
            </a:r>
            <a:endParaRPr lang="ro-RO" sz="3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9C6798-A4BE-456E-8F07-07F5F299E905}" type="slidenum">
              <a:rPr lang="ro-RO"/>
              <a:pPr/>
              <a:t>29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(03-2)</a:t>
            </a: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Memorii DRAM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Memorii DRAM </a:t>
            </a:r>
          </a:p>
          <a:p>
            <a:pPr lvl="1"/>
            <a:r>
              <a:rPr lang="ro-RO" dirty="0" smtClean="0"/>
              <a:t>Parametrii memoriilor DRAM </a:t>
            </a:r>
          </a:p>
          <a:p>
            <a:pPr lvl="1"/>
            <a:r>
              <a:rPr lang="ro-RO" dirty="0" smtClean="0"/>
              <a:t>Accesul în mod pagină </a:t>
            </a:r>
          </a:p>
          <a:p>
            <a:pPr lvl="1"/>
            <a:r>
              <a:rPr lang="ro-RO" dirty="0" smtClean="0"/>
              <a:t>Categorii de memorii DRAM </a:t>
            </a:r>
          </a:p>
          <a:p>
            <a:pPr lvl="1"/>
            <a:r>
              <a:rPr lang="ro-RO" dirty="0" smtClean="0"/>
              <a:t>Memoria SDRAM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Memoria DDR SDRAM</a:t>
            </a:r>
          </a:p>
          <a:p>
            <a:pPr lvl="1"/>
            <a:r>
              <a:rPr lang="ro-RO" dirty="0" smtClean="0"/>
              <a:t>Memoria DDR3 SDRAM </a:t>
            </a:r>
          </a:p>
          <a:p>
            <a:pPr lvl="1"/>
            <a:r>
              <a:rPr lang="ro-RO" dirty="0" smtClean="0"/>
              <a:t>Memoria DDR4 SDRAM </a:t>
            </a:r>
          </a:p>
          <a:p>
            <a:pPr lvl="1"/>
            <a:r>
              <a:rPr lang="ro-RO" dirty="0" smtClean="0"/>
              <a:t>Module de memorie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30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(03-2)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Memoria DDR SDRAM (1)</a:t>
            </a:r>
          </a:p>
        </p:txBody>
      </p:sp>
      <p:sp>
        <p:nvSpPr>
          <p:cNvPr id="27033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4"/>
            <a:ext cx="8382000" cy="4896445"/>
          </a:xfrm>
        </p:spPr>
        <p:txBody>
          <a:bodyPr/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DDR </a:t>
            </a:r>
            <a:r>
              <a:rPr lang="ro-RO" dirty="0">
                <a:cs typeface="Times New Roman" pitchFamily="18" charset="0"/>
              </a:rPr>
              <a:t>(</a:t>
            </a:r>
            <a:r>
              <a:rPr lang="ro-RO" i="1" dirty="0" err="1">
                <a:cs typeface="Times New Roman" pitchFamily="18" charset="0"/>
              </a:rPr>
              <a:t>Double</a:t>
            </a:r>
            <a:r>
              <a:rPr lang="ro-RO" i="1" dirty="0">
                <a:cs typeface="Times New Roman" pitchFamily="18" charset="0"/>
              </a:rPr>
              <a:t> Data Rate</a:t>
            </a:r>
            <a:r>
              <a:rPr lang="ro-RO" dirty="0">
                <a:cs typeface="Times New Roman" pitchFamily="18" charset="0"/>
              </a:rPr>
              <a:t>)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SDRAM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ro-RO" dirty="0"/>
              <a:t>D</a:t>
            </a:r>
            <a:r>
              <a:rPr lang="ro-RO" dirty="0">
                <a:cs typeface="Times New Roman" pitchFamily="18" charset="0"/>
              </a:rPr>
              <a:t>atel</a:t>
            </a:r>
            <a:r>
              <a:rPr lang="ro-RO" dirty="0"/>
              <a:t>e sunt transferate</a:t>
            </a:r>
            <a:r>
              <a:rPr lang="ro-RO" dirty="0">
                <a:cs typeface="Times New Roman" pitchFamily="18" charset="0"/>
              </a:rPr>
              <a:t> atât pe frontul cresc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tor, cât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pe cel descresc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tor al semnalului de ceas</a:t>
            </a:r>
            <a:r>
              <a:rPr lang="ro-RO" dirty="0"/>
              <a:t> </a:t>
            </a:r>
          </a:p>
          <a:p>
            <a:pPr lvl="1"/>
            <a:r>
              <a:rPr lang="ro-RO" dirty="0">
                <a:cs typeface="Times New Roman" pitchFamily="18" charset="0"/>
              </a:rPr>
              <a:t>Pornind de la </a:t>
            </a:r>
            <a:r>
              <a:rPr lang="ro-RO" dirty="0"/>
              <a:t>unele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variante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brevetate </a:t>
            </a:r>
            <a:r>
              <a:rPr lang="ro-RO" dirty="0"/>
              <a:t>ale memoriei DDR</a:t>
            </a:r>
            <a:r>
              <a:rPr lang="ro-RO" dirty="0">
                <a:cs typeface="Times New Roman" pitchFamily="18" charset="0"/>
              </a:rPr>
              <a:t>, au fost propuse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specificații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deschise</a:t>
            </a:r>
          </a:p>
          <a:p>
            <a:pPr lvl="1"/>
            <a:r>
              <a:rPr lang="ro-RO" dirty="0" smtClean="0"/>
              <a:t>S</a:t>
            </a:r>
            <a:r>
              <a:rPr lang="ro-RO" dirty="0" smtClean="0">
                <a:cs typeface="Times New Roman" pitchFamily="18" charset="0"/>
              </a:rPr>
              <a:t>pecifica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ii</a:t>
            </a:r>
            <a:r>
              <a:rPr lang="ro-RO" dirty="0" smtClean="0"/>
              <a:t>le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au fost standardizate de comitetul </a:t>
            </a:r>
            <a:r>
              <a:rPr lang="ro-RO" dirty="0" smtClean="0">
                <a:cs typeface="Times New Roman" pitchFamily="18" charset="0"/>
              </a:rPr>
              <a:t>JEDEC </a:t>
            </a:r>
            <a:endParaRPr lang="ro-RO" dirty="0"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28D1FE3-7760-4A75-9728-88E06C0B06A3}" type="slidenum">
              <a:rPr lang="ro-RO"/>
              <a:pPr/>
              <a:t>31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(03-2)</a:t>
            </a: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Memoria DDR SDRAM (2)</a:t>
            </a:r>
          </a:p>
        </p:txBody>
      </p:sp>
      <p:sp>
        <p:nvSpPr>
          <p:cNvPr id="27136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o-RO" dirty="0" smtClean="0"/>
              <a:t>I</a:t>
            </a:r>
            <a:r>
              <a:rPr lang="ro-RO" dirty="0" smtClean="0">
                <a:cs typeface="Times New Roman" pitchFamily="18" charset="0"/>
              </a:rPr>
              <a:t>nterfa</a:t>
            </a:r>
            <a:r>
              <a:rPr lang="ro-RO" dirty="0" smtClean="0"/>
              <a:t>ța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transfer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dou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cuvinte de date la pinii de I/E </a:t>
            </a:r>
            <a:r>
              <a:rPr lang="ro-RO" dirty="0">
                <a:cs typeface="Times New Roman" pitchFamily="18" charset="0"/>
              </a:rPr>
              <a:t>în fiecare ciclu de ceas</a:t>
            </a:r>
            <a:r>
              <a:rPr lang="ro-RO" dirty="0"/>
              <a:t> </a:t>
            </a:r>
          </a:p>
          <a:p>
            <a:pPr lvl="1">
              <a:lnSpc>
                <a:spcPct val="90000"/>
              </a:lnSpc>
            </a:pPr>
            <a:r>
              <a:rPr lang="ro-RO" dirty="0"/>
              <a:t>Un </a:t>
            </a:r>
            <a:r>
              <a:rPr lang="ro-RO" dirty="0">
                <a:cs typeface="Times New Roman" pitchFamily="18" charset="0"/>
              </a:rPr>
              <a:t>singur transfer de date de 2n </a:t>
            </a:r>
            <a:r>
              <a:rPr lang="ro-RO" dirty="0" smtClean="0">
                <a:cs typeface="Times New Roman" pitchFamily="18" charset="0"/>
              </a:rPr>
              <a:t>bi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cu matricea intern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DRAM </a:t>
            </a:r>
            <a:endParaRPr lang="ro-RO" dirty="0"/>
          </a:p>
          <a:p>
            <a:pPr lvl="1">
              <a:lnSpc>
                <a:spcPct val="90000"/>
              </a:lnSpc>
            </a:pPr>
            <a:r>
              <a:rPr lang="ro-RO" dirty="0"/>
              <a:t>D</a:t>
            </a:r>
            <a:r>
              <a:rPr lang="ro-RO" dirty="0">
                <a:cs typeface="Times New Roman" pitchFamily="18" charset="0"/>
              </a:rPr>
              <a:t>ou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transferuri de </a:t>
            </a:r>
            <a:r>
              <a:rPr lang="ro-RO" dirty="0" smtClean="0">
                <a:cs typeface="Times New Roman" pitchFamily="18" charset="0"/>
              </a:rPr>
              <a:t>n bi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cu pinii de I/E </a:t>
            </a:r>
            <a:endParaRPr lang="ro-RO" dirty="0"/>
          </a:p>
          <a:p>
            <a:pPr>
              <a:lnSpc>
                <a:spcPct val="90000"/>
              </a:lnSpc>
            </a:pP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emnal de </a:t>
            </a:r>
            <a:r>
              <a:rPr lang="ro-RO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strob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bidirec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ț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ional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de date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DQS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>
              <a:lnSpc>
                <a:spcPct val="90000"/>
              </a:lnSpc>
            </a:pPr>
            <a:r>
              <a:rPr lang="ro-RO" dirty="0"/>
              <a:t>E</a:t>
            </a:r>
            <a:r>
              <a:rPr lang="ro-RO" dirty="0">
                <a:cs typeface="Times New Roman" pitchFamily="18" charset="0"/>
              </a:rPr>
              <a:t>ste transmis împreun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cu datele </a:t>
            </a:r>
            <a:endParaRPr lang="ro-RO" dirty="0"/>
          </a:p>
          <a:p>
            <a:pPr lvl="1">
              <a:lnSpc>
                <a:spcPct val="90000"/>
              </a:lnSpc>
            </a:pPr>
            <a:r>
              <a:rPr lang="ro-RO" dirty="0"/>
              <a:t>P</a:t>
            </a:r>
            <a:r>
              <a:rPr lang="ro-RO" dirty="0">
                <a:cs typeface="Times New Roman" pitchFamily="18" charset="0"/>
              </a:rPr>
              <a:t>ermite ajustarea </a:t>
            </a:r>
            <a:r>
              <a:rPr lang="ro-RO" dirty="0" smtClean="0">
                <a:cs typeface="Times New Roman" pitchFamily="18" charset="0"/>
              </a:rPr>
              <a:t>varia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iilor </a:t>
            </a:r>
            <a:r>
              <a:rPr lang="ro-RO" dirty="0">
                <a:cs typeface="Times New Roman" pitchFamily="18" charset="0"/>
              </a:rPr>
              <a:t>de propagare a semnalului de ceas</a:t>
            </a:r>
            <a:r>
              <a:rPr lang="ro-RO" dirty="0"/>
              <a:t>, a </a:t>
            </a:r>
            <a:r>
              <a:rPr lang="ro-RO" dirty="0" err="1" smtClean="0"/>
              <a:t>capacitanței</a:t>
            </a:r>
            <a:r>
              <a:rPr lang="ro-RO" dirty="0" smtClean="0"/>
              <a:t> </a:t>
            </a:r>
            <a:r>
              <a:rPr lang="ro-RO" dirty="0"/>
              <a:t>etc.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7AC8C2C-1261-4D14-8725-79E4A8163732}" type="slidenum">
              <a:rPr lang="ro-RO"/>
              <a:pPr/>
              <a:t>32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(03-2)</a:t>
            </a: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Memoria DDR SDRAM (3)</a:t>
            </a:r>
          </a:p>
        </p:txBody>
      </p:sp>
      <p:sp>
        <p:nvSpPr>
          <p:cNvPr id="27238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4"/>
            <a:ext cx="8382000" cy="4896445"/>
          </a:xfrm>
        </p:spPr>
        <p:txBody>
          <a:bodyPr/>
          <a:lstStyle/>
          <a:p>
            <a:r>
              <a:rPr lang="ro-RO" dirty="0">
                <a:cs typeface="Times New Roman" pitchFamily="18" charset="0"/>
              </a:rPr>
              <a:t>Accesele de citire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scriere se efectueaz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în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mod exploziv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1"/>
            <a:r>
              <a:rPr lang="ro-RO" dirty="0">
                <a:cs typeface="Times New Roman" pitchFamily="18" charset="0"/>
              </a:rPr>
              <a:t>Lungimea transferului exploziv poate fi programat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la 2, 4 sau 8 </a:t>
            </a:r>
            <a:r>
              <a:rPr lang="ro-RO" dirty="0" smtClean="0">
                <a:cs typeface="Times New Roman" pitchFamily="18" charset="0"/>
              </a:rPr>
              <a:t>loca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ii</a:t>
            </a:r>
            <a:r>
              <a:rPr lang="ro-RO" dirty="0" smtClean="0"/>
              <a:t> </a:t>
            </a:r>
            <a:endParaRPr lang="ro-RO" dirty="0"/>
          </a:p>
          <a:p>
            <a:pPr lvl="1"/>
            <a:r>
              <a:rPr lang="ro-RO" dirty="0">
                <a:cs typeface="Times New Roman" pitchFamily="18" charset="0"/>
              </a:rPr>
              <a:t>Poate fi validat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o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func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ț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de preînc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rcare automat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liniei</a:t>
            </a:r>
            <a:r>
              <a:rPr lang="ro-RO" dirty="0"/>
              <a:t>, </a:t>
            </a:r>
            <a:r>
              <a:rPr lang="ro-RO" dirty="0" smtClean="0"/>
              <a:t>inițiată </a:t>
            </a:r>
            <a:r>
              <a:rPr lang="ro-RO" dirty="0"/>
              <a:t>la </a:t>
            </a:r>
            <a:r>
              <a:rPr lang="ro-RO" dirty="0" smtClean="0"/>
              <a:t>sfârșitul </a:t>
            </a:r>
            <a:r>
              <a:rPr lang="ro-RO" dirty="0"/>
              <a:t>accesului 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Laten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ț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semnalului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CAS</a:t>
            </a:r>
            <a:r>
              <a:rPr lang="ro-RO" dirty="0" smtClean="0">
                <a:cs typeface="Times New Roman" pitchFamily="18" charset="0"/>
              </a:rPr>
              <a:t>: </a:t>
            </a:r>
            <a:r>
              <a:rPr lang="ro-RO" dirty="0">
                <a:cs typeface="Times New Roman" pitchFamily="18" charset="0"/>
              </a:rPr>
              <a:t>2 sau 2,5 cicluri de ceas</a:t>
            </a:r>
            <a:r>
              <a:rPr lang="ro-RO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0E933F-99BB-4DAD-9719-5A8F22A42F8B}" type="slidenum">
              <a:rPr lang="ro-RO"/>
              <a:pPr/>
              <a:t>33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(03-2)</a:t>
            </a: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Memoria DDR SDRAM (4)</a:t>
            </a:r>
          </a:p>
        </p:txBody>
      </p:sp>
      <p:sp>
        <p:nvSpPr>
          <p:cNvPr id="2734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/>
              <a:t>D</a:t>
            </a:r>
            <a:r>
              <a:rPr lang="ro-RO" dirty="0">
                <a:cs typeface="Times New Roman" pitchFamily="18" charset="0"/>
              </a:rPr>
              <a:t>ou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tipuri de </a:t>
            </a:r>
            <a:r>
              <a:rPr lang="ro-RO" dirty="0" smtClean="0">
                <a:cs typeface="Times New Roman" pitchFamily="18" charset="0"/>
              </a:rPr>
              <a:t>aplica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ii </a:t>
            </a:r>
            <a:endParaRPr lang="ro-RO" dirty="0"/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Aplicații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bazate pe m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odule</a:t>
            </a:r>
            <a:r>
              <a:rPr lang="ro-RO" dirty="0"/>
              <a:t>:</a:t>
            </a:r>
            <a:r>
              <a:rPr lang="ro-RO" dirty="0">
                <a:cs typeface="Times New Roman" pitchFamily="18" charset="0"/>
              </a:rPr>
              <a:t> sisteme de memorie principal</a:t>
            </a:r>
            <a:r>
              <a:rPr lang="ro-RO" dirty="0"/>
              <a:t>ă </a:t>
            </a:r>
          </a:p>
          <a:p>
            <a:pPr lvl="1"/>
            <a:r>
              <a:rPr lang="ro-RO" dirty="0">
                <a:cs typeface="Times New Roman" pitchFamily="18" charset="0"/>
              </a:rPr>
              <a:t>Viteza limitat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de: înc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rcarea magistrale</a:t>
            </a:r>
            <a:r>
              <a:rPr lang="ro-RO" dirty="0"/>
              <a:t>i, </a:t>
            </a:r>
            <a:r>
              <a:rPr lang="ro-RO" dirty="0">
                <a:cs typeface="Times New Roman" pitchFamily="18" charset="0"/>
              </a:rPr>
              <a:t>lungimea liniilor</a:t>
            </a:r>
            <a:r>
              <a:rPr lang="ro-RO" dirty="0"/>
              <a:t> 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Aplicații bazate pe componente </a:t>
            </a:r>
            <a:r>
              <a:rPr lang="ro-RO" dirty="0" smtClean="0"/>
              <a:t>(punct </a:t>
            </a:r>
            <a:r>
              <a:rPr lang="ro-RO" dirty="0"/>
              <a:t>la </a:t>
            </a:r>
            <a:r>
              <a:rPr lang="ro-RO" dirty="0" smtClean="0"/>
              <a:t>punct):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adaptoare grafice</a:t>
            </a:r>
            <a:endParaRPr lang="en-US" dirty="0"/>
          </a:p>
          <a:p>
            <a:r>
              <a:rPr lang="ro-RO" dirty="0" smtClean="0"/>
              <a:t>Tensiunea de alimentare: 2,5 </a:t>
            </a:r>
            <a:r>
              <a:rPr lang="ro-RO" dirty="0"/>
              <a:t>V </a:t>
            </a:r>
            <a:r>
              <a:rPr lang="ro-RO" dirty="0">
                <a:sym typeface="Symbol" pitchFamily="18" charset="2"/>
              </a:rPr>
              <a:t> </a:t>
            </a:r>
            <a:r>
              <a:rPr lang="ro-RO" dirty="0"/>
              <a:t>reducerea puterii consumate cu 25%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60450B-90D7-4B98-B529-CF4A0857F26E}" type="slidenum">
              <a:rPr lang="ro-RO"/>
              <a:pPr/>
              <a:t>34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(03-2)</a:t>
            </a: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Memoria DDR SDRAM </a:t>
            </a:r>
            <a:r>
              <a:rPr lang="ro-RO" dirty="0" smtClean="0"/>
              <a:t>(5)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4"/>
            <a:ext cx="8382000" cy="4896446"/>
          </a:xfrm>
        </p:spPr>
        <p:txBody>
          <a:bodyPr/>
          <a:lstStyle/>
          <a:p>
            <a:r>
              <a:rPr lang="ro-RO" dirty="0" smtClean="0"/>
              <a:t>Tipurile de </a:t>
            </a:r>
            <a:r>
              <a:rPr lang="ro-RO" dirty="0" smtClean="0">
                <a:cs typeface="Times New Roman" pitchFamily="18" charset="0"/>
              </a:rPr>
              <a:t>memorii DDR SDRAM sunt denumite dup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rata lor de transfer la vârf</a:t>
            </a:r>
            <a:endParaRPr lang="ro-RO" dirty="0" smtClean="0"/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PC</a:t>
            </a:r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24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00</a:t>
            </a:r>
            <a:r>
              <a:rPr lang="ro-RO" dirty="0" smtClean="0"/>
              <a:t>: 1</a:t>
            </a:r>
            <a:r>
              <a:rPr lang="en-US" dirty="0" smtClean="0"/>
              <a:t>5</a:t>
            </a:r>
            <a:r>
              <a:rPr lang="ro-RO" dirty="0" smtClean="0"/>
              <a:t>0 MHz, rata maximă de transfer de </a:t>
            </a:r>
            <a:r>
              <a:rPr lang="en-US" dirty="0" smtClean="0"/>
              <a:t>2.4</a:t>
            </a:r>
            <a:r>
              <a:rPr lang="ro-RO" dirty="0" smtClean="0"/>
              <a:t>00 MB/s</a:t>
            </a:r>
          </a:p>
          <a:p>
            <a:r>
              <a:rPr lang="ro-RO" dirty="0" smtClean="0">
                <a:cs typeface="Times New Roman" pitchFamily="18" charset="0"/>
              </a:rPr>
              <a:t>În standardul JEDEC sunt utilizate denumiri bazate pe frecven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a transferurilor de date </a:t>
            </a:r>
            <a:endParaRPr lang="ro-RO" dirty="0" smtClean="0"/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DDR-</a:t>
            </a:r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3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00</a:t>
            </a:r>
            <a:r>
              <a:rPr lang="ro-RO" dirty="0" smtClean="0"/>
              <a:t>: </a:t>
            </a:r>
            <a:r>
              <a:rPr lang="ro-RO" dirty="0" smtClean="0">
                <a:cs typeface="Times New Roman" pitchFamily="18" charset="0"/>
              </a:rPr>
              <a:t>transferuri de date la </a:t>
            </a:r>
            <a:r>
              <a:rPr lang="en-US" dirty="0" smtClean="0">
                <a:cs typeface="Times New Roman" pitchFamily="18" charset="0"/>
              </a:rPr>
              <a:t>3</a:t>
            </a:r>
            <a:r>
              <a:rPr lang="ro-RO" dirty="0" smtClean="0">
                <a:cs typeface="Times New Roman" pitchFamily="18" charset="0"/>
              </a:rPr>
              <a:t>00 MHz </a:t>
            </a:r>
            <a:r>
              <a:rPr lang="ro-RO" dirty="0" smtClean="0"/>
              <a:t>(frecvența semnalului de ceas de 1</a:t>
            </a:r>
            <a:r>
              <a:rPr lang="en-US" dirty="0" smtClean="0"/>
              <a:t>5</a:t>
            </a:r>
            <a:r>
              <a:rPr lang="ro-RO" dirty="0" smtClean="0"/>
              <a:t>0 MHz)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35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(03-2)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Memorii DRAM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Memorii DRAM </a:t>
            </a:r>
          </a:p>
          <a:p>
            <a:pPr lvl="1"/>
            <a:r>
              <a:rPr lang="ro-RO" dirty="0" smtClean="0"/>
              <a:t>Parametrii memoriilor DRAM </a:t>
            </a:r>
          </a:p>
          <a:p>
            <a:pPr lvl="1"/>
            <a:r>
              <a:rPr lang="ro-RO" dirty="0" smtClean="0"/>
              <a:t>Accesul în mod pagină </a:t>
            </a:r>
          </a:p>
          <a:p>
            <a:pPr lvl="1"/>
            <a:r>
              <a:rPr lang="ro-RO" dirty="0" smtClean="0"/>
              <a:t>Categorii de memorii DRAM </a:t>
            </a:r>
          </a:p>
          <a:p>
            <a:pPr lvl="1"/>
            <a:r>
              <a:rPr lang="ro-RO" dirty="0" smtClean="0"/>
              <a:t>Memoria SDRAM</a:t>
            </a:r>
          </a:p>
          <a:p>
            <a:pPr lvl="1"/>
            <a:r>
              <a:rPr lang="ro-RO" dirty="0" smtClean="0"/>
              <a:t>Memoria DDR SDRAM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Memoria DDR3 SDRAM </a:t>
            </a:r>
          </a:p>
          <a:p>
            <a:pPr lvl="1"/>
            <a:r>
              <a:rPr lang="ro-RO" dirty="0" smtClean="0"/>
              <a:t>Memoria DDR4 SDRAM </a:t>
            </a:r>
          </a:p>
          <a:p>
            <a:pPr lvl="1"/>
            <a:r>
              <a:rPr lang="ro-RO" dirty="0" smtClean="0"/>
              <a:t>Module de memorie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36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(03-2)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Memoria DDR3 SDRAM (1)</a:t>
            </a:r>
          </a:p>
        </p:txBody>
      </p:sp>
      <p:sp>
        <p:nvSpPr>
          <p:cNvPr id="317443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524000"/>
            <a:ext cx="8352928" cy="4572000"/>
          </a:xfrm>
        </p:spPr>
        <p:txBody>
          <a:bodyPr>
            <a:normAutofit/>
          </a:bodyPr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DDR3 SDRAM</a:t>
            </a:r>
            <a:r>
              <a:rPr lang="ro-RO" dirty="0">
                <a:cs typeface="Times New Roman" pitchFamily="18" charset="0"/>
              </a:rPr>
              <a:t>: </a:t>
            </a:r>
            <a:r>
              <a:rPr lang="ro-RO" dirty="0" smtClean="0">
                <a:cs typeface="Times New Roman" pitchFamily="18" charset="0"/>
              </a:rPr>
              <a:t>a treia genera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ie a memoriilor DDR </a:t>
            </a:r>
            <a:r>
              <a:rPr lang="ro-RO" dirty="0">
                <a:cs typeface="Times New Roman" pitchFamily="18" charset="0"/>
              </a:rPr>
              <a:t>SDRAM</a:t>
            </a:r>
          </a:p>
          <a:p>
            <a:r>
              <a:rPr lang="ro-RO" dirty="0">
                <a:cs typeface="Times New Roman" pitchFamily="18" charset="0"/>
              </a:rPr>
              <a:t>Prototipuri realizate în anul 2005</a:t>
            </a:r>
          </a:p>
          <a:p>
            <a:r>
              <a:rPr lang="ro-RO" dirty="0">
                <a:cs typeface="Times New Roman" pitchFamily="18" charset="0"/>
              </a:rPr>
              <a:t>Standardul DDR3 </a:t>
            </a:r>
            <a:r>
              <a:rPr lang="ro-RO" dirty="0" smtClean="0">
                <a:cs typeface="Times New Roman" pitchFamily="18" charset="0"/>
              </a:rPr>
              <a:t>publicat </a:t>
            </a:r>
            <a:r>
              <a:rPr lang="ro-RO" dirty="0">
                <a:cs typeface="Times New Roman" pitchFamily="18" charset="0"/>
              </a:rPr>
              <a:t>în anul 2007 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Putere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consumată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mai redusă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>
                <a:latin typeface="Arial" charset="0"/>
                <a:cs typeface="Arial" charset="0"/>
              </a:rPr>
              <a:t>→ </a:t>
            </a:r>
            <a:r>
              <a:rPr lang="ro-RO" dirty="0" smtClean="0"/>
              <a:t>cu 30% față de memoria DDR2 SDRAM</a:t>
            </a:r>
            <a:endParaRPr lang="ro-RO" dirty="0"/>
          </a:p>
          <a:p>
            <a:pPr lvl="1"/>
            <a:r>
              <a:rPr lang="ro-RO" dirty="0"/>
              <a:t>Tehnologie de </a:t>
            </a:r>
            <a:r>
              <a:rPr lang="ro-RO" dirty="0" smtClean="0"/>
              <a:t>fabricație inițială: </a:t>
            </a:r>
            <a:r>
              <a:rPr lang="ro-RO" dirty="0"/>
              <a:t>90 nm </a:t>
            </a:r>
          </a:p>
          <a:p>
            <a:pPr lvl="1"/>
            <a:r>
              <a:rPr lang="ro-RO" dirty="0"/>
              <a:t>Tensiune </a:t>
            </a:r>
            <a:r>
              <a:rPr lang="ro-RO" dirty="0" smtClean="0"/>
              <a:t>de alimentare: 1,5 V (față de 1,8 V)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C6BE6CF-F3D1-4513-8342-80D6772B4597}" type="slidenum">
              <a:rPr lang="ro-RO"/>
              <a:pPr/>
              <a:t>37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(03-2)</a:t>
            </a:r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Memoria DDR3 SDRAM (2)</a:t>
            </a:r>
          </a:p>
        </p:txBody>
      </p:sp>
      <p:sp>
        <p:nvSpPr>
          <p:cNvPr id="318467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412776"/>
            <a:ext cx="8352928" cy="4683224"/>
          </a:xfrm>
        </p:spPr>
        <p:txBody>
          <a:bodyPr>
            <a:normAutofit lnSpcReduction="10000"/>
          </a:bodyPr>
          <a:lstStyle/>
          <a:p>
            <a:r>
              <a:rPr lang="ro-RO" dirty="0" smtClean="0"/>
              <a:t>Opt transferuri în fiecare ciclu de ceas </a:t>
            </a:r>
            <a:endParaRPr lang="ro-RO" dirty="0"/>
          </a:p>
          <a:p>
            <a:r>
              <a:rPr lang="ro-RO" dirty="0" smtClean="0"/>
              <a:t>Rate de transfer ale datelor </a:t>
            </a:r>
            <a:r>
              <a:rPr lang="ro-RO" dirty="0"/>
              <a:t>între: </a:t>
            </a:r>
          </a:p>
          <a:p>
            <a:pPr lvl="1"/>
            <a:r>
              <a:rPr lang="ro-RO" dirty="0"/>
              <a:t>800 </a:t>
            </a:r>
            <a:r>
              <a:rPr lang="ro-RO" dirty="0" smtClean="0"/>
              <a:t>MT/s </a:t>
            </a:r>
            <a:r>
              <a:rPr lang="ro-RO" dirty="0"/>
              <a:t>(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DDR3-800</a:t>
            </a:r>
            <a:r>
              <a:rPr lang="ro-RO" dirty="0"/>
              <a:t>,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PC3-6400</a:t>
            </a:r>
            <a:r>
              <a:rPr lang="ro-RO" dirty="0"/>
              <a:t>)</a:t>
            </a:r>
          </a:p>
          <a:p>
            <a:pPr lvl="1"/>
            <a:r>
              <a:rPr lang="ro-RO" dirty="0" smtClean="0"/>
              <a:t>2133 MT/s </a:t>
            </a:r>
            <a:r>
              <a:rPr lang="ro-RO" dirty="0"/>
              <a:t>(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DDR3-2133</a:t>
            </a:r>
            <a:r>
              <a:rPr lang="ro-RO" dirty="0" smtClean="0"/>
              <a:t>,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PC3-17000</a:t>
            </a:r>
            <a:r>
              <a:rPr lang="ro-RO" dirty="0"/>
              <a:t>)</a:t>
            </a:r>
          </a:p>
          <a:p>
            <a:r>
              <a:rPr lang="ro-RO" dirty="0" smtClean="0"/>
              <a:t>Latențele exprimate numeric sunt mai mari față de memoria DDR2 SDRAM </a:t>
            </a:r>
          </a:p>
          <a:p>
            <a:pPr lvl="1"/>
            <a:r>
              <a:rPr lang="ro-RO" dirty="0" smtClean="0"/>
              <a:t>Exemple: 9:</a:t>
            </a:r>
            <a:r>
              <a:rPr lang="ro-RO" dirty="0" err="1" smtClean="0"/>
              <a:t>9</a:t>
            </a:r>
            <a:r>
              <a:rPr lang="ro-RO" dirty="0" smtClean="0"/>
              <a:t>:</a:t>
            </a:r>
            <a:r>
              <a:rPr lang="ro-RO" dirty="0" err="1" smtClean="0"/>
              <a:t>9</a:t>
            </a:r>
            <a:r>
              <a:rPr lang="ro-RO" dirty="0" smtClean="0"/>
              <a:t> (DDR3-1600); 12:</a:t>
            </a:r>
            <a:r>
              <a:rPr lang="ro-RO" dirty="0" err="1" smtClean="0"/>
              <a:t>12</a:t>
            </a:r>
            <a:r>
              <a:rPr lang="ro-RO" dirty="0" smtClean="0"/>
              <a:t>:</a:t>
            </a:r>
            <a:r>
              <a:rPr lang="ro-RO" dirty="0" err="1" smtClean="0"/>
              <a:t>12</a:t>
            </a:r>
            <a:r>
              <a:rPr lang="ro-RO" dirty="0" smtClean="0"/>
              <a:t> (DDR3-2133) </a:t>
            </a:r>
          </a:p>
          <a:p>
            <a:r>
              <a:rPr lang="ro-RO" dirty="0" smtClean="0"/>
              <a:t>Latențe în ns similare cu memoria DDR2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C6EDEC-058E-4F3D-9A9C-B789145AC277}" type="slidenum">
              <a:rPr lang="ro-RO"/>
              <a:pPr/>
              <a:t>38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(03-2)</a:t>
            </a:r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Memoria DDR3 SDRAM </a:t>
            </a:r>
            <a:r>
              <a:rPr lang="ro-RO" dirty="0" smtClean="0"/>
              <a:t>(3)</a:t>
            </a:r>
            <a:endParaRPr lang="ro-RO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9637012"/>
              </p:ext>
            </p:extLst>
          </p:nvPr>
        </p:nvGraphicFramePr>
        <p:xfrm>
          <a:off x="395536" y="1844824"/>
          <a:ext cx="8382000" cy="33832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254896"/>
                <a:gridCol w="1728192"/>
                <a:gridCol w="1728192"/>
                <a:gridCol w="167072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dirty="0" smtClean="0">
                          <a:solidFill>
                            <a:srgbClr val="002060"/>
                          </a:solidFill>
                        </a:rPr>
                        <a:t>Denumire memorie</a:t>
                      </a:r>
                      <a:endParaRPr lang="ro-RO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 smtClean="0">
                          <a:solidFill>
                            <a:srgbClr val="002060"/>
                          </a:solidFill>
                        </a:rPr>
                        <a:t>Frecvența </a:t>
                      </a:r>
                      <a:r>
                        <a:rPr lang="ro-RO" dirty="0" err="1" smtClean="0">
                          <a:solidFill>
                            <a:srgbClr val="002060"/>
                          </a:solidFill>
                        </a:rPr>
                        <a:t>mem</a:t>
                      </a:r>
                      <a:r>
                        <a:rPr lang="ro-RO" dirty="0" smtClean="0">
                          <a:solidFill>
                            <a:srgbClr val="002060"/>
                          </a:solidFill>
                        </a:rPr>
                        <a:t>. (MHz)</a:t>
                      </a:r>
                      <a:endParaRPr lang="ro-RO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 smtClean="0">
                          <a:solidFill>
                            <a:srgbClr val="002060"/>
                          </a:solidFill>
                        </a:rPr>
                        <a:t>Rata de</a:t>
                      </a:r>
                      <a:r>
                        <a:rPr lang="ro-RO" baseline="0" dirty="0" smtClean="0">
                          <a:solidFill>
                            <a:srgbClr val="002060"/>
                          </a:solidFill>
                        </a:rPr>
                        <a:t> transfer </a:t>
                      </a:r>
                      <a:r>
                        <a:rPr lang="ro-RO" dirty="0" smtClean="0">
                          <a:solidFill>
                            <a:srgbClr val="002060"/>
                          </a:solidFill>
                        </a:rPr>
                        <a:t>(MT/s)</a:t>
                      </a:r>
                      <a:endParaRPr lang="ro-RO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 smtClean="0">
                          <a:solidFill>
                            <a:srgbClr val="002060"/>
                          </a:solidFill>
                        </a:rPr>
                        <a:t>Rata maximă a datelor (MB/s)</a:t>
                      </a:r>
                      <a:endParaRPr lang="ro-RO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o-RO" sz="2400" dirty="0" smtClean="0">
                          <a:solidFill>
                            <a:srgbClr val="0070C0"/>
                          </a:solidFill>
                        </a:rPr>
                        <a:t>DDR3-800   (PC3-6400)</a:t>
                      </a:r>
                      <a:endParaRPr lang="ro-RO" sz="2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400" dirty="0" smtClean="0">
                          <a:solidFill>
                            <a:srgbClr val="0070C0"/>
                          </a:solidFill>
                        </a:rPr>
                        <a:t>100</a:t>
                      </a:r>
                      <a:endParaRPr lang="ro-RO" sz="2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400" dirty="0" smtClean="0">
                          <a:solidFill>
                            <a:srgbClr val="0070C0"/>
                          </a:solidFill>
                        </a:rPr>
                        <a:t>800</a:t>
                      </a:r>
                      <a:endParaRPr lang="ro-RO" sz="2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400" dirty="0" smtClean="0">
                          <a:solidFill>
                            <a:srgbClr val="0070C0"/>
                          </a:solidFill>
                        </a:rPr>
                        <a:t>6.400</a:t>
                      </a:r>
                      <a:endParaRPr lang="ro-RO" sz="2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2400" dirty="0" smtClean="0">
                          <a:solidFill>
                            <a:srgbClr val="0070C0"/>
                          </a:solidFill>
                        </a:rPr>
                        <a:t>DDR3-1066 (PC3-8500)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400" dirty="0" smtClean="0">
                          <a:solidFill>
                            <a:srgbClr val="0070C0"/>
                          </a:solidFill>
                        </a:rPr>
                        <a:t>133</a:t>
                      </a:r>
                      <a:endParaRPr lang="ro-RO" sz="2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400" dirty="0" smtClean="0">
                          <a:solidFill>
                            <a:srgbClr val="0070C0"/>
                          </a:solidFill>
                        </a:rPr>
                        <a:t>1.066</a:t>
                      </a:r>
                      <a:endParaRPr lang="ro-RO" sz="2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400" dirty="0" smtClean="0">
                          <a:solidFill>
                            <a:srgbClr val="0070C0"/>
                          </a:solidFill>
                        </a:rPr>
                        <a:t>8.533</a:t>
                      </a:r>
                      <a:endParaRPr lang="ro-RO" sz="2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o-RO" sz="2400" dirty="0" smtClean="0">
                          <a:solidFill>
                            <a:srgbClr val="0070C0"/>
                          </a:solidFill>
                        </a:rPr>
                        <a:t>DDR3-1333 (PC3-10600)</a:t>
                      </a:r>
                      <a:endParaRPr lang="ro-RO" sz="2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400" dirty="0" smtClean="0">
                          <a:solidFill>
                            <a:srgbClr val="0070C0"/>
                          </a:solidFill>
                        </a:rPr>
                        <a:t>166</a:t>
                      </a:r>
                      <a:endParaRPr lang="ro-RO" sz="2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400" dirty="0" smtClean="0">
                          <a:solidFill>
                            <a:srgbClr val="0070C0"/>
                          </a:solidFill>
                        </a:rPr>
                        <a:t>1.333</a:t>
                      </a:r>
                      <a:endParaRPr lang="ro-RO" sz="2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400" dirty="0" smtClean="0">
                          <a:solidFill>
                            <a:srgbClr val="0070C0"/>
                          </a:solidFill>
                        </a:rPr>
                        <a:t>10.666</a:t>
                      </a:r>
                      <a:endParaRPr lang="ro-RO" sz="2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o-RO" sz="2400" dirty="0" smtClean="0">
                          <a:solidFill>
                            <a:srgbClr val="0070C0"/>
                          </a:solidFill>
                        </a:rPr>
                        <a:t>DDR3-1600 (PC3-12800)</a:t>
                      </a:r>
                      <a:endParaRPr lang="ro-RO" sz="2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400" dirty="0" smtClean="0">
                          <a:solidFill>
                            <a:srgbClr val="0070C0"/>
                          </a:solidFill>
                        </a:rPr>
                        <a:t>200</a:t>
                      </a:r>
                      <a:endParaRPr lang="ro-RO" sz="2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400" dirty="0" smtClean="0">
                          <a:solidFill>
                            <a:srgbClr val="0070C0"/>
                          </a:solidFill>
                        </a:rPr>
                        <a:t>1.600</a:t>
                      </a:r>
                      <a:endParaRPr lang="ro-RO" sz="2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400" dirty="0" smtClean="0">
                          <a:solidFill>
                            <a:srgbClr val="0070C0"/>
                          </a:solidFill>
                        </a:rPr>
                        <a:t>12.800</a:t>
                      </a:r>
                      <a:endParaRPr lang="ro-RO" sz="2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o-RO" sz="2400" dirty="0" smtClean="0">
                          <a:solidFill>
                            <a:srgbClr val="0070C0"/>
                          </a:solidFill>
                        </a:rPr>
                        <a:t>DDR3-1866 (PC3-14900)</a:t>
                      </a:r>
                      <a:endParaRPr lang="ro-RO" sz="2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400" dirty="0" smtClean="0">
                          <a:solidFill>
                            <a:srgbClr val="0070C0"/>
                          </a:solidFill>
                        </a:rPr>
                        <a:t>233</a:t>
                      </a:r>
                      <a:endParaRPr lang="ro-RO" sz="2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400" dirty="0" smtClean="0">
                          <a:solidFill>
                            <a:srgbClr val="0070C0"/>
                          </a:solidFill>
                        </a:rPr>
                        <a:t>1.866</a:t>
                      </a:r>
                      <a:endParaRPr lang="ro-RO" sz="2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400" dirty="0" smtClean="0">
                          <a:solidFill>
                            <a:srgbClr val="0070C0"/>
                          </a:solidFill>
                        </a:rPr>
                        <a:t>14.933</a:t>
                      </a:r>
                      <a:endParaRPr lang="ro-RO" sz="2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o-RO" sz="2400" dirty="0" smtClean="0">
                          <a:solidFill>
                            <a:srgbClr val="0070C0"/>
                          </a:solidFill>
                        </a:rPr>
                        <a:t>DDR3-2133 (PC3-17000)</a:t>
                      </a:r>
                      <a:endParaRPr lang="ro-RO" sz="2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400" dirty="0" smtClean="0">
                          <a:solidFill>
                            <a:srgbClr val="0070C0"/>
                          </a:solidFill>
                        </a:rPr>
                        <a:t>266</a:t>
                      </a:r>
                      <a:endParaRPr lang="ro-RO" sz="2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400" dirty="0" smtClean="0">
                          <a:solidFill>
                            <a:srgbClr val="0070C0"/>
                          </a:solidFill>
                        </a:rPr>
                        <a:t>2.133</a:t>
                      </a:r>
                      <a:endParaRPr lang="ro-RO" sz="2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2400" dirty="0" smtClean="0">
                          <a:solidFill>
                            <a:srgbClr val="0070C0"/>
                          </a:solidFill>
                        </a:rPr>
                        <a:t>17.066</a:t>
                      </a:r>
                      <a:endParaRPr lang="ro-RO" sz="24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39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(03-2)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Memoria DDR3 SDRAM </a:t>
            </a:r>
            <a:r>
              <a:rPr lang="ro-RO" dirty="0" smtClean="0"/>
              <a:t>(4)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511480" cy="4616648"/>
          </a:xfrm>
        </p:spPr>
        <p:txBody>
          <a:bodyPr/>
          <a:lstStyle/>
          <a:p>
            <a:r>
              <a:rPr lang="ro-RO" dirty="0" smtClean="0"/>
              <a:t>Modulele de memorie DDR3 SDRAM nu sunt compatibile cu soclurile pentru modulele DDR2 SDRAM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Avantaje </a:t>
            </a:r>
            <a:r>
              <a:rPr lang="ro-RO" dirty="0" smtClean="0"/>
              <a:t>față de generația anterioară: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Putere consumată </a:t>
            </a:r>
            <a:r>
              <a:rPr lang="ro-RO" dirty="0" smtClean="0"/>
              <a:t>mai redusă 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Rate de transfer </a:t>
            </a:r>
            <a:r>
              <a:rPr lang="ro-RO" dirty="0" smtClean="0"/>
              <a:t>mai ridicate </a:t>
            </a:r>
            <a:r>
              <a:rPr lang="ro-RO" dirty="0" smtClean="0">
                <a:sym typeface="Symbol"/>
              </a:rPr>
              <a:t> </a:t>
            </a:r>
            <a:r>
              <a:rPr lang="ro-RO" dirty="0" smtClean="0"/>
              <a:t>performanțe superioare la o putere consumată mai redusă</a:t>
            </a:r>
          </a:p>
          <a:p>
            <a:pPr lvl="1"/>
            <a:r>
              <a:rPr lang="ro-RO" dirty="0" smtClean="0"/>
              <a:t>Moduri îmbunătățite cu consum redus de putere (de ex., reîmprospătare automată) 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40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(03-2)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Memorii DRAM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Memorii DRAM </a:t>
            </a:r>
          </a:p>
          <a:p>
            <a:pPr lvl="1"/>
            <a:r>
              <a:rPr lang="ro-RO" dirty="0" smtClean="0"/>
              <a:t>Parametrii memoriilor DRAM </a:t>
            </a:r>
          </a:p>
          <a:p>
            <a:pPr lvl="1"/>
            <a:r>
              <a:rPr lang="ro-RO" dirty="0" smtClean="0"/>
              <a:t>Accesul în mod pagină </a:t>
            </a:r>
          </a:p>
          <a:p>
            <a:pPr lvl="1"/>
            <a:r>
              <a:rPr lang="ro-RO" dirty="0" smtClean="0"/>
              <a:t>Categorii de memorii DRAM </a:t>
            </a:r>
          </a:p>
          <a:p>
            <a:pPr lvl="1"/>
            <a:r>
              <a:rPr lang="ro-RO" dirty="0" smtClean="0"/>
              <a:t>Memoria SDRAM</a:t>
            </a:r>
          </a:p>
          <a:p>
            <a:pPr lvl="1"/>
            <a:r>
              <a:rPr lang="ro-RO" dirty="0" smtClean="0"/>
              <a:t>Memoria DDR SDRAM</a:t>
            </a:r>
          </a:p>
          <a:p>
            <a:pPr lvl="1"/>
            <a:r>
              <a:rPr lang="ro-RO" dirty="0" smtClean="0"/>
              <a:t>Memoria DDR3 SDRAM 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Memoria DDR4 SDRAM </a:t>
            </a:r>
          </a:p>
          <a:p>
            <a:pPr lvl="1"/>
            <a:r>
              <a:rPr lang="ro-RO" dirty="0" smtClean="0"/>
              <a:t>Module de memorie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41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(03-2)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Memoria DDR4 </a:t>
            </a:r>
            <a:r>
              <a:rPr lang="ro-RO" dirty="0" smtClean="0"/>
              <a:t>SDRAM (1)</a:t>
            </a:r>
            <a:endParaRPr lang="en-US" dirty="0"/>
          </a:p>
        </p:txBody>
      </p:sp>
      <p:sp>
        <p:nvSpPr>
          <p:cNvPr id="32153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67464" cy="4824437"/>
          </a:xfrm>
        </p:spPr>
        <p:txBody>
          <a:bodyPr>
            <a:normAutofit/>
          </a:bodyPr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DDR4 SDRAM</a:t>
            </a:r>
            <a:r>
              <a:rPr lang="ro-RO" dirty="0">
                <a:cs typeface="Times New Roman" pitchFamily="18" charset="0"/>
              </a:rPr>
              <a:t>: </a:t>
            </a:r>
            <a:r>
              <a:rPr lang="ro-RO" dirty="0" smtClean="0">
                <a:cs typeface="Times New Roman" pitchFamily="18" charset="0"/>
              </a:rPr>
              <a:t>genera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ia curentă a memoriilor DDR SDRAM</a:t>
            </a:r>
          </a:p>
          <a:p>
            <a:r>
              <a:rPr lang="ro-RO" dirty="0" smtClean="0">
                <a:cs typeface="Times New Roman" pitchFamily="18" charset="0"/>
              </a:rPr>
              <a:t>Prototipuri realizate în anul 2011</a:t>
            </a:r>
          </a:p>
          <a:p>
            <a:r>
              <a:rPr lang="ro-RO" dirty="0" smtClean="0">
                <a:cs typeface="Times New Roman" pitchFamily="18" charset="0"/>
              </a:rPr>
              <a:t>Standardul DDR4 publicat în anul 2012 </a:t>
            </a:r>
            <a:endParaRPr lang="ro-RO" dirty="0">
              <a:cs typeface="Times New Roman" pitchFamily="18" charset="0"/>
            </a:endParaRPr>
          </a:p>
          <a:p>
            <a:r>
              <a:rPr lang="ro-RO" dirty="0" smtClean="0"/>
              <a:t>Producția de masă începută în anul 2014 </a:t>
            </a:r>
          </a:p>
          <a:p>
            <a:r>
              <a:rPr lang="ro-RO" dirty="0" smtClean="0"/>
              <a:t>Putere consumată mai redusă cu </a:t>
            </a:r>
            <a:r>
              <a:rPr lang="en-US" dirty="0" smtClean="0"/>
              <a:t>~</a:t>
            </a:r>
            <a:r>
              <a:rPr lang="ro-RO" dirty="0" smtClean="0"/>
              <a:t>40% </a:t>
            </a:r>
          </a:p>
          <a:p>
            <a:pPr lvl="1"/>
            <a:r>
              <a:rPr lang="ro-RO" dirty="0" smtClean="0"/>
              <a:t>Tensiune de alimentare: 1,2 V; 1,05 V</a:t>
            </a:r>
          </a:p>
          <a:p>
            <a:pPr lvl="1"/>
            <a:r>
              <a:rPr lang="ro-RO" dirty="0" smtClean="0"/>
              <a:t>Tehnologie de fabricație: 30 .. 39 </a:t>
            </a:r>
            <a:r>
              <a:rPr lang="ro-RO" dirty="0" err="1" smtClean="0"/>
              <a:t>nm</a:t>
            </a:r>
            <a:endParaRPr lang="ro-RO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266C16-C2B1-4C6F-B175-D2064BD9A6F0}" type="slidenum">
              <a:rPr lang="ro-RO"/>
              <a:pPr/>
              <a:t>42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(03-2)</a:t>
            </a:r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Memoria DDR4 SDRAM </a:t>
            </a:r>
            <a:r>
              <a:rPr lang="ro-RO" dirty="0" smtClean="0"/>
              <a:t>(2)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25937"/>
          </a:xfrm>
        </p:spPr>
        <p:txBody>
          <a:bodyPr/>
          <a:lstStyle/>
          <a:p>
            <a:r>
              <a:rPr lang="ro-RO" dirty="0" smtClean="0"/>
              <a:t>Rate de transfer ale datelor: </a:t>
            </a:r>
          </a:p>
          <a:p>
            <a:pPr lvl="1"/>
            <a:r>
              <a:rPr lang="ro-RO" dirty="0" smtClean="0"/>
              <a:t>2133 MT/s (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DDR4-2133</a:t>
            </a:r>
            <a:r>
              <a:rPr lang="ro-RO" dirty="0" smtClean="0"/>
              <a:t>,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PC4-17000</a:t>
            </a:r>
            <a:r>
              <a:rPr lang="ro-RO" dirty="0" smtClean="0"/>
              <a:t>)</a:t>
            </a:r>
          </a:p>
          <a:p>
            <a:pPr lvl="1"/>
            <a:r>
              <a:rPr lang="ro-RO" dirty="0" smtClean="0"/>
              <a:t>2400 MT/s (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DDR4-2400</a:t>
            </a:r>
            <a:r>
              <a:rPr lang="ro-RO" dirty="0" smtClean="0"/>
              <a:t>,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PC4-19200</a:t>
            </a:r>
            <a:r>
              <a:rPr lang="ro-RO" dirty="0" smtClean="0"/>
              <a:t>)</a:t>
            </a:r>
          </a:p>
          <a:p>
            <a:pPr lvl="1"/>
            <a:r>
              <a:rPr lang="ro-RO" dirty="0" smtClean="0"/>
              <a:t>3200 MT/s (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DDR4-3200</a:t>
            </a:r>
            <a:r>
              <a:rPr lang="ro-RO" dirty="0" smtClean="0"/>
              <a:t>,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PC4-25600</a:t>
            </a:r>
            <a:r>
              <a:rPr lang="ro-RO" dirty="0" smtClean="0"/>
              <a:t>)</a:t>
            </a:r>
          </a:p>
          <a:p>
            <a:r>
              <a:rPr lang="ro-RO" dirty="0" smtClean="0"/>
              <a:t>Se estimează rate de transfer de până la 4266 MT/s (PC4-34000)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Modificări tehnologice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Număr de bancuri </a:t>
            </a:r>
            <a:r>
              <a:rPr lang="ro-RO" dirty="0" smtClean="0"/>
              <a:t>interne: 16 (față de 4 la memoria DDR3 SDRAM); 4 grupe de bancuri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43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(03-2)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Memoria DDR4 SDRAM </a:t>
            </a:r>
            <a:r>
              <a:rPr lang="ro-RO" dirty="0" smtClean="0"/>
              <a:t>(3)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62870"/>
          </a:xfrm>
        </p:spPr>
        <p:txBody>
          <a:bodyPr/>
          <a:lstStyle/>
          <a:p>
            <a:pPr lvl="1"/>
            <a:r>
              <a:rPr lang="ro-RO" dirty="0" smtClean="0"/>
              <a:t>S-a eliminat magistrala partajată: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conexiune punct la punct</a:t>
            </a:r>
            <a:r>
              <a:rPr lang="ro-RO" dirty="0" smtClean="0"/>
              <a:t> cu fiecare modul de memorie 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Bit de paritate </a:t>
            </a:r>
            <a:r>
              <a:rPr lang="ro-RO" dirty="0" smtClean="0"/>
              <a:t>pentru adrese și comenzi 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Cod CRC </a:t>
            </a:r>
            <a:r>
              <a:rPr lang="ro-RO" dirty="0" smtClean="0"/>
              <a:t>pentru liniile de date </a:t>
            </a:r>
          </a:p>
          <a:p>
            <a:pPr lvl="1"/>
            <a:r>
              <a:rPr lang="ro-RO" dirty="0" smtClean="0"/>
              <a:t>Trei semnale de selecție CS </a:t>
            </a:r>
            <a:r>
              <a:rPr lang="ro-RO" dirty="0" smtClean="0">
                <a:sym typeface="Symbol"/>
              </a:rPr>
              <a:t> stivă 3D cu </a:t>
            </a:r>
            <a:r>
              <a:rPr lang="ro-RO" dirty="0" smtClean="0"/>
              <a:t>până la 8 circuite integrate într-o capsulă 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Inversarea liniilor de date</a:t>
            </a:r>
            <a:r>
              <a:rPr lang="ro-RO" dirty="0" smtClean="0"/>
              <a:t>: reduce numărul biților de zero transmiși </a:t>
            </a:r>
          </a:p>
          <a:p>
            <a:pPr lvl="2"/>
            <a:r>
              <a:rPr lang="ro-RO" sz="3000" dirty="0" smtClean="0"/>
              <a:t>Liniile de date au terminatoare la nivel logic ridicat </a:t>
            </a:r>
            <a:r>
              <a:rPr lang="ro-RO" sz="3000" dirty="0" smtClean="0">
                <a:sym typeface="Symbol"/>
              </a:rPr>
              <a:t> </a:t>
            </a:r>
            <a:r>
              <a:rPr lang="ro-RO" sz="3000" dirty="0" smtClean="0"/>
              <a:t>se reduce puterea disipată </a:t>
            </a:r>
            <a:endParaRPr lang="ro-RO" sz="3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44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(03-2)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Memorii DRAM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Memorii DRAM </a:t>
            </a:r>
          </a:p>
          <a:p>
            <a:pPr lvl="1"/>
            <a:r>
              <a:rPr lang="ro-RO" dirty="0" smtClean="0"/>
              <a:t>Parametrii memoriilor DRAM </a:t>
            </a:r>
          </a:p>
          <a:p>
            <a:pPr lvl="1"/>
            <a:r>
              <a:rPr lang="ro-RO" dirty="0" smtClean="0"/>
              <a:t>Accesul în mod pagină </a:t>
            </a:r>
          </a:p>
          <a:p>
            <a:pPr lvl="1"/>
            <a:r>
              <a:rPr lang="ro-RO" dirty="0" smtClean="0"/>
              <a:t>Categorii de memorii DRAM </a:t>
            </a:r>
          </a:p>
          <a:p>
            <a:pPr lvl="1"/>
            <a:r>
              <a:rPr lang="ro-RO" dirty="0" smtClean="0"/>
              <a:t>Memoria SDRAM</a:t>
            </a:r>
          </a:p>
          <a:p>
            <a:pPr lvl="1"/>
            <a:r>
              <a:rPr lang="ro-RO" dirty="0" smtClean="0"/>
              <a:t>Memoria DDR SDRAM</a:t>
            </a:r>
          </a:p>
          <a:p>
            <a:pPr lvl="1"/>
            <a:r>
              <a:rPr lang="ro-RO" dirty="0" smtClean="0"/>
              <a:t>Memoria DDR3 SDRAM </a:t>
            </a:r>
          </a:p>
          <a:p>
            <a:pPr lvl="1"/>
            <a:r>
              <a:rPr lang="ro-RO" dirty="0" smtClean="0"/>
              <a:t>Memoria DDR4 SDRAM 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Module de memorie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45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(03-2)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Module de memorie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DIMM </a:t>
            </a:r>
            <a:r>
              <a:rPr lang="ro-RO" dirty="0" smtClean="0"/>
              <a:t>(</a:t>
            </a:r>
            <a:r>
              <a:rPr lang="ro-RO" i="1" dirty="0" smtClean="0"/>
              <a:t>Dual </a:t>
            </a:r>
            <a:r>
              <a:rPr lang="ro-RO" i="1" dirty="0" err="1" smtClean="0"/>
              <a:t>In-Line</a:t>
            </a:r>
            <a:r>
              <a:rPr lang="ro-RO" i="1" dirty="0" smtClean="0"/>
              <a:t> </a:t>
            </a:r>
            <a:r>
              <a:rPr lang="ro-RO" i="1" dirty="0" err="1" smtClean="0"/>
              <a:t>Memory</a:t>
            </a:r>
            <a:r>
              <a:rPr lang="ro-RO" i="1" dirty="0" smtClean="0"/>
              <a:t> Module</a:t>
            </a:r>
            <a:r>
              <a:rPr lang="ro-RO" dirty="0" smtClean="0"/>
              <a:t>)</a:t>
            </a:r>
          </a:p>
          <a:p>
            <a:pPr lvl="1"/>
            <a:r>
              <a:rPr lang="ro-RO" dirty="0" smtClean="0"/>
              <a:t>Circuite integrate de memorie amplasate pe o placă de circuit imprimat</a:t>
            </a:r>
          </a:p>
          <a:p>
            <a:pPr lvl="1"/>
            <a:r>
              <a:rPr lang="ro-RO" dirty="0" smtClean="0"/>
              <a:t>Contacte electrice separate pe fiecare parte a modulului (spre deosebire de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SIMM</a:t>
            </a:r>
            <a:r>
              <a:rPr lang="ro-RO" dirty="0" smtClean="0"/>
              <a:t>)</a:t>
            </a:r>
          </a:p>
          <a:p>
            <a:pPr lvl="1"/>
            <a:r>
              <a:rPr lang="ro-RO" dirty="0" smtClean="0"/>
              <a:t>Cale de date de 64 biți</a:t>
            </a:r>
          </a:p>
          <a:p>
            <a:pPr lvl="1"/>
            <a:r>
              <a:rPr lang="ro-RO" dirty="0" smtClean="0"/>
              <a:t>Module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DIMM ECC </a:t>
            </a:r>
            <a:r>
              <a:rPr lang="ro-RO" dirty="0" smtClean="0"/>
              <a:t>(</a:t>
            </a:r>
            <a:r>
              <a:rPr lang="ro-RO" i="1" dirty="0" err="1" smtClean="0"/>
              <a:t>Error</a:t>
            </a:r>
            <a:r>
              <a:rPr lang="ro-RO" i="1" dirty="0" smtClean="0"/>
              <a:t> </a:t>
            </a:r>
            <a:r>
              <a:rPr lang="ro-RO" i="1" dirty="0" err="1" smtClean="0"/>
              <a:t>Correcting</a:t>
            </a:r>
            <a:r>
              <a:rPr lang="ro-RO" i="1" dirty="0" smtClean="0"/>
              <a:t> Code</a:t>
            </a:r>
            <a:r>
              <a:rPr lang="ro-RO" dirty="0" smtClean="0"/>
              <a:t>): realizează detecția și corecţia erorilor</a:t>
            </a:r>
          </a:p>
          <a:p>
            <a:pPr lvl="2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SECDED </a:t>
            </a:r>
            <a:r>
              <a:rPr lang="ro-RO" dirty="0" smtClean="0"/>
              <a:t>(</a:t>
            </a:r>
            <a:r>
              <a:rPr lang="ro-RO" i="1" dirty="0" smtClean="0"/>
              <a:t>Single </a:t>
            </a:r>
            <a:r>
              <a:rPr lang="ro-RO" i="1" dirty="0" err="1" smtClean="0"/>
              <a:t>Error</a:t>
            </a:r>
            <a:r>
              <a:rPr lang="ro-RO" i="1" dirty="0" smtClean="0"/>
              <a:t> </a:t>
            </a:r>
            <a:r>
              <a:rPr lang="ro-RO" i="1" dirty="0" err="1" smtClean="0"/>
              <a:t>Correct</a:t>
            </a:r>
            <a:r>
              <a:rPr lang="ro-RO" i="1" dirty="0" smtClean="0"/>
              <a:t>, </a:t>
            </a:r>
            <a:r>
              <a:rPr lang="ro-RO" i="1" dirty="0" err="1" smtClean="0"/>
              <a:t>Double</a:t>
            </a:r>
            <a:r>
              <a:rPr lang="ro-RO" i="1" dirty="0" smtClean="0"/>
              <a:t> </a:t>
            </a:r>
            <a:r>
              <a:rPr lang="ro-RO" i="1" dirty="0" err="1" smtClean="0"/>
              <a:t>Error</a:t>
            </a:r>
            <a:r>
              <a:rPr lang="ro-RO" i="1" dirty="0" smtClean="0"/>
              <a:t> </a:t>
            </a:r>
            <a:r>
              <a:rPr lang="ro-RO" i="1" dirty="0" err="1" smtClean="0"/>
              <a:t>Detect</a:t>
            </a:r>
            <a:r>
              <a:rPr lang="ro-RO" dirty="0" smtClean="0"/>
              <a:t>): un bit suplimentar pe fiecare octet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46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(03-2)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352928" cy="664797"/>
          </a:xfrm>
        </p:spPr>
        <p:txBody>
          <a:bodyPr/>
          <a:lstStyle/>
          <a:p>
            <a:r>
              <a:rPr lang="ro-RO" dirty="0"/>
              <a:t>Module de memorie </a:t>
            </a:r>
            <a:r>
              <a:rPr lang="ro-RO" dirty="0" smtClean="0"/>
              <a:t>(2)</a:t>
            </a:r>
            <a:endParaRPr lang="ro-RO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95536" y="1412776"/>
            <a:ext cx="8352928" cy="2511457"/>
          </a:xfrm>
        </p:spPr>
        <p:txBody>
          <a:bodyPr/>
          <a:lstStyle/>
          <a:p>
            <a:pPr lvl="1"/>
            <a:r>
              <a:rPr lang="ro-RO" sz="3200" dirty="0" smtClean="0"/>
              <a:t>DIMM cu 184 pini: pentru </a:t>
            </a:r>
            <a:r>
              <a:rPr lang="ro-RO" sz="32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DDR SDRAM</a:t>
            </a:r>
          </a:p>
          <a:p>
            <a:pPr lvl="1"/>
            <a:r>
              <a:rPr lang="ro-RO" sz="3200" dirty="0" smtClean="0"/>
              <a:t>DIMM cu 240 pini: pentru </a:t>
            </a:r>
            <a:r>
              <a:rPr lang="ro-RO" sz="32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DDR2 SDRAM </a:t>
            </a:r>
            <a:r>
              <a:rPr lang="ro-RO" sz="3200" dirty="0" smtClean="0"/>
              <a:t>și </a:t>
            </a:r>
            <a:r>
              <a:rPr lang="ro-RO" sz="32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DDR3 SDRAM </a:t>
            </a:r>
            <a:r>
              <a:rPr lang="ro-RO" sz="3200" dirty="0" smtClean="0">
                <a:latin typeface="Arial" charset="0"/>
                <a:cs typeface="Arial" charset="0"/>
              </a:rPr>
              <a:t>→</a:t>
            </a:r>
            <a:r>
              <a:rPr lang="ro-RO" sz="3200" dirty="0" smtClean="0"/>
              <a:t> nu sunt compatibile </a:t>
            </a:r>
          </a:p>
          <a:p>
            <a:pPr lvl="1"/>
            <a:r>
              <a:rPr lang="ro-RO" sz="3200" dirty="0" smtClean="0"/>
              <a:t>DIMM cu 284 pini: pentru </a:t>
            </a:r>
            <a:r>
              <a:rPr lang="ro-RO" sz="32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DDR4 SDRAM </a:t>
            </a:r>
          </a:p>
          <a:p>
            <a:pPr lvl="1"/>
            <a:r>
              <a:rPr lang="ro-RO" sz="3200" dirty="0" smtClean="0"/>
              <a:t>Dimensiuni (aprox.): 133 x 31 mm </a:t>
            </a:r>
            <a:endParaRPr lang="ro-RO" sz="32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smtClean="0"/>
              <a:t>Structura sistemelor de calcul (03-2)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7405F-82EE-4E2C-88FE-E12B8BB60B66}" type="slidenum">
              <a:rPr lang="ro-RO" smtClean="0"/>
              <a:pPr/>
              <a:t>47</a:t>
            </a:fld>
            <a:endParaRPr lang="ro-RO"/>
          </a:p>
        </p:txBody>
      </p:sp>
      <p:pic>
        <p:nvPicPr>
          <p:cNvPr id="8" name="Picture 5" descr="ddr3_dimm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2051720" y="4005064"/>
            <a:ext cx="5047488" cy="2258751"/>
          </a:xfrm>
          <a:noFill/>
          <a:ln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352928" cy="664797"/>
          </a:xfrm>
        </p:spPr>
        <p:txBody>
          <a:bodyPr/>
          <a:lstStyle/>
          <a:p>
            <a:r>
              <a:rPr lang="ro-RO" dirty="0"/>
              <a:t>Module de memorie </a:t>
            </a:r>
            <a:r>
              <a:rPr lang="ro-RO" dirty="0" smtClean="0"/>
              <a:t>(3)</a:t>
            </a:r>
            <a:endParaRPr lang="ro-RO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95536" y="1524000"/>
            <a:ext cx="8352928" cy="387798"/>
          </a:xfrm>
        </p:spPr>
        <p:txBody>
          <a:bodyPr/>
          <a:lstStyle/>
          <a:p>
            <a:pPr lvl="1">
              <a:buNone/>
            </a:pPr>
            <a:r>
              <a:rPr lang="ro-RO" dirty="0" smtClean="0"/>
              <a:t>Modul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DIMM </a:t>
            </a:r>
            <a:r>
              <a:rPr lang="ro-RO" dirty="0" smtClean="0"/>
              <a:t>cu 284 pini (128 GB,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DDR4 SDRAM</a:t>
            </a:r>
            <a:r>
              <a:rPr lang="ro-RO" dirty="0" smtClean="0"/>
              <a:t>)</a:t>
            </a:r>
            <a:endParaRPr lang="ro-RO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smtClean="0"/>
              <a:t>Structura sistemelor de calcul (03-2)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7405F-82EE-4E2C-88FE-E12B8BB60B66}" type="slidenum">
              <a:rPr lang="ro-RO" smtClean="0"/>
              <a:pPr/>
              <a:t>48</a:t>
            </a:fld>
            <a:endParaRPr lang="ro-RO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" y="2493169"/>
            <a:ext cx="6172200" cy="3314700"/>
          </a:xfr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Module de memorie </a:t>
            </a:r>
            <a:r>
              <a:rPr lang="ro-RO" dirty="0" smtClean="0"/>
              <a:t>(4)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468916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UDIMM </a:t>
            </a:r>
            <a:r>
              <a:rPr lang="ro-RO" dirty="0" smtClean="0"/>
              <a:t>(</a:t>
            </a:r>
            <a:r>
              <a:rPr lang="ro-RO" i="1" dirty="0" err="1" smtClean="0"/>
              <a:t>Unbuffered</a:t>
            </a:r>
            <a:r>
              <a:rPr lang="ro-RO" dirty="0" smtClean="0"/>
              <a:t> DIMM) </a:t>
            </a:r>
          </a:p>
          <a:p>
            <a:pPr lvl="1"/>
            <a:r>
              <a:rPr lang="ro-RO" dirty="0" smtClean="0"/>
              <a:t>Semnalele de adrese, control și date sunt conectate direct la controlerul de memorie </a:t>
            </a:r>
          </a:p>
          <a:p>
            <a:pPr lvl="1"/>
            <a:r>
              <a:rPr lang="ro-RO" dirty="0" smtClean="0"/>
              <a:t>Fiecare modul adăugat crește încărcarea electrică </a:t>
            </a:r>
            <a:r>
              <a:rPr lang="ro-RO" dirty="0" smtClean="0">
                <a:sym typeface="Symbol"/>
              </a:rPr>
              <a:t> număr limitat de module pe un canal de memorie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Avantaje</a:t>
            </a:r>
            <a:r>
              <a:rPr lang="ro-RO" dirty="0" smtClean="0"/>
              <a:t>: </a:t>
            </a:r>
          </a:p>
          <a:p>
            <a:pPr lvl="2"/>
            <a:r>
              <a:rPr lang="ro-RO" sz="3000" dirty="0" smtClean="0"/>
              <a:t>Vitezele sunt cele mai ridicate</a:t>
            </a:r>
          </a:p>
          <a:p>
            <a:pPr lvl="2"/>
            <a:r>
              <a:rPr lang="ro-RO" sz="3000" dirty="0" smtClean="0"/>
              <a:t>Latențele sunt cele mai reduse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49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(03-2)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Module de memorie </a:t>
            </a:r>
            <a:r>
              <a:rPr lang="ro-RO" dirty="0" smtClean="0"/>
              <a:t>(5)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4"/>
            <a:ext cx="8382000" cy="4896445"/>
          </a:xfrm>
        </p:spPr>
        <p:txBody>
          <a:bodyPr/>
          <a:lstStyle/>
          <a:p>
            <a:r>
              <a:rPr lang="ro-RO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RDIMM </a:t>
            </a:r>
            <a:r>
              <a:rPr lang="ro-RO" sz="3200" dirty="0"/>
              <a:t>(</a:t>
            </a:r>
            <a:r>
              <a:rPr lang="ro-RO" sz="3200" i="1" dirty="0" err="1"/>
              <a:t>Registered</a:t>
            </a:r>
            <a:r>
              <a:rPr lang="ro-RO" sz="3200" dirty="0"/>
              <a:t> DIMM) </a:t>
            </a:r>
          </a:p>
          <a:p>
            <a:pPr lvl="1"/>
            <a:r>
              <a:rPr lang="ro-RO" dirty="0"/>
              <a:t>Semnalele de adrese și de control sunt conectate printr-un buffer </a:t>
            </a:r>
            <a:endParaRPr lang="ro-RO" dirty="0" smtClean="0"/>
          </a:p>
          <a:p>
            <a:pPr lvl="2"/>
            <a:r>
              <a:rPr lang="ro-RO" sz="3000" dirty="0" smtClean="0"/>
              <a:t>Se reduce încărcarea electrică </a:t>
            </a:r>
            <a:endParaRPr lang="ro-RO" sz="3000" dirty="0"/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Avantaj</a:t>
            </a:r>
            <a:r>
              <a:rPr lang="ro-RO" dirty="0" smtClean="0"/>
              <a:t>: se pot conecta mai multe module la un canal de memorie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Dezavantaje</a:t>
            </a:r>
            <a:r>
              <a:rPr lang="ro-RO" dirty="0" smtClean="0"/>
              <a:t>: </a:t>
            </a:r>
          </a:p>
          <a:p>
            <a:pPr lvl="2"/>
            <a:r>
              <a:rPr lang="ro-RO" sz="3000" dirty="0" smtClean="0"/>
              <a:t>Crește consumul de putere </a:t>
            </a:r>
          </a:p>
          <a:p>
            <a:pPr lvl="2"/>
            <a:r>
              <a:rPr lang="ro-RO" sz="3000" dirty="0" smtClean="0"/>
              <a:t>Crește latența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50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(03-2)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Module de memorie </a:t>
            </a:r>
            <a:r>
              <a:rPr lang="ro-RO" dirty="0" smtClean="0"/>
              <a:t>(6)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979825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LRDIMM </a:t>
            </a:r>
            <a:r>
              <a:rPr lang="ro-RO" dirty="0" smtClean="0"/>
              <a:t>(</a:t>
            </a:r>
            <a:r>
              <a:rPr lang="ro-RO" i="1" dirty="0" err="1" smtClean="0"/>
              <a:t>Load</a:t>
            </a:r>
            <a:r>
              <a:rPr lang="ro-RO" i="1" dirty="0" smtClean="0"/>
              <a:t> </a:t>
            </a:r>
            <a:r>
              <a:rPr lang="ro-RO" i="1" dirty="0" err="1" smtClean="0"/>
              <a:t>Reduced</a:t>
            </a:r>
            <a:r>
              <a:rPr lang="ro-RO" i="1" dirty="0" smtClean="0"/>
              <a:t> </a:t>
            </a:r>
            <a:r>
              <a:rPr lang="ro-RO" dirty="0" smtClean="0"/>
              <a:t>DIMM) </a:t>
            </a:r>
          </a:p>
          <a:p>
            <a:pPr lvl="1"/>
            <a:r>
              <a:rPr lang="ro-RO" dirty="0" smtClean="0"/>
              <a:t>Toate semnalele sunt conectate prin intermediul unui </a:t>
            </a:r>
            <a:r>
              <a:rPr lang="ro-RO" dirty="0" err="1" smtClean="0"/>
              <a:t>buffer</a:t>
            </a:r>
            <a:r>
              <a:rPr lang="ro-RO" dirty="0" smtClean="0"/>
              <a:t> </a:t>
            </a:r>
          </a:p>
          <a:p>
            <a:pPr lvl="1"/>
            <a:r>
              <a:rPr lang="ro-RO" dirty="0" smtClean="0"/>
              <a:t>Se utilizează conexiuni paralele la controlerul de memorie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Avantaj</a:t>
            </a:r>
            <a:r>
              <a:rPr lang="ro-RO" dirty="0" smtClean="0"/>
              <a:t>: se pot conecta mai multe module </a:t>
            </a:r>
            <a:r>
              <a:rPr lang="ro-RO" dirty="0" smtClean="0">
                <a:sym typeface="Symbol"/>
              </a:rPr>
              <a:t> memorie de dimensiuni mari pentru servere 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Dezavantaje</a:t>
            </a:r>
            <a:r>
              <a:rPr lang="ro-RO" dirty="0" smtClean="0"/>
              <a:t>: </a:t>
            </a:r>
          </a:p>
          <a:p>
            <a:pPr lvl="2"/>
            <a:r>
              <a:rPr lang="ro-RO" sz="3000" dirty="0" smtClean="0"/>
              <a:t>Crește consumul de putere</a:t>
            </a:r>
          </a:p>
          <a:p>
            <a:pPr lvl="2"/>
            <a:r>
              <a:rPr lang="ro-RO" sz="3000" dirty="0" smtClean="0"/>
              <a:t>Crește latența față de modulele </a:t>
            </a:r>
            <a:r>
              <a:rPr lang="ro-RO" sz="30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RDIMM </a:t>
            </a:r>
            <a:endParaRPr lang="ro-RO" sz="30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51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(03-2)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Module de memorie </a:t>
            </a:r>
            <a:r>
              <a:rPr lang="ro-RO" dirty="0" smtClean="0"/>
              <a:t>(7)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4"/>
            <a:ext cx="8382000" cy="4979825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SO-DIMM</a:t>
            </a:r>
            <a:r>
              <a:rPr lang="ro-RO" dirty="0" smtClean="0"/>
              <a:t> (</a:t>
            </a:r>
            <a:r>
              <a:rPr lang="ro-RO" i="1" dirty="0" err="1" smtClean="0"/>
              <a:t>Small</a:t>
            </a:r>
            <a:r>
              <a:rPr lang="ro-RO" i="1" dirty="0" smtClean="0"/>
              <a:t> </a:t>
            </a:r>
            <a:r>
              <a:rPr lang="ro-RO" i="1" dirty="0" err="1" smtClean="0"/>
              <a:t>Outline</a:t>
            </a:r>
            <a:r>
              <a:rPr lang="ro-RO" dirty="0" smtClean="0"/>
              <a:t> DIMM)</a:t>
            </a:r>
          </a:p>
          <a:p>
            <a:pPr lvl="1"/>
            <a:r>
              <a:rPr lang="ro-RO" dirty="0" smtClean="0"/>
              <a:t>Dimensiuni mai reduse comparativ cu modulele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DIMM</a:t>
            </a:r>
            <a:r>
              <a:rPr lang="ro-RO" dirty="0" smtClean="0">
                <a:solidFill>
                  <a:schemeClr val="tx2"/>
                </a:solidFill>
              </a:rPr>
              <a:t> </a:t>
            </a:r>
            <a:r>
              <a:rPr lang="ro-RO" dirty="0" smtClean="0"/>
              <a:t>(aprox. 68 x 30 mm) </a:t>
            </a:r>
          </a:p>
          <a:p>
            <a:pPr lvl="1"/>
            <a:r>
              <a:rPr lang="ro-RO" dirty="0" smtClean="0"/>
              <a:t>Utilizate pentru calculatoare portabile</a:t>
            </a:r>
          </a:p>
          <a:p>
            <a:pPr lvl="1"/>
            <a:r>
              <a:rPr lang="ro-RO" dirty="0" smtClean="0"/>
              <a:t>SO-DIMM cu 200 pini: pentru memoriile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DDR SDRAM</a:t>
            </a:r>
            <a:r>
              <a:rPr lang="ro-RO" dirty="0" smtClean="0">
                <a:solidFill>
                  <a:schemeClr val="tx2"/>
                </a:solidFill>
              </a:rPr>
              <a:t> </a:t>
            </a:r>
            <a:r>
              <a:rPr lang="ro-RO" dirty="0" smtClean="0"/>
              <a:t>și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DDR2 SDRAM</a:t>
            </a:r>
          </a:p>
          <a:p>
            <a:pPr lvl="1"/>
            <a:r>
              <a:rPr lang="ro-RO" dirty="0" smtClean="0"/>
              <a:t>SO-DIMM cu 204 pini: pentru memoria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DDR3 SDRAM</a:t>
            </a:r>
            <a:endParaRPr lang="en-US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ro-RO" dirty="0" smtClean="0"/>
              <a:t>SO-DIMM cu 260 pini: pentru memoria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DDR4 SDRAM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52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(03-2)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352928" cy="664797"/>
          </a:xfrm>
        </p:spPr>
        <p:txBody>
          <a:bodyPr/>
          <a:lstStyle/>
          <a:p>
            <a:r>
              <a:rPr lang="ro-RO" dirty="0"/>
              <a:t>Module de memorie </a:t>
            </a:r>
            <a:r>
              <a:rPr lang="ro-RO" dirty="0" smtClean="0"/>
              <a:t>(8)</a:t>
            </a:r>
            <a:endParaRPr lang="ro-RO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95536" y="1524000"/>
            <a:ext cx="8352928" cy="387798"/>
          </a:xfrm>
        </p:spPr>
        <p:txBody>
          <a:bodyPr/>
          <a:lstStyle/>
          <a:p>
            <a:pPr lvl="1" algn="ctr">
              <a:buNone/>
            </a:pPr>
            <a:r>
              <a:rPr lang="ro-RO" dirty="0" smtClean="0"/>
              <a:t>Modul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SO-DIMM</a:t>
            </a:r>
            <a:r>
              <a:rPr lang="ro-RO" dirty="0" smtClean="0"/>
              <a:t> cu 260 pini (16 GB,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DDR4-SDRAM</a:t>
            </a:r>
            <a:r>
              <a:rPr lang="ro-RO" dirty="0" smtClean="0"/>
              <a:t>)</a:t>
            </a:r>
            <a:endParaRPr lang="ro-RO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smtClean="0"/>
              <a:t>Structura sistemelor de calcul (03-2)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7405F-82EE-4E2C-88FE-E12B8BB60B66}" type="slidenum">
              <a:rPr lang="ro-RO" smtClean="0"/>
              <a:pPr/>
              <a:t>53</a:t>
            </a:fld>
            <a:endParaRPr lang="ro-RO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364647"/>
            <a:ext cx="7620000" cy="3484880"/>
          </a:xfr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Rezumat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87492"/>
          </a:xfrm>
        </p:spPr>
        <p:txBody>
          <a:bodyPr/>
          <a:lstStyle/>
          <a:p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Parametrii de timp </a:t>
            </a:r>
            <a:r>
              <a:rPr lang="ro-RO" sz="3300" dirty="0" smtClean="0"/>
              <a:t>ai unei memorii DRAM pot indica performanța acelei memorii</a:t>
            </a:r>
          </a:p>
          <a:p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Accesul în mod pagină </a:t>
            </a:r>
            <a:r>
              <a:rPr lang="ro-RO" sz="3300" dirty="0" smtClean="0"/>
              <a:t>permite reducerea duratei ciclului de acces la memorie</a:t>
            </a:r>
          </a:p>
          <a:p>
            <a:r>
              <a:rPr lang="ro-RO" sz="3300" dirty="0" smtClean="0"/>
              <a:t>Memoriile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SDRAM </a:t>
            </a:r>
            <a:r>
              <a:rPr lang="ro-RO" sz="3300" dirty="0" smtClean="0"/>
              <a:t>au mai multe avantaje față de memoriile DRAM cu interfață asincronă</a:t>
            </a:r>
          </a:p>
          <a:p>
            <a:pPr lvl="1"/>
            <a:r>
              <a:rPr lang="ro-RO" sz="2900" dirty="0" smtClean="0"/>
              <a:t>Permit obținerea unor performanțe superioare</a:t>
            </a:r>
          </a:p>
          <a:p>
            <a:pPr lvl="1"/>
            <a:r>
              <a:rPr lang="ro-RO" sz="2900" dirty="0" smtClean="0"/>
              <a:t>Memorează și execută comenzi codificate prin combinații ale unor semnale de control</a:t>
            </a:r>
            <a:endParaRPr lang="ro-RO" sz="2900" dirty="0"/>
          </a:p>
          <a:p>
            <a:r>
              <a:rPr lang="ro-RO" sz="3300" dirty="0" smtClean="0"/>
              <a:t>Memoriile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DDR SDRAM </a:t>
            </a:r>
            <a:r>
              <a:rPr lang="ro-RO" sz="3300" dirty="0" smtClean="0"/>
              <a:t>sunt cele mai utilizate </a:t>
            </a:r>
            <a:endParaRPr lang="ro-RO" sz="33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54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(03-2)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60585589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Rezumat (2)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730526"/>
          </a:xfrm>
        </p:spPr>
        <p:txBody>
          <a:bodyPr/>
          <a:lstStyle/>
          <a:p>
            <a:r>
              <a:rPr lang="ro-RO" sz="3300" dirty="0" smtClean="0"/>
              <a:t>Memoria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DDR3 SDRAM </a:t>
            </a:r>
            <a:r>
              <a:rPr lang="ro-RO" sz="3300" dirty="0" smtClean="0"/>
              <a:t>este încă utilizată pe scară largă</a:t>
            </a:r>
            <a:endParaRPr lang="ro-RO" sz="3300" dirty="0" smtClean="0">
              <a:solidFill>
                <a:schemeClr val="tx2"/>
              </a:solidFill>
            </a:endParaRPr>
          </a:p>
          <a:p>
            <a:pPr lvl="1"/>
            <a:r>
              <a:rPr lang="ro-RO" sz="2900" dirty="0" smtClean="0"/>
              <a:t>Rate de transfer mai ridicate; putere consumată mai redusă față de memoria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DDR2 SDRAM</a:t>
            </a:r>
          </a:p>
          <a:p>
            <a:r>
              <a:rPr lang="ro-RO" sz="3300" dirty="0" smtClean="0"/>
              <a:t>Memoria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DDR4 SDRAM </a:t>
            </a:r>
            <a:r>
              <a:rPr lang="ro-RO" sz="3300" dirty="0" smtClean="0"/>
              <a:t>introduce modificări tehnologice importante</a:t>
            </a:r>
          </a:p>
          <a:p>
            <a:pPr lvl="1"/>
            <a:r>
              <a:rPr lang="ro-RO" sz="2900" dirty="0" smtClean="0"/>
              <a:t>Număr mai mare de bancuri interne; conexiuni punct la punct; reducerea puterii disipate</a:t>
            </a:r>
            <a:endParaRPr lang="ro-RO" sz="2900" dirty="0"/>
          </a:p>
          <a:p>
            <a:r>
              <a:rPr lang="ro-RO" sz="3300" dirty="0" smtClean="0"/>
              <a:t>Se utilizează diferite tipuri de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module de memorie</a:t>
            </a:r>
            <a:r>
              <a:rPr lang="ro-RO" sz="3300" dirty="0" smtClean="0"/>
              <a:t>, cu avantaje și dezavantaje diferite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55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(03-2)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52711353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Noțiuni, cunoștințe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481227"/>
          </a:xfrm>
        </p:spPr>
        <p:txBody>
          <a:bodyPr/>
          <a:lstStyle/>
          <a:p>
            <a:pPr marL="576000" lvl="1"/>
            <a:r>
              <a:rPr lang="ro-RO" dirty="0" smtClean="0"/>
              <a:t>Parametrii de timp ai memoriilor DRAM</a:t>
            </a:r>
          </a:p>
          <a:p>
            <a:pPr marL="576000" lvl="1"/>
            <a:r>
              <a:rPr lang="ro-RO" dirty="0" smtClean="0"/>
              <a:t>Accesul în mod pagină</a:t>
            </a:r>
          </a:p>
          <a:p>
            <a:pPr marL="576000" lvl="1"/>
            <a:r>
              <a:rPr lang="ro-RO" dirty="0" smtClean="0"/>
              <a:t>Metode pentru îmbunătățirea performanțelor memoriilor DRAM cu interfață asincronă</a:t>
            </a:r>
          </a:p>
          <a:p>
            <a:pPr marL="576000" lvl="1"/>
            <a:r>
              <a:rPr lang="ro-RO" dirty="0" smtClean="0"/>
              <a:t>Avantajele memoriilor DRAM cu interfață sincronă</a:t>
            </a:r>
          </a:p>
          <a:p>
            <a:pPr marL="576000" lvl="1"/>
            <a:r>
              <a:rPr lang="ro-RO" dirty="0" smtClean="0"/>
              <a:t>Deosebiri între memoria SDRAM și memoria DRAM asincronă</a:t>
            </a:r>
          </a:p>
          <a:p>
            <a:pPr marL="576000" lvl="1"/>
            <a:r>
              <a:rPr lang="ro-RO" dirty="0" smtClean="0"/>
              <a:t>Circuitul SPD (</a:t>
            </a:r>
            <a:r>
              <a:rPr lang="ro-RO" i="1" dirty="0" smtClean="0"/>
              <a:t>Serial </a:t>
            </a:r>
            <a:r>
              <a:rPr lang="ro-RO" i="1" dirty="0" err="1" smtClean="0"/>
              <a:t>Presence</a:t>
            </a:r>
            <a:r>
              <a:rPr lang="ro-RO" i="1" dirty="0" smtClean="0"/>
              <a:t> </a:t>
            </a:r>
            <a:r>
              <a:rPr lang="ro-RO" i="1" dirty="0" err="1" smtClean="0"/>
              <a:t>Detect</a:t>
            </a:r>
            <a:r>
              <a:rPr lang="ro-RO" dirty="0" smtClean="0"/>
              <a:t>)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56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(03-2)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57875250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Noțiuni, cunoștințe </a:t>
            </a:r>
            <a:r>
              <a:rPr lang="ro-RO" dirty="0" smtClean="0"/>
              <a:t>(2)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579715"/>
          </a:xfrm>
        </p:spPr>
        <p:txBody>
          <a:bodyPr/>
          <a:lstStyle/>
          <a:p>
            <a:pPr marL="576000" lvl="1"/>
            <a:r>
              <a:rPr lang="ro-RO" dirty="0" smtClean="0"/>
              <a:t>Comenzi ale memoriei SDRAM</a:t>
            </a:r>
          </a:p>
          <a:p>
            <a:pPr marL="576000" lvl="1"/>
            <a:r>
              <a:rPr lang="ro-RO" dirty="0" smtClean="0"/>
              <a:t>Principiul și caracteristicile memoriei DDR SDRAM</a:t>
            </a:r>
          </a:p>
          <a:p>
            <a:pPr marL="576000" lvl="1"/>
            <a:r>
              <a:rPr lang="ro-RO" dirty="0" smtClean="0"/>
              <a:t>Caracteristici ale memoriei DDR3 SDRAM</a:t>
            </a:r>
          </a:p>
          <a:p>
            <a:pPr marL="576000" lvl="1"/>
            <a:r>
              <a:rPr lang="ro-RO" dirty="0" smtClean="0"/>
              <a:t>Modificări tehnologice la memoria DDR4 SDRAM față de generațiile anterioare</a:t>
            </a:r>
          </a:p>
          <a:p>
            <a:pPr marL="576000" lvl="1"/>
            <a:r>
              <a:rPr lang="ro-RO" dirty="0" smtClean="0"/>
              <a:t>Module de memorie UDIMM</a:t>
            </a:r>
          </a:p>
          <a:p>
            <a:pPr marL="576000" lvl="1"/>
            <a:r>
              <a:rPr lang="ro-RO" dirty="0"/>
              <a:t>Module de memorie </a:t>
            </a:r>
            <a:r>
              <a:rPr lang="ro-RO" dirty="0" smtClean="0"/>
              <a:t>RDIMM</a:t>
            </a:r>
            <a:endParaRPr lang="ro-RO" dirty="0"/>
          </a:p>
          <a:p>
            <a:pPr marL="576000" lvl="1"/>
            <a:r>
              <a:rPr lang="ro-RO" dirty="0"/>
              <a:t>Module de memorie </a:t>
            </a:r>
            <a:r>
              <a:rPr lang="ro-RO" dirty="0" smtClean="0"/>
              <a:t>LRDIMM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57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(03-2)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81885470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Întrebări</a:t>
            </a:r>
            <a:endParaRPr lang="en-US"/>
          </a:p>
        </p:txBody>
      </p:sp>
      <p:sp>
        <p:nvSpPr>
          <p:cNvPr id="3348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33400" indent="-533400">
              <a:lnSpc>
                <a:spcPct val="90000"/>
              </a:lnSpc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/>
              <a:t>Ce reprezintă: timpul de preîncărcare RAS; timpul de acces la linie; </a:t>
            </a:r>
            <a:r>
              <a:rPr lang="ro-RO" dirty="0" smtClean="0"/>
              <a:t>latența </a:t>
            </a:r>
            <a:r>
              <a:rPr lang="ro-RO" dirty="0"/>
              <a:t>CAS?</a:t>
            </a:r>
          </a:p>
          <a:p>
            <a:pPr marL="533400" indent="-533400">
              <a:lnSpc>
                <a:spcPct val="90000"/>
              </a:lnSpc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/>
              <a:t>Care sunt avantajele memoriilor cu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interfață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sincronă</a:t>
            </a:r>
            <a:r>
              <a:rPr lang="ro-RO" dirty="0"/>
              <a:t>?</a:t>
            </a:r>
          </a:p>
          <a:p>
            <a:pPr marL="533400" indent="-533400">
              <a:lnSpc>
                <a:spcPct val="90000"/>
              </a:lnSpc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/>
              <a:t>Prin ce diferă memoriile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SDRAM </a:t>
            </a:r>
            <a:r>
              <a:rPr lang="ro-RO" dirty="0"/>
              <a:t>de memoriile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DRAM asincrone</a:t>
            </a:r>
            <a:r>
              <a:rPr lang="ro-RO" dirty="0"/>
              <a:t>? </a:t>
            </a:r>
          </a:p>
          <a:p>
            <a:pPr marL="533400" indent="-533400">
              <a:lnSpc>
                <a:spcPct val="90000"/>
              </a:lnSpc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/>
              <a:t>Care sunt principalele caracteristici ale memoriei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DDR3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SDRAM</a:t>
            </a:r>
            <a:r>
              <a:rPr lang="ro-RO" dirty="0"/>
              <a:t>?</a:t>
            </a:r>
          </a:p>
          <a:p>
            <a:pPr marL="533400" indent="-533400">
              <a:lnSpc>
                <a:spcPct val="90000"/>
              </a:lnSpc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/>
              <a:t>Care sunt </a:t>
            </a:r>
            <a:r>
              <a:rPr lang="ro-RO" dirty="0" smtClean="0"/>
              <a:t>îmbunătățirile </a:t>
            </a:r>
            <a:r>
              <a:rPr lang="ro-RO" dirty="0"/>
              <a:t>introduse de memoria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DDR4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SDRAM</a:t>
            </a:r>
            <a:r>
              <a:rPr lang="ro-RO" dirty="0"/>
              <a:t>?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10.04.2018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ADAD382-F9CC-4C10-8028-8E22AC2C8C68}" type="slidenum">
              <a:rPr lang="ro-RO"/>
              <a:pPr/>
              <a:t>58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(03-2)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ark Blue Swoosh-modified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Blue Swoosh-modified</Template>
  <TotalTime>4216</TotalTime>
  <Words>3473</Words>
  <Application>Microsoft Office PowerPoint</Application>
  <PresentationFormat>On-screen Show (4:3)</PresentationFormat>
  <Paragraphs>642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3" baseType="lpstr">
      <vt:lpstr>Arial</vt:lpstr>
      <vt:lpstr>Calibri</vt:lpstr>
      <vt:lpstr>Symbol</vt:lpstr>
      <vt:lpstr>Times New Roman</vt:lpstr>
      <vt:lpstr>Dark Blue Swoosh-modified</vt:lpstr>
      <vt:lpstr>Memorii semiconductoare</vt:lpstr>
      <vt:lpstr>Memorii DRAM</vt:lpstr>
      <vt:lpstr>Parametrii memoriilor DRAM (1)</vt:lpstr>
      <vt:lpstr>Parametrii memoriilor DRAM (2)</vt:lpstr>
      <vt:lpstr>Parametrii memoriilor DRAM (3)</vt:lpstr>
      <vt:lpstr>Parametrii memoriilor DRAM (4)</vt:lpstr>
      <vt:lpstr>Parametrii memoriilor DRAM (5)</vt:lpstr>
      <vt:lpstr>Parametrii memoriilor DRAM (6)</vt:lpstr>
      <vt:lpstr>Memorii DRAM</vt:lpstr>
      <vt:lpstr>Accesul în mod pagină (1)</vt:lpstr>
      <vt:lpstr>Accesul în mod pagină (2)</vt:lpstr>
      <vt:lpstr>Accesul în mod pagină (3)</vt:lpstr>
      <vt:lpstr>Accesul în mod pagină (4)</vt:lpstr>
      <vt:lpstr>Memorii DRAM</vt:lpstr>
      <vt:lpstr>Categorii de memorii DRAM (1)</vt:lpstr>
      <vt:lpstr>Categorii de memorii DRAM (2)</vt:lpstr>
      <vt:lpstr>Categorii de memorii DRAM (3)</vt:lpstr>
      <vt:lpstr>Categorii de memorii DRAM (4)</vt:lpstr>
      <vt:lpstr>Categorii de memorii DRAM (5)</vt:lpstr>
      <vt:lpstr>Categorii de memorii DRAM (6)</vt:lpstr>
      <vt:lpstr>Memorii DRAM</vt:lpstr>
      <vt:lpstr>Memoria SDRAM (1)</vt:lpstr>
      <vt:lpstr>Memoria SDRAM (2)</vt:lpstr>
      <vt:lpstr>Memoria SDRAM (3)</vt:lpstr>
      <vt:lpstr>Memoria SDRAM (4)</vt:lpstr>
      <vt:lpstr>Memoria SDRAM (5)</vt:lpstr>
      <vt:lpstr>Memoria SDRAM (6)</vt:lpstr>
      <vt:lpstr>Memoria SDRAM (7)</vt:lpstr>
      <vt:lpstr>Memoria SDRAM (8)</vt:lpstr>
      <vt:lpstr>Memorii DRAM</vt:lpstr>
      <vt:lpstr>Memoria DDR SDRAM (1)</vt:lpstr>
      <vt:lpstr>Memoria DDR SDRAM (2)</vt:lpstr>
      <vt:lpstr>Memoria DDR SDRAM (3)</vt:lpstr>
      <vt:lpstr>Memoria DDR SDRAM (4)</vt:lpstr>
      <vt:lpstr>Memoria DDR SDRAM (5)</vt:lpstr>
      <vt:lpstr>Memorii DRAM</vt:lpstr>
      <vt:lpstr>Memoria DDR3 SDRAM (1)</vt:lpstr>
      <vt:lpstr>Memoria DDR3 SDRAM (2)</vt:lpstr>
      <vt:lpstr>Memoria DDR3 SDRAM (3)</vt:lpstr>
      <vt:lpstr>Memoria DDR3 SDRAM (4)</vt:lpstr>
      <vt:lpstr>Memorii DRAM</vt:lpstr>
      <vt:lpstr>Memoria DDR4 SDRAM (1)</vt:lpstr>
      <vt:lpstr>Memoria DDR4 SDRAM (2)</vt:lpstr>
      <vt:lpstr>Memoria DDR4 SDRAM (3)</vt:lpstr>
      <vt:lpstr>Memorii DRAM</vt:lpstr>
      <vt:lpstr>Module de memorie (1)</vt:lpstr>
      <vt:lpstr>Module de memorie (2)</vt:lpstr>
      <vt:lpstr>Module de memorie (3)</vt:lpstr>
      <vt:lpstr>Module de memorie (4)</vt:lpstr>
      <vt:lpstr>Module de memorie (5)</vt:lpstr>
      <vt:lpstr>Module de memorie (6)</vt:lpstr>
      <vt:lpstr>Module de memorie (7)</vt:lpstr>
      <vt:lpstr>Module de memorie (8)</vt:lpstr>
      <vt:lpstr>Rezumat (1)</vt:lpstr>
      <vt:lpstr>Rezumat (2)</vt:lpstr>
      <vt:lpstr>Noțiuni, cunoștințe (1)</vt:lpstr>
      <vt:lpstr>Noțiuni, cunoștințe (2)</vt:lpstr>
      <vt:lpstr>Întrebări</vt:lpstr>
    </vt:vector>
  </TitlesOfParts>
  <Company>Technical University of Cluj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SSC-Memorii-2</dc:title>
  <dc:creator>Baruch Zoltan</dc:creator>
  <cp:lastModifiedBy>Baruch Zoltan</cp:lastModifiedBy>
  <cp:revision>278</cp:revision>
  <cp:lastPrinted>1601-01-01T00:00:00Z</cp:lastPrinted>
  <dcterms:created xsi:type="dcterms:W3CDTF">2002-05-22T18:25:20Z</dcterms:created>
  <dcterms:modified xsi:type="dcterms:W3CDTF">2018-04-08T11:59:33Z</dcterms:modified>
</cp:coreProperties>
</file>