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gif" ContentType="image/gif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42" r:id="rId1"/>
    <p:sldMasterId id="2147483755" r:id="rId2"/>
  </p:sldMasterIdLst>
  <p:notesMasterIdLst>
    <p:notesMasterId r:id="rId43"/>
  </p:notesMasterIdLst>
  <p:handoutMasterIdLst>
    <p:handoutMasterId r:id="rId44"/>
  </p:handoutMasterIdLst>
  <p:sldIdLst>
    <p:sldId id="290" r:id="rId3"/>
    <p:sldId id="307" r:id="rId4"/>
    <p:sldId id="308" r:id="rId5"/>
    <p:sldId id="291" r:id="rId6"/>
    <p:sldId id="314" r:id="rId7"/>
    <p:sldId id="313" r:id="rId8"/>
    <p:sldId id="315" r:id="rId9"/>
    <p:sldId id="292" r:id="rId10"/>
    <p:sldId id="294" r:id="rId11"/>
    <p:sldId id="293" r:id="rId12"/>
    <p:sldId id="270" r:id="rId13"/>
    <p:sldId id="271" r:id="rId14"/>
    <p:sldId id="274" r:id="rId15"/>
    <p:sldId id="272" r:id="rId16"/>
    <p:sldId id="275" r:id="rId17"/>
    <p:sldId id="273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7" r:id="rId30"/>
    <p:sldId id="306" r:id="rId31"/>
    <p:sldId id="289" r:id="rId32"/>
    <p:sldId id="296" r:id="rId33"/>
    <p:sldId id="297" r:id="rId34"/>
    <p:sldId id="299" r:id="rId35"/>
    <p:sldId id="304" r:id="rId36"/>
    <p:sldId id="302" r:id="rId37"/>
    <p:sldId id="303" r:id="rId38"/>
    <p:sldId id="310" r:id="rId39"/>
    <p:sldId id="312" r:id="rId40"/>
    <p:sldId id="311" r:id="rId41"/>
    <p:sldId id="301" r:id="rId42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15620"/>
    <p:restoredTop sz="85161" autoAdjust="0"/>
  </p:normalViewPr>
  <p:slideViewPr>
    <p:cSldViewPr>
      <p:cViewPr varScale="1">
        <p:scale>
          <a:sx n="143" d="100"/>
          <a:sy n="143" d="100"/>
        </p:scale>
        <p:origin x="3284" y="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127" d="100"/>
          <a:sy n="127" d="100"/>
        </p:scale>
        <p:origin x="4900" y="8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/Relationships>
</file>

<file path=ppt/_rels/viewProps.xml.rels><?xml version="1.0" encoding="UTF-8" standalone="yes"?>
<Relationships xmlns="http://schemas.openxmlformats.org/package/2006/relationships"><Relationship Id="rId2" Type="http://schemas.openxmlformats.org/officeDocument/2006/relationships/slide" Target="slides/slide16.xml"/><Relationship Id="rId1" Type="http://schemas.openxmlformats.org/officeDocument/2006/relationships/slide" Target="slides/slide15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.wmf"/><Relationship Id="rId1" Type="http://schemas.openxmlformats.org/officeDocument/2006/relationships/image" Target="../media/image9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.wmf"/><Relationship Id="rId1" Type="http://schemas.openxmlformats.org/officeDocument/2006/relationships/image" Target="../media/image11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image" Target="../media/image13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.wmf"/><Relationship Id="rId1" Type="http://schemas.openxmlformats.org/officeDocument/2006/relationships/image" Target="../media/image15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8.wmf"/><Relationship Id="rId1" Type="http://schemas.openxmlformats.org/officeDocument/2006/relationships/image" Target="../media/image17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image" Target="../media/image20.wmf"/><Relationship Id="rId1" Type="http://schemas.openxmlformats.org/officeDocument/2006/relationships/image" Target="../media/image19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ro-RO"/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ro-RO"/>
          </a:p>
        </p:txBody>
      </p:sp>
      <p:sp>
        <p:nvSpPr>
          <p:cNvPr id="6042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ro-RO"/>
          </a:p>
        </p:txBody>
      </p:sp>
      <p:sp>
        <p:nvSpPr>
          <p:cNvPr id="6042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AB2C590F-2A2E-4298-BE19-5FA5A65E9ADE}" type="slidenum">
              <a:rPr lang="ro-RO"/>
              <a:pPr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55205391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endParaRPr lang="ro-RO"/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endParaRPr lang="ro-RO"/>
          </a:p>
        </p:txBody>
      </p:sp>
      <p:sp>
        <p:nvSpPr>
          <p:cNvPr id="4301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430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430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endParaRPr lang="ro-RO"/>
          </a:p>
        </p:txBody>
      </p:sp>
      <p:sp>
        <p:nvSpPr>
          <p:cNvPr id="4301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fld id="{4E896DBD-81D7-438E-A952-EDB6A44CEDF2}" type="slidenum">
              <a:rPr lang="ro-RO"/>
              <a:pPr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18679985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8FCBFEC-CDFD-4D22-AEDB-4E04F66D5F7F}" type="slidenum">
              <a:rPr lang="ro-RO"/>
              <a:pPr/>
              <a:t>1</a:t>
            </a:fld>
            <a:endParaRPr lang="ro-RO"/>
          </a:p>
        </p:txBody>
      </p:sp>
      <p:sp>
        <p:nvSpPr>
          <p:cNvPr id="269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9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2023760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896DBD-81D7-438E-A952-EDB6A44CEDF2}" type="slidenum">
              <a:rPr lang="ro-RO" smtClean="0"/>
              <a:pPr/>
              <a:t>2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342984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896DBD-81D7-438E-A952-EDB6A44CEDF2}" type="slidenum">
              <a:rPr lang="ro-RO" smtClean="0"/>
              <a:pPr/>
              <a:t>3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1701617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896DBD-81D7-438E-A952-EDB6A44CEDF2}" type="slidenum">
              <a:rPr lang="ro-RO" smtClean="0"/>
              <a:pPr/>
              <a:t>4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4597065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896DBD-81D7-438E-A952-EDB6A44CEDF2}" type="slidenum">
              <a:rPr lang="ro-RO" smtClean="0"/>
              <a:pPr/>
              <a:t>5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0669737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896DBD-81D7-438E-A952-EDB6A44CEDF2}" type="slidenum">
              <a:rPr lang="ro-RO" smtClean="0"/>
              <a:pPr/>
              <a:t>6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8110755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896DBD-81D7-438E-A952-EDB6A44CEDF2}" type="slidenum">
              <a:rPr lang="ro-RO" smtClean="0"/>
              <a:pPr/>
              <a:t>7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6366815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896DBD-81D7-438E-A952-EDB6A44CEDF2}" type="slidenum">
              <a:rPr lang="ro-RO" smtClean="0"/>
              <a:pPr/>
              <a:t>8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2299990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896DBD-81D7-438E-A952-EDB6A44CEDF2}" type="slidenum">
              <a:rPr lang="ro-RO" smtClean="0"/>
              <a:pPr/>
              <a:t>9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4902040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FD26836-8A67-4744-BC6E-07718D88231F}" type="slidenum">
              <a:rPr lang="ro-RO"/>
              <a:pPr/>
              <a:t>10</a:t>
            </a:fld>
            <a:endParaRPr lang="ro-RO"/>
          </a:p>
        </p:txBody>
      </p:sp>
      <p:sp>
        <p:nvSpPr>
          <p:cNvPr id="2734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3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6452366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896DBD-81D7-438E-A952-EDB6A44CEDF2}" type="slidenum">
              <a:rPr lang="ro-RO" smtClean="0"/>
              <a:pPr/>
              <a:t>11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5858618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896DBD-81D7-438E-A952-EDB6A44CEDF2}" type="slidenum">
              <a:rPr lang="ro-RO" smtClean="0"/>
              <a:pPr/>
              <a:t>12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6716047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896DBD-81D7-438E-A952-EDB6A44CEDF2}" type="slidenum">
              <a:rPr lang="ro-RO" smtClean="0"/>
              <a:pPr/>
              <a:t>13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57325857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896DBD-81D7-438E-A952-EDB6A44CEDF2}" type="slidenum">
              <a:rPr lang="ro-RO" smtClean="0"/>
              <a:pPr/>
              <a:t>14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793903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896DBD-81D7-438E-A952-EDB6A44CEDF2}" type="slidenum">
              <a:rPr lang="ro-RO" smtClean="0"/>
              <a:pPr/>
              <a:t>15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50472018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896DBD-81D7-438E-A952-EDB6A44CEDF2}" type="slidenum">
              <a:rPr lang="ro-RO" smtClean="0"/>
              <a:pPr/>
              <a:t>16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10189277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896DBD-81D7-438E-A952-EDB6A44CEDF2}" type="slidenum">
              <a:rPr lang="ro-RO" smtClean="0"/>
              <a:pPr/>
              <a:t>17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53879070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896DBD-81D7-438E-A952-EDB6A44CEDF2}" type="slidenum">
              <a:rPr lang="ro-RO" smtClean="0"/>
              <a:pPr/>
              <a:t>18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10116136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896DBD-81D7-438E-A952-EDB6A44CEDF2}" type="slidenum">
              <a:rPr lang="ro-RO" smtClean="0"/>
              <a:pPr/>
              <a:t>19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40938066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896DBD-81D7-438E-A952-EDB6A44CEDF2}" type="slidenum">
              <a:rPr lang="ro-RO" smtClean="0"/>
              <a:pPr/>
              <a:t>20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37826946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896DBD-81D7-438E-A952-EDB6A44CEDF2}" type="slidenum">
              <a:rPr lang="ro-RO" smtClean="0"/>
              <a:pPr/>
              <a:t>21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36537567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896DBD-81D7-438E-A952-EDB6A44CEDF2}" type="slidenum">
              <a:rPr lang="ro-RO" smtClean="0"/>
              <a:pPr/>
              <a:t>22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67161725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896DBD-81D7-438E-A952-EDB6A44CEDF2}" type="slidenum">
              <a:rPr lang="ro-RO" smtClean="0"/>
              <a:pPr/>
              <a:t>23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25719592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896DBD-81D7-438E-A952-EDB6A44CEDF2}" type="slidenum">
              <a:rPr lang="ro-RO" smtClean="0"/>
              <a:pPr/>
              <a:t>24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56166138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896DBD-81D7-438E-A952-EDB6A44CEDF2}" type="slidenum">
              <a:rPr lang="ro-RO" smtClean="0"/>
              <a:pPr/>
              <a:t>25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36584591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896DBD-81D7-438E-A952-EDB6A44CEDF2}" type="slidenum">
              <a:rPr lang="ro-RO" smtClean="0"/>
              <a:pPr/>
              <a:t>26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62849676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896DBD-81D7-438E-A952-EDB6A44CEDF2}" type="slidenum">
              <a:rPr lang="ro-RO" smtClean="0"/>
              <a:pPr/>
              <a:t>27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65434769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896DBD-81D7-438E-A952-EDB6A44CEDF2}" type="slidenum">
              <a:rPr lang="ro-RO" smtClean="0"/>
              <a:pPr/>
              <a:t>28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44585673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896DBD-81D7-438E-A952-EDB6A44CEDF2}" type="slidenum">
              <a:rPr lang="ro-RO" smtClean="0"/>
              <a:pPr/>
              <a:t>29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46433540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896DBD-81D7-438E-A952-EDB6A44CEDF2}" type="slidenum">
              <a:rPr lang="ro-RO" smtClean="0"/>
              <a:pPr/>
              <a:t>30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84584685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896DBD-81D7-438E-A952-EDB6A44CEDF2}" type="slidenum">
              <a:rPr lang="ro-RO" smtClean="0"/>
              <a:pPr/>
              <a:t>31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10180376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896DBD-81D7-438E-A952-EDB6A44CEDF2}" type="slidenum">
              <a:rPr lang="ro-RO" smtClean="0"/>
              <a:pPr/>
              <a:t>32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61855268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896DBD-81D7-438E-A952-EDB6A44CEDF2}" type="slidenum">
              <a:rPr lang="ro-RO" smtClean="0"/>
              <a:pPr/>
              <a:t>33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85706104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896DBD-81D7-438E-A952-EDB6A44CEDF2}" type="slidenum">
              <a:rPr lang="ro-RO" smtClean="0"/>
              <a:pPr/>
              <a:t>34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15037002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896DBD-81D7-438E-A952-EDB6A44CEDF2}" type="slidenum">
              <a:rPr lang="ro-RO" smtClean="0"/>
              <a:pPr/>
              <a:t>35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54560002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896DBD-81D7-438E-A952-EDB6A44CEDF2}" type="slidenum">
              <a:rPr lang="ro-RO" smtClean="0"/>
              <a:pPr/>
              <a:t>36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13166522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896DBD-81D7-438E-A952-EDB6A44CEDF2}" type="slidenum">
              <a:rPr lang="ro-RO" smtClean="0"/>
              <a:pPr/>
              <a:t>37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12173649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896DBD-81D7-438E-A952-EDB6A44CEDF2}" type="slidenum">
              <a:rPr lang="ro-RO" smtClean="0"/>
              <a:pPr/>
              <a:t>38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75336602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896DBD-81D7-438E-A952-EDB6A44CEDF2}" type="slidenum">
              <a:rPr lang="ro-RO" smtClean="0"/>
              <a:pPr/>
              <a:t>39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78057655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896DBD-81D7-438E-A952-EDB6A44CEDF2}" type="slidenum">
              <a:rPr lang="ro-RO" smtClean="0"/>
              <a:pPr/>
              <a:t>40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3356594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gif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5.gif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0250" y="1905000"/>
            <a:ext cx="7681913" cy="1523495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5400">
                <a:gradFill flip="none" rotWithShape="1">
                  <a:gsLst>
                    <a:gs pos="0">
                      <a:schemeClr val="accent3">
                        <a:lumMod val="60000"/>
                        <a:lumOff val="40000"/>
                      </a:schemeClr>
                    </a:gs>
                    <a:gs pos="36000">
                      <a:schemeClr val="accent3">
                        <a:lumMod val="60000"/>
                        <a:lumOff val="40000"/>
                      </a:schemeClr>
                    </a:gs>
                    <a:gs pos="86000">
                      <a:schemeClr val="accent3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0249" y="4344988"/>
            <a:ext cx="7681913" cy="461665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Demo, Video etc. &quot;special&quot; sl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69219" y="649805"/>
            <a:ext cx="7043208" cy="1523494"/>
          </a:xfrm>
        </p:spPr>
        <p:txBody>
          <a:bodyPr anchor="ctr" anchorCtr="0">
            <a:noAutofit/>
          </a:bodyPr>
          <a:lstStyle>
            <a:lvl1pPr>
              <a:lnSpc>
                <a:spcPct val="90000"/>
              </a:lnSpc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68955" y="4344988"/>
            <a:ext cx="7043208" cy="461665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722049" y="2355850"/>
            <a:ext cx="7690114" cy="1384994"/>
          </a:xfrm>
        </p:spPr>
        <p:txBody>
          <a:bodyPr anchor="t" anchorCtr="0">
            <a:noAutofit/>
            <a:scene3d>
              <a:camera prst="orthographicFront"/>
              <a:lightRig rig="flat" dir="t"/>
            </a:scene3d>
            <a:sp3d extrusionH="88900" contourW="2540">
              <a:bevelT w="38100" h="31750"/>
              <a:contourClr>
                <a:srgbClr val="F4A234"/>
              </a:contourClr>
            </a:sp3d>
          </a:bodyPr>
          <a:lstStyle>
            <a:lvl1pPr marL="0" indent="0" algn="l">
              <a:buFont typeface="Arial" pitchFamily="34" charset="0"/>
              <a:buNone/>
              <a:defRPr kumimoji="0" lang="en-US" sz="10000" b="1" i="1" u="none" strike="noStrike" kern="1200" cap="none" spc="-642" normalizeH="0" baseline="0" noProof="0" dirty="0" smtClean="0">
                <a:ln w="11430"/>
                <a:gradFill>
                  <a:gsLst>
                    <a:gs pos="0">
                      <a:srgbClr val="FF9929">
                        <a:lumMod val="20000"/>
                        <a:lumOff val="80000"/>
                      </a:srgbClr>
                    </a:gs>
                    <a:gs pos="28000">
                      <a:srgbClr val="F8F57B"/>
                    </a:gs>
                    <a:gs pos="62000">
                      <a:srgbClr val="D5B953"/>
                    </a:gs>
                    <a:gs pos="88000">
                      <a:srgbClr val="D1943B"/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 smtClean="0"/>
              <a:t>click to…</a:t>
            </a:r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gradFill flip="none" rotWithShape="1">
                  <a:gsLst>
                    <a:gs pos="0">
                      <a:schemeClr val="accent3">
                        <a:lumMod val="60000"/>
                        <a:lumOff val="40000"/>
                      </a:schemeClr>
                    </a:gs>
                    <a:gs pos="36000">
                      <a:schemeClr val="accent3">
                        <a:lumMod val="60000"/>
                        <a:lumOff val="40000"/>
                      </a:schemeClr>
                    </a:gs>
                    <a:gs pos="86000">
                      <a:schemeClr val="accent3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381000" y="1411552"/>
            <a:ext cx="8382000" cy="2210862"/>
          </a:xfrm>
        </p:spPr>
        <p:txBody>
          <a:bodyPr/>
          <a:lstStyle>
            <a:lvl1pPr>
              <a:lnSpc>
                <a:spcPct val="90000"/>
              </a:lnSpc>
              <a:defRPr/>
            </a:lvl1pPr>
            <a:lvl2pPr>
              <a:lnSpc>
                <a:spcPct val="90000"/>
              </a:lnSpc>
              <a:defRPr/>
            </a:lvl2pPr>
            <a:lvl3pPr>
              <a:lnSpc>
                <a:spcPct val="90000"/>
              </a:lnSpc>
              <a:defRPr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 smtClean="0"/>
              <a:t>26.02.2018</a:t>
            </a:r>
            <a:endParaRPr lang="ro-RO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5C420-F961-44FB-8FC0-1A26FED00326}" type="slidenum">
              <a:rPr lang="ro-RO" smtClean="0"/>
              <a:pPr/>
              <a:t>‹#›</a:t>
            </a:fld>
            <a:endParaRPr lang="ro-RO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ro-RO" dirty="0" smtClean="0"/>
              <a:t>Structura sistemelor de calcul (01-1)</a:t>
            </a:r>
            <a:endParaRPr lang="ro-RO" dirty="0"/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gradFill flip="none" rotWithShape="1">
                  <a:gsLst>
                    <a:gs pos="0">
                      <a:schemeClr val="accent3">
                        <a:lumMod val="60000"/>
                        <a:lumOff val="40000"/>
                      </a:schemeClr>
                    </a:gs>
                    <a:gs pos="36000">
                      <a:schemeClr val="accent3">
                        <a:lumMod val="60000"/>
                        <a:lumOff val="40000"/>
                      </a:schemeClr>
                    </a:gs>
                    <a:gs pos="86000">
                      <a:schemeClr val="accent3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2326791"/>
          </a:xfrm>
        </p:spPr>
        <p:txBody>
          <a:bodyPr/>
          <a:lstStyle>
            <a:lvl1pPr>
              <a:lnSpc>
                <a:spcPct val="90000"/>
              </a:lnSpc>
              <a:defRPr sz="3600"/>
            </a:lvl1pPr>
            <a:lvl2pPr>
              <a:lnSpc>
                <a:spcPct val="90000"/>
              </a:lnSpc>
              <a:defRPr sz="3200"/>
            </a:lvl2pPr>
            <a:lvl3pPr>
              <a:lnSpc>
                <a:spcPct val="90000"/>
              </a:lnSpc>
              <a:defRPr sz="2800"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26.02.2018</a:t>
            </a:r>
            <a:endParaRPr lang="ro-RO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8A1A8A2-B654-4CFC-85EC-A016050C91AE}" type="slidenum">
              <a:rPr lang="ro-RO" smtClean="0"/>
              <a:pPr/>
              <a:t>‹#›</a:t>
            </a:fld>
            <a:endParaRPr lang="ro-RO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dirty="0" smtClean="0"/>
              <a:t>Structura sistemelor de calcul (01-1)</a:t>
            </a:r>
            <a:endParaRPr lang="ro-RO" dirty="0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gradFill flip="none" rotWithShape="1">
                  <a:gsLst>
                    <a:gs pos="0">
                      <a:schemeClr val="accent3">
                        <a:lumMod val="60000"/>
                        <a:lumOff val="40000"/>
                      </a:schemeClr>
                    </a:gs>
                    <a:gs pos="36000">
                      <a:schemeClr val="accent3">
                        <a:lumMod val="60000"/>
                        <a:lumOff val="40000"/>
                      </a:schemeClr>
                    </a:gs>
                    <a:gs pos="86000">
                      <a:schemeClr val="accent3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411553"/>
            <a:ext cx="4114800" cy="2443746"/>
          </a:xfrm>
        </p:spPr>
        <p:txBody>
          <a:bodyPr/>
          <a:lstStyle>
            <a:lvl1pPr marL="339976" indent="-339976">
              <a:lnSpc>
                <a:spcPct val="90000"/>
              </a:lnSpc>
              <a:defRPr sz="3200"/>
            </a:lvl1pPr>
            <a:lvl2pPr marL="673338" indent="-325424">
              <a:lnSpc>
                <a:spcPct val="90000"/>
              </a:lnSpc>
              <a:defRPr sz="2800"/>
            </a:lvl2pPr>
            <a:lvl3pPr marL="953785" indent="-288384">
              <a:lnSpc>
                <a:spcPct val="90000"/>
              </a:lnSpc>
              <a:defRPr sz="2400"/>
            </a:lvl3pPr>
            <a:lvl4pPr marL="1227618" indent="-273833">
              <a:lnSpc>
                <a:spcPct val="90000"/>
              </a:lnSpc>
              <a:defRPr sz="2000"/>
            </a:lvl4pPr>
            <a:lvl5pPr marL="1516002" indent="-280447">
              <a:lnSpc>
                <a:spcPct val="90000"/>
              </a:lnSpc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11553"/>
            <a:ext cx="4114800" cy="2443746"/>
          </a:xfrm>
        </p:spPr>
        <p:txBody>
          <a:bodyPr/>
          <a:lstStyle>
            <a:lvl1pPr marL="347914" indent="-347914">
              <a:lnSpc>
                <a:spcPct val="90000"/>
              </a:lnSpc>
              <a:defRPr sz="3200"/>
            </a:lvl1pPr>
            <a:lvl2pPr marL="673338" indent="-339976">
              <a:lnSpc>
                <a:spcPct val="90000"/>
              </a:lnSpc>
              <a:defRPr sz="2800"/>
            </a:lvl2pPr>
            <a:lvl3pPr marL="961722" indent="-302936">
              <a:lnSpc>
                <a:spcPct val="90000"/>
              </a:lnSpc>
              <a:defRPr sz="2400"/>
            </a:lvl3pPr>
            <a:lvl4pPr marL="1227618" indent="-265896">
              <a:lnSpc>
                <a:spcPct val="90000"/>
              </a:lnSpc>
              <a:defRPr sz="2000"/>
            </a:lvl4pPr>
            <a:lvl5pPr marL="1516002" indent="-273833">
              <a:lnSpc>
                <a:spcPct val="90000"/>
              </a:lnSpc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26.02.2018</a:t>
            </a:r>
            <a:endParaRPr lang="ro-RO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254AF97-6E84-46A2-B98D-D31059C06419}" type="slidenum">
              <a:rPr lang="ro-RO" smtClean="0"/>
              <a:pPr/>
              <a:t>‹#›</a:t>
            </a:fld>
            <a:endParaRPr lang="ro-RO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dirty="0" smtClean="0"/>
              <a:t>Structura sistemelor de calcul (01-1)</a:t>
            </a:r>
            <a:endParaRPr lang="ro-RO" dirty="0"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gradFill flip="none" rotWithShape="1">
                  <a:gsLst>
                    <a:gs pos="0">
                      <a:schemeClr val="accent3">
                        <a:lumMod val="60000"/>
                        <a:lumOff val="40000"/>
                      </a:schemeClr>
                    </a:gs>
                    <a:gs pos="36000">
                      <a:schemeClr val="accent3">
                        <a:lumMod val="60000"/>
                        <a:lumOff val="40000"/>
                      </a:schemeClr>
                    </a:gs>
                    <a:gs pos="86000">
                      <a:schemeClr val="accent3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328454"/>
            <a:ext cx="4114800" cy="775597"/>
          </a:xfrm>
        </p:spPr>
        <p:txBody>
          <a:bodyPr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800" b="1"/>
            </a:lvl1pPr>
            <a:lvl2pPr marL="457182" indent="0">
              <a:buNone/>
              <a:defRPr sz="2000" b="1"/>
            </a:lvl2pPr>
            <a:lvl3pPr marL="914363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0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0999" y="2174875"/>
            <a:ext cx="4114800" cy="1652760"/>
          </a:xfrm>
        </p:spPr>
        <p:txBody>
          <a:bodyPr/>
          <a:lstStyle>
            <a:lvl1pPr marL="281770" indent="-281770">
              <a:defRPr sz="2400"/>
            </a:lvl1pPr>
            <a:lvl2pPr marL="562218" indent="-265896">
              <a:defRPr sz="2200"/>
            </a:lvl2pPr>
            <a:lvl3pPr marL="813562" indent="-243407">
              <a:defRPr sz="2000"/>
            </a:lvl3pPr>
            <a:lvl4pPr marL="1050354" indent="-228856">
              <a:defRPr sz="1800"/>
            </a:lvl4pPr>
            <a:lvl5pPr marL="1279210" indent="-206367"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981" y="1328454"/>
            <a:ext cx="4117019" cy="775597"/>
          </a:xfrm>
        </p:spPr>
        <p:txBody>
          <a:bodyPr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800" b="1"/>
            </a:lvl1pPr>
            <a:lvl2pPr marL="457182" indent="0">
              <a:buNone/>
              <a:defRPr sz="2000" b="1"/>
            </a:lvl2pPr>
            <a:lvl3pPr marL="914363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0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117974" cy="1652760"/>
          </a:xfrm>
        </p:spPr>
        <p:txBody>
          <a:bodyPr/>
          <a:lstStyle>
            <a:lvl1pPr marL="296321" indent="-296321">
              <a:defRPr sz="2400"/>
            </a:lvl1pPr>
            <a:lvl2pPr marL="570155" indent="-273833">
              <a:defRPr sz="2200"/>
            </a:lvl2pPr>
            <a:lvl3pPr marL="821499" indent="-244730">
              <a:defRPr sz="2000"/>
            </a:lvl3pPr>
            <a:lvl4pPr marL="1050354" indent="-236793">
              <a:defRPr sz="1800"/>
            </a:lvl4pPr>
            <a:lvl5pPr marL="1279210" indent="-220919"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26.02.2018</a:t>
            </a:r>
            <a:endParaRPr lang="ro-RO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0B781DE-7E8D-40A1-84D4-25F25E8079DB}" type="slidenum">
              <a:rPr lang="ro-RO" smtClean="0"/>
              <a:pPr/>
              <a:t>‹#›</a:t>
            </a:fld>
            <a:endParaRPr lang="ro-RO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(01-1)</a:t>
            </a:r>
            <a:endParaRPr lang="ro-RO" dirty="0"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26.02.2018</a:t>
            </a:r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3EC91A5-F5CB-4ED5-B8DB-DC4BB8D1C78C}" type="slidenum">
              <a:rPr lang="ro-RO" smtClean="0"/>
              <a:pPr/>
              <a:t>‹#›</a:t>
            </a:fld>
            <a:endParaRPr lang="ro-RO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dirty="0" smtClean="0"/>
              <a:t>Structura sistemelor de calcul (01-1)</a:t>
            </a:r>
            <a:endParaRPr lang="ro-RO" dirty="0"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26.02.2018</a:t>
            </a:r>
            <a:endParaRPr lang="ro-RO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4336754-5158-443C-B27D-03E06682E8E8}" type="slidenum">
              <a:rPr lang="ro-RO" smtClean="0"/>
              <a:pPr/>
              <a:t>‹#›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(01-1)</a:t>
            </a:r>
            <a:endParaRPr lang="ro-RO"/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WALKIN - Prints in GRAYS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26.02.2018</a:t>
            </a:r>
            <a:endParaRPr lang="ro-RO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1A5C420-F961-44FB-8FC0-1A26FED00326}" type="slidenum">
              <a:rPr lang="ro-RO" smtClean="0"/>
              <a:pPr/>
              <a:t>‹#›</a:t>
            </a:fld>
            <a:endParaRPr lang="ro-RO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(01-1)</a:t>
            </a:r>
            <a:endParaRPr lang="ro-RO" dirty="0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Demo, Video etc. &quot;special&quot; sl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69219" y="649805"/>
            <a:ext cx="7043208" cy="1523494"/>
          </a:xfrm>
        </p:spPr>
        <p:txBody>
          <a:bodyPr anchor="ctr" anchorCtr="0">
            <a:noAutofit/>
          </a:bodyPr>
          <a:lstStyle>
            <a:lvl1pPr>
              <a:lnSpc>
                <a:spcPct val="90000"/>
              </a:lnSpc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68955" y="4344988"/>
            <a:ext cx="7043208" cy="461665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722049" y="2355850"/>
            <a:ext cx="7690114" cy="1384994"/>
          </a:xfrm>
        </p:spPr>
        <p:txBody>
          <a:bodyPr anchor="t" anchorCtr="0">
            <a:noAutofit/>
            <a:scene3d>
              <a:camera prst="orthographicFront"/>
              <a:lightRig rig="flat" dir="t"/>
            </a:scene3d>
            <a:sp3d extrusionH="88900" contourW="2540">
              <a:bevelT w="38100" h="31750"/>
              <a:contourClr>
                <a:srgbClr val="F4A234"/>
              </a:contourClr>
            </a:sp3d>
          </a:bodyPr>
          <a:lstStyle>
            <a:lvl1pPr marL="0" indent="0" algn="l">
              <a:buFont typeface="Arial" pitchFamily="34" charset="0"/>
              <a:buNone/>
              <a:defRPr kumimoji="0" lang="en-US" sz="10000" b="1" i="1" u="none" strike="noStrike" kern="1200" cap="none" spc="-642" normalizeH="0" baseline="0" noProof="0" dirty="0" smtClean="0">
                <a:ln w="11430"/>
                <a:gradFill>
                  <a:gsLst>
                    <a:gs pos="0">
                      <a:srgbClr val="FF9929">
                        <a:lumMod val="20000"/>
                        <a:lumOff val="80000"/>
                      </a:srgbClr>
                    </a:gs>
                    <a:gs pos="28000">
                      <a:srgbClr val="F8F57B"/>
                    </a:gs>
                    <a:gs pos="62000">
                      <a:srgbClr val="D5B953"/>
                    </a:gs>
                    <a:gs pos="88000">
                      <a:srgbClr val="D1943B"/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 smtClean="0"/>
              <a:t>click to…</a:t>
            </a:r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487363"/>
            <a:ext cx="8280920" cy="641350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67544" y="1524000"/>
            <a:ext cx="8280920" cy="498598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dirty="0" smtClean="0"/>
              <a:t>Click icon to add table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1520" y="6313488"/>
            <a:ext cx="1872555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26.02.2018</a:t>
            </a:r>
            <a:endParaRPr lang="ro-RO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31840" y="6324600"/>
            <a:ext cx="2880320" cy="457200"/>
          </a:xfrm>
        </p:spPr>
        <p:txBody>
          <a:bodyPr/>
          <a:lstStyle>
            <a:lvl1pPr>
              <a:defRPr/>
            </a:lvl1pPr>
          </a:lstStyle>
          <a:p>
            <a:r>
              <a:rPr lang="ro-RO" dirty="0" smtClean="0"/>
              <a:t>Structura sistemelor de calcul (01-1)</a:t>
            </a:r>
            <a:endParaRPr lang="ro-RO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451725" y="6313488"/>
            <a:ext cx="1440755" cy="457200"/>
          </a:xfrm>
        </p:spPr>
        <p:txBody>
          <a:bodyPr/>
          <a:lstStyle>
            <a:lvl1pPr>
              <a:defRPr/>
            </a:lvl1pPr>
          </a:lstStyle>
          <a:p>
            <a:fld id="{81A5C420-F961-44FB-8FC0-1A26FED00326}" type="slidenum">
              <a:rPr lang="ro-RO" smtClean="0"/>
              <a:pPr/>
              <a:t>‹#›</a:t>
            </a:fld>
            <a:endParaRPr lang="ro-RO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260649"/>
            <a:ext cx="8352928" cy="664797"/>
          </a:xfrm>
        </p:spPr>
        <p:txBody>
          <a:bodyPr/>
          <a:lstStyle>
            <a:lvl1pPr algn="ctr">
              <a:defRPr sz="4800">
                <a:gradFill flip="none" rotWithShape="1">
                  <a:gsLst>
                    <a:gs pos="0">
                      <a:schemeClr val="accent3">
                        <a:lumMod val="60000"/>
                        <a:lumOff val="40000"/>
                      </a:schemeClr>
                    </a:gs>
                    <a:gs pos="36000">
                      <a:schemeClr val="accent3">
                        <a:lumMod val="60000"/>
                        <a:lumOff val="40000"/>
                      </a:schemeClr>
                    </a:gs>
                    <a:gs pos="86000">
                      <a:schemeClr val="accent3">
                        <a:lumMod val="75000"/>
                      </a:schemeClr>
                    </a:gs>
                  </a:gsLst>
                  <a:lin ang="5400000" scaled="0"/>
                  <a:tileRect/>
                </a:gradFill>
                <a:latin typeface="+mj-lt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5536" y="1412776"/>
            <a:ext cx="8352928" cy="2234882"/>
          </a:xfrm>
        </p:spPr>
        <p:txBody>
          <a:bodyPr/>
          <a:lstStyle>
            <a:lvl1pPr marL="396875" indent="-396875" algn="l" defTabSz="914363" rtl="0" eaLnBrk="1" latinLnBrk="0" hangingPunct="1">
              <a:lnSpc>
                <a:spcPct val="90000"/>
              </a:lnSpc>
              <a:spcBef>
                <a:spcPct val="20000"/>
              </a:spcBef>
              <a:buSzPct val="100000"/>
              <a:buFontTx/>
              <a:buBlip>
                <a:blip r:embed="rId2"/>
              </a:buBlip>
              <a:defRPr lang="en-US" sz="3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buClr>
                <a:schemeClr val="tx2"/>
              </a:buClr>
              <a:buSzPct val="100000"/>
              <a:defRPr sz="3200">
                <a:latin typeface="+mn-lt"/>
              </a:defRPr>
            </a:lvl2pPr>
            <a:lvl3pPr>
              <a:buSzPct val="100000"/>
              <a:buFontTx/>
              <a:buBlip>
                <a:blip r:embed="rId3"/>
              </a:buBlip>
              <a:defRPr>
                <a:latin typeface="+mn-lt"/>
              </a:defRPr>
            </a:lvl3pPr>
            <a:lvl4pPr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defRPr sz="20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marL="1258888" lvl="2" indent="-346075" algn="l" defTabSz="914363" rtl="0" eaLnBrk="1" latinLnBrk="0" hangingPunct="1">
              <a:lnSpc>
                <a:spcPct val="90000"/>
              </a:lnSpc>
              <a:spcBef>
                <a:spcPct val="20000"/>
              </a:spcBef>
              <a:buFontTx/>
              <a:buBlip>
                <a:blip r:embed="rId4"/>
              </a:buBlip>
            </a:pPr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5536" y="3861048"/>
            <a:ext cx="8352928" cy="2123658"/>
          </a:xfrm>
        </p:spPr>
        <p:txBody>
          <a:bodyPr/>
          <a:lstStyle>
            <a:lvl1pPr>
              <a:buSzPct val="70000"/>
              <a:buFontTx/>
              <a:buBlip>
                <a:blip r:embed="rId5"/>
              </a:buBlip>
              <a:defRPr lang="en-US" sz="3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buClr>
                <a:schemeClr val="tx2"/>
              </a:buClr>
              <a:buSzPct val="55000"/>
              <a:defRPr lang="en-US" sz="3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buSzPct val="70000"/>
              <a:buFontTx/>
              <a:buBlip>
                <a:blip r:embed="rId3"/>
              </a:buBlip>
              <a:defRPr lang="en-US" sz="2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2000">
                <a:latin typeface="+mn-lt"/>
              </a:defRPr>
            </a:lvl4pPr>
            <a:lvl5pPr>
              <a:defRPr sz="2000">
                <a:latin typeface="+mn-lt"/>
              </a:defRPr>
            </a:lvl5pPr>
          </a:lstStyle>
          <a:p>
            <a:pPr marL="396875" lvl="0" indent="-396875" algn="l" defTabSz="914363" rtl="0" eaLnBrk="1" latinLnBrk="0" hangingPunct="1">
              <a:lnSpc>
                <a:spcPct val="90000"/>
              </a:lnSpc>
              <a:spcBef>
                <a:spcPct val="20000"/>
              </a:spcBef>
              <a:buSzPct val="100000"/>
              <a:buFontTx/>
              <a:buBlip>
                <a:blip r:embed="rId2"/>
              </a:buBlip>
            </a:pPr>
            <a:r>
              <a:rPr lang="en-US" dirty="0" smtClean="0"/>
              <a:t>Click to edit Master text styles</a:t>
            </a:r>
          </a:p>
          <a:p>
            <a:pPr marL="914400" lvl="1" indent="-396875" algn="l" defTabSz="914363" rtl="0" eaLnBrk="1" latinLnBrk="0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100000"/>
              <a:buFontTx/>
              <a:buBlip>
                <a:blip r:embed="rId4"/>
              </a:buBlip>
            </a:pPr>
            <a:r>
              <a:rPr lang="en-US" dirty="0" smtClean="0"/>
              <a:t>Second level</a:t>
            </a:r>
          </a:p>
          <a:p>
            <a:pPr marL="1258888" lvl="2" indent="-346075" algn="l" defTabSz="914363" rtl="0" eaLnBrk="1" latinLnBrk="0" hangingPunct="1">
              <a:lnSpc>
                <a:spcPct val="90000"/>
              </a:lnSpc>
              <a:spcBef>
                <a:spcPct val="20000"/>
              </a:spcBef>
              <a:buSzPct val="100000"/>
              <a:buFontTx/>
              <a:buBlip>
                <a:blip r:embed="rId4"/>
              </a:buBlip>
            </a:pPr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1520" y="6313488"/>
            <a:ext cx="1872555" cy="4572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26.02.2018</a:t>
            </a:r>
            <a:endParaRPr lang="ro-RO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31840" y="6324600"/>
            <a:ext cx="2880320" cy="4572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ro-RO" dirty="0" smtClean="0"/>
              <a:t>Structura sistemelor de calcul (01-1)</a:t>
            </a:r>
            <a:endParaRPr lang="ro-RO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451725" y="6313488"/>
            <a:ext cx="1440755" cy="4572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1166936-3B85-4C03-AB82-F1A9CD13B768}" type="slidenum">
              <a:rPr lang="ro-RO" smtClean="0"/>
              <a:pPr/>
              <a:t>‹#›</a:t>
            </a:fld>
            <a:endParaRPr lang="ro-RO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0250" y="1905000"/>
            <a:ext cx="7681913" cy="1523495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5400">
                <a:gradFill flip="none" rotWithShape="1">
                  <a:gsLst>
                    <a:gs pos="0">
                      <a:schemeClr val="accent3">
                        <a:lumMod val="60000"/>
                        <a:lumOff val="40000"/>
                      </a:schemeClr>
                    </a:gs>
                    <a:gs pos="36000">
                      <a:schemeClr val="accent3">
                        <a:lumMod val="60000"/>
                        <a:lumOff val="40000"/>
                      </a:schemeClr>
                    </a:gs>
                    <a:gs pos="86000">
                      <a:schemeClr val="accent3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0249" y="4344988"/>
            <a:ext cx="7681913" cy="461665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Demo, Video etc. &quot;special&quot; sl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69219" y="649805"/>
            <a:ext cx="7043208" cy="1523494"/>
          </a:xfrm>
        </p:spPr>
        <p:txBody>
          <a:bodyPr anchor="ctr" anchorCtr="0">
            <a:noAutofit/>
          </a:bodyPr>
          <a:lstStyle>
            <a:lvl1pPr>
              <a:lnSpc>
                <a:spcPct val="90000"/>
              </a:lnSpc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68955" y="4344988"/>
            <a:ext cx="7043208" cy="461665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722049" y="2355850"/>
            <a:ext cx="7690114" cy="1384994"/>
          </a:xfrm>
        </p:spPr>
        <p:txBody>
          <a:bodyPr anchor="t" anchorCtr="0">
            <a:noAutofit/>
            <a:scene3d>
              <a:camera prst="orthographicFront"/>
              <a:lightRig rig="flat" dir="t"/>
            </a:scene3d>
            <a:sp3d extrusionH="88900" contourW="2540">
              <a:bevelT w="38100" h="31750"/>
              <a:contourClr>
                <a:srgbClr val="F4A234"/>
              </a:contourClr>
            </a:sp3d>
          </a:bodyPr>
          <a:lstStyle>
            <a:lvl1pPr marL="0" indent="0" algn="l">
              <a:buFont typeface="Arial" pitchFamily="34" charset="0"/>
              <a:buNone/>
              <a:defRPr kumimoji="0" lang="en-US" sz="10000" b="1" i="1" u="none" strike="noStrike" kern="1200" cap="none" spc="-642" normalizeH="0" baseline="0" noProof="0" dirty="0" smtClean="0">
                <a:ln w="11430"/>
                <a:gradFill>
                  <a:gsLst>
                    <a:gs pos="0">
                      <a:srgbClr val="FF9929">
                        <a:lumMod val="20000"/>
                        <a:lumOff val="80000"/>
                      </a:srgbClr>
                    </a:gs>
                    <a:gs pos="28000">
                      <a:srgbClr val="F8F57B"/>
                    </a:gs>
                    <a:gs pos="62000">
                      <a:srgbClr val="D5B953"/>
                    </a:gs>
                    <a:gs pos="88000">
                      <a:srgbClr val="D1943B"/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 smtClean="0"/>
              <a:t>click to…</a:t>
            </a:r>
          </a:p>
        </p:txBody>
      </p:sp>
    </p:spTree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381000" y="1411552"/>
            <a:ext cx="8382000" cy="4897768"/>
          </a:xfrm>
        </p:spPr>
        <p:txBody>
          <a:bodyPr/>
          <a:lstStyle>
            <a:lvl1pPr>
              <a:lnSpc>
                <a:spcPct val="90000"/>
              </a:lnSpc>
              <a:defRPr sz="3600"/>
            </a:lvl1pPr>
            <a:lvl2pPr>
              <a:lnSpc>
                <a:spcPct val="90000"/>
              </a:lnSpc>
              <a:defRPr sz="3200"/>
            </a:lvl2pPr>
            <a:lvl3pPr>
              <a:lnSpc>
                <a:spcPct val="90000"/>
              </a:lnSpc>
              <a:defRPr sz="2800"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 smtClean="0"/>
              <a:t>26.02.2018</a:t>
            </a:r>
            <a:endParaRPr lang="ro-RO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5C420-F961-44FB-8FC0-1A26FED00326}" type="slidenum">
              <a:rPr lang="ro-RO" smtClean="0"/>
              <a:pPr/>
              <a:t>‹#›</a:t>
            </a:fld>
            <a:endParaRPr lang="ro-RO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ro-RO" smtClean="0"/>
              <a:t>Structura sistemelor de calcul (01-1)</a:t>
            </a:r>
            <a:endParaRPr lang="ro-RO" dirty="0"/>
          </a:p>
        </p:txBody>
      </p:sp>
    </p:spTree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gradFill flip="none" rotWithShape="1">
                  <a:gsLst>
                    <a:gs pos="0">
                      <a:schemeClr val="accent3">
                        <a:lumMod val="60000"/>
                        <a:lumOff val="40000"/>
                      </a:schemeClr>
                    </a:gs>
                    <a:gs pos="36000">
                      <a:schemeClr val="accent3">
                        <a:lumMod val="60000"/>
                        <a:lumOff val="40000"/>
                      </a:schemeClr>
                    </a:gs>
                    <a:gs pos="86000">
                      <a:schemeClr val="accent3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4896445"/>
          </a:xfrm>
        </p:spPr>
        <p:txBody>
          <a:bodyPr/>
          <a:lstStyle>
            <a:lvl1pPr>
              <a:lnSpc>
                <a:spcPct val="90000"/>
              </a:lnSpc>
              <a:defRPr sz="3600"/>
            </a:lvl1pPr>
            <a:lvl2pPr>
              <a:lnSpc>
                <a:spcPct val="90000"/>
              </a:lnSpc>
              <a:defRPr sz="3200"/>
            </a:lvl2pPr>
            <a:lvl3pPr>
              <a:lnSpc>
                <a:spcPct val="90000"/>
              </a:lnSpc>
              <a:defRPr sz="2800"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26.02.2018</a:t>
            </a:r>
            <a:endParaRPr lang="ro-RO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8A1A8A2-B654-4CFC-85EC-A016050C91AE}" type="slidenum">
              <a:rPr lang="ro-RO" smtClean="0"/>
              <a:pPr/>
              <a:t>‹#›</a:t>
            </a:fld>
            <a:endParaRPr lang="ro-RO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(01-1)</a:t>
            </a:r>
            <a:endParaRPr lang="ro-RO" dirty="0"/>
          </a:p>
        </p:txBody>
      </p:sp>
    </p:spTree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411552"/>
            <a:ext cx="4114800" cy="4897767"/>
          </a:xfrm>
        </p:spPr>
        <p:txBody>
          <a:bodyPr/>
          <a:lstStyle>
            <a:lvl1pPr marL="339976" indent="-339976">
              <a:lnSpc>
                <a:spcPct val="90000"/>
              </a:lnSpc>
              <a:defRPr sz="3200"/>
            </a:lvl1pPr>
            <a:lvl2pPr marL="673338" indent="-325424">
              <a:lnSpc>
                <a:spcPct val="90000"/>
              </a:lnSpc>
              <a:defRPr sz="2800"/>
            </a:lvl2pPr>
            <a:lvl3pPr marL="953785" indent="-288384">
              <a:lnSpc>
                <a:spcPct val="90000"/>
              </a:lnSpc>
              <a:defRPr sz="2400"/>
            </a:lvl3pPr>
            <a:lvl4pPr marL="1227618" indent="-273833">
              <a:lnSpc>
                <a:spcPct val="90000"/>
              </a:lnSpc>
              <a:defRPr sz="2000"/>
            </a:lvl4pPr>
            <a:lvl5pPr marL="1516002" indent="-280447">
              <a:lnSpc>
                <a:spcPct val="90000"/>
              </a:lnSpc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11552"/>
            <a:ext cx="4114800" cy="4897767"/>
          </a:xfrm>
        </p:spPr>
        <p:txBody>
          <a:bodyPr/>
          <a:lstStyle>
            <a:lvl1pPr marL="347914" indent="-347914">
              <a:lnSpc>
                <a:spcPct val="90000"/>
              </a:lnSpc>
              <a:defRPr sz="3200"/>
            </a:lvl1pPr>
            <a:lvl2pPr marL="673338" indent="-339976">
              <a:lnSpc>
                <a:spcPct val="90000"/>
              </a:lnSpc>
              <a:defRPr sz="2800"/>
            </a:lvl2pPr>
            <a:lvl3pPr marL="961722" indent="-302936">
              <a:lnSpc>
                <a:spcPct val="90000"/>
              </a:lnSpc>
              <a:defRPr sz="2400"/>
            </a:lvl3pPr>
            <a:lvl4pPr marL="1227618" indent="-265896">
              <a:lnSpc>
                <a:spcPct val="90000"/>
              </a:lnSpc>
              <a:defRPr sz="2000"/>
            </a:lvl4pPr>
            <a:lvl5pPr marL="1516002" indent="-273833">
              <a:lnSpc>
                <a:spcPct val="90000"/>
              </a:lnSpc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26.02.2018</a:t>
            </a:r>
            <a:endParaRPr lang="ro-RO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254AF97-6E84-46A2-B98D-D31059C06419}" type="slidenum">
              <a:rPr lang="ro-RO" smtClean="0"/>
              <a:pPr/>
              <a:t>‹#›</a:t>
            </a:fld>
            <a:endParaRPr lang="ro-RO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(01-1)</a:t>
            </a:r>
            <a:endParaRPr lang="ro-RO" dirty="0"/>
          </a:p>
        </p:txBody>
      </p:sp>
    </p:spTree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328454"/>
            <a:ext cx="4114800" cy="775597"/>
          </a:xfrm>
        </p:spPr>
        <p:txBody>
          <a:bodyPr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800" b="1"/>
            </a:lvl1pPr>
            <a:lvl2pPr marL="457182" indent="0">
              <a:buNone/>
              <a:defRPr sz="2000" b="1"/>
            </a:lvl2pPr>
            <a:lvl3pPr marL="914363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0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0999" y="2174874"/>
            <a:ext cx="4114800" cy="4134445"/>
          </a:xfrm>
        </p:spPr>
        <p:txBody>
          <a:bodyPr/>
          <a:lstStyle>
            <a:lvl1pPr marL="281770" indent="-281770">
              <a:defRPr sz="2800"/>
            </a:lvl1pPr>
            <a:lvl2pPr marL="562218" indent="-265896">
              <a:defRPr sz="2400"/>
            </a:lvl2pPr>
            <a:lvl3pPr marL="813562" indent="-243407">
              <a:defRPr sz="2000"/>
            </a:lvl3pPr>
            <a:lvl4pPr marL="1050354" indent="-228856">
              <a:defRPr sz="1800"/>
            </a:lvl4pPr>
            <a:lvl5pPr marL="1279210" indent="-206367"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981" y="1328454"/>
            <a:ext cx="4117019" cy="775597"/>
          </a:xfrm>
        </p:spPr>
        <p:txBody>
          <a:bodyPr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800" b="1"/>
            </a:lvl1pPr>
            <a:lvl2pPr marL="457182" indent="0">
              <a:buNone/>
              <a:defRPr sz="2000" b="1"/>
            </a:lvl2pPr>
            <a:lvl3pPr marL="914363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0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4"/>
            <a:ext cx="4117974" cy="4134445"/>
          </a:xfrm>
        </p:spPr>
        <p:txBody>
          <a:bodyPr/>
          <a:lstStyle>
            <a:lvl1pPr marL="296321" indent="-296321">
              <a:defRPr sz="2800"/>
            </a:lvl1pPr>
            <a:lvl2pPr marL="570155" indent="-273833">
              <a:defRPr sz="2400"/>
            </a:lvl2pPr>
            <a:lvl3pPr marL="821499" indent="-244730">
              <a:defRPr sz="2000"/>
            </a:lvl3pPr>
            <a:lvl4pPr marL="1050354" indent="-236793">
              <a:defRPr sz="1800"/>
            </a:lvl4pPr>
            <a:lvl5pPr marL="1279210" indent="-220919"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26.02.2018</a:t>
            </a:r>
            <a:endParaRPr lang="ro-RO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0B781DE-7E8D-40A1-84D4-25F25E8079DB}" type="slidenum">
              <a:rPr lang="ro-RO" smtClean="0"/>
              <a:pPr/>
              <a:t>‹#›</a:t>
            </a:fld>
            <a:endParaRPr lang="ro-RO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(01-1)</a:t>
            </a:r>
            <a:endParaRPr lang="ro-RO" dirty="0"/>
          </a:p>
        </p:txBody>
      </p:sp>
    </p:spTree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26.02.2018</a:t>
            </a:r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3EC91A5-F5CB-4ED5-B8DB-DC4BB8D1C78C}" type="slidenum">
              <a:rPr lang="ro-RO" smtClean="0"/>
              <a:pPr/>
              <a:t>‹#›</a:t>
            </a:fld>
            <a:endParaRPr lang="ro-RO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(01-1)</a:t>
            </a:r>
            <a:endParaRPr lang="ro-RO" dirty="0"/>
          </a:p>
        </p:txBody>
      </p:sp>
    </p:spTree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26.02.2018</a:t>
            </a:r>
            <a:endParaRPr lang="ro-RO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4336754-5158-443C-B27D-03E06682E8E8}" type="slidenum">
              <a:rPr lang="ro-RO" smtClean="0"/>
              <a:pPr/>
              <a:t>‹#›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(01-1)</a:t>
            </a:r>
            <a:endParaRPr lang="ro-RO"/>
          </a:p>
        </p:txBody>
      </p:sp>
    </p:spTree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WALKIN - Prints in GRAYS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26.02.2018</a:t>
            </a:r>
            <a:endParaRPr lang="ro-RO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1A5C420-F961-44FB-8FC0-1A26FED00326}" type="slidenum">
              <a:rPr lang="ro-RO" smtClean="0"/>
              <a:pPr/>
              <a:t>‹#›</a:t>
            </a:fld>
            <a:endParaRPr lang="ro-RO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(01-1)</a:t>
            </a:r>
            <a:endParaRPr lang="ro-RO" dirty="0"/>
          </a:p>
        </p:txBody>
      </p:sp>
    </p:spTree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Demo, Video etc. &quot;special&quot; sl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69219" y="649805"/>
            <a:ext cx="7043208" cy="1523494"/>
          </a:xfrm>
        </p:spPr>
        <p:txBody>
          <a:bodyPr anchor="ctr" anchorCtr="0">
            <a:noAutofit/>
          </a:bodyPr>
          <a:lstStyle>
            <a:lvl1pPr>
              <a:lnSpc>
                <a:spcPct val="90000"/>
              </a:lnSpc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68955" y="4344988"/>
            <a:ext cx="7043208" cy="461665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722049" y="2355850"/>
            <a:ext cx="7690114" cy="1384994"/>
          </a:xfrm>
        </p:spPr>
        <p:txBody>
          <a:bodyPr anchor="t" anchorCtr="0">
            <a:noAutofit/>
            <a:scene3d>
              <a:camera prst="orthographicFront"/>
              <a:lightRig rig="flat" dir="t"/>
            </a:scene3d>
            <a:sp3d extrusionH="88900" contourW="2540">
              <a:bevelT w="38100" h="31750"/>
              <a:contourClr>
                <a:srgbClr val="F4A234"/>
              </a:contourClr>
            </a:sp3d>
          </a:bodyPr>
          <a:lstStyle>
            <a:lvl1pPr marL="0" indent="0" algn="l">
              <a:buFont typeface="Arial" pitchFamily="34" charset="0"/>
              <a:buNone/>
              <a:defRPr kumimoji="0" lang="en-US" sz="10000" b="1" i="1" u="none" strike="noStrike" kern="1200" cap="none" spc="-642" normalizeH="0" baseline="0" noProof="0" dirty="0" smtClean="0">
                <a:ln w="11430"/>
                <a:gradFill>
                  <a:gsLst>
                    <a:gs pos="0">
                      <a:srgbClr val="FF9929">
                        <a:lumMod val="20000"/>
                        <a:lumOff val="80000"/>
                      </a:srgbClr>
                    </a:gs>
                    <a:gs pos="28000">
                      <a:srgbClr val="F8F57B"/>
                    </a:gs>
                    <a:gs pos="62000">
                      <a:srgbClr val="D5B953"/>
                    </a:gs>
                    <a:gs pos="88000">
                      <a:srgbClr val="D1943B"/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 smtClean="0"/>
              <a:t>click to…</a:t>
            </a:r>
          </a:p>
        </p:txBody>
      </p:sp>
    </p:spTree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260649"/>
            <a:ext cx="8352928" cy="664797"/>
          </a:xfrm>
        </p:spPr>
        <p:txBody>
          <a:bodyPr/>
          <a:lstStyle>
            <a:lvl1pPr algn="ctr">
              <a:defRPr sz="4800">
                <a:gradFill flip="none" rotWithShape="1">
                  <a:gsLst>
                    <a:gs pos="0">
                      <a:schemeClr val="accent3">
                        <a:lumMod val="60000"/>
                        <a:lumOff val="40000"/>
                      </a:schemeClr>
                    </a:gs>
                    <a:gs pos="36000">
                      <a:schemeClr val="accent3">
                        <a:lumMod val="60000"/>
                        <a:lumOff val="40000"/>
                      </a:schemeClr>
                    </a:gs>
                    <a:gs pos="86000">
                      <a:schemeClr val="accent3">
                        <a:lumMod val="75000"/>
                      </a:schemeClr>
                    </a:gs>
                  </a:gsLst>
                  <a:lin ang="5400000" scaled="0"/>
                  <a:tileRect/>
                </a:gradFill>
                <a:latin typeface="+mj-lt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5536" y="1412776"/>
            <a:ext cx="8352928" cy="2234882"/>
          </a:xfrm>
        </p:spPr>
        <p:txBody>
          <a:bodyPr/>
          <a:lstStyle>
            <a:lvl1pPr marL="396875" indent="-396875" algn="l" defTabSz="914363" rtl="0" eaLnBrk="1" latinLnBrk="0" hangingPunct="1">
              <a:lnSpc>
                <a:spcPct val="90000"/>
              </a:lnSpc>
              <a:spcBef>
                <a:spcPct val="20000"/>
              </a:spcBef>
              <a:buSzPct val="100000"/>
              <a:buFontTx/>
              <a:buBlip>
                <a:blip r:embed="rId2"/>
              </a:buBlip>
              <a:defRPr lang="en-US" sz="3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buClr>
                <a:schemeClr val="tx2"/>
              </a:buClr>
              <a:buSzPct val="100000"/>
              <a:defRPr sz="3200">
                <a:latin typeface="+mn-lt"/>
              </a:defRPr>
            </a:lvl2pPr>
            <a:lvl3pPr>
              <a:buSzPct val="100000"/>
              <a:buFontTx/>
              <a:buBlip>
                <a:blip r:embed="rId3"/>
              </a:buBlip>
              <a:defRPr>
                <a:latin typeface="+mn-lt"/>
              </a:defRPr>
            </a:lvl3pPr>
            <a:lvl4pPr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defRPr sz="20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marL="1258888" lvl="2" indent="-346075" algn="l" defTabSz="914363" rtl="0" eaLnBrk="1" latinLnBrk="0" hangingPunct="1">
              <a:lnSpc>
                <a:spcPct val="90000"/>
              </a:lnSpc>
              <a:spcBef>
                <a:spcPct val="20000"/>
              </a:spcBef>
              <a:buFontTx/>
              <a:buBlip>
                <a:blip r:embed="rId4"/>
              </a:buBlip>
            </a:pPr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5536" y="3886200"/>
            <a:ext cx="8352928" cy="2123658"/>
          </a:xfrm>
        </p:spPr>
        <p:txBody>
          <a:bodyPr/>
          <a:lstStyle>
            <a:lvl1pPr>
              <a:buSzPct val="70000"/>
              <a:buFontTx/>
              <a:buBlip>
                <a:blip r:embed="rId5"/>
              </a:buBlip>
              <a:defRPr lang="en-US" sz="3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buClr>
                <a:schemeClr val="tx2"/>
              </a:buClr>
              <a:buSzPct val="55000"/>
              <a:defRPr lang="en-US" sz="3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buSzPct val="70000"/>
              <a:buFontTx/>
              <a:buBlip>
                <a:blip r:embed="rId3"/>
              </a:buBlip>
              <a:defRPr lang="en-US" sz="2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2000">
                <a:latin typeface="+mn-lt"/>
              </a:defRPr>
            </a:lvl4pPr>
            <a:lvl5pPr>
              <a:defRPr sz="2000">
                <a:latin typeface="+mn-lt"/>
              </a:defRPr>
            </a:lvl5pPr>
          </a:lstStyle>
          <a:p>
            <a:pPr marL="396875" lvl="0" indent="-396875" algn="l" defTabSz="914363" rtl="0" eaLnBrk="1" latinLnBrk="0" hangingPunct="1">
              <a:lnSpc>
                <a:spcPct val="90000"/>
              </a:lnSpc>
              <a:spcBef>
                <a:spcPct val="20000"/>
              </a:spcBef>
              <a:buSzPct val="100000"/>
              <a:buFontTx/>
              <a:buBlip>
                <a:blip r:embed="rId2"/>
              </a:buBlip>
            </a:pPr>
            <a:r>
              <a:rPr lang="en-US" dirty="0" smtClean="0"/>
              <a:t>Click to edit Master text styles</a:t>
            </a:r>
          </a:p>
          <a:p>
            <a:pPr marL="914400" lvl="1" indent="-396875" algn="l" defTabSz="914363" rtl="0" eaLnBrk="1" latinLnBrk="0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100000"/>
              <a:buFontTx/>
              <a:buBlip>
                <a:blip r:embed="rId4"/>
              </a:buBlip>
            </a:pPr>
            <a:r>
              <a:rPr lang="en-US" dirty="0" smtClean="0"/>
              <a:t>Second level</a:t>
            </a:r>
          </a:p>
          <a:p>
            <a:pPr marL="1258888" lvl="2" indent="-346075" algn="l" defTabSz="914363" rtl="0" eaLnBrk="1" latinLnBrk="0" hangingPunct="1">
              <a:lnSpc>
                <a:spcPct val="90000"/>
              </a:lnSpc>
              <a:spcBef>
                <a:spcPct val="20000"/>
              </a:spcBef>
              <a:buSzPct val="100000"/>
              <a:buFontTx/>
              <a:buBlip>
                <a:blip r:embed="rId4"/>
              </a:buBlip>
            </a:pPr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1520" y="6313488"/>
            <a:ext cx="1872555" cy="4572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26.02.2018</a:t>
            </a:r>
            <a:endParaRPr lang="ro-RO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31840" y="6324600"/>
            <a:ext cx="2880320" cy="4572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ro-RO" dirty="0" smtClean="0"/>
              <a:t>Structura sistemelor de calcul (01-1)</a:t>
            </a:r>
            <a:endParaRPr lang="ro-RO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451725" y="6313488"/>
            <a:ext cx="1440755" cy="4572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1166936-3B85-4C03-AB82-F1A9CD13B768}" type="slidenum">
              <a:rPr lang="ro-RO" smtClean="0"/>
              <a:pPr/>
              <a:t>‹#›</a:t>
            </a:fld>
            <a:endParaRPr lang="ro-RO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4" cstate="print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230188"/>
            <a:ext cx="8382000" cy="6647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412875"/>
            <a:ext cx="8382000" cy="21359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51520" y="6356350"/>
            <a:ext cx="21602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r>
              <a:rPr lang="en-US" smtClean="0"/>
              <a:t>26.02.2018</a:t>
            </a:r>
            <a:endParaRPr lang="ro-RO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879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r>
              <a:rPr lang="ro-RO" dirty="0" smtClean="0"/>
              <a:t>Structura sistemelor de calcul (01-1)</a:t>
            </a:r>
            <a:endParaRPr lang="ro-RO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32240" y="6356350"/>
            <a:ext cx="21602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81A5C420-F961-44FB-8FC0-1A26FED00326}" type="slidenum">
              <a:rPr lang="ro-RO" smtClean="0"/>
              <a:pPr/>
              <a:t>‹#›</a:t>
            </a:fld>
            <a:endParaRPr lang="ro-RO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43" r:id="rId1"/>
    <p:sldLayoutId id="2147483744" r:id="rId2"/>
    <p:sldLayoutId id="2147483745" r:id="rId3"/>
    <p:sldLayoutId id="2147483746" r:id="rId4"/>
    <p:sldLayoutId id="2147483747" r:id="rId5"/>
    <p:sldLayoutId id="2147483748" r:id="rId6"/>
    <p:sldLayoutId id="2147483749" r:id="rId7"/>
    <p:sldLayoutId id="2147483750" r:id="rId8"/>
    <p:sldLayoutId id="2147483751" r:id="rId9"/>
    <p:sldLayoutId id="2147483752" r:id="rId10"/>
    <p:sldLayoutId id="2147483753" r:id="rId11"/>
    <p:sldLayoutId id="2147483754" r:id="rId12"/>
  </p:sldLayoutIdLst>
  <p:transition>
    <p:fade/>
  </p:transition>
  <p:hf hdr="0"/>
  <p:txStyles>
    <p:titleStyle>
      <a:lvl1pPr algn="ctr" defTabSz="914363" rtl="0" eaLnBrk="1" latinLnBrk="0" hangingPunct="1">
        <a:lnSpc>
          <a:spcPct val="90000"/>
        </a:lnSpc>
        <a:spcBef>
          <a:spcPct val="0"/>
        </a:spcBef>
        <a:buNone/>
        <a:defRPr lang="en-US" sz="4800" b="0" kern="1200" cap="none" spc="-150" dirty="0" smtClean="0">
          <a:ln w="3175">
            <a:noFill/>
          </a:ln>
          <a:gradFill flip="none" rotWithShape="1">
            <a:gsLst>
              <a:gs pos="0">
                <a:srgbClr val="FFFFB9"/>
              </a:gs>
              <a:gs pos="36000">
                <a:srgbClr val="FFFF99"/>
              </a:gs>
              <a:gs pos="86000">
                <a:srgbClr val="F6AE1E"/>
              </a:gs>
            </a:gsLst>
            <a:lin ang="5400000" scaled="0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latin typeface="+mj-lt"/>
          <a:ea typeface="+mn-ea"/>
          <a:cs typeface="Arial" charset="0"/>
        </a:defRPr>
      </a:lvl1pPr>
    </p:titleStyle>
    <p:bodyStyle>
      <a:lvl1pPr marL="396875" indent="-396875" algn="l" defTabSz="914363" rtl="0" eaLnBrk="1" latinLnBrk="0" hangingPunct="1">
        <a:lnSpc>
          <a:spcPct val="90000"/>
        </a:lnSpc>
        <a:spcBef>
          <a:spcPct val="20000"/>
        </a:spcBef>
        <a:buFontTx/>
        <a:buBlip>
          <a:blip r:embed="rId15"/>
        </a:buBlip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indent="-396875" algn="l" defTabSz="914363" rtl="0" eaLnBrk="1" latinLnBrk="0" hangingPunct="1">
        <a:lnSpc>
          <a:spcPct val="90000"/>
        </a:lnSpc>
        <a:spcBef>
          <a:spcPct val="20000"/>
        </a:spcBef>
        <a:buFontTx/>
        <a:buBlip>
          <a:blip r:embed="rId16"/>
        </a:buBlip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258888" indent="-344488" algn="l" defTabSz="914363" rtl="0" eaLnBrk="1" latinLnBrk="0" hangingPunct="1">
        <a:lnSpc>
          <a:spcPct val="90000"/>
        </a:lnSpc>
        <a:spcBef>
          <a:spcPct val="20000"/>
        </a:spcBef>
        <a:buFontTx/>
        <a:buBlip>
          <a:blip r:embed="rId16"/>
        </a:buBlip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4963" indent="-346075" algn="l" defTabSz="914363" rtl="0" eaLnBrk="1" latinLnBrk="0" hangingPunct="1">
        <a:lnSpc>
          <a:spcPct val="90000"/>
        </a:lnSpc>
        <a:spcBef>
          <a:spcPct val="20000"/>
        </a:spcBef>
        <a:buFontTx/>
        <a:buBlip>
          <a:blip r:embed="rId16"/>
        </a:buBlip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1941513" indent="-336550" algn="l" defTabSz="914363" rtl="0" eaLnBrk="1" latinLnBrk="0" hangingPunct="1">
        <a:lnSpc>
          <a:spcPct val="90000"/>
        </a:lnSpc>
        <a:spcBef>
          <a:spcPct val="20000"/>
        </a:spcBef>
        <a:buFontTx/>
        <a:buBlip>
          <a:blip r:embed="rId16"/>
        </a:buBlip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99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1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63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45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3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5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7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9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0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72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4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 cstate="print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230188"/>
            <a:ext cx="8382000" cy="6647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412875"/>
            <a:ext cx="8382000" cy="21359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51520" y="6309320"/>
            <a:ext cx="2160240" cy="4320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26.02.2018</a:t>
            </a:r>
            <a:endParaRPr lang="ro-RO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09320"/>
            <a:ext cx="2895600" cy="4320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ro-RO" smtClean="0"/>
              <a:t>Structura sistemelor de calcul (01-1)</a:t>
            </a:r>
            <a:endParaRPr lang="ro-RO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32240" y="6309320"/>
            <a:ext cx="2160240" cy="4121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A5C420-F961-44FB-8FC0-1A26FED00326}" type="slidenum">
              <a:rPr lang="ro-RO" smtClean="0"/>
              <a:pPr/>
              <a:t>‹#›</a:t>
            </a:fld>
            <a:endParaRPr lang="ro-RO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60" r:id="rId5"/>
    <p:sldLayoutId id="2147483761" r:id="rId6"/>
    <p:sldLayoutId id="2147483762" r:id="rId7"/>
    <p:sldLayoutId id="2147483763" r:id="rId8"/>
    <p:sldLayoutId id="2147483764" r:id="rId9"/>
    <p:sldLayoutId id="2147483765" r:id="rId10"/>
    <p:sldLayoutId id="2147483766" r:id="rId11"/>
  </p:sldLayoutIdLst>
  <p:transition>
    <p:fade/>
  </p:transition>
  <p:hf hdr="0"/>
  <p:txStyles>
    <p:titleStyle>
      <a:lvl1pPr algn="ctr" defTabSz="914363" rtl="0" eaLnBrk="1" latinLnBrk="0" hangingPunct="1">
        <a:lnSpc>
          <a:spcPct val="90000"/>
        </a:lnSpc>
        <a:spcBef>
          <a:spcPct val="0"/>
        </a:spcBef>
        <a:buNone/>
        <a:defRPr lang="en-US" sz="4800" b="0" kern="1200" cap="none" spc="-150" dirty="0" smtClean="0">
          <a:ln w="3175">
            <a:noFill/>
          </a:ln>
          <a:gradFill flip="none" rotWithShape="1">
            <a:gsLst>
              <a:gs pos="0">
                <a:schemeClr val="accent3">
                  <a:lumMod val="60000"/>
                  <a:lumOff val="40000"/>
                </a:schemeClr>
              </a:gs>
              <a:gs pos="36000">
                <a:schemeClr val="accent3">
                  <a:lumMod val="60000"/>
                  <a:lumOff val="40000"/>
                </a:schemeClr>
              </a:gs>
              <a:gs pos="86000">
                <a:schemeClr val="accent3">
                  <a:lumMod val="75000"/>
                </a:schemeClr>
              </a:gs>
            </a:gsLst>
            <a:lin ang="5400000" scaled="0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latin typeface="+mj-lt"/>
          <a:ea typeface="+mn-ea"/>
          <a:cs typeface="Arial" charset="0"/>
        </a:defRPr>
      </a:lvl1pPr>
    </p:titleStyle>
    <p:bodyStyle>
      <a:lvl1pPr marL="396875" indent="-396875" algn="l" defTabSz="914363" rtl="0" eaLnBrk="1" latinLnBrk="0" hangingPunct="1">
        <a:lnSpc>
          <a:spcPct val="90000"/>
        </a:lnSpc>
        <a:spcBef>
          <a:spcPct val="20000"/>
        </a:spcBef>
        <a:buFontTx/>
        <a:buBlip>
          <a:blip r:embed="rId14"/>
        </a:buBlip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indent="-396875" algn="l" defTabSz="914363" rtl="0" eaLnBrk="1" latinLnBrk="0" hangingPunct="1">
        <a:lnSpc>
          <a:spcPct val="90000"/>
        </a:lnSpc>
        <a:spcBef>
          <a:spcPct val="20000"/>
        </a:spcBef>
        <a:buFontTx/>
        <a:buBlip>
          <a:blip r:embed="rId15"/>
        </a:buBlip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258888" indent="-344488" algn="l" defTabSz="914363" rtl="0" eaLnBrk="1" latinLnBrk="0" hangingPunct="1">
        <a:lnSpc>
          <a:spcPct val="90000"/>
        </a:lnSpc>
        <a:spcBef>
          <a:spcPct val="20000"/>
        </a:spcBef>
        <a:buFontTx/>
        <a:buBlip>
          <a:blip r:embed="rId15"/>
        </a:buBlip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4963" indent="-346075" algn="l" defTabSz="914363" rtl="0" eaLnBrk="1" latinLnBrk="0" hangingPunct="1">
        <a:lnSpc>
          <a:spcPct val="90000"/>
        </a:lnSpc>
        <a:spcBef>
          <a:spcPct val="20000"/>
        </a:spcBef>
        <a:buFontTx/>
        <a:buBlip>
          <a:blip r:embed="rId15"/>
        </a:buBlip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1941513" indent="-336550" algn="l" defTabSz="914363" rtl="0" eaLnBrk="1" latinLnBrk="0" hangingPunct="1">
        <a:lnSpc>
          <a:spcPct val="90000"/>
        </a:lnSpc>
        <a:spcBef>
          <a:spcPct val="20000"/>
        </a:spcBef>
        <a:buFontTx/>
        <a:buBlip>
          <a:blip r:embed="rId15"/>
        </a:buBlip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99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1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63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45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3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5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7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9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0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72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4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users.utcluj.ro/~baruch/ro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6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8.wmf"/><Relationship Id="rId4" Type="http://schemas.openxmlformats.org/officeDocument/2006/relationships/oleObject" Target="../embeddings/oleObject1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7" Type="http://schemas.openxmlformats.org/officeDocument/2006/relationships/image" Target="../media/image10.wmf"/><Relationship Id="rId2" Type="http://schemas.openxmlformats.org/officeDocument/2006/relationships/slideLayout" Target="../slideLayouts/slideLayout16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9.wmf"/><Relationship Id="rId4" Type="http://schemas.openxmlformats.org/officeDocument/2006/relationships/oleObject" Target="../embeddings/oleObject2.bin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7" Type="http://schemas.openxmlformats.org/officeDocument/2006/relationships/image" Target="../media/image12.wmf"/><Relationship Id="rId2" Type="http://schemas.openxmlformats.org/officeDocument/2006/relationships/slideLayout" Target="../slideLayouts/slideLayout16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11.wmf"/><Relationship Id="rId4" Type="http://schemas.openxmlformats.org/officeDocument/2006/relationships/oleObject" Target="../embeddings/oleObject4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7" Type="http://schemas.openxmlformats.org/officeDocument/2006/relationships/image" Target="../media/image14.wmf"/><Relationship Id="rId2" Type="http://schemas.openxmlformats.org/officeDocument/2006/relationships/slideLayout" Target="../slideLayouts/slideLayout16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7.bin"/><Relationship Id="rId5" Type="http://schemas.openxmlformats.org/officeDocument/2006/relationships/image" Target="../media/image13.wmf"/><Relationship Id="rId4" Type="http://schemas.openxmlformats.org/officeDocument/2006/relationships/oleObject" Target="../embeddings/oleObject6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7" Type="http://schemas.openxmlformats.org/officeDocument/2006/relationships/image" Target="../media/image16.wmf"/><Relationship Id="rId2" Type="http://schemas.openxmlformats.org/officeDocument/2006/relationships/slideLayout" Target="../slideLayouts/slideLayout16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9.bin"/><Relationship Id="rId5" Type="http://schemas.openxmlformats.org/officeDocument/2006/relationships/image" Target="../media/image15.wmf"/><Relationship Id="rId4" Type="http://schemas.openxmlformats.org/officeDocument/2006/relationships/oleObject" Target="../embeddings/oleObject8.bin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7" Type="http://schemas.openxmlformats.org/officeDocument/2006/relationships/image" Target="../media/image18.wmf"/><Relationship Id="rId2" Type="http://schemas.openxmlformats.org/officeDocument/2006/relationships/slideLayout" Target="../slideLayouts/slideLayout16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11.bin"/><Relationship Id="rId5" Type="http://schemas.openxmlformats.org/officeDocument/2006/relationships/image" Target="../media/image17.wmf"/><Relationship Id="rId4" Type="http://schemas.openxmlformats.org/officeDocument/2006/relationships/oleObject" Target="../embeddings/oleObject10.bin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6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.bin"/><Relationship Id="rId3" Type="http://schemas.openxmlformats.org/officeDocument/2006/relationships/notesSlide" Target="../notesSlides/notesSlide23.xml"/><Relationship Id="rId7" Type="http://schemas.openxmlformats.org/officeDocument/2006/relationships/image" Target="../media/image20.wmf"/><Relationship Id="rId2" Type="http://schemas.openxmlformats.org/officeDocument/2006/relationships/slideLayout" Target="../slideLayouts/slideLayout16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13.bin"/><Relationship Id="rId5" Type="http://schemas.openxmlformats.org/officeDocument/2006/relationships/image" Target="../media/image19.wmf"/><Relationship Id="rId4" Type="http://schemas.openxmlformats.org/officeDocument/2006/relationships/oleObject" Target="../embeddings/oleObject12.bin"/><Relationship Id="rId9" Type="http://schemas.openxmlformats.org/officeDocument/2006/relationships/image" Target="../media/image21.w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6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22.wmf"/><Relationship Id="rId4" Type="http://schemas.openxmlformats.org/officeDocument/2006/relationships/oleObject" Target="../embeddings/oleObject15.bin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16.xml"/><Relationship Id="rId1" Type="http://schemas.openxmlformats.org/officeDocument/2006/relationships/vmlDrawing" Target="../drawings/vmlDrawing9.vml"/><Relationship Id="rId5" Type="http://schemas.openxmlformats.org/officeDocument/2006/relationships/image" Target="../media/image23.wmf"/><Relationship Id="rId4" Type="http://schemas.openxmlformats.org/officeDocument/2006/relationships/oleObject" Target="../embeddings/oleObject16.bin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top500.org/" TargetMode="Externa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29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071538" y="1676400"/>
            <a:ext cx="7072362" cy="1609724"/>
          </a:xfrm>
        </p:spPr>
        <p:txBody>
          <a:bodyPr/>
          <a:lstStyle/>
          <a:p>
            <a:r>
              <a:rPr lang="ro-RO" sz="4800" b="1" dirty="0"/>
              <a:t>Structura</a:t>
            </a:r>
            <a:r>
              <a:rPr lang="ro-RO" sz="4800" dirty="0"/>
              <a:t/>
            </a:r>
            <a:br>
              <a:rPr lang="ro-RO" sz="4800" dirty="0"/>
            </a:br>
            <a:r>
              <a:rPr lang="ro-RO" sz="4800" b="1" dirty="0"/>
              <a:t>sistemelor de calcul</a:t>
            </a:r>
          </a:p>
        </p:txBody>
      </p:sp>
      <p:sp>
        <p:nvSpPr>
          <p:cNvPr id="26829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14414" y="4143380"/>
            <a:ext cx="6862786" cy="2108195"/>
          </a:xfrm>
        </p:spPr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Prof</a:t>
            </a:r>
            <a:r>
              <a:rPr lang="ro-RO" dirty="0" smtClean="0">
                <a:solidFill>
                  <a:schemeClr val="tx1"/>
                </a:solidFill>
              </a:rPr>
              <a:t>. </a:t>
            </a:r>
            <a:r>
              <a:rPr lang="ro-RO" dirty="0" err="1">
                <a:solidFill>
                  <a:schemeClr val="tx1"/>
                </a:solidFill>
              </a:rPr>
              <a:t>Zoltan</a:t>
            </a:r>
            <a:r>
              <a:rPr lang="ro-RO" dirty="0">
                <a:solidFill>
                  <a:schemeClr val="tx1"/>
                </a:solidFill>
              </a:rPr>
              <a:t> Francisc </a:t>
            </a:r>
            <a:r>
              <a:rPr lang="ro-RO" dirty="0" err="1">
                <a:solidFill>
                  <a:schemeClr val="tx1"/>
                </a:solidFill>
              </a:rPr>
              <a:t>Baruch</a:t>
            </a:r>
            <a:endParaRPr lang="ro-RO" dirty="0">
              <a:solidFill>
                <a:schemeClr val="tx1"/>
              </a:solidFill>
            </a:endParaRPr>
          </a:p>
          <a:p>
            <a:r>
              <a:rPr lang="ro-RO" dirty="0" smtClean="0">
                <a:solidFill>
                  <a:schemeClr val="tx1"/>
                </a:solidFill>
              </a:rPr>
              <a:t>Departamentul de </a:t>
            </a:r>
            <a:r>
              <a:rPr lang="ro-RO" dirty="0">
                <a:solidFill>
                  <a:schemeClr val="tx1"/>
                </a:solidFill>
              </a:rPr>
              <a:t>Calculatoare</a:t>
            </a:r>
          </a:p>
          <a:p>
            <a:r>
              <a:rPr lang="ro-RO" dirty="0">
                <a:solidFill>
                  <a:schemeClr val="tx1"/>
                </a:solidFill>
              </a:rPr>
              <a:t>Universitatea Tehnică din Cluj-Napoca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Informații </a:t>
            </a:r>
            <a:r>
              <a:rPr lang="ro-RO" dirty="0"/>
              <a:t>despre </a:t>
            </a:r>
            <a:r>
              <a:rPr lang="ro-RO" dirty="0" smtClean="0"/>
              <a:t>disciplina SSC (1)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340769"/>
            <a:ext cx="8382000" cy="4968552"/>
          </a:xfrm>
        </p:spPr>
        <p:txBody>
          <a:bodyPr/>
          <a:lstStyle/>
          <a:p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Obiectivul general</a:t>
            </a:r>
          </a:p>
          <a:p>
            <a:pPr lvl="1">
              <a:spcBef>
                <a:spcPts val="600"/>
              </a:spcBef>
            </a:pPr>
            <a:r>
              <a:rPr lang="ro-RO" dirty="0" smtClean="0"/>
              <a:t>Cunoașterea structurii și proiectarea unor componente ale sistemelor de calcul </a:t>
            </a:r>
          </a:p>
          <a:p>
            <a:pPr>
              <a:spcBef>
                <a:spcPts val="600"/>
              </a:spcBef>
            </a:pP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Obiective teoretice</a:t>
            </a:r>
          </a:p>
          <a:p>
            <a:pPr lvl="1">
              <a:spcBef>
                <a:spcPts val="600"/>
              </a:spcBef>
            </a:pPr>
            <a:r>
              <a:rPr lang="ro-RO" dirty="0" smtClean="0"/>
              <a:t>Cunoașterea unor indicatori de performanță</a:t>
            </a:r>
          </a:p>
          <a:p>
            <a:pPr lvl="1">
              <a:spcBef>
                <a:spcPts val="600"/>
              </a:spcBef>
            </a:pPr>
            <a:r>
              <a:rPr lang="ro-RO" dirty="0" smtClean="0"/>
              <a:t>Cunoașterea diferitelor metode de implementare a operațiilor aritmetice </a:t>
            </a:r>
          </a:p>
          <a:p>
            <a:pPr lvl="1">
              <a:spcBef>
                <a:spcPts val="600"/>
              </a:spcBef>
            </a:pPr>
            <a:r>
              <a:rPr lang="ro-RO" dirty="0" smtClean="0"/>
              <a:t>Cunoașterea diferitelor tehnologii și tipuri de memorii: asociativă, </a:t>
            </a:r>
            <a:r>
              <a:rPr lang="ro-RO" i="1" dirty="0" smtClean="0"/>
              <a:t>cache</a:t>
            </a:r>
            <a:r>
              <a:rPr lang="ro-RO" dirty="0" smtClean="0"/>
              <a:t>, virtuală</a:t>
            </a:r>
          </a:p>
          <a:p>
            <a:pPr lvl="1">
              <a:spcBef>
                <a:spcPts val="600"/>
              </a:spcBef>
            </a:pPr>
            <a:r>
              <a:rPr lang="ro-RO" dirty="0" smtClean="0"/>
              <a:t>Cunoașterea unor arhitecturi paralele</a:t>
            </a:r>
            <a:endParaRPr lang="ro-R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26.02.2018</a:t>
            </a:r>
            <a:endParaRPr lang="ro-RO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8A1A8A2-B654-4CFC-85EC-A016050C91AE}" type="slidenum">
              <a:rPr lang="ro-RO" smtClean="0"/>
              <a:pPr/>
              <a:t>2</a:t>
            </a:fld>
            <a:endParaRPr lang="ro-RO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(01-1)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643410311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Informații despre disciplina SSC </a:t>
            </a:r>
            <a:r>
              <a:rPr lang="ro-RO" dirty="0" smtClean="0"/>
              <a:t>(2)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4881336"/>
          </a:xfrm>
        </p:spPr>
        <p:txBody>
          <a:bodyPr/>
          <a:lstStyle/>
          <a:p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Obiective practice</a:t>
            </a:r>
          </a:p>
          <a:p>
            <a:pPr lvl="1"/>
            <a:r>
              <a:rPr lang="ro-RO" dirty="0" smtClean="0"/>
              <a:t>Proiectarea și implementarea prin hardware a unor operații aritmetice</a:t>
            </a:r>
          </a:p>
          <a:p>
            <a:pPr lvl="1"/>
            <a:r>
              <a:rPr lang="ro-RO" dirty="0" smtClean="0"/>
              <a:t>Proiectarea unor sisteme ierarhice de memorie și memorii </a:t>
            </a:r>
            <a:r>
              <a:rPr lang="ro-RO" i="1" dirty="0" smtClean="0"/>
              <a:t>cache</a:t>
            </a:r>
          </a:p>
          <a:p>
            <a:pPr lvl="1"/>
            <a:r>
              <a:rPr lang="ro-RO" dirty="0" smtClean="0"/>
              <a:t>Proiectarea și implementarea unor module hardware utilizând limbajul VHDL și mediul de dezvoltare </a:t>
            </a:r>
            <a:r>
              <a:rPr lang="ro-RO" dirty="0" err="1" smtClean="0"/>
              <a:t>Xilinx</a:t>
            </a:r>
            <a:r>
              <a:rPr lang="ro-RO" dirty="0" smtClean="0"/>
              <a:t> </a:t>
            </a:r>
            <a:r>
              <a:rPr lang="ro-RO" dirty="0" err="1" smtClean="0"/>
              <a:t>Vivado</a:t>
            </a:r>
            <a:r>
              <a:rPr lang="ro-RO" dirty="0" smtClean="0"/>
              <a:t> Design Suite</a:t>
            </a:r>
          </a:p>
          <a:p>
            <a:pPr lvl="1"/>
            <a:r>
              <a:rPr lang="ro-RO" dirty="0" smtClean="0"/>
              <a:t>Simularea funcțională a unor module hardware</a:t>
            </a:r>
            <a:endParaRPr lang="ro-R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26.02.2018</a:t>
            </a:r>
            <a:endParaRPr lang="ro-RO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8A1A8A2-B654-4CFC-85EC-A016050C91AE}" type="slidenum">
              <a:rPr lang="ro-RO" smtClean="0"/>
              <a:pPr/>
              <a:t>3</a:t>
            </a:fld>
            <a:endParaRPr lang="ro-RO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(01-1)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40351317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Informații </a:t>
            </a:r>
            <a:r>
              <a:rPr lang="ro-RO" dirty="0"/>
              <a:t>despre </a:t>
            </a:r>
            <a:r>
              <a:rPr lang="ro-RO" dirty="0" smtClean="0"/>
              <a:t>disciplina SSC (3)</a:t>
            </a:r>
            <a:endParaRPr lang="ro-RO" dirty="0"/>
          </a:p>
        </p:txBody>
      </p:sp>
      <p:sp>
        <p:nvSpPr>
          <p:cNvPr id="270339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412874"/>
            <a:ext cx="8439472" cy="4896445"/>
          </a:xfrm>
        </p:spPr>
        <p:txBody>
          <a:bodyPr>
            <a:normAutofit/>
          </a:bodyPr>
          <a:lstStyle/>
          <a:p>
            <a:r>
              <a:rPr lang="ro-RO" sz="36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Notare</a:t>
            </a:r>
          </a:p>
          <a:p>
            <a:pPr lvl="1"/>
            <a:r>
              <a:rPr lang="ro-RO" sz="32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25%</a:t>
            </a:r>
            <a:r>
              <a:rPr lang="ro-RO" sz="3200" dirty="0"/>
              <a:t> Laborator </a:t>
            </a:r>
            <a:r>
              <a:rPr lang="ro-RO" sz="3200" dirty="0">
                <a:sym typeface="Symbol" pitchFamily="18" charset="2"/>
              </a:rPr>
              <a:t> </a:t>
            </a:r>
            <a:r>
              <a:rPr lang="ro-RO" sz="3200" dirty="0" smtClean="0">
                <a:sym typeface="Symbol" pitchFamily="18" charset="2"/>
              </a:rPr>
              <a:t>teste scrise; </a:t>
            </a:r>
            <a:r>
              <a:rPr lang="ro-RO" sz="3200" dirty="0" smtClean="0"/>
              <a:t>colocviu</a:t>
            </a:r>
            <a:endParaRPr lang="ro-RO" sz="3200" dirty="0"/>
          </a:p>
          <a:p>
            <a:pPr lvl="1"/>
            <a:r>
              <a:rPr lang="ro-RO" sz="32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25%</a:t>
            </a:r>
            <a:r>
              <a:rPr lang="ro-RO" sz="3200" dirty="0"/>
              <a:t> Proiect </a:t>
            </a:r>
            <a:r>
              <a:rPr lang="ro-RO" sz="3200" dirty="0">
                <a:sym typeface="Symbol" pitchFamily="18" charset="2"/>
              </a:rPr>
              <a:t> raport scris </a:t>
            </a:r>
            <a:r>
              <a:rPr lang="ro-RO" sz="3200" dirty="0" smtClean="0">
                <a:sym typeface="Symbol" pitchFamily="18" charset="2"/>
              </a:rPr>
              <a:t>și susținere</a:t>
            </a:r>
            <a:endParaRPr lang="en-US" sz="3200" dirty="0"/>
          </a:p>
          <a:p>
            <a:pPr lvl="1"/>
            <a:r>
              <a:rPr lang="ro-RO" sz="32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50%</a:t>
            </a:r>
            <a:r>
              <a:rPr lang="ro-RO" sz="3200" dirty="0"/>
              <a:t> Examen </a:t>
            </a:r>
            <a:r>
              <a:rPr lang="ro-RO" dirty="0" smtClean="0">
                <a:sym typeface="Symbol" pitchFamily="18" charset="2"/>
              </a:rPr>
              <a:t> examen </a:t>
            </a:r>
            <a:r>
              <a:rPr lang="ro-RO" sz="3200" dirty="0" smtClean="0"/>
              <a:t>parțial;</a:t>
            </a:r>
            <a:r>
              <a:rPr lang="en-US" sz="3200" dirty="0" smtClean="0"/>
              <a:t> </a:t>
            </a:r>
            <a:r>
              <a:rPr lang="ro-RO" sz="3200" dirty="0" smtClean="0"/>
              <a:t>examen final</a:t>
            </a:r>
            <a:endParaRPr lang="ro-RO" sz="3200" dirty="0"/>
          </a:p>
          <a:p>
            <a:pPr lvl="1"/>
            <a:r>
              <a:rPr lang="ro-RO" sz="3200" dirty="0"/>
              <a:t>Nota minimă</a:t>
            </a:r>
            <a:r>
              <a:rPr lang="en-US" sz="3200" dirty="0"/>
              <a:t> </a:t>
            </a:r>
            <a:r>
              <a:rPr lang="ro-RO" sz="3200" dirty="0"/>
              <a:t>pentru fiecare activitate</a:t>
            </a:r>
            <a:r>
              <a:rPr lang="en-US" sz="3200" dirty="0"/>
              <a:t>: </a:t>
            </a:r>
            <a:r>
              <a:rPr lang="en-US" sz="32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5</a:t>
            </a:r>
          </a:p>
          <a:p>
            <a:r>
              <a:rPr lang="ro-RO" sz="36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Pagini </a:t>
            </a:r>
            <a:r>
              <a:rPr lang="ro-RO" sz="36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web</a:t>
            </a:r>
          </a:p>
          <a:p>
            <a:pPr lvl="1"/>
            <a:r>
              <a:rPr lang="en-US" sz="3200" dirty="0">
                <a:solidFill>
                  <a:schemeClr val="accent1">
                    <a:lumMod val="60000"/>
                    <a:lumOff val="40000"/>
                  </a:schemeClr>
                </a:solidFill>
                <a:hlinkClick r:id="rId3"/>
              </a:rPr>
              <a:t>http://users.utcluj.ro/~baruch/</a:t>
            </a:r>
            <a:r>
              <a:rPr lang="ro-RO" sz="3200" dirty="0" err="1">
                <a:solidFill>
                  <a:schemeClr val="accent1">
                    <a:lumMod val="60000"/>
                    <a:lumOff val="40000"/>
                  </a:schemeClr>
                </a:solidFill>
                <a:hlinkClick r:id="rId3"/>
              </a:rPr>
              <a:t>ro</a:t>
            </a:r>
            <a:r>
              <a:rPr lang="ro-RO" sz="3200" dirty="0" smtClean="0">
                <a:solidFill>
                  <a:schemeClr val="accent1">
                    <a:lumMod val="60000"/>
                    <a:lumOff val="40000"/>
                  </a:schemeClr>
                </a:solidFill>
                <a:hlinkClick r:id="rId3"/>
              </a:rPr>
              <a:t>/</a:t>
            </a:r>
            <a:r>
              <a:rPr lang="en-US" sz="32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endParaRPr lang="ro-RO" sz="32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lvl="1">
              <a:buFont typeface="Wingdings" pitchFamily="2" charset="2"/>
              <a:buNone/>
            </a:pPr>
            <a:r>
              <a:rPr lang="ro-RO" sz="3200" dirty="0"/>
              <a:t>   </a:t>
            </a:r>
            <a:r>
              <a:rPr lang="en-US" sz="3200" dirty="0" smtClean="0"/>
              <a:t> </a:t>
            </a:r>
            <a:r>
              <a:rPr lang="ro-RO" sz="3200" dirty="0" smtClean="0"/>
              <a:t>Cursuri </a:t>
            </a:r>
            <a:r>
              <a:rPr lang="ro-RO" sz="3200" dirty="0">
                <a:sym typeface="Symbol" pitchFamily="18" charset="2"/>
              </a:rPr>
              <a:t> Structura sistemelor de calcul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26.02.2018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0554316-21C8-4D8A-B5B7-B62B192D3CC4}" type="slidenum">
              <a:rPr lang="ro-RO"/>
              <a:pPr/>
              <a:t>4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/>
              <a:t>Structura sistemelor de calcul (01-1)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Informații despre disciplina SSC </a:t>
            </a:r>
            <a:r>
              <a:rPr lang="ro-RO" dirty="0" smtClean="0"/>
              <a:t>(4)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4896445"/>
          </a:xfrm>
        </p:spPr>
        <p:txBody>
          <a:bodyPr>
            <a:normAutofit lnSpcReduction="10000"/>
          </a:bodyPr>
          <a:lstStyle/>
          <a:p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Curs</a:t>
            </a:r>
          </a:p>
          <a:p>
            <a:pPr lvl="1"/>
            <a:r>
              <a:rPr lang="ro-RO" dirty="0" smtClean="0"/>
              <a:t>Prezența la cursuri este obligatorie</a:t>
            </a:r>
          </a:p>
          <a:p>
            <a:pPr lvl="1"/>
            <a:r>
              <a:rPr lang="ro-RO" dirty="0" smtClean="0"/>
              <a:t>Număr maxim de absențe admise: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6</a:t>
            </a:r>
          </a:p>
          <a:p>
            <a:pPr lvl="1"/>
            <a:r>
              <a:rPr lang="ro-RO" dirty="0" smtClean="0"/>
              <a:t>Studenții care au un număr mai mare de 6 absențe nu vor fi admiși la examenul final din sesiunea normală</a:t>
            </a:r>
          </a:p>
          <a:p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Examen final</a:t>
            </a:r>
          </a:p>
          <a:p>
            <a:pPr lvl="1"/>
            <a:r>
              <a:rPr lang="ro-RO" dirty="0" smtClean="0"/>
              <a:t>Condiții de acceptare: prezența la cursuri; promovarea laboratorului și a proiectului</a:t>
            </a:r>
          </a:p>
          <a:p>
            <a:pPr lvl="1"/>
            <a:r>
              <a:rPr lang="ro-RO" dirty="0" smtClean="0"/>
              <a:t>Schemele și diagramele trebuie explicate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26.02.2018</a:t>
            </a:r>
            <a:endParaRPr lang="ro-RO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8A1A8A2-B654-4CFC-85EC-A016050C91AE}" type="slidenum">
              <a:rPr lang="ro-RO" smtClean="0"/>
              <a:pPr/>
              <a:t>5</a:t>
            </a:fld>
            <a:endParaRPr lang="ro-RO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(01-1)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800738516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Informații despre disciplina SSC </a:t>
            </a:r>
            <a:r>
              <a:rPr lang="ro-RO" dirty="0" smtClean="0"/>
              <a:t>(5)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4979825"/>
          </a:xfrm>
        </p:spPr>
        <p:txBody>
          <a:bodyPr/>
          <a:lstStyle/>
          <a:p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Examen parțial</a:t>
            </a:r>
          </a:p>
          <a:p>
            <a:pPr lvl="1"/>
            <a:r>
              <a:rPr lang="ro-RO" dirty="0" smtClean="0"/>
              <a:t>Se va susține din materialul primelor două capitole </a:t>
            </a:r>
          </a:p>
          <a:p>
            <a:pPr lvl="1"/>
            <a:r>
              <a:rPr lang="ro-RO" dirty="0" smtClean="0"/>
              <a:t>Se poate susține o singură dată, în ziua stabilită, în timpul semestrului</a:t>
            </a:r>
          </a:p>
          <a:p>
            <a:pPr lvl="1"/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Promovarea este foarte importantă</a:t>
            </a:r>
          </a:p>
          <a:p>
            <a:pPr lvl="1"/>
            <a:r>
              <a:rPr lang="ro-RO" dirty="0" smtClean="0"/>
              <a:t>Va fi recunoscut în sesiunea normală de vară și în sesiunea de restanțe din luna iulie</a:t>
            </a:r>
          </a:p>
          <a:p>
            <a:pPr lvl="1"/>
            <a:r>
              <a:rPr lang="ro-RO" dirty="0" smtClean="0"/>
              <a:t>Punctajul minim pentru promovare: 40% din punctajul total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26.02.2018</a:t>
            </a:r>
            <a:endParaRPr lang="ro-RO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8A1A8A2-B654-4CFC-85EC-A016050C91AE}" type="slidenum">
              <a:rPr lang="ro-RO" smtClean="0"/>
              <a:pPr/>
              <a:t>6</a:t>
            </a:fld>
            <a:endParaRPr lang="ro-RO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(01-1)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283465045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Informații despre disciplina SSC </a:t>
            </a:r>
            <a:r>
              <a:rPr lang="ro-RO" dirty="0" smtClean="0"/>
              <a:t>(6)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4968453"/>
          </a:xfrm>
        </p:spPr>
        <p:txBody>
          <a:bodyPr/>
          <a:lstStyle/>
          <a:p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Laborator</a:t>
            </a:r>
          </a:p>
          <a:p>
            <a:pPr lvl="1"/>
            <a:r>
              <a:rPr lang="ro-RO" dirty="0" smtClean="0"/>
              <a:t>Prezența este obligatorie la toate lucrările</a:t>
            </a:r>
          </a:p>
          <a:p>
            <a:pPr lvl="1">
              <a:spcBef>
                <a:spcPts val="600"/>
              </a:spcBef>
            </a:pPr>
            <a:r>
              <a:rPr lang="ro-RO" dirty="0" smtClean="0"/>
              <a:t>Condiția de acceptare: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răspunsuri scrise </a:t>
            </a:r>
            <a:r>
              <a:rPr lang="ro-RO" dirty="0" smtClean="0"/>
              <a:t>la întrebările de la sfârșitul lucrării curente</a:t>
            </a:r>
          </a:p>
          <a:p>
            <a:pPr lvl="1">
              <a:spcBef>
                <a:spcPts val="600"/>
              </a:spcBef>
            </a:pP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Teste scrise</a:t>
            </a:r>
            <a:r>
              <a:rPr lang="ro-RO" dirty="0" smtClean="0"/>
              <a:t>: 5 teste anunțate; media minimă pentru acceptarea la colocviu: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5</a:t>
            </a:r>
          </a:p>
          <a:p>
            <a:pPr lvl="1">
              <a:spcBef>
                <a:spcPts val="600"/>
              </a:spcBef>
            </a:pP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Nota</a:t>
            </a:r>
            <a:r>
              <a:rPr lang="ro-RO" dirty="0" smtClean="0"/>
              <a:t>: 40% teste scrise; 60% colocviu</a:t>
            </a:r>
            <a:endParaRPr lang="ro-RO" dirty="0" smtClean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pPr lvl="1">
              <a:spcBef>
                <a:spcPts val="600"/>
              </a:spcBef>
            </a:pP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Recuperări</a:t>
            </a:r>
            <a:r>
              <a:rPr lang="ro-RO" dirty="0" smtClean="0"/>
              <a:t>: maxim 4 lucrări</a:t>
            </a:r>
          </a:p>
          <a:p>
            <a:pPr lvl="2"/>
            <a:r>
              <a:rPr lang="ro-RO" dirty="0" smtClean="0"/>
              <a:t>Max. 2 lucrări în timpul semestrului (fără plată)</a:t>
            </a:r>
          </a:p>
          <a:p>
            <a:pPr lvl="2"/>
            <a:r>
              <a:rPr lang="ro-RO" dirty="0" smtClean="0"/>
              <a:t>Max. 2 lucrări la sfârșitul semestrului (cu plată)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26.02.2018</a:t>
            </a:r>
            <a:endParaRPr lang="ro-RO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8A1A8A2-B654-4CFC-85EC-A016050C91AE}" type="slidenum">
              <a:rPr lang="ro-RO" smtClean="0"/>
              <a:pPr/>
              <a:t>7</a:t>
            </a:fld>
            <a:endParaRPr lang="ro-RO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(01-1)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76021424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36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o-RO" dirty="0"/>
              <a:t>Bibliografie (1)</a:t>
            </a:r>
          </a:p>
        </p:txBody>
      </p:sp>
      <p:pic>
        <p:nvPicPr>
          <p:cNvPr id="271365" name="Picture 5" descr="book_ssc_large"/>
          <p:cNvPicPr>
            <a:picLocks noGrp="1" noChangeAspect="1" noChangeArrowheads="1"/>
          </p:cNvPicPr>
          <p:nvPr>
            <p:ph sz="half" idx="1"/>
          </p:nvPr>
        </p:nvPicPr>
        <p:blipFill>
          <a:blip r:embed="rId3" cstate="print"/>
          <a:stretch>
            <a:fillRect/>
          </a:stretch>
        </p:blipFill>
        <p:spPr>
          <a:xfrm>
            <a:off x="3375025" y="1291171"/>
            <a:ext cx="2393950" cy="3302000"/>
          </a:xfrm>
          <a:noFill/>
          <a:ln/>
        </p:spPr>
      </p:pic>
      <p:sp>
        <p:nvSpPr>
          <p:cNvPr id="271363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395536" y="4797152"/>
            <a:ext cx="8352928" cy="1440160"/>
          </a:xfrm>
        </p:spPr>
        <p:txBody>
          <a:bodyPr>
            <a:noAutofit/>
          </a:bodyPr>
          <a:lstStyle/>
          <a:p>
            <a:pPr>
              <a:buSzPct val="100000"/>
              <a:buBlip>
                <a:blip r:embed="rId4"/>
              </a:buBlip>
            </a:pPr>
            <a:r>
              <a:rPr lang="ro-RO" sz="3200" dirty="0" err="1"/>
              <a:t>Baruch</a:t>
            </a:r>
            <a:r>
              <a:rPr lang="ro-RO" sz="3200" dirty="0"/>
              <a:t>, Z. F., </a:t>
            </a:r>
            <a:r>
              <a:rPr lang="ro-RO" sz="3200" i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Structura sistemelor de calcul</a:t>
            </a:r>
            <a:r>
              <a:rPr lang="ro-RO" sz="3200" dirty="0"/>
              <a:t>, Editura Albastră, Cluj-Napoca, 2005, ISBN 973-650-143-4 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26.02.2018</a:t>
            </a:r>
            <a:endParaRPr lang="ro-RO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Structura sistemelor de calcul (01-1)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A8922-CE08-403E-B0BE-7694D9BE34DB}" type="slidenum">
              <a:rPr lang="ro-RO"/>
              <a:pPr/>
              <a:t>8</a:t>
            </a:fld>
            <a:endParaRPr lang="ro-RO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436" name="Rectangle 4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o-RO" dirty="0"/>
              <a:t>Bibliografie (2)</a:t>
            </a:r>
            <a:endParaRPr lang="en-US" dirty="0"/>
          </a:p>
        </p:txBody>
      </p:sp>
      <p:pic>
        <p:nvPicPr>
          <p:cNvPr id="274439" name="Picture 7" descr="book_ssce_large"/>
          <p:cNvPicPr>
            <a:picLocks noGrp="1" noChangeAspect="1" noChangeArrowheads="1"/>
          </p:cNvPicPr>
          <p:nvPr>
            <p:ph sz="half" idx="1"/>
          </p:nvPr>
        </p:nvPicPr>
        <p:blipFill>
          <a:blip r:embed="rId3" cstate="print"/>
          <a:stretch>
            <a:fillRect/>
          </a:stretch>
        </p:blipFill>
        <p:spPr>
          <a:xfrm>
            <a:off x="3443859" y="1268760"/>
            <a:ext cx="2256282" cy="3257550"/>
          </a:xfrm>
          <a:noFill/>
          <a:ln/>
        </p:spPr>
      </p:pic>
      <p:sp>
        <p:nvSpPr>
          <p:cNvPr id="274438" name="Rectangle 6"/>
          <p:cNvSpPr>
            <a:spLocks noGrp="1" noChangeArrowheads="1"/>
          </p:cNvSpPr>
          <p:nvPr>
            <p:ph type="body" sz="half" idx="2"/>
          </p:nvPr>
        </p:nvSpPr>
        <p:spPr>
          <a:xfrm>
            <a:off x="395536" y="4797152"/>
            <a:ext cx="8352928" cy="1440160"/>
          </a:xfrm>
        </p:spPr>
        <p:txBody>
          <a:bodyPr>
            <a:normAutofit/>
          </a:bodyPr>
          <a:lstStyle/>
          <a:p>
            <a:pPr>
              <a:buSzPct val="100000"/>
              <a:buBlip>
                <a:blip r:embed="rId4"/>
              </a:buBlip>
            </a:pPr>
            <a:r>
              <a:rPr lang="ro-RO" sz="3200" dirty="0" err="1"/>
              <a:t>Baruch</a:t>
            </a:r>
            <a:r>
              <a:rPr lang="ro-RO" sz="3200" dirty="0"/>
              <a:t>, Z. F., </a:t>
            </a:r>
            <a:r>
              <a:rPr lang="ro-RO" sz="3200" i="1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Structure</a:t>
            </a:r>
            <a:r>
              <a:rPr lang="ro-RO" sz="3200" i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of Computer </a:t>
            </a:r>
            <a:r>
              <a:rPr lang="ro-RO" sz="3200" i="1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Systems</a:t>
            </a:r>
            <a:r>
              <a:rPr lang="ro-RO" sz="3200" dirty="0"/>
              <a:t>, Editura U.T.PRES, Cluj-Napoca, 2002, ISBN 973-8335-44-2</a:t>
            </a:r>
            <a:endParaRPr lang="en-US" sz="3200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26.02.2018</a:t>
            </a:r>
            <a:endParaRPr lang="ro-RO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/>
              <a:t>Structura sistemelor de calcul (01-1)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276C2-7167-4C3E-BFF8-B0A3CA8282AA}" type="slidenum">
              <a:rPr lang="ro-RO"/>
              <a:pPr/>
              <a:t>9</a:t>
            </a:fld>
            <a:endParaRPr lang="ro-RO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Cuprinsul cursului</a:t>
            </a:r>
          </a:p>
        </p:txBody>
      </p:sp>
      <p:sp>
        <p:nvSpPr>
          <p:cNvPr id="272387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412874"/>
            <a:ext cx="8382000" cy="4154984"/>
          </a:xfrm>
        </p:spPr>
        <p:txBody>
          <a:bodyPr/>
          <a:lstStyle/>
          <a:p>
            <a:endParaRPr lang="ro-RO" sz="3600" dirty="0" smtClean="0">
              <a:solidFill>
                <a:schemeClr val="tx2"/>
              </a:solidFill>
            </a:endParaRPr>
          </a:p>
          <a:p>
            <a:endParaRPr lang="en-US" sz="3600" dirty="0">
              <a:solidFill>
                <a:schemeClr val="tx2"/>
              </a:solidFill>
            </a:endParaRPr>
          </a:p>
          <a:p>
            <a:r>
              <a:rPr lang="ro-RO" sz="3600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</a:t>
            </a:r>
            <a:r>
              <a:rPr lang="ro-RO" sz="3600" dirty="0"/>
              <a:t> </a:t>
            </a:r>
            <a:r>
              <a:rPr lang="ro-RO" sz="3600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Introducere</a:t>
            </a:r>
          </a:p>
          <a:p>
            <a:r>
              <a:rPr lang="ro-RO" sz="3600" dirty="0"/>
              <a:t>2. Unitatea aritmetică </a:t>
            </a:r>
            <a:r>
              <a:rPr lang="ro-RO" sz="3600" dirty="0" smtClean="0"/>
              <a:t>și </a:t>
            </a:r>
            <a:r>
              <a:rPr lang="ro-RO" sz="3600" dirty="0"/>
              <a:t>logică</a:t>
            </a:r>
          </a:p>
          <a:p>
            <a:r>
              <a:rPr lang="ro-RO" sz="3600" dirty="0"/>
              <a:t>3. Sisteme de </a:t>
            </a:r>
            <a:r>
              <a:rPr lang="ro-RO" sz="3600" dirty="0" smtClean="0"/>
              <a:t>memorie</a:t>
            </a:r>
            <a:endParaRPr lang="en-US" sz="3600" i="1" dirty="0"/>
          </a:p>
          <a:p>
            <a:r>
              <a:rPr lang="ro-RO" sz="3600" dirty="0" smtClean="0"/>
              <a:t>4. </a:t>
            </a:r>
            <a:r>
              <a:rPr lang="ro-RO" sz="3600" dirty="0"/>
              <a:t>Arhitecturi RISC</a:t>
            </a:r>
          </a:p>
          <a:p>
            <a:r>
              <a:rPr lang="ro-RO" dirty="0"/>
              <a:t>5</a:t>
            </a:r>
            <a:r>
              <a:rPr lang="ro-RO" sz="3600" dirty="0" smtClean="0"/>
              <a:t>. Introducere în arhitecturi paralele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26.02.2018</a:t>
            </a:r>
            <a:endParaRPr lang="ro-RO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EBCB148-DCB0-4FD0-860A-95FA9F758791}" type="slidenum">
              <a:rPr lang="ro-RO"/>
              <a:pPr/>
              <a:t>10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dirty="0"/>
              <a:t>Structura sistemelor de calcul (01-1)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1. Introducere</a:t>
            </a:r>
          </a:p>
        </p:txBody>
      </p:sp>
      <p:sp>
        <p:nvSpPr>
          <p:cNvPr id="181251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412874"/>
            <a:ext cx="8382000" cy="4493538"/>
          </a:xfrm>
        </p:spPr>
        <p:txBody>
          <a:bodyPr/>
          <a:lstStyle/>
          <a:p>
            <a:endParaRPr lang="en-US" sz="3200" dirty="0" smtClean="0">
              <a:solidFill>
                <a:schemeClr val="tx2"/>
              </a:solidFill>
            </a:endParaRPr>
          </a:p>
          <a:p>
            <a:r>
              <a:rPr lang="ro-RO" sz="3600" dirty="0" smtClean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Indicatori </a:t>
            </a:r>
            <a:r>
              <a:rPr lang="ro-RO" sz="3600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 </a:t>
            </a:r>
            <a:r>
              <a:rPr lang="ro-RO" sz="3600" dirty="0" smtClean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performanță</a:t>
            </a:r>
            <a:endParaRPr lang="ro-RO" sz="3600" dirty="0">
              <a:gradFill>
                <a:gsLst>
                  <a:gs pos="0">
                    <a:schemeClr val="accent3">
                      <a:lumMod val="40000"/>
                      <a:lumOff val="60000"/>
                    </a:schemeClr>
                  </a:gs>
                  <a:gs pos="36000">
                    <a:schemeClr val="accent3">
                      <a:lumMod val="40000"/>
                      <a:lumOff val="60000"/>
                    </a:schemeClr>
                  </a:gs>
                  <a:gs pos="86000">
                    <a:schemeClr val="accent3"/>
                  </a:gs>
                </a:gsLst>
                <a:lin ang="5400000" scaled="0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/>
            <a:r>
              <a:rPr lang="ro-RO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Timpul de </a:t>
            </a:r>
            <a:r>
              <a:rPr lang="ro-RO" dirty="0" smtClean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execuție</a:t>
            </a:r>
            <a:endParaRPr lang="ro-RO" dirty="0">
              <a:gradFill>
                <a:gsLst>
                  <a:gs pos="0">
                    <a:schemeClr val="accent3">
                      <a:lumMod val="40000"/>
                      <a:lumOff val="60000"/>
                    </a:schemeClr>
                  </a:gs>
                  <a:gs pos="36000">
                    <a:schemeClr val="accent3">
                      <a:lumMod val="40000"/>
                      <a:lumOff val="60000"/>
                    </a:schemeClr>
                  </a:gs>
                  <a:gs pos="86000">
                    <a:schemeClr val="accent3"/>
                  </a:gs>
                </a:gsLst>
                <a:lin ang="5400000" scaled="0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/>
            <a:r>
              <a:rPr lang="ro-RO" dirty="0"/>
              <a:t>Timpul UCP</a:t>
            </a:r>
          </a:p>
          <a:p>
            <a:pPr lvl="1"/>
            <a:r>
              <a:rPr lang="ro-RO" dirty="0"/>
              <a:t>MIPS</a:t>
            </a:r>
          </a:p>
          <a:p>
            <a:pPr lvl="1"/>
            <a:r>
              <a:rPr lang="ro-RO" dirty="0"/>
              <a:t>MFLOPS</a:t>
            </a:r>
          </a:p>
          <a:p>
            <a:r>
              <a:rPr lang="ro-RO" sz="3600" dirty="0"/>
              <a:t>Programe de evaluare a </a:t>
            </a:r>
            <a:r>
              <a:rPr lang="ro-RO" sz="3600" dirty="0" smtClean="0"/>
              <a:t>performanțelor</a:t>
            </a:r>
            <a:endParaRPr lang="ro-RO" sz="3600" dirty="0"/>
          </a:p>
          <a:p>
            <a:r>
              <a:rPr lang="ro-RO" dirty="0"/>
              <a:t>Legea lui </a:t>
            </a:r>
            <a:r>
              <a:rPr lang="ro-RO" dirty="0" err="1"/>
              <a:t>Amdahl</a:t>
            </a:r>
            <a:endParaRPr lang="ro-R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26.02.2018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8421767-9864-4680-9584-33D7E29B846B}" type="slidenum">
              <a:rPr lang="ro-RO"/>
              <a:pPr/>
              <a:t>11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/>
              <a:t>Structura sistemelor de calcul (01-1)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Timpul de </a:t>
            </a:r>
            <a:r>
              <a:rPr lang="ro-RO" dirty="0" smtClean="0"/>
              <a:t>execuție </a:t>
            </a:r>
            <a:r>
              <a:rPr lang="ro-RO" dirty="0"/>
              <a:t>(1)</a:t>
            </a:r>
          </a:p>
        </p:txBody>
      </p:sp>
      <p:sp>
        <p:nvSpPr>
          <p:cNvPr id="207875" name="Rectangle 3"/>
          <p:cNvSpPr>
            <a:spLocks noGrp="1" noChangeArrowheads="1"/>
          </p:cNvSpPr>
          <p:nvPr>
            <p:ph idx="1"/>
          </p:nvPr>
        </p:nvSpPr>
        <p:spPr>
          <a:xfrm>
            <a:off x="395536" y="1412776"/>
            <a:ext cx="8352928" cy="4896544"/>
          </a:xfrm>
        </p:spPr>
        <p:txBody>
          <a:bodyPr>
            <a:normAutofit lnSpcReduction="10000"/>
          </a:bodyPr>
          <a:lstStyle/>
          <a:p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Performanța </a:t>
            </a:r>
            <a:r>
              <a:rPr lang="ro-RO" dirty="0">
                <a:cs typeface="Times New Roman" pitchFamily="18" charset="0"/>
              </a:rPr>
              <a:t>unui calculator se refer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la:</a:t>
            </a:r>
          </a:p>
          <a:p>
            <a:pPr lvl="1"/>
            <a:r>
              <a:rPr lang="ro-RO" dirty="0">
                <a:cs typeface="Times New Roman" pitchFamily="18" charset="0"/>
              </a:rPr>
              <a:t>Viteza</a:t>
            </a:r>
          </a:p>
          <a:p>
            <a:pPr lvl="1"/>
            <a:r>
              <a:rPr lang="ro-RO" dirty="0">
                <a:cs typeface="Times New Roman" pitchFamily="18" charset="0"/>
              </a:rPr>
              <a:t>Fiabilitatea hardware </a:t>
            </a:r>
            <a:r>
              <a:rPr lang="ro-RO" dirty="0" smtClean="0">
                <a:cs typeface="Times New Roman" pitchFamily="18" charset="0"/>
              </a:rPr>
              <a:t>și </a:t>
            </a:r>
            <a:r>
              <a:rPr lang="ro-RO" dirty="0">
                <a:cs typeface="Times New Roman" pitchFamily="18" charset="0"/>
              </a:rPr>
              <a:t>software</a:t>
            </a:r>
            <a:endParaRPr lang="ro-RO" dirty="0"/>
          </a:p>
          <a:p>
            <a:r>
              <a:rPr lang="ro-RO" dirty="0"/>
              <a:t>Mă</a:t>
            </a:r>
            <a:r>
              <a:rPr lang="ro-RO" dirty="0">
                <a:cs typeface="Times New Roman" pitchFamily="18" charset="0"/>
              </a:rPr>
              <a:t>sura </a:t>
            </a:r>
            <a:r>
              <a:rPr lang="ro-RO" dirty="0" smtClean="0">
                <a:cs typeface="Times New Roman" pitchFamily="18" charset="0"/>
              </a:rPr>
              <a:t>performanței</a:t>
            </a:r>
            <a:r>
              <a:rPr lang="ro-RO" dirty="0">
                <a:cs typeface="Times New Roman" pitchFamily="18" charset="0"/>
              </a:rPr>
              <a:t>:</a:t>
            </a:r>
            <a:r>
              <a:rPr lang="ro-RO" dirty="0"/>
              <a:t>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timpul de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execuție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ro-RO" dirty="0"/>
              <a:t>(</a:t>
            </a:r>
            <a:r>
              <a:rPr lang="ro-RO" i="1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t</a:t>
            </a:r>
            <a:r>
              <a:rPr lang="ro-RO" i="1" baseline="-25000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E</a:t>
            </a:r>
            <a:r>
              <a:rPr lang="ro-RO" dirty="0"/>
              <a:t>)</a:t>
            </a:r>
          </a:p>
          <a:p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Timpul de r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ă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spuns</a:t>
            </a:r>
            <a:r>
              <a:rPr lang="ro-RO" dirty="0"/>
              <a:t>:</a:t>
            </a:r>
            <a:r>
              <a:rPr lang="ro-RO" dirty="0">
                <a:cs typeface="Times New Roman" pitchFamily="18" charset="0"/>
              </a:rPr>
              <a:t> timpul necesar termin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rii unui task</a:t>
            </a:r>
          </a:p>
          <a:p>
            <a:pPr lvl="1"/>
            <a:r>
              <a:rPr lang="ro-RO" dirty="0">
                <a:cs typeface="Times New Roman" pitchFamily="18" charset="0"/>
              </a:rPr>
              <a:t>Include accesele la memorie, </a:t>
            </a:r>
            <a:r>
              <a:rPr lang="ro-RO" dirty="0" smtClean="0">
                <a:cs typeface="Times New Roman" pitchFamily="18" charset="0"/>
              </a:rPr>
              <a:t>operațiile </a:t>
            </a:r>
            <a:r>
              <a:rPr lang="ro-RO" dirty="0">
                <a:cs typeface="Times New Roman" pitchFamily="18" charset="0"/>
              </a:rPr>
              <a:t>de </a:t>
            </a:r>
            <a:r>
              <a:rPr lang="ro-RO" dirty="0"/>
              <a:t>I/E</a:t>
            </a:r>
            <a:r>
              <a:rPr lang="ro-RO" dirty="0">
                <a:cs typeface="Times New Roman" pitchFamily="18" charset="0"/>
              </a:rPr>
              <a:t> </a:t>
            </a:r>
            <a:r>
              <a:rPr lang="ro-RO" dirty="0" smtClean="0">
                <a:cs typeface="Times New Roman" pitchFamily="18" charset="0"/>
              </a:rPr>
              <a:t>și operațiile </a:t>
            </a:r>
            <a:r>
              <a:rPr lang="ro-RO" dirty="0">
                <a:cs typeface="Times New Roman" pitchFamily="18" charset="0"/>
              </a:rPr>
              <a:t>executate de </a:t>
            </a:r>
            <a:r>
              <a:rPr lang="ro-RO" dirty="0" smtClean="0">
                <a:cs typeface="Times New Roman" pitchFamily="18" charset="0"/>
              </a:rPr>
              <a:t>sistemul de operare</a:t>
            </a:r>
            <a:r>
              <a:rPr lang="ro-RO" dirty="0" smtClean="0"/>
              <a:t> </a:t>
            </a:r>
            <a:endParaRPr lang="ro-R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26.02.2018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DDA65CB-EAAF-4CDB-894F-D7BE2098CB55}" type="slidenum">
              <a:rPr lang="ro-RO"/>
              <a:pPr/>
              <a:t>12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/>
              <a:t>Structura sistemelor de calcul (01-1)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Timpul de </a:t>
            </a:r>
            <a:r>
              <a:rPr lang="ro-RO" dirty="0" smtClean="0"/>
              <a:t>execuție </a:t>
            </a:r>
            <a:r>
              <a:rPr lang="ro-RO" dirty="0"/>
              <a:t>(2)</a:t>
            </a:r>
          </a:p>
        </p:txBody>
      </p:sp>
      <p:sp>
        <p:nvSpPr>
          <p:cNvPr id="210947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268761"/>
            <a:ext cx="8382000" cy="5112568"/>
          </a:xfrm>
        </p:spPr>
        <p:txBody>
          <a:bodyPr/>
          <a:lstStyle/>
          <a:p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UCP</a:t>
            </a:r>
            <a:r>
              <a:rPr lang="ro-RO" dirty="0"/>
              <a:t>: unitatea centrală de </a:t>
            </a:r>
            <a:r>
              <a:rPr lang="ro-RO" dirty="0" smtClean="0"/>
              <a:t>prelucrare</a:t>
            </a:r>
            <a:endParaRPr lang="ro-RO" dirty="0" smtClean="0">
              <a:solidFill>
                <a:schemeClr val="tx2"/>
              </a:solidFill>
            </a:endParaRPr>
          </a:p>
          <a:p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T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impul UCP</a:t>
            </a:r>
            <a:r>
              <a:rPr lang="ro-RO" dirty="0" smtClean="0"/>
              <a:t>:</a:t>
            </a:r>
            <a:r>
              <a:rPr lang="ro-RO" dirty="0" smtClean="0">
                <a:cs typeface="Times New Roman" pitchFamily="18" charset="0"/>
              </a:rPr>
              <a:t> </a:t>
            </a:r>
            <a:r>
              <a:rPr lang="ro-RO" dirty="0">
                <a:cs typeface="Times New Roman" pitchFamily="18" charset="0"/>
              </a:rPr>
              <a:t>timpul în care UCP execut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efectiv un program</a:t>
            </a:r>
            <a:endParaRPr lang="ro-RO" dirty="0"/>
          </a:p>
          <a:p>
            <a:pPr lvl="1"/>
            <a:r>
              <a:rPr lang="ro-RO" dirty="0"/>
              <a:t>Nu</a:t>
            </a:r>
            <a:r>
              <a:rPr lang="ro-RO" dirty="0">
                <a:cs typeface="Times New Roman" pitchFamily="18" charset="0"/>
              </a:rPr>
              <a:t> cuprinde timpul de </a:t>
            </a:r>
            <a:r>
              <a:rPr lang="ro-RO" dirty="0" smtClean="0">
                <a:cs typeface="Times New Roman" pitchFamily="18" charset="0"/>
              </a:rPr>
              <a:t>așteptare </a:t>
            </a:r>
            <a:r>
              <a:rPr lang="ro-RO" dirty="0">
                <a:cs typeface="Times New Roman" pitchFamily="18" charset="0"/>
              </a:rPr>
              <a:t>pentru </a:t>
            </a:r>
            <a:r>
              <a:rPr lang="ro-RO" dirty="0" smtClean="0">
                <a:cs typeface="Times New Roman" pitchFamily="18" charset="0"/>
              </a:rPr>
              <a:t>operațiile </a:t>
            </a:r>
            <a:r>
              <a:rPr lang="ro-RO" dirty="0">
                <a:cs typeface="Times New Roman" pitchFamily="18" charset="0"/>
              </a:rPr>
              <a:t>de I/E</a:t>
            </a:r>
          </a:p>
          <a:p>
            <a:pPr lvl="1"/>
            <a:r>
              <a:rPr lang="ro-RO" dirty="0">
                <a:cs typeface="Times New Roman" pitchFamily="18" charset="0"/>
              </a:rPr>
              <a:t>Nu include</a:t>
            </a:r>
            <a:r>
              <a:rPr lang="ro-RO" dirty="0"/>
              <a:t> nici</a:t>
            </a:r>
            <a:r>
              <a:rPr lang="ro-RO" dirty="0">
                <a:cs typeface="Times New Roman" pitchFamily="18" charset="0"/>
              </a:rPr>
              <a:t> timpul în care UCP execut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alte programe</a:t>
            </a:r>
            <a:r>
              <a:rPr lang="ro-RO" dirty="0"/>
              <a:t> </a:t>
            </a:r>
          </a:p>
          <a:p>
            <a:pPr lvl="1"/>
            <a:r>
              <a:rPr lang="ro-RO" dirty="0"/>
              <a:t>P</a:t>
            </a:r>
            <a:r>
              <a:rPr lang="ro-RO" dirty="0">
                <a:cs typeface="Times New Roman" pitchFamily="18" charset="0"/>
              </a:rPr>
              <a:t>oate fi divizat în</a:t>
            </a:r>
            <a:r>
              <a:rPr lang="ro-RO" dirty="0"/>
              <a:t>:</a:t>
            </a:r>
          </a:p>
          <a:p>
            <a:pPr lvl="2"/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T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impul UCP al utilizatorului</a:t>
            </a:r>
            <a:endParaRPr lang="ro-RO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pPr lvl="2"/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Timpul UCP al sistemului</a:t>
            </a:r>
            <a:endParaRPr lang="ro-RO" dirty="0">
              <a:solidFill>
                <a:schemeClr val="accent3">
                  <a:lumMod val="60000"/>
                  <a:lumOff val="40000"/>
                </a:schemeClr>
              </a:solidFill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26.02.2018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0FDDB2E-15A4-4680-83A5-EAD025CCAE9B}" type="slidenum">
              <a:rPr lang="ro-RO"/>
              <a:pPr/>
              <a:t>13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/>
              <a:t>Structura sistemelor de calcul (01-1)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Timpul de </a:t>
            </a:r>
            <a:r>
              <a:rPr lang="ro-RO" dirty="0" smtClean="0"/>
              <a:t>execuție </a:t>
            </a:r>
            <a:r>
              <a:rPr lang="ro-RO" dirty="0"/>
              <a:t>(3)</a:t>
            </a:r>
          </a:p>
        </p:txBody>
      </p:sp>
      <p:sp>
        <p:nvSpPr>
          <p:cNvPr id="208899" name="Rectangle 3"/>
          <p:cNvSpPr>
            <a:spLocks noGrp="1" noChangeArrowheads="1"/>
          </p:cNvSpPr>
          <p:nvPr>
            <p:ph idx="1"/>
          </p:nvPr>
        </p:nvSpPr>
        <p:spPr>
          <a:xfrm>
            <a:off x="395536" y="1412776"/>
            <a:ext cx="8352928" cy="4493538"/>
          </a:xfrm>
        </p:spPr>
        <p:txBody>
          <a:bodyPr/>
          <a:lstStyle/>
          <a:p>
            <a:r>
              <a:rPr lang="ro-RO" dirty="0"/>
              <a:t>C</a:t>
            </a:r>
            <a:r>
              <a:rPr lang="ro-RO" dirty="0">
                <a:cs typeface="Times New Roman" pitchFamily="18" charset="0"/>
              </a:rPr>
              <a:t>ompararea </a:t>
            </a:r>
            <a:r>
              <a:rPr lang="ro-RO" dirty="0" smtClean="0">
                <a:cs typeface="Times New Roman" pitchFamily="18" charset="0"/>
              </a:rPr>
              <a:t>performanțelor </a:t>
            </a:r>
            <a:r>
              <a:rPr lang="ro-RO" dirty="0">
                <a:cs typeface="Times New Roman" pitchFamily="18" charset="0"/>
              </a:rPr>
              <a:t>a dou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calculatoare, de ex</a:t>
            </a:r>
            <a:r>
              <a:rPr lang="ro-RO" dirty="0"/>
              <a:t>.,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X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dirty="0" smtClean="0">
                <a:cs typeface="Times New Roman" pitchFamily="18" charset="0"/>
              </a:rPr>
              <a:t>și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Y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</a:p>
          <a:p>
            <a:pPr lvl="1"/>
            <a:r>
              <a:rPr lang="ro-RO" dirty="0">
                <a:cs typeface="Times New Roman" pitchFamily="18" charset="0"/>
              </a:rPr>
              <a:t>Calculatorul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X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dirty="0" smtClean="0">
                <a:cs typeface="Times New Roman" pitchFamily="18" charset="0"/>
              </a:rPr>
              <a:t>este </a:t>
            </a:r>
            <a:r>
              <a:rPr lang="ro-RO" dirty="0">
                <a:cs typeface="Times New Roman" pitchFamily="18" charset="0"/>
              </a:rPr>
              <a:t>mai rapid decât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Y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dirty="0" smtClean="0">
                <a:cs typeface="Times New Roman" pitchFamily="18" charset="0"/>
              </a:rPr>
              <a:t>dac</a:t>
            </a:r>
            <a:r>
              <a:rPr lang="ro-RO" dirty="0" smtClean="0"/>
              <a:t>ă</a:t>
            </a:r>
            <a:r>
              <a:rPr lang="ro-RO" dirty="0" smtClean="0">
                <a:cs typeface="Times New Roman" pitchFamily="18" charset="0"/>
              </a:rPr>
              <a:t> </a:t>
            </a:r>
            <a:r>
              <a:rPr lang="ro-RO" dirty="0">
                <a:cs typeface="Times New Roman" pitchFamily="18" charset="0"/>
              </a:rPr>
              <a:t>timpul de </a:t>
            </a:r>
            <a:r>
              <a:rPr lang="ro-RO" dirty="0" smtClean="0">
                <a:cs typeface="Times New Roman" pitchFamily="18" charset="0"/>
              </a:rPr>
              <a:t>execuție </a:t>
            </a:r>
            <a:r>
              <a:rPr lang="ro-RO" dirty="0">
                <a:cs typeface="Times New Roman" pitchFamily="18" charset="0"/>
              </a:rPr>
              <a:t>al lui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X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dirty="0" smtClean="0">
                <a:cs typeface="Times New Roman" pitchFamily="18" charset="0"/>
              </a:rPr>
              <a:t>este </a:t>
            </a:r>
            <a:r>
              <a:rPr lang="ro-RO" dirty="0">
                <a:cs typeface="Times New Roman" pitchFamily="18" charset="0"/>
              </a:rPr>
              <a:t>mai redus decât cel al lui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Y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dirty="0" smtClean="0">
                <a:cs typeface="Times New Roman" pitchFamily="18" charset="0"/>
              </a:rPr>
              <a:t>pentru </a:t>
            </a:r>
            <a:r>
              <a:rPr lang="ro-RO" dirty="0">
                <a:cs typeface="Times New Roman" pitchFamily="18" charset="0"/>
              </a:rPr>
              <a:t>taskul dat</a:t>
            </a:r>
            <a:r>
              <a:rPr lang="ro-RO" dirty="0"/>
              <a:t> </a:t>
            </a:r>
          </a:p>
          <a:p>
            <a:pPr lvl="1"/>
            <a:r>
              <a:rPr lang="ro-RO" dirty="0"/>
              <a:t>C</a:t>
            </a:r>
            <a:r>
              <a:rPr lang="ro-RO" dirty="0">
                <a:cs typeface="Times New Roman" pitchFamily="18" charset="0"/>
              </a:rPr>
              <a:t>alculatorul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X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dirty="0" smtClean="0">
                <a:cs typeface="Times New Roman" pitchFamily="18" charset="0"/>
              </a:rPr>
              <a:t>este </a:t>
            </a:r>
            <a:r>
              <a:rPr lang="ro-RO" dirty="0">
                <a:cs typeface="Times New Roman" pitchFamily="18" charset="0"/>
              </a:rPr>
              <a:t>cu </a:t>
            </a:r>
            <a:r>
              <a:rPr lang="ro-RO" i="1" dirty="0">
                <a:cs typeface="Times New Roman" pitchFamily="18" charset="0"/>
              </a:rPr>
              <a:t>n</a:t>
            </a:r>
            <a:r>
              <a:rPr lang="ro-RO" dirty="0">
                <a:cs typeface="Times New Roman" pitchFamily="18" charset="0"/>
              </a:rPr>
              <a:t>% mai rapid decât</a:t>
            </a:r>
            <a:r>
              <a:rPr lang="ro-RO" dirty="0"/>
              <a:t>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Y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ro-RO" dirty="0"/>
              <a:t>înseamnă că:</a:t>
            </a:r>
          </a:p>
          <a:p>
            <a:pPr lvl="1"/>
            <a:endParaRPr lang="ro-RO" dirty="0"/>
          </a:p>
          <a:p>
            <a:pPr lvl="1"/>
            <a:endParaRPr lang="ro-RO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26.02.2018</a:t>
            </a:r>
            <a:endParaRPr lang="ro-RO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F1A143B-9E48-48A0-8837-7F395F212E63}" type="slidenum">
              <a:rPr lang="ro-RO"/>
              <a:pPr/>
              <a:t>14</a:t>
            </a:fld>
            <a:endParaRPr lang="ro-RO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/>
              <a:t>Structura sistemelor de calcul (01-1)</a:t>
            </a:r>
          </a:p>
        </p:txBody>
      </p:sp>
      <p:graphicFrame>
        <p:nvGraphicFramePr>
          <p:cNvPr id="208900" name="Object 4"/>
          <p:cNvGraphicFramePr>
            <a:graphicFrameLocks noChangeAspect="1"/>
          </p:cNvGraphicFramePr>
          <p:nvPr/>
        </p:nvGraphicFramePr>
        <p:xfrm>
          <a:off x="3779912" y="5085184"/>
          <a:ext cx="1800225" cy="776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951" name="Equation" r:id="rId4" imgW="1002960" imgH="431640" progId="Equation.3">
                  <p:embed/>
                </p:oleObj>
              </mc:Choice>
              <mc:Fallback>
                <p:oleObj name="Equation" r:id="rId4" imgW="1002960" imgH="43164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9912" y="5085184"/>
                        <a:ext cx="1800225" cy="776288"/>
                      </a:xfrm>
                      <a:prstGeom prst="rect">
                        <a:avLst/>
                      </a:prstGeom>
                      <a:solidFill>
                        <a:srgbClr val="99CCFF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Timpul de </a:t>
            </a:r>
            <a:r>
              <a:rPr lang="ro-RO" dirty="0" smtClean="0"/>
              <a:t>execuție </a:t>
            </a:r>
            <a:r>
              <a:rPr lang="ro-RO" dirty="0"/>
              <a:t>(4)</a:t>
            </a:r>
          </a:p>
        </p:txBody>
      </p:sp>
      <p:sp>
        <p:nvSpPr>
          <p:cNvPr id="212995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412874"/>
            <a:ext cx="8382000" cy="4154984"/>
          </a:xfrm>
        </p:spPr>
        <p:txBody>
          <a:bodyPr/>
          <a:lstStyle/>
          <a:p>
            <a:r>
              <a:rPr lang="ro-RO" dirty="0">
                <a:cs typeface="Times New Roman" pitchFamily="18" charset="0"/>
              </a:rPr>
              <a:t>Deoarece </a:t>
            </a:r>
            <a:r>
              <a:rPr lang="ro-RO" i="1" dirty="0" err="1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t</a:t>
            </a:r>
            <a:r>
              <a:rPr lang="ro-RO" i="1" baseline="-30000" dirty="0" err="1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E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dirty="0">
                <a:cs typeface="Times New Roman" pitchFamily="18" charset="0"/>
              </a:rPr>
              <a:t>este inversul </a:t>
            </a:r>
            <a:r>
              <a:rPr lang="ro-RO" dirty="0" smtClean="0">
                <a:cs typeface="Times New Roman" pitchFamily="18" charset="0"/>
              </a:rPr>
              <a:t>performanței </a:t>
            </a:r>
            <a:r>
              <a:rPr lang="ro-RO" i="1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P</a:t>
            </a:r>
            <a:r>
              <a:rPr lang="ro-RO" dirty="0" smtClean="0"/>
              <a:t>:</a:t>
            </a:r>
            <a:r>
              <a:rPr lang="ro-RO" dirty="0" smtClean="0">
                <a:cs typeface="Times New Roman" pitchFamily="18" charset="0"/>
              </a:rPr>
              <a:t> </a:t>
            </a:r>
            <a:endParaRPr lang="ro-RO" dirty="0"/>
          </a:p>
          <a:p>
            <a:endParaRPr lang="ro-RO" dirty="0"/>
          </a:p>
          <a:p>
            <a:endParaRPr lang="ro-RO" dirty="0"/>
          </a:p>
          <a:p>
            <a:r>
              <a:rPr lang="ro-RO" dirty="0" smtClean="0">
                <a:cs typeface="Times New Roman" pitchFamily="18" charset="0"/>
              </a:rPr>
              <a:t>Creșterea performanței</a:t>
            </a:r>
            <a:r>
              <a:rPr lang="ro-RO" dirty="0" smtClean="0"/>
              <a:t> </a:t>
            </a:r>
            <a:r>
              <a:rPr lang="ro-RO" dirty="0"/>
              <a:t>(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n</a:t>
            </a:r>
            <a:r>
              <a:rPr lang="ro-RO" dirty="0"/>
              <a:t>)</a:t>
            </a:r>
            <a:r>
              <a:rPr lang="ro-RO" dirty="0">
                <a:cs typeface="Times New Roman" pitchFamily="18" charset="0"/>
              </a:rPr>
              <a:t> va fi:</a:t>
            </a:r>
            <a:r>
              <a:rPr lang="ro-RO" dirty="0"/>
              <a:t> </a:t>
            </a:r>
          </a:p>
          <a:p>
            <a:endParaRPr lang="ro-RO" dirty="0"/>
          </a:p>
          <a:p>
            <a:endParaRPr lang="ro-RO" dirty="0"/>
          </a:p>
          <a:p>
            <a:r>
              <a:rPr lang="ro-RO" dirty="0" smtClean="0">
                <a:solidFill>
                  <a:schemeClr val="accent5"/>
                </a:solidFill>
              </a:rPr>
              <a:t>Exemplul 1.1 </a:t>
            </a:r>
            <a:endParaRPr lang="ro-RO" dirty="0">
              <a:solidFill>
                <a:schemeClr val="accent5"/>
              </a:solidFill>
            </a:endParaRP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26.02.2018</a:t>
            </a:r>
            <a:endParaRPr lang="ro-RO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C34394-2301-4CAF-9620-0FED964400F3}" type="slidenum">
              <a:rPr lang="ro-RO"/>
              <a:pPr/>
              <a:t>15</a:t>
            </a:fld>
            <a:endParaRPr lang="ro-RO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/>
              <a:t>Structura sistemelor de calcul (01-1)</a:t>
            </a:r>
          </a:p>
        </p:txBody>
      </p:sp>
      <p:graphicFrame>
        <p:nvGraphicFramePr>
          <p:cNvPr id="212996" name="Object 4"/>
          <p:cNvGraphicFramePr>
            <a:graphicFrameLocks noChangeAspect="1"/>
          </p:cNvGraphicFramePr>
          <p:nvPr/>
        </p:nvGraphicFramePr>
        <p:xfrm>
          <a:off x="3203848" y="2204864"/>
          <a:ext cx="2740025" cy="776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098" name="Equation" r:id="rId4" imgW="1523880" imgH="431640" progId="Equation.3">
                  <p:embed/>
                </p:oleObj>
              </mc:Choice>
              <mc:Fallback>
                <p:oleObj name="Equation" r:id="rId4" imgW="1523880" imgH="43164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3848" y="2204864"/>
                        <a:ext cx="2740025" cy="776288"/>
                      </a:xfrm>
                      <a:prstGeom prst="rect">
                        <a:avLst/>
                      </a:prstGeom>
                      <a:solidFill>
                        <a:srgbClr val="99CCFF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2997" name="Object 5"/>
          <p:cNvGraphicFramePr>
            <a:graphicFrameLocks noChangeAspect="1"/>
          </p:cNvGraphicFramePr>
          <p:nvPr/>
        </p:nvGraphicFramePr>
        <p:xfrm>
          <a:off x="2123728" y="4005064"/>
          <a:ext cx="4930775" cy="776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099" name="Equation" r:id="rId6" imgW="2743200" imgH="431640" progId="Equation.3">
                  <p:embed/>
                </p:oleObj>
              </mc:Choice>
              <mc:Fallback>
                <p:oleObj name="Equation" r:id="rId6" imgW="2743200" imgH="43164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3728" y="4005064"/>
                        <a:ext cx="4930775" cy="776288"/>
                      </a:xfrm>
                      <a:prstGeom prst="rect">
                        <a:avLst/>
                      </a:prstGeom>
                      <a:solidFill>
                        <a:srgbClr val="99CCFF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1. Introducere</a:t>
            </a:r>
          </a:p>
        </p:txBody>
      </p:sp>
      <p:sp>
        <p:nvSpPr>
          <p:cNvPr id="209925" name="Rectangle 5"/>
          <p:cNvSpPr>
            <a:spLocks noGrp="1" noChangeArrowheads="1"/>
          </p:cNvSpPr>
          <p:nvPr>
            <p:ph idx="1"/>
          </p:nvPr>
        </p:nvSpPr>
        <p:spPr>
          <a:xfrm>
            <a:off x="381000" y="1412875"/>
            <a:ext cx="8382000" cy="4493538"/>
          </a:xfrm>
        </p:spPr>
        <p:txBody>
          <a:bodyPr/>
          <a:lstStyle/>
          <a:p>
            <a:endParaRPr lang="en-US" sz="3200" dirty="0" smtClean="0">
              <a:solidFill>
                <a:schemeClr val="tx2"/>
              </a:solidFill>
            </a:endParaRPr>
          </a:p>
          <a:p>
            <a:r>
              <a:rPr lang="ro-RO" dirty="0" smtClean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Indicatori </a:t>
            </a:r>
            <a:r>
              <a:rPr lang="ro-RO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 </a:t>
            </a:r>
            <a:r>
              <a:rPr lang="ro-RO" dirty="0" smtClean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performanță</a:t>
            </a:r>
            <a:endParaRPr lang="ro-RO" dirty="0">
              <a:gradFill>
                <a:gsLst>
                  <a:gs pos="0">
                    <a:schemeClr val="accent3">
                      <a:lumMod val="40000"/>
                      <a:lumOff val="60000"/>
                    </a:schemeClr>
                  </a:gs>
                  <a:gs pos="36000">
                    <a:schemeClr val="accent3">
                      <a:lumMod val="40000"/>
                      <a:lumOff val="60000"/>
                    </a:schemeClr>
                  </a:gs>
                  <a:gs pos="86000">
                    <a:schemeClr val="accent3"/>
                  </a:gs>
                </a:gsLst>
                <a:lin ang="5400000" scaled="0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/>
            <a:r>
              <a:rPr lang="ro-RO" dirty="0"/>
              <a:t>Timpul de </a:t>
            </a:r>
            <a:r>
              <a:rPr lang="ro-RO" dirty="0" smtClean="0"/>
              <a:t>execuție</a:t>
            </a:r>
            <a:endParaRPr lang="ro-RO" dirty="0"/>
          </a:p>
          <a:p>
            <a:pPr lvl="1"/>
            <a:r>
              <a:rPr lang="ro-RO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Timpul UCP</a:t>
            </a:r>
          </a:p>
          <a:p>
            <a:pPr lvl="1"/>
            <a:r>
              <a:rPr lang="ro-RO" dirty="0"/>
              <a:t>MIPS</a:t>
            </a:r>
          </a:p>
          <a:p>
            <a:pPr lvl="1"/>
            <a:r>
              <a:rPr lang="ro-RO" dirty="0"/>
              <a:t>MFLOPS</a:t>
            </a:r>
          </a:p>
          <a:p>
            <a:r>
              <a:rPr lang="ro-RO" dirty="0"/>
              <a:t>Programe de evaluare a </a:t>
            </a:r>
            <a:r>
              <a:rPr lang="ro-RO" dirty="0" smtClean="0"/>
              <a:t>performanțelor</a:t>
            </a:r>
            <a:endParaRPr lang="ro-RO" dirty="0"/>
          </a:p>
          <a:p>
            <a:r>
              <a:rPr lang="ro-RO" dirty="0"/>
              <a:t>Legea lui </a:t>
            </a:r>
            <a:r>
              <a:rPr lang="ro-RO" dirty="0" err="1"/>
              <a:t>Amdahl</a:t>
            </a:r>
            <a:endParaRPr lang="ro-R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26.02.2018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BD9572F-C9A1-4787-9FF0-80DCEFF4D973}" type="slidenum">
              <a:rPr lang="ro-RO"/>
              <a:pPr/>
              <a:t>16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/>
              <a:t>Structura sistemelor de calcul (01-1)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Timpul UCP (1)</a:t>
            </a:r>
          </a:p>
        </p:txBody>
      </p:sp>
      <p:sp>
        <p:nvSpPr>
          <p:cNvPr id="214019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412875"/>
            <a:ext cx="8382000" cy="4896445"/>
          </a:xfrm>
        </p:spPr>
        <p:txBody>
          <a:bodyPr>
            <a:normAutofit lnSpcReduction="10000"/>
          </a:bodyPr>
          <a:lstStyle/>
          <a:p>
            <a:r>
              <a:rPr lang="ro-RO" dirty="0" smtClean="0"/>
              <a:t>T</a:t>
            </a:r>
            <a:r>
              <a:rPr lang="ro-RO" dirty="0" smtClean="0">
                <a:cs typeface="Times New Roman" pitchFamily="18" charset="0"/>
              </a:rPr>
              <a:t>impul </a:t>
            </a:r>
            <a:r>
              <a:rPr lang="ro-RO" dirty="0">
                <a:cs typeface="Times New Roman" pitchFamily="18" charset="0"/>
              </a:rPr>
              <a:t>UCP (</a:t>
            </a:r>
            <a:r>
              <a:rPr lang="ro-RO" i="1" dirty="0" err="1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t</a:t>
            </a:r>
            <a:r>
              <a:rPr lang="ro-RO" i="1" baseline="-30000" dirty="0" err="1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UCP</a:t>
            </a:r>
            <a:r>
              <a:rPr lang="ro-RO" dirty="0">
                <a:cs typeface="Times New Roman" pitchFamily="18" charset="0"/>
              </a:rPr>
              <a:t>) poate fi exprimat </a:t>
            </a:r>
            <a:r>
              <a:rPr lang="ro-RO" dirty="0"/>
              <a:t>prin:</a:t>
            </a:r>
          </a:p>
          <a:p>
            <a:endParaRPr lang="ro-RO" sz="4000" dirty="0"/>
          </a:p>
          <a:p>
            <a:pPr lvl="1"/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C</a:t>
            </a:r>
            <a:r>
              <a:rPr lang="ro-RO" i="1" baseline="-30000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UCP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dirty="0"/>
              <a:t>– nu</a:t>
            </a:r>
            <a:r>
              <a:rPr lang="ro-RO" dirty="0">
                <a:cs typeface="Times New Roman" pitchFamily="18" charset="0"/>
              </a:rPr>
              <a:t>m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rul ciclurilor de ceas ale UCP necesare pentru </a:t>
            </a:r>
            <a:r>
              <a:rPr lang="ro-RO" dirty="0" smtClean="0">
                <a:cs typeface="Times New Roman" pitchFamily="18" charset="0"/>
              </a:rPr>
              <a:t>execuția </a:t>
            </a:r>
            <a:r>
              <a:rPr lang="ro-RO" dirty="0">
                <a:cs typeface="Times New Roman" pitchFamily="18" charset="0"/>
              </a:rPr>
              <a:t>programului</a:t>
            </a:r>
            <a:endParaRPr lang="ro-RO" dirty="0"/>
          </a:p>
          <a:p>
            <a:pPr lvl="1"/>
            <a:r>
              <a:rPr lang="ro-RO" i="1" dirty="0" err="1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t</a:t>
            </a:r>
            <a:r>
              <a:rPr lang="ro-RO" i="1" baseline="-30000" dirty="0" err="1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C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dirty="0"/>
              <a:t>– d</a:t>
            </a:r>
            <a:r>
              <a:rPr lang="ro-RO" dirty="0">
                <a:cs typeface="Times New Roman" pitchFamily="18" charset="0"/>
              </a:rPr>
              <a:t>urata ciclului de ceas </a:t>
            </a:r>
            <a:r>
              <a:rPr lang="ro-RO" dirty="0"/>
              <a:t> </a:t>
            </a:r>
          </a:p>
          <a:p>
            <a:r>
              <a:rPr lang="ro-RO" dirty="0"/>
              <a:t>O altă exprimare:</a:t>
            </a:r>
          </a:p>
          <a:p>
            <a:endParaRPr lang="ro-RO" dirty="0"/>
          </a:p>
          <a:p>
            <a:endParaRPr lang="ro-RO" dirty="0"/>
          </a:p>
          <a:p>
            <a:pPr lvl="1"/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f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dirty="0"/>
              <a:t>–</a:t>
            </a:r>
            <a:r>
              <a:rPr lang="ro-RO" dirty="0">
                <a:cs typeface="Times New Roman" pitchFamily="18" charset="0"/>
              </a:rPr>
              <a:t> </a:t>
            </a:r>
            <a:r>
              <a:rPr lang="ro-RO" dirty="0" smtClean="0">
                <a:cs typeface="Times New Roman" pitchFamily="18" charset="0"/>
              </a:rPr>
              <a:t>frecvența semnalului de ceas</a:t>
            </a:r>
            <a:r>
              <a:rPr lang="ro-RO" dirty="0" smtClean="0"/>
              <a:t> </a:t>
            </a:r>
            <a:endParaRPr lang="ro-RO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26.02.2018</a:t>
            </a:r>
            <a:endParaRPr lang="ro-RO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6234CF3-27FE-463D-9FE0-C86F908D286F}" type="slidenum">
              <a:rPr lang="ro-RO"/>
              <a:pPr/>
              <a:t>17</a:t>
            </a:fld>
            <a:endParaRPr lang="ro-RO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/>
              <a:t>Structura sistemelor de calcul (01-1)</a:t>
            </a:r>
          </a:p>
        </p:txBody>
      </p:sp>
      <p:graphicFrame>
        <p:nvGraphicFramePr>
          <p:cNvPr id="21402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8948796"/>
              </p:ext>
            </p:extLst>
          </p:nvPr>
        </p:nvGraphicFramePr>
        <p:xfrm>
          <a:off x="3851916" y="4509120"/>
          <a:ext cx="1425575" cy="798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124" name="Equation" r:id="rId4" imgW="749160" imgH="419040" progId="Equation.3">
                  <p:embed/>
                </p:oleObj>
              </mc:Choice>
              <mc:Fallback>
                <p:oleObj name="Equation" r:id="rId4" imgW="749160" imgH="41904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1916" y="4509120"/>
                        <a:ext cx="1425575" cy="798513"/>
                      </a:xfrm>
                      <a:prstGeom prst="rect">
                        <a:avLst/>
                      </a:prstGeom>
                      <a:solidFill>
                        <a:srgbClr val="99CCFF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402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9937127"/>
              </p:ext>
            </p:extLst>
          </p:nvPr>
        </p:nvGraphicFramePr>
        <p:xfrm>
          <a:off x="3654273" y="2060848"/>
          <a:ext cx="1820863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125" name="Microsoft Equation 3.0" r:id="rId6" imgW="952200" imgH="228600" progId="Equation.3">
                  <p:embed/>
                </p:oleObj>
              </mc:Choice>
              <mc:Fallback>
                <p:oleObj name="Microsoft Equation 3.0" r:id="rId6" imgW="952200" imgH="22860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4273" y="2060848"/>
                        <a:ext cx="1820863" cy="434975"/>
                      </a:xfrm>
                      <a:prstGeom prst="rect">
                        <a:avLst/>
                      </a:prstGeom>
                      <a:solidFill>
                        <a:srgbClr val="99CCFF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Timpul UCP (2)</a:t>
            </a:r>
          </a:p>
        </p:txBody>
      </p:sp>
      <p:sp>
        <p:nvSpPr>
          <p:cNvPr id="215043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412875"/>
            <a:ext cx="8382000" cy="5152180"/>
          </a:xfrm>
        </p:spPr>
        <p:txBody>
          <a:bodyPr/>
          <a:lstStyle/>
          <a:p>
            <a:r>
              <a:rPr lang="ro-RO" dirty="0"/>
              <a:t>S</a:t>
            </a:r>
            <a:r>
              <a:rPr lang="ro-RO" dirty="0">
                <a:cs typeface="Times New Roman" pitchFamily="18" charset="0"/>
              </a:rPr>
              <a:t>e poate considera num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rul de </a:t>
            </a:r>
            <a:r>
              <a:rPr lang="ro-RO" dirty="0" smtClean="0">
                <a:cs typeface="Times New Roman" pitchFamily="18" charset="0"/>
              </a:rPr>
              <a:t>instrucțiuni </a:t>
            </a:r>
            <a:r>
              <a:rPr lang="ro-RO" dirty="0">
                <a:cs typeface="Times New Roman" pitchFamily="18" charset="0"/>
              </a:rPr>
              <a:t>executate</a:t>
            </a:r>
            <a:r>
              <a:rPr lang="ro-RO" dirty="0"/>
              <a:t> </a:t>
            </a:r>
            <a:r>
              <a:rPr lang="ro-RO" dirty="0">
                <a:sym typeface="Symbol" pitchFamily="18" charset="2"/>
              </a:rPr>
              <a:t></a:t>
            </a:r>
            <a:r>
              <a:rPr lang="ro-RO" dirty="0">
                <a:cs typeface="Times New Roman" pitchFamily="18" charset="0"/>
              </a:rPr>
              <a:t>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contorul de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instrucțiuni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N</a:t>
            </a:r>
          </a:p>
          <a:p>
            <a:r>
              <a:rPr lang="ro-RO" dirty="0"/>
              <a:t>N</a:t>
            </a:r>
            <a:r>
              <a:rPr lang="ro-RO" dirty="0">
                <a:cs typeface="Times New Roman" pitchFamily="18" charset="0"/>
              </a:rPr>
              <a:t>um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rul mediu al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ciclurilor de ceas pe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instrucțiune</a:t>
            </a:r>
            <a:r>
              <a:rPr lang="ro-RO" dirty="0" smtClean="0">
                <a:cs typeface="Times New Roman" pitchFamily="18" charset="0"/>
              </a:rPr>
              <a:t> </a:t>
            </a:r>
            <a:r>
              <a:rPr lang="ro-RO" dirty="0">
                <a:cs typeface="Times New Roman" pitchFamily="18" charset="0"/>
              </a:rPr>
              <a:t>(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CPI</a:t>
            </a:r>
            <a:r>
              <a:rPr lang="ro-RO" dirty="0">
                <a:cs typeface="Times New Roman" pitchFamily="18" charset="0"/>
              </a:rPr>
              <a:t>):</a:t>
            </a:r>
            <a:r>
              <a:rPr lang="ro-RO" dirty="0"/>
              <a:t> </a:t>
            </a:r>
          </a:p>
          <a:p>
            <a:endParaRPr lang="ro-RO" dirty="0"/>
          </a:p>
          <a:p>
            <a:endParaRPr lang="ro-RO" dirty="0"/>
          </a:p>
          <a:p>
            <a:r>
              <a:rPr lang="ro-RO" dirty="0"/>
              <a:t>Timpul UCP poate fi definit ca:</a:t>
            </a:r>
          </a:p>
          <a:p>
            <a:endParaRPr lang="ro-RO" dirty="0"/>
          </a:p>
          <a:p>
            <a:endParaRPr lang="ro-RO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26.02.2018</a:t>
            </a:r>
            <a:endParaRPr lang="ro-RO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AA8DD65-BEFB-4E9A-B94A-398C9D99CA31}" type="slidenum">
              <a:rPr lang="ro-RO"/>
              <a:pPr/>
              <a:t>18</a:t>
            </a:fld>
            <a:endParaRPr lang="ro-RO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/>
              <a:t>Structura sistemelor de calcul (01-1)</a:t>
            </a:r>
          </a:p>
        </p:txBody>
      </p:sp>
      <p:graphicFrame>
        <p:nvGraphicFramePr>
          <p:cNvPr id="285696" name="Object 1024"/>
          <p:cNvGraphicFramePr>
            <a:graphicFrameLocks noChangeAspect="1"/>
          </p:cNvGraphicFramePr>
          <p:nvPr/>
        </p:nvGraphicFramePr>
        <p:xfrm>
          <a:off x="3851920" y="3789040"/>
          <a:ext cx="1425575" cy="750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5798" name="Equation" r:id="rId4" imgW="749160" imgH="393480" progId="Equation.3">
                  <p:embed/>
                </p:oleObj>
              </mc:Choice>
              <mc:Fallback>
                <p:oleObj name="Equation" r:id="rId4" imgW="749160" imgH="393480" progId="Equation.3">
                  <p:embed/>
                  <p:pic>
                    <p:nvPicPr>
                      <p:cNvPr id="0" name="Picture 10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1920" y="3789040"/>
                        <a:ext cx="1425575" cy="750887"/>
                      </a:xfrm>
                      <a:prstGeom prst="rect">
                        <a:avLst/>
                      </a:prstGeom>
                      <a:solidFill>
                        <a:srgbClr val="99CCFF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5697" name="Object 1025"/>
          <p:cNvGraphicFramePr>
            <a:graphicFrameLocks noChangeAspect="1"/>
          </p:cNvGraphicFramePr>
          <p:nvPr/>
        </p:nvGraphicFramePr>
        <p:xfrm>
          <a:off x="2843808" y="5517232"/>
          <a:ext cx="3497263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5799" name="Equation" r:id="rId6" imgW="1828800" imgH="228600" progId="Equation.3">
                  <p:embed/>
                </p:oleObj>
              </mc:Choice>
              <mc:Fallback>
                <p:oleObj name="Equation" r:id="rId6" imgW="1828800" imgH="228600" progId="Equation.3">
                  <p:embed/>
                  <p:pic>
                    <p:nvPicPr>
                      <p:cNvPr id="0" name="Picture 10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808" y="5517232"/>
                        <a:ext cx="3497263" cy="434975"/>
                      </a:xfrm>
                      <a:prstGeom prst="rect">
                        <a:avLst/>
                      </a:prstGeom>
                      <a:solidFill>
                        <a:srgbClr val="99CCFF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Timpul UCP (3)</a:t>
            </a:r>
          </a:p>
        </p:txBody>
      </p:sp>
      <p:sp>
        <p:nvSpPr>
          <p:cNvPr id="216067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412875"/>
            <a:ext cx="8382000" cy="4896445"/>
          </a:xfrm>
        </p:spPr>
        <p:txBody>
          <a:bodyPr>
            <a:normAutofit lnSpcReduction="10000"/>
          </a:bodyPr>
          <a:lstStyle/>
          <a:p>
            <a:r>
              <a:rPr lang="ro-RO" dirty="0"/>
              <a:t>sau:</a:t>
            </a:r>
          </a:p>
          <a:p>
            <a:endParaRPr lang="ro-RO" dirty="0"/>
          </a:p>
          <a:p>
            <a:endParaRPr lang="ro-RO" dirty="0"/>
          </a:p>
          <a:p>
            <a:r>
              <a:rPr lang="ro-RO" dirty="0"/>
              <a:t>N</a:t>
            </a:r>
            <a:r>
              <a:rPr lang="ro-RO" dirty="0">
                <a:cs typeface="Times New Roman" pitchFamily="18" charset="0"/>
              </a:rPr>
              <a:t>um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rul total al ciclurilor de ceas ale UCP:</a:t>
            </a:r>
            <a:r>
              <a:rPr lang="ro-RO" dirty="0"/>
              <a:t> </a:t>
            </a:r>
          </a:p>
          <a:p>
            <a:endParaRPr lang="ro-RO" dirty="0"/>
          </a:p>
          <a:p>
            <a:endParaRPr lang="ro-RO" dirty="0"/>
          </a:p>
          <a:p>
            <a:pPr lvl="1"/>
            <a:r>
              <a:rPr lang="ro-RO" i="1" dirty="0" err="1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CPI</a:t>
            </a:r>
            <a:r>
              <a:rPr lang="ro-RO" i="1" baseline="-30000" dirty="0" err="1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i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dirty="0"/>
              <a:t>– numărul</a:t>
            </a:r>
            <a:r>
              <a:rPr lang="ro-RO" i="1" dirty="0"/>
              <a:t> </a:t>
            </a:r>
            <a:r>
              <a:rPr lang="ro-RO" dirty="0">
                <a:cs typeface="Times New Roman" pitchFamily="18" charset="0"/>
              </a:rPr>
              <a:t>ciclurilor de ceas pentru </a:t>
            </a:r>
            <a:r>
              <a:rPr lang="ro-RO" dirty="0" smtClean="0">
                <a:cs typeface="Times New Roman" pitchFamily="18" charset="0"/>
              </a:rPr>
              <a:t>instrucțiunea</a:t>
            </a:r>
            <a:r>
              <a:rPr lang="ro-RO" i="1" dirty="0" smtClean="0">
                <a:cs typeface="Times New Roman" pitchFamily="18" charset="0"/>
              </a:rPr>
              <a:t>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i </a:t>
            </a:r>
            <a:endParaRPr lang="ro-RO" i="1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pPr lvl="1"/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I</a:t>
            </a:r>
            <a:r>
              <a:rPr lang="ro-RO" i="1" baseline="-30000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i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dirty="0"/>
              <a:t>– </a:t>
            </a:r>
            <a:r>
              <a:rPr lang="ro-RO" dirty="0">
                <a:cs typeface="Times New Roman" pitchFamily="18" charset="0"/>
              </a:rPr>
              <a:t>num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rul de </a:t>
            </a:r>
            <a:r>
              <a:rPr lang="ro-RO" dirty="0" smtClean="0">
                <a:cs typeface="Times New Roman" pitchFamily="18" charset="0"/>
              </a:rPr>
              <a:t>execuții </a:t>
            </a:r>
            <a:r>
              <a:rPr lang="ro-RO" dirty="0">
                <a:cs typeface="Times New Roman" pitchFamily="18" charset="0"/>
              </a:rPr>
              <a:t>ale </a:t>
            </a:r>
            <a:r>
              <a:rPr lang="ro-RO" dirty="0" smtClean="0">
                <a:cs typeface="Times New Roman" pitchFamily="18" charset="0"/>
              </a:rPr>
              <a:t>instrucțiunii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i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26.02.2018</a:t>
            </a:r>
            <a:endParaRPr lang="ro-RO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315D13E-73A5-4608-9F6E-B570BA32A49E}" type="slidenum">
              <a:rPr lang="ro-RO"/>
              <a:pPr/>
              <a:t>19</a:t>
            </a:fld>
            <a:endParaRPr lang="ro-RO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/>
              <a:t>Structura sistemelor de calcul (01-1)</a:t>
            </a:r>
          </a:p>
        </p:txBody>
      </p:sp>
      <p:graphicFrame>
        <p:nvGraphicFramePr>
          <p:cNvPr id="286720" name="Object 1024"/>
          <p:cNvGraphicFramePr>
            <a:graphicFrameLocks noChangeAspect="1"/>
          </p:cNvGraphicFramePr>
          <p:nvPr/>
        </p:nvGraphicFramePr>
        <p:xfrm>
          <a:off x="3635896" y="1916832"/>
          <a:ext cx="1787525" cy="798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822" name="Equation" r:id="rId4" imgW="939600" imgH="419040" progId="Equation.3">
                  <p:embed/>
                </p:oleObj>
              </mc:Choice>
              <mc:Fallback>
                <p:oleObj name="Equation" r:id="rId4" imgW="939600" imgH="419040" progId="Equation.3">
                  <p:embed/>
                  <p:pic>
                    <p:nvPicPr>
                      <p:cNvPr id="0" name="Picture 10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5896" y="1916832"/>
                        <a:ext cx="1787525" cy="798513"/>
                      </a:xfrm>
                      <a:prstGeom prst="rect">
                        <a:avLst/>
                      </a:prstGeom>
                      <a:solidFill>
                        <a:srgbClr val="99CCFF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21" name="Object 1025"/>
          <p:cNvGraphicFramePr>
            <a:graphicFrameLocks noChangeAspect="1"/>
          </p:cNvGraphicFramePr>
          <p:nvPr/>
        </p:nvGraphicFramePr>
        <p:xfrm>
          <a:off x="3347864" y="3645024"/>
          <a:ext cx="2457450" cy="819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823" name="Equation" r:id="rId6" imgW="1295280" imgH="431640" progId="Equation.3">
                  <p:embed/>
                </p:oleObj>
              </mc:Choice>
              <mc:Fallback>
                <p:oleObj name="Equation" r:id="rId6" imgW="1295280" imgH="431640" progId="Equation.3">
                  <p:embed/>
                  <p:pic>
                    <p:nvPicPr>
                      <p:cNvPr id="0" name="Picture 10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7864" y="3645024"/>
                        <a:ext cx="2457450" cy="819150"/>
                      </a:xfrm>
                      <a:prstGeom prst="rect">
                        <a:avLst/>
                      </a:prstGeom>
                      <a:solidFill>
                        <a:srgbClr val="99CCFF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0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Timpul UCP (4)</a:t>
            </a:r>
          </a:p>
        </p:txBody>
      </p:sp>
      <p:sp>
        <p:nvSpPr>
          <p:cNvPr id="217091" name="Rectangle 3"/>
          <p:cNvSpPr>
            <a:spLocks noGrp="1" noChangeArrowheads="1"/>
          </p:cNvSpPr>
          <p:nvPr>
            <p:ph idx="1"/>
          </p:nvPr>
        </p:nvSpPr>
        <p:spPr>
          <a:xfrm>
            <a:off x="395536" y="1371600"/>
            <a:ext cx="8352928" cy="4937720"/>
          </a:xfrm>
        </p:spPr>
        <p:txBody>
          <a:bodyPr>
            <a:normAutofit lnSpcReduction="10000"/>
          </a:bodyPr>
          <a:lstStyle/>
          <a:p>
            <a:r>
              <a:rPr lang="ro-RO" dirty="0"/>
              <a:t>Rezultă pentru timpul UCP:</a:t>
            </a:r>
          </a:p>
          <a:p>
            <a:endParaRPr lang="ro-RO" dirty="0"/>
          </a:p>
          <a:p>
            <a:endParaRPr lang="ro-RO" dirty="0"/>
          </a:p>
          <a:p>
            <a:r>
              <a:rPr lang="ro-RO" dirty="0"/>
              <a:t>Nu</a:t>
            </a:r>
            <a:r>
              <a:rPr lang="ro-RO" dirty="0">
                <a:cs typeface="Times New Roman" pitchFamily="18" charset="0"/>
              </a:rPr>
              <a:t>m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rul total al ciclurilor pe </a:t>
            </a:r>
            <a:r>
              <a:rPr lang="ro-RO" dirty="0" smtClean="0">
                <a:cs typeface="Times New Roman" pitchFamily="18" charset="0"/>
              </a:rPr>
              <a:t>instrucțiune</a:t>
            </a:r>
            <a:r>
              <a:rPr lang="ro-RO" dirty="0"/>
              <a:t>:</a:t>
            </a:r>
          </a:p>
          <a:p>
            <a:endParaRPr lang="ro-RO" dirty="0"/>
          </a:p>
          <a:p>
            <a:endParaRPr lang="ro-RO" dirty="0"/>
          </a:p>
          <a:p>
            <a:endParaRPr lang="ro-RO" dirty="0"/>
          </a:p>
          <a:p>
            <a:pPr lvl="1"/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F</a:t>
            </a:r>
            <a:r>
              <a:rPr lang="ro-RO" i="1" baseline="-30000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i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dirty="0"/>
              <a:t>– </a:t>
            </a:r>
            <a:r>
              <a:rPr lang="ro-RO" dirty="0" smtClean="0"/>
              <a:t>frecvența </a:t>
            </a:r>
            <a:r>
              <a:rPr lang="ro-RO" dirty="0" smtClean="0">
                <a:cs typeface="Times New Roman" pitchFamily="18" charset="0"/>
              </a:rPr>
              <a:t>instrucțiunii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i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</a:p>
          <a:p>
            <a:r>
              <a:rPr lang="ro-RO" dirty="0">
                <a:solidFill>
                  <a:schemeClr val="accent5"/>
                </a:solidFill>
              </a:rPr>
              <a:t>Exemplul 1.2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26.02.2018</a:t>
            </a:r>
            <a:endParaRPr lang="ro-RO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87AAA95-6B52-4877-9297-86A89D0B3FFF}" type="slidenum">
              <a:rPr lang="ro-RO"/>
              <a:pPr/>
              <a:t>20</a:t>
            </a:fld>
            <a:endParaRPr lang="ro-RO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/>
              <a:t>Structura sistemelor de calcul (01-1)</a:t>
            </a:r>
          </a:p>
        </p:txBody>
      </p:sp>
      <p:graphicFrame>
        <p:nvGraphicFramePr>
          <p:cNvPr id="287744" name="Object 1024"/>
          <p:cNvGraphicFramePr>
            <a:graphicFrameLocks noChangeAspect="1"/>
          </p:cNvGraphicFramePr>
          <p:nvPr/>
        </p:nvGraphicFramePr>
        <p:xfrm>
          <a:off x="2555776" y="1988840"/>
          <a:ext cx="4094163" cy="819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846" name="Equation" r:id="rId4" imgW="2158920" imgH="431640" progId="Equation.3">
                  <p:embed/>
                </p:oleObj>
              </mc:Choice>
              <mc:Fallback>
                <p:oleObj name="Equation" r:id="rId4" imgW="2158920" imgH="431640" progId="Equation.3">
                  <p:embed/>
                  <p:pic>
                    <p:nvPicPr>
                      <p:cNvPr id="0" name="Picture 10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776" y="1988840"/>
                        <a:ext cx="4094163" cy="819150"/>
                      </a:xfrm>
                      <a:prstGeom prst="rect">
                        <a:avLst/>
                      </a:prstGeom>
                      <a:solidFill>
                        <a:srgbClr val="99CCFF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7745" name="Object 1025"/>
          <p:cNvGraphicFramePr>
            <a:graphicFrameLocks noChangeAspect="1"/>
          </p:cNvGraphicFramePr>
          <p:nvPr/>
        </p:nvGraphicFramePr>
        <p:xfrm>
          <a:off x="1043608" y="3717032"/>
          <a:ext cx="7080250" cy="1212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847" name="Equation" r:id="rId6" imgW="3720960" imgH="634680" progId="Equation.3">
                  <p:embed/>
                </p:oleObj>
              </mc:Choice>
              <mc:Fallback>
                <p:oleObj name="Equation" r:id="rId6" imgW="3720960" imgH="634680" progId="Equation.3">
                  <p:embed/>
                  <p:pic>
                    <p:nvPicPr>
                      <p:cNvPr id="0" name="Picture 10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3608" y="3717032"/>
                        <a:ext cx="7080250" cy="1212850"/>
                      </a:xfrm>
                      <a:prstGeom prst="rect">
                        <a:avLst/>
                      </a:prstGeom>
                      <a:solidFill>
                        <a:srgbClr val="99CCFF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1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1. Introducere</a:t>
            </a:r>
          </a:p>
        </p:txBody>
      </p:sp>
      <p:sp>
        <p:nvSpPr>
          <p:cNvPr id="218115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412875"/>
            <a:ext cx="8382000" cy="4493538"/>
          </a:xfrm>
        </p:spPr>
        <p:txBody>
          <a:bodyPr/>
          <a:lstStyle/>
          <a:p>
            <a:endParaRPr lang="en-US" sz="3200" dirty="0" smtClean="0">
              <a:solidFill>
                <a:schemeClr val="tx2"/>
              </a:solidFill>
            </a:endParaRPr>
          </a:p>
          <a:p>
            <a:r>
              <a:rPr lang="ro-RO" dirty="0" smtClean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Indicatori </a:t>
            </a:r>
            <a:r>
              <a:rPr lang="ro-RO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 </a:t>
            </a:r>
            <a:r>
              <a:rPr lang="ro-RO" dirty="0" smtClean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performanță</a:t>
            </a:r>
            <a:endParaRPr lang="ro-RO" dirty="0">
              <a:gradFill>
                <a:gsLst>
                  <a:gs pos="0">
                    <a:schemeClr val="accent3">
                      <a:lumMod val="40000"/>
                      <a:lumOff val="60000"/>
                    </a:schemeClr>
                  </a:gs>
                  <a:gs pos="36000">
                    <a:schemeClr val="accent3">
                      <a:lumMod val="40000"/>
                      <a:lumOff val="60000"/>
                    </a:schemeClr>
                  </a:gs>
                  <a:gs pos="86000">
                    <a:schemeClr val="accent3"/>
                  </a:gs>
                </a:gsLst>
                <a:lin ang="5400000" scaled="0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/>
            <a:r>
              <a:rPr lang="ro-RO" dirty="0"/>
              <a:t>Timpul de </a:t>
            </a:r>
            <a:r>
              <a:rPr lang="ro-RO" dirty="0" smtClean="0"/>
              <a:t>execuție</a:t>
            </a:r>
            <a:endParaRPr lang="ro-RO" dirty="0"/>
          </a:p>
          <a:p>
            <a:pPr lvl="1"/>
            <a:r>
              <a:rPr lang="ro-RO" dirty="0"/>
              <a:t>Timpul UCP</a:t>
            </a:r>
          </a:p>
          <a:p>
            <a:pPr lvl="1"/>
            <a:r>
              <a:rPr lang="ro-RO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MIPS</a:t>
            </a:r>
          </a:p>
          <a:p>
            <a:pPr lvl="1"/>
            <a:r>
              <a:rPr lang="ro-RO" dirty="0"/>
              <a:t>MFLOPS</a:t>
            </a:r>
          </a:p>
          <a:p>
            <a:r>
              <a:rPr lang="ro-RO" dirty="0"/>
              <a:t>Programe de evaluare a </a:t>
            </a:r>
            <a:r>
              <a:rPr lang="ro-RO" dirty="0" smtClean="0"/>
              <a:t>performanțelor</a:t>
            </a:r>
            <a:endParaRPr lang="ro-RO" dirty="0"/>
          </a:p>
          <a:p>
            <a:r>
              <a:rPr lang="ro-RO" dirty="0"/>
              <a:t>Legea lui </a:t>
            </a:r>
            <a:r>
              <a:rPr lang="ro-RO" dirty="0" err="1"/>
              <a:t>Amdahl</a:t>
            </a:r>
            <a:r>
              <a:rPr lang="ro-RO" dirty="0"/>
              <a:t>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26.02.2018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F3BD788-2792-4103-BA34-D311C01DC473}" type="slidenum">
              <a:rPr lang="ro-RO"/>
              <a:pPr/>
              <a:t>21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/>
              <a:t>Structura sistemelor de calcul (01-1)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MIPS</a:t>
            </a:r>
            <a:r>
              <a:rPr lang="en-US"/>
              <a:t> </a:t>
            </a:r>
            <a:r>
              <a:rPr lang="ro-RO"/>
              <a:t>(1)</a:t>
            </a:r>
          </a:p>
        </p:txBody>
      </p:sp>
      <p:sp>
        <p:nvSpPr>
          <p:cNvPr id="219139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412875"/>
            <a:ext cx="8382000" cy="4896445"/>
          </a:xfrm>
        </p:spPr>
        <p:txBody>
          <a:bodyPr>
            <a:normAutofit lnSpcReduction="10000"/>
          </a:bodyPr>
          <a:lstStyle/>
          <a:p>
            <a:r>
              <a:rPr lang="ro-RO" dirty="0">
                <a:cs typeface="Times New Roman" pitchFamily="18" charset="0"/>
              </a:rPr>
              <a:t>Cel mai important indicator de </a:t>
            </a:r>
            <a:r>
              <a:rPr lang="ro-RO" dirty="0" smtClean="0">
                <a:cs typeface="Times New Roman" pitchFamily="18" charset="0"/>
              </a:rPr>
              <a:t>performanț</a:t>
            </a:r>
            <a:r>
              <a:rPr lang="ro-RO" dirty="0" smtClean="0"/>
              <a:t>ă</a:t>
            </a:r>
            <a:r>
              <a:rPr lang="ro-RO" dirty="0"/>
              <a:t>:</a:t>
            </a:r>
            <a:r>
              <a:rPr lang="ro-RO" dirty="0">
                <a:cs typeface="Times New Roman" pitchFamily="18" charset="0"/>
              </a:rPr>
              <a:t> </a:t>
            </a:r>
            <a:r>
              <a:rPr lang="ro-RO" dirty="0" smtClean="0">
                <a:cs typeface="Times New Roman" pitchFamily="18" charset="0"/>
              </a:rPr>
              <a:t>timpul </a:t>
            </a:r>
            <a:r>
              <a:rPr lang="ro-RO" dirty="0">
                <a:cs typeface="Times New Roman" pitchFamily="18" charset="0"/>
              </a:rPr>
              <a:t>de </a:t>
            </a:r>
            <a:r>
              <a:rPr lang="ro-RO" dirty="0" smtClean="0">
                <a:cs typeface="Times New Roman" pitchFamily="18" charset="0"/>
              </a:rPr>
              <a:t>execuție </a:t>
            </a:r>
            <a:r>
              <a:rPr lang="ro-RO" dirty="0">
                <a:cs typeface="Times New Roman" pitchFamily="18" charset="0"/>
              </a:rPr>
              <a:t>al programelor reale</a:t>
            </a:r>
            <a:endParaRPr lang="ro-RO" dirty="0"/>
          </a:p>
          <a:p>
            <a:r>
              <a:rPr lang="ro-RO" dirty="0" smtClean="0">
                <a:cs typeface="Times New Roman" pitchFamily="18" charset="0"/>
              </a:rPr>
              <a:t>Totuși</a:t>
            </a:r>
            <a:r>
              <a:rPr lang="ro-RO" dirty="0">
                <a:cs typeface="Times New Roman" pitchFamily="18" charset="0"/>
              </a:rPr>
              <a:t>, s‑au adoptat </a:t>
            </a:r>
            <a:r>
              <a:rPr lang="ro-RO" dirty="0" smtClean="0">
                <a:cs typeface="Times New Roman" pitchFamily="18" charset="0"/>
              </a:rPr>
              <a:t>diferi</a:t>
            </a:r>
            <a:r>
              <a:rPr lang="ro-RO" dirty="0"/>
              <a:t>ț</a:t>
            </a:r>
            <a:r>
              <a:rPr lang="ro-RO" dirty="0" smtClean="0">
                <a:cs typeface="Times New Roman" pitchFamily="18" charset="0"/>
              </a:rPr>
              <a:t>i </a:t>
            </a:r>
            <a:r>
              <a:rPr lang="ro-RO" dirty="0">
                <a:cs typeface="Times New Roman" pitchFamily="18" charset="0"/>
              </a:rPr>
              <a:t>indicatori populari de </a:t>
            </a:r>
            <a:r>
              <a:rPr lang="ro-RO" dirty="0" smtClean="0">
                <a:cs typeface="Times New Roman" pitchFamily="18" charset="0"/>
              </a:rPr>
              <a:t>performanț</a:t>
            </a:r>
            <a:r>
              <a:rPr lang="ro-RO" dirty="0" smtClean="0"/>
              <a:t>ă</a:t>
            </a:r>
            <a:endParaRPr lang="ro-RO" dirty="0"/>
          </a:p>
          <a:p>
            <a:r>
              <a:rPr lang="ro-RO" dirty="0"/>
              <a:t>Unul din </a:t>
            </a:r>
            <a:r>
              <a:rPr lang="ro-RO" dirty="0">
                <a:cs typeface="Times New Roman" pitchFamily="18" charset="0"/>
              </a:rPr>
              <a:t>indicator</a:t>
            </a:r>
            <a:r>
              <a:rPr lang="ro-RO" dirty="0"/>
              <a:t>i este</a:t>
            </a:r>
            <a:r>
              <a:rPr lang="ro-RO" dirty="0">
                <a:cs typeface="Times New Roman" pitchFamily="18" charset="0"/>
              </a:rPr>
              <a:t> numit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MIPS </a:t>
            </a:r>
            <a:r>
              <a:rPr lang="ro-RO" dirty="0">
                <a:cs typeface="Times New Roman" pitchFamily="18" charset="0"/>
              </a:rPr>
              <a:t>(</a:t>
            </a:r>
            <a:r>
              <a:rPr lang="ro-RO" i="1" dirty="0" err="1">
                <a:cs typeface="Times New Roman" pitchFamily="18" charset="0"/>
              </a:rPr>
              <a:t>Millions</a:t>
            </a:r>
            <a:r>
              <a:rPr lang="ro-RO" i="1" dirty="0">
                <a:cs typeface="Times New Roman" pitchFamily="18" charset="0"/>
              </a:rPr>
              <a:t> of </a:t>
            </a:r>
            <a:r>
              <a:rPr lang="ro-RO" i="1" dirty="0" err="1">
                <a:cs typeface="Times New Roman" pitchFamily="18" charset="0"/>
              </a:rPr>
              <a:t>Instructions</a:t>
            </a:r>
            <a:r>
              <a:rPr lang="ro-RO" i="1" dirty="0">
                <a:cs typeface="Times New Roman" pitchFamily="18" charset="0"/>
              </a:rPr>
              <a:t> Per </a:t>
            </a:r>
            <a:r>
              <a:rPr lang="ro-RO" i="1" dirty="0" err="1">
                <a:cs typeface="Times New Roman" pitchFamily="18" charset="0"/>
              </a:rPr>
              <a:t>Second</a:t>
            </a:r>
            <a:r>
              <a:rPr lang="ro-RO" dirty="0">
                <a:cs typeface="Times New Roman" pitchFamily="18" charset="0"/>
              </a:rPr>
              <a:t>)</a:t>
            </a:r>
            <a:endParaRPr lang="ro-RO" dirty="0"/>
          </a:p>
          <a:p>
            <a:r>
              <a:rPr lang="ro-RO" dirty="0"/>
              <a:t>I</a:t>
            </a:r>
            <a:r>
              <a:rPr lang="ro-RO" dirty="0">
                <a:cs typeface="Times New Roman" pitchFamily="18" charset="0"/>
              </a:rPr>
              <a:t>ndic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num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rul de “</a:t>
            </a:r>
            <a:r>
              <a:rPr lang="ro-RO" dirty="0" smtClean="0">
                <a:cs typeface="Times New Roman" pitchFamily="18" charset="0"/>
              </a:rPr>
              <a:t>instrucțiuni </a:t>
            </a:r>
            <a:r>
              <a:rPr lang="ro-RO" dirty="0">
                <a:cs typeface="Times New Roman" pitchFamily="18" charset="0"/>
              </a:rPr>
              <a:t>medii” pe care </a:t>
            </a:r>
            <a:r>
              <a:rPr lang="ro-RO" dirty="0"/>
              <a:t>un calculator le</a:t>
            </a:r>
            <a:r>
              <a:rPr lang="ro-RO" dirty="0">
                <a:cs typeface="Times New Roman" pitchFamily="18" charset="0"/>
              </a:rPr>
              <a:t> poate executa pe secund</a:t>
            </a:r>
            <a:r>
              <a:rPr lang="ro-RO" dirty="0"/>
              <a:t>ă</a:t>
            </a:r>
            <a:endParaRPr lang="ro-RO" dirty="0"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26.02.2018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BC1874A-C0ED-4BF2-9F9E-8924BA78A9AD}" type="slidenum">
              <a:rPr lang="ro-RO"/>
              <a:pPr/>
              <a:t>22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/>
              <a:t>Structura sistemelor de calcul (01-1)</a:t>
            </a:r>
          </a:p>
        </p:txBody>
      </p: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MIPS (2)</a:t>
            </a:r>
          </a:p>
        </p:txBody>
      </p:sp>
      <p:sp>
        <p:nvSpPr>
          <p:cNvPr id="220163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412875"/>
            <a:ext cx="8382000" cy="4896445"/>
          </a:xfrm>
        </p:spPr>
        <p:txBody>
          <a:bodyPr>
            <a:normAutofit/>
          </a:bodyPr>
          <a:lstStyle/>
          <a:p>
            <a:r>
              <a:rPr lang="ro-RO" dirty="0">
                <a:cs typeface="Times New Roman" pitchFamily="18" charset="0"/>
              </a:rPr>
              <a:t>Pentru un program dat,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MIPS </a:t>
            </a:r>
            <a:r>
              <a:rPr lang="ro-RO" dirty="0">
                <a:cs typeface="Times New Roman" pitchFamily="18" charset="0"/>
              </a:rPr>
              <a:t>este</a:t>
            </a:r>
            <a:r>
              <a:rPr lang="ro-RO" dirty="0"/>
              <a:t>:</a:t>
            </a:r>
          </a:p>
          <a:p>
            <a:endParaRPr lang="ro-RO" dirty="0"/>
          </a:p>
          <a:p>
            <a:endParaRPr lang="ro-RO" dirty="0"/>
          </a:p>
          <a:p>
            <a:pPr lvl="1"/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N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ro-RO" dirty="0"/>
              <a:t>– contorul de </a:t>
            </a:r>
            <a:r>
              <a:rPr lang="ro-RO" dirty="0" smtClean="0"/>
              <a:t>instrucțiuni</a:t>
            </a:r>
            <a:endParaRPr lang="ro-RO" dirty="0"/>
          </a:p>
          <a:p>
            <a:r>
              <a:rPr lang="ro-RO" dirty="0"/>
              <a:t>Considerând că </a:t>
            </a:r>
            <a:r>
              <a:rPr lang="ro-RO" i="1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t</a:t>
            </a:r>
            <a:r>
              <a:rPr lang="ro-RO" i="1" baseline="-25000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E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/>
              <a:t>= </a:t>
            </a:r>
            <a:r>
              <a:rPr lang="ro-RO" i="1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t</a:t>
            </a:r>
            <a:r>
              <a:rPr lang="ro-RO" i="1" baseline="-25000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UCP</a:t>
            </a:r>
            <a:r>
              <a:rPr lang="ro-RO" i="1" baseline="-250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ro-RO" dirty="0"/>
              <a:t>, </a:t>
            </a:r>
          </a:p>
          <a:p>
            <a:endParaRPr lang="ro-RO" dirty="0"/>
          </a:p>
          <a:p>
            <a:r>
              <a:rPr lang="ro-RO" dirty="0"/>
              <a:t>Rezultă: </a:t>
            </a:r>
          </a:p>
          <a:p>
            <a:endParaRPr lang="ro-RO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26.02.2018</a:t>
            </a:r>
            <a:endParaRPr lang="ro-RO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B636DA7-763D-44D6-9D63-95614846C92B}" type="slidenum">
              <a:rPr lang="ro-RO"/>
              <a:pPr/>
              <a:t>23</a:t>
            </a:fld>
            <a:endParaRPr lang="ro-RO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/>
              <a:t>Structura sistemelor de calcul (01-1)</a:t>
            </a:r>
          </a:p>
        </p:txBody>
      </p:sp>
      <p:graphicFrame>
        <p:nvGraphicFramePr>
          <p:cNvPr id="288768" name="Object 0"/>
          <p:cNvGraphicFramePr>
            <a:graphicFrameLocks noChangeAspect="1"/>
          </p:cNvGraphicFramePr>
          <p:nvPr/>
        </p:nvGraphicFramePr>
        <p:xfrm>
          <a:off x="3563888" y="2204864"/>
          <a:ext cx="1933575" cy="822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921" name="Equation" r:id="rId4" imgW="1015920" imgH="431640" progId="Equation.3">
                  <p:embed/>
                </p:oleObj>
              </mc:Choice>
              <mc:Fallback>
                <p:oleObj name="Equation" r:id="rId4" imgW="1015920" imgH="431640" progId="Equation.3">
                  <p:embed/>
                  <p:pic>
                    <p:nvPicPr>
                      <p:cNvPr id="0" name="Picture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3888" y="2204864"/>
                        <a:ext cx="1933575" cy="822325"/>
                      </a:xfrm>
                      <a:prstGeom prst="rect">
                        <a:avLst/>
                      </a:prstGeom>
                      <a:solidFill>
                        <a:srgbClr val="99CCFF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8769" name="Object 1"/>
          <p:cNvGraphicFramePr>
            <a:graphicFrameLocks noChangeAspect="1"/>
          </p:cNvGraphicFramePr>
          <p:nvPr/>
        </p:nvGraphicFramePr>
        <p:xfrm>
          <a:off x="3779912" y="4365104"/>
          <a:ext cx="1570038" cy="798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922" name="Equation" r:id="rId6" imgW="825480" imgH="419040" progId="Equation.3">
                  <p:embed/>
                </p:oleObj>
              </mc:Choice>
              <mc:Fallback>
                <p:oleObj name="Equation" r:id="rId6" imgW="825480" imgH="419040" progId="Equation.3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9912" y="4365104"/>
                        <a:ext cx="1570038" cy="798513"/>
                      </a:xfrm>
                      <a:prstGeom prst="rect">
                        <a:avLst/>
                      </a:prstGeom>
                      <a:solidFill>
                        <a:srgbClr val="99CCFF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8770" name="Object 2"/>
          <p:cNvGraphicFramePr>
            <a:graphicFrameLocks noChangeAspect="1"/>
          </p:cNvGraphicFramePr>
          <p:nvPr/>
        </p:nvGraphicFramePr>
        <p:xfrm>
          <a:off x="3491880" y="5517232"/>
          <a:ext cx="2151063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923" name="Equation" r:id="rId8" imgW="1130040" imgH="393480" progId="Equation.3">
                  <p:embed/>
                </p:oleObj>
              </mc:Choice>
              <mc:Fallback>
                <p:oleObj name="Equation" r:id="rId8" imgW="1130040" imgH="39348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1880" y="5517232"/>
                        <a:ext cx="2151063" cy="749300"/>
                      </a:xfrm>
                      <a:prstGeom prst="rect">
                        <a:avLst/>
                      </a:prstGeom>
                      <a:solidFill>
                        <a:srgbClr val="99CCFF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1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MIPS (3)</a:t>
            </a:r>
          </a:p>
        </p:txBody>
      </p:sp>
      <p:sp>
        <p:nvSpPr>
          <p:cNvPr id="221187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412875"/>
            <a:ext cx="8382000" cy="4896445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</a:pPr>
            <a:r>
              <a:rPr lang="ro-RO" dirty="0"/>
              <a:t>T</a:t>
            </a:r>
            <a:r>
              <a:rPr lang="ro-RO" dirty="0">
                <a:cs typeface="Times New Roman" pitchFamily="18" charset="0"/>
              </a:rPr>
              <a:t>impul de </a:t>
            </a:r>
            <a:r>
              <a:rPr lang="ro-RO" dirty="0" smtClean="0">
                <a:cs typeface="Times New Roman" pitchFamily="18" charset="0"/>
              </a:rPr>
              <a:t>execuție </a:t>
            </a:r>
            <a:r>
              <a:rPr lang="ro-RO" dirty="0">
                <a:cs typeface="Times New Roman" pitchFamily="18" charset="0"/>
              </a:rPr>
              <a:t>exprimat în </a:t>
            </a:r>
            <a:r>
              <a:rPr lang="ro-RO" dirty="0" smtClean="0">
                <a:cs typeface="Times New Roman" pitchFamily="18" charset="0"/>
              </a:rPr>
              <a:t>funcție </a:t>
            </a:r>
            <a:r>
              <a:rPr lang="ro-RO" dirty="0">
                <a:cs typeface="Times New Roman" pitchFamily="18" charset="0"/>
              </a:rPr>
              <a:t>de indicatorul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MIPS</a:t>
            </a:r>
            <a:r>
              <a:rPr lang="ro-RO" dirty="0">
                <a:cs typeface="Times New Roman" pitchFamily="18" charset="0"/>
              </a:rPr>
              <a:t>:</a:t>
            </a:r>
            <a:r>
              <a:rPr lang="ro-RO" dirty="0"/>
              <a:t> </a:t>
            </a:r>
          </a:p>
          <a:p>
            <a:pPr>
              <a:lnSpc>
                <a:spcPct val="90000"/>
              </a:lnSpc>
            </a:pPr>
            <a:endParaRPr lang="ro-RO" dirty="0"/>
          </a:p>
          <a:p>
            <a:pPr>
              <a:lnSpc>
                <a:spcPct val="90000"/>
              </a:lnSpc>
            </a:pPr>
            <a:endParaRPr lang="ro-RO" dirty="0"/>
          </a:p>
          <a:p>
            <a:pPr>
              <a:lnSpc>
                <a:spcPct val="90000"/>
              </a:lnSpc>
            </a:pPr>
            <a:r>
              <a:rPr lang="ro-RO" dirty="0"/>
              <a:t>Un </a:t>
            </a:r>
            <a:r>
              <a:rPr lang="ro-RO" dirty="0">
                <a:cs typeface="Times New Roman" pitchFamily="18" charset="0"/>
              </a:rPr>
              <a:t>indicator</a:t>
            </a:r>
            <a:r>
              <a:rPr lang="ro-RO" dirty="0"/>
              <a:t> similar: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BIPS </a:t>
            </a:r>
            <a:r>
              <a:rPr lang="ro-RO" dirty="0">
                <a:cs typeface="Times New Roman" pitchFamily="18" charset="0"/>
              </a:rPr>
              <a:t>(</a:t>
            </a:r>
            <a:r>
              <a:rPr lang="ro-RO" i="1" dirty="0" err="1">
                <a:cs typeface="Times New Roman" pitchFamily="18" charset="0"/>
              </a:rPr>
              <a:t>Billions</a:t>
            </a:r>
            <a:r>
              <a:rPr lang="ro-RO" i="1" dirty="0">
                <a:cs typeface="Times New Roman" pitchFamily="18" charset="0"/>
              </a:rPr>
              <a:t> of </a:t>
            </a:r>
            <a:r>
              <a:rPr lang="ro-RO" i="1" dirty="0" err="1">
                <a:cs typeface="Times New Roman" pitchFamily="18" charset="0"/>
              </a:rPr>
              <a:t>Instructions</a:t>
            </a:r>
            <a:r>
              <a:rPr lang="ro-RO" i="1" dirty="0">
                <a:cs typeface="Times New Roman" pitchFamily="18" charset="0"/>
              </a:rPr>
              <a:t> Per </a:t>
            </a:r>
            <a:r>
              <a:rPr lang="ro-RO" i="1" dirty="0" err="1">
                <a:cs typeface="Times New Roman" pitchFamily="18" charset="0"/>
              </a:rPr>
              <a:t>Second</a:t>
            </a:r>
            <a:r>
              <a:rPr lang="ro-RO" dirty="0">
                <a:cs typeface="Times New Roman" pitchFamily="18" charset="0"/>
              </a:rPr>
              <a:t>) sau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GIPS</a:t>
            </a:r>
          </a:p>
          <a:p>
            <a:pPr>
              <a:lnSpc>
                <a:spcPct val="90000"/>
              </a:lnSpc>
            </a:pPr>
            <a:r>
              <a:rPr lang="ro-RO" dirty="0"/>
              <a:t>Avantajul i</a:t>
            </a:r>
            <a:r>
              <a:rPr lang="ro-RO" dirty="0">
                <a:cs typeface="Times New Roman" pitchFamily="18" charset="0"/>
              </a:rPr>
              <a:t>ndicatorul</a:t>
            </a:r>
            <a:r>
              <a:rPr lang="ro-RO" dirty="0"/>
              <a:t>ui</a:t>
            </a:r>
            <a:r>
              <a:rPr lang="ro-RO" dirty="0">
                <a:cs typeface="Times New Roman" pitchFamily="18" charset="0"/>
              </a:rPr>
              <a:t>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MIPS</a:t>
            </a:r>
            <a:r>
              <a:rPr lang="ro-RO" dirty="0"/>
              <a:t>: </a:t>
            </a:r>
            <a:r>
              <a:rPr lang="ro-RO" dirty="0">
                <a:cs typeface="Times New Roman" pitchFamily="18" charset="0"/>
              </a:rPr>
              <a:t>este </a:t>
            </a:r>
            <a:r>
              <a:rPr lang="ro-RO" dirty="0" smtClean="0">
                <a:cs typeface="Times New Roman" pitchFamily="18" charset="0"/>
              </a:rPr>
              <a:t>ușor </a:t>
            </a:r>
            <a:r>
              <a:rPr lang="ro-RO" dirty="0">
                <a:cs typeface="Times New Roman" pitchFamily="18" charset="0"/>
              </a:rPr>
              <a:t>de </a:t>
            </a:r>
            <a:r>
              <a:rPr lang="ro-RO" dirty="0" smtClean="0">
                <a:cs typeface="Times New Roman" pitchFamily="18" charset="0"/>
              </a:rPr>
              <a:t>înțeles</a:t>
            </a:r>
            <a:r>
              <a:rPr lang="ro-RO" dirty="0">
                <a:cs typeface="Times New Roman" pitchFamily="18" charset="0"/>
              </a:rPr>
              <a:t>, mai ales de c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tre utilizatori</a:t>
            </a:r>
            <a:r>
              <a:rPr lang="ro-RO" dirty="0"/>
              <a:t> </a:t>
            </a:r>
          </a:p>
          <a:p>
            <a:pPr>
              <a:lnSpc>
                <a:spcPct val="90000"/>
              </a:lnSpc>
            </a:pPr>
            <a:r>
              <a:rPr lang="ro-RO" dirty="0"/>
              <a:t>E</a:t>
            </a:r>
            <a:r>
              <a:rPr lang="ro-RO" dirty="0">
                <a:cs typeface="Times New Roman" pitchFamily="18" charset="0"/>
              </a:rPr>
              <a:t>xist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anumite probleme atunci când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MIPS </a:t>
            </a:r>
            <a:r>
              <a:rPr lang="ro-RO" dirty="0">
                <a:cs typeface="Times New Roman" pitchFamily="18" charset="0"/>
              </a:rPr>
              <a:t>este utilizat ca o m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sur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pentru </a:t>
            </a:r>
            <a:r>
              <a:rPr lang="ro-RO" dirty="0" smtClean="0">
                <a:cs typeface="Times New Roman" pitchFamily="18" charset="0"/>
              </a:rPr>
              <a:t>comparație</a:t>
            </a:r>
            <a:r>
              <a:rPr lang="ro-RO" dirty="0"/>
              <a:t>: 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26.02.2018</a:t>
            </a:r>
            <a:endParaRPr lang="ro-RO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FF78642-CBC4-40D1-BE28-50D2F083E2CA}" type="slidenum">
              <a:rPr lang="ro-RO"/>
              <a:pPr/>
              <a:t>24</a:t>
            </a:fld>
            <a:endParaRPr lang="ro-RO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/>
              <a:t>Structura sistemelor de calcul (01-1)</a:t>
            </a:r>
          </a:p>
        </p:txBody>
      </p:sp>
      <p:graphicFrame>
        <p:nvGraphicFramePr>
          <p:cNvPr id="289792" name="Object 0"/>
          <p:cNvGraphicFramePr>
            <a:graphicFrameLocks noChangeAspect="1"/>
          </p:cNvGraphicFramePr>
          <p:nvPr/>
        </p:nvGraphicFramePr>
        <p:xfrm>
          <a:off x="3563888" y="2348880"/>
          <a:ext cx="1933575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9843" name="Microsoft Equation 3.0" r:id="rId4" imgW="1015920" imgH="393480" progId="Equation.3">
                  <p:embed/>
                </p:oleObj>
              </mc:Choice>
              <mc:Fallback>
                <p:oleObj name="Microsoft Equation 3.0" r:id="rId4" imgW="1015920" imgH="393480" progId="Equation.3">
                  <p:embed/>
                  <p:pic>
                    <p:nvPicPr>
                      <p:cNvPr id="0" name="Picture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3888" y="2348880"/>
                        <a:ext cx="1933575" cy="749300"/>
                      </a:xfrm>
                      <a:prstGeom prst="rect">
                        <a:avLst/>
                      </a:prstGeom>
                      <a:solidFill>
                        <a:srgbClr val="99CCFF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MIPS (4)</a:t>
            </a:r>
          </a:p>
        </p:txBody>
      </p:sp>
      <p:sp>
        <p:nvSpPr>
          <p:cNvPr id="222211" name="Rectangle 3"/>
          <p:cNvSpPr>
            <a:spLocks noGrp="1" noChangeArrowheads="1"/>
          </p:cNvSpPr>
          <p:nvPr>
            <p:ph idx="1"/>
          </p:nvPr>
        </p:nvSpPr>
        <p:spPr>
          <a:xfrm>
            <a:off x="395536" y="1295400"/>
            <a:ext cx="8352928" cy="4941912"/>
          </a:xfrm>
        </p:spPr>
        <p:txBody>
          <a:bodyPr>
            <a:normAutofit fontScale="92500" lnSpcReduction="10000"/>
          </a:bodyPr>
          <a:lstStyle/>
          <a:p>
            <a:pPr lvl="1">
              <a:lnSpc>
                <a:spcPct val="90000"/>
              </a:lnSpc>
            </a:pP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MIPS </a:t>
            </a:r>
            <a:r>
              <a:rPr lang="ro-RO" dirty="0">
                <a:cs typeface="Times New Roman" pitchFamily="18" charset="0"/>
              </a:rPr>
              <a:t>este dependent de setul de </a:t>
            </a:r>
            <a:r>
              <a:rPr lang="ro-RO" dirty="0" smtClean="0">
                <a:cs typeface="Times New Roman" pitchFamily="18" charset="0"/>
              </a:rPr>
              <a:t>instrucțiun</a:t>
            </a:r>
            <a:r>
              <a:rPr lang="ro-RO" dirty="0" smtClean="0"/>
              <a:t>i</a:t>
            </a:r>
            <a:endParaRPr lang="ro-RO" dirty="0"/>
          </a:p>
          <a:p>
            <a:pPr lvl="1">
              <a:lnSpc>
                <a:spcPct val="90000"/>
              </a:lnSpc>
            </a:pP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MIPS </a:t>
            </a:r>
            <a:r>
              <a:rPr lang="ro-RO" dirty="0">
                <a:cs typeface="Times New Roman" pitchFamily="18" charset="0"/>
              </a:rPr>
              <a:t>variaz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pentru programe diferite ale </a:t>
            </a:r>
            <a:r>
              <a:rPr lang="ro-RO" dirty="0" smtClean="0">
                <a:cs typeface="Times New Roman" pitchFamily="18" charset="0"/>
              </a:rPr>
              <a:t>aceluiași </a:t>
            </a:r>
            <a:r>
              <a:rPr lang="ro-RO" dirty="0">
                <a:cs typeface="Times New Roman" pitchFamily="18" charset="0"/>
              </a:rPr>
              <a:t>calculator</a:t>
            </a:r>
            <a:r>
              <a:rPr lang="ro-RO" dirty="0"/>
              <a:t> </a:t>
            </a:r>
          </a:p>
          <a:p>
            <a:pPr lvl="1">
              <a:lnSpc>
                <a:spcPct val="90000"/>
              </a:lnSpc>
            </a:pP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MIPS </a:t>
            </a:r>
            <a:r>
              <a:rPr lang="ro-RO" i="1" dirty="0">
                <a:cs typeface="Times New Roman" pitchFamily="18" charset="0"/>
              </a:rPr>
              <a:t>poate varia invers </a:t>
            </a:r>
            <a:r>
              <a:rPr lang="ro-RO" i="1" dirty="0" smtClean="0">
                <a:cs typeface="Times New Roman" pitchFamily="18" charset="0"/>
              </a:rPr>
              <a:t>proporțional </a:t>
            </a:r>
            <a:r>
              <a:rPr lang="ro-RO" i="1" dirty="0">
                <a:cs typeface="Times New Roman" pitchFamily="18" charset="0"/>
              </a:rPr>
              <a:t>cu </a:t>
            </a:r>
            <a:r>
              <a:rPr lang="ro-RO" i="1" dirty="0" smtClean="0">
                <a:cs typeface="Times New Roman" pitchFamily="18" charset="0"/>
              </a:rPr>
              <a:t>performanța</a:t>
            </a:r>
            <a:r>
              <a:rPr lang="ro-RO" dirty="0" smtClean="0"/>
              <a:t> </a:t>
            </a:r>
            <a:endParaRPr lang="ro-RO" dirty="0"/>
          </a:p>
          <a:p>
            <a:pPr>
              <a:lnSpc>
                <a:spcPct val="90000"/>
              </a:lnSpc>
            </a:pPr>
            <a:r>
              <a:rPr lang="ro-RO" dirty="0"/>
              <a:t>Exemplu pentru ultimul caz: </a:t>
            </a:r>
            <a:r>
              <a:rPr lang="ro-RO" dirty="0">
                <a:cs typeface="Times New Roman" pitchFamily="18" charset="0"/>
              </a:rPr>
              <a:t>calculator cu un coprocesor </a:t>
            </a:r>
            <a:r>
              <a:rPr lang="ro-RO" dirty="0" smtClean="0">
                <a:cs typeface="Times New Roman" pitchFamily="18" charset="0"/>
              </a:rPr>
              <a:t>pentru </a:t>
            </a:r>
            <a:r>
              <a:rPr lang="ro-RO" dirty="0">
                <a:cs typeface="Times New Roman" pitchFamily="18" charset="0"/>
              </a:rPr>
              <a:t>calcule în </a:t>
            </a:r>
            <a:r>
              <a:rPr lang="ro-RO" dirty="0" smtClean="0"/>
              <a:t>virgulă mobilă</a:t>
            </a:r>
            <a:endParaRPr lang="ro-RO" dirty="0"/>
          </a:p>
          <a:p>
            <a:pPr lvl="1">
              <a:lnSpc>
                <a:spcPct val="90000"/>
              </a:lnSpc>
            </a:pPr>
            <a:r>
              <a:rPr lang="ro-RO" dirty="0"/>
              <a:t>P</a:t>
            </a:r>
            <a:r>
              <a:rPr lang="ro-RO" dirty="0">
                <a:cs typeface="Times New Roman" pitchFamily="18" charset="0"/>
              </a:rPr>
              <a:t>rogramele care utilizeaz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coprocesorul necesit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un timp mai redus pentru </a:t>
            </a:r>
            <a:r>
              <a:rPr lang="ro-RO" dirty="0" smtClean="0">
                <a:cs typeface="Times New Roman" pitchFamily="18" charset="0"/>
              </a:rPr>
              <a:t>execuție</a:t>
            </a:r>
            <a:r>
              <a:rPr lang="ro-RO" dirty="0"/>
              <a:t>, </a:t>
            </a:r>
            <a:r>
              <a:rPr lang="ro-RO" dirty="0">
                <a:cs typeface="Times New Roman" pitchFamily="18" charset="0"/>
              </a:rPr>
              <a:t>dar au o valoare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MIPS </a:t>
            </a:r>
            <a:r>
              <a:rPr lang="ro-RO" dirty="0">
                <a:cs typeface="Times New Roman" pitchFamily="18" charset="0"/>
              </a:rPr>
              <a:t>mai redus</a:t>
            </a:r>
            <a:r>
              <a:rPr lang="ro-RO" dirty="0"/>
              <a:t>ă </a:t>
            </a:r>
          </a:p>
          <a:p>
            <a:pPr>
              <a:lnSpc>
                <a:spcPct val="90000"/>
              </a:lnSpc>
            </a:pPr>
            <a:r>
              <a:rPr lang="ro-RO" dirty="0">
                <a:solidFill>
                  <a:schemeClr val="accent5"/>
                </a:solidFill>
                <a:cs typeface="Times New Roman" pitchFamily="18" charset="0"/>
              </a:rPr>
              <a:t>Exemplul </a:t>
            </a:r>
            <a:r>
              <a:rPr lang="ro-RO" dirty="0">
                <a:solidFill>
                  <a:schemeClr val="accent5"/>
                </a:solidFill>
              </a:rPr>
              <a:t>1.</a:t>
            </a:r>
            <a:r>
              <a:rPr lang="ro-RO" dirty="0">
                <a:solidFill>
                  <a:schemeClr val="accent5"/>
                </a:solidFill>
                <a:cs typeface="Times New Roman" pitchFamily="18" charset="0"/>
              </a:rPr>
              <a:t>3</a:t>
            </a:r>
            <a:r>
              <a:rPr lang="ro-RO" dirty="0">
                <a:solidFill>
                  <a:schemeClr val="accent5"/>
                </a:solidFill>
              </a:rPr>
              <a:t>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26.02.2018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8AB051C-C32C-4268-97B6-5CDFD67EB17B}" type="slidenum">
              <a:rPr lang="ro-RO"/>
              <a:pPr/>
              <a:t>25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/>
              <a:t>Structura sistemelor de calcul (01-1)</a:t>
            </a:r>
          </a:p>
        </p:txBody>
      </p:sp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1. Introducere</a:t>
            </a:r>
          </a:p>
        </p:txBody>
      </p:sp>
      <p:sp>
        <p:nvSpPr>
          <p:cNvPr id="263171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412875"/>
            <a:ext cx="8382000" cy="4493538"/>
          </a:xfrm>
        </p:spPr>
        <p:txBody>
          <a:bodyPr/>
          <a:lstStyle/>
          <a:p>
            <a:endParaRPr lang="en-US" sz="3200" dirty="0" smtClean="0">
              <a:solidFill>
                <a:schemeClr val="tx2"/>
              </a:solidFill>
            </a:endParaRPr>
          </a:p>
          <a:p>
            <a:r>
              <a:rPr lang="ro-RO" dirty="0" smtClean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Indicatori </a:t>
            </a:r>
            <a:r>
              <a:rPr lang="ro-RO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 </a:t>
            </a:r>
            <a:r>
              <a:rPr lang="ro-RO" dirty="0" smtClean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performanță</a:t>
            </a:r>
            <a:endParaRPr lang="ro-RO" dirty="0">
              <a:gradFill>
                <a:gsLst>
                  <a:gs pos="0">
                    <a:schemeClr val="accent3">
                      <a:lumMod val="40000"/>
                      <a:lumOff val="60000"/>
                    </a:schemeClr>
                  </a:gs>
                  <a:gs pos="36000">
                    <a:schemeClr val="accent3">
                      <a:lumMod val="40000"/>
                      <a:lumOff val="60000"/>
                    </a:schemeClr>
                  </a:gs>
                  <a:gs pos="86000">
                    <a:schemeClr val="accent3"/>
                  </a:gs>
                </a:gsLst>
                <a:lin ang="5400000" scaled="0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/>
            <a:r>
              <a:rPr lang="ro-RO" dirty="0"/>
              <a:t>Timpul de </a:t>
            </a:r>
            <a:r>
              <a:rPr lang="ro-RO" dirty="0" smtClean="0"/>
              <a:t>execuție</a:t>
            </a:r>
            <a:endParaRPr lang="ro-RO" dirty="0"/>
          </a:p>
          <a:p>
            <a:pPr lvl="1"/>
            <a:r>
              <a:rPr lang="ro-RO" dirty="0"/>
              <a:t>Timpul UCP</a:t>
            </a:r>
          </a:p>
          <a:p>
            <a:pPr lvl="1"/>
            <a:r>
              <a:rPr lang="ro-RO" dirty="0"/>
              <a:t>MIPS</a:t>
            </a:r>
          </a:p>
          <a:p>
            <a:pPr lvl="1"/>
            <a:r>
              <a:rPr lang="ro-RO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MFLOPS</a:t>
            </a:r>
          </a:p>
          <a:p>
            <a:r>
              <a:rPr lang="ro-RO" dirty="0"/>
              <a:t>Programe de evaluare a </a:t>
            </a:r>
            <a:r>
              <a:rPr lang="ro-RO" dirty="0" smtClean="0"/>
              <a:t>performanțelor</a:t>
            </a:r>
            <a:endParaRPr lang="ro-RO" dirty="0"/>
          </a:p>
          <a:p>
            <a:r>
              <a:rPr lang="ro-RO" dirty="0"/>
              <a:t>Legea lui </a:t>
            </a:r>
            <a:r>
              <a:rPr lang="ro-RO" dirty="0" err="1"/>
              <a:t>Amdahl</a:t>
            </a:r>
            <a:r>
              <a:rPr lang="ro-RO" dirty="0"/>
              <a:t>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26.02.2018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7F67BBC-227E-486C-8211-CC9AC4CA918A}" type="slidenum">
              <a:rPr lang="ro-RO"/>
              <a:pPr/>
              <a:t>26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/>
              <a:t>Structura sistemelor de calcul (01-1)</a:t>
            </a:r>
          </a:p>
        </p:txBody>
      </p:sp>
    </p:spTree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MFLOPS (1)</a:t>
            </a:r>
          </a:p>
        </p:txBody>
      </p:sp>
      <p:sp>
        <p:nvSpPr>
          <p:cNvPr id="264195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412875"/>
            <a:ext cx="8382000" cy="4824437"/>
          </a:xfrm>
        </p:spPr>
        <p:txBody>
          <a:bodyPr>
            <a:normAutofit/>
          </a:bodyPr>
          <a:lstStyle/>
          <a:p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MIPS </a:t>
            </a:r>
            <a:r>
              <a:rPr lang="ro-RO" dirty="0">
                <a:cs typeface="Times New Roman" pitchFamily="18" charset="0"/>
              </a:rPr>
              <a:t>nu reprezint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o metric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adecvat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pentru calculatoarele care execut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calcule </a:t>
            </a:r>
            <a:r>
              <a:rPr lang="ro-RO" dirty="0" smtClean="0">
                <a:cs typeface="Times New Roman" pitchFamily="18" charset="0"/>
              </a:rPr>
              <a:t>științifice și inginerești</a:t>
            </a:r>
            <a:r>
              <a:rPr lang="ro-RO" dirty="0" smtClean="0"/>
              <a:t> </a:t>
            </a:r>
            <a:endParaRPr lang="ro-RO" dirty="0"/>
          </a:p>
          <a:p>
            <a:pPr lvl="1"/>
            <a:r>
              <a:rPr lang="ro-RO" dirty="0"/>
              <a:t>E</a:t>
            </a:r>
            <a:r>
              <a:rPr lang="ro-RO" dirty="0">
                <a:cs typeface="Times New Roman" pitchFamily="18" charset="0"/>
              </a:rPr>
              <a:t>ste important s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se m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soare num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rul </a:t>
            </a:r>
            <a:r>
              <a:rPr lang="ro-RO" dirty="0" smtClean="0">
                <a:cs typeface="Times New Roman" pitchFamily="18" charset="0"/>
              </a:rPr>
              <a:t>operațiilor </a:t>
            </a:r>
            <a:r>
              <a:rPr lang="ro-RO" dirty="0">
                <a:cs typeface="Times New Roman" pitchFamily="18" charset="0"/>
              </a:rPr>
              <a:t>de calcul în virgul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mobil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</a:t>
            </a:r>
            <a:r>
              <a:rPr lang="ro-RO" dirty="0"/>
              <a:t>(VM)</a:t>
            </a:r>
          </a:p>
          <a:p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MFLOPS </a:t>
            </a:r>
            <a:r>
              <a:rPr lang="ro-RO" dirty="0">
                <a:cs typeface="Times New Roman" pitchFamily="18" charset="0"/>
              </a:rPr>
              <a:t>(</a:t>
            </a:r>
            <a:r>
              <a:rPr lang="ro-RO" i="1" dirty="0" err="1">
                <a:cs typeface="Times New Roman" pitchFamily="18" charset="0"/>
              </a:rPr>
              <a:t>Millions</a:t>
            </a:r>
            <a:r>
              <a:rPr lang="ro-RO" i="1" dirty="0">
                <a:cs typeface="Times New Roman" pitchFamily="18" charset="0"/>
              </a:rPr>
              <a:t> of </a:t>
            </a:r>
            <a:r>
              <a:rPr lang="ro-RO" i="1" dirty="0" err="1">
                <a:cs typeface="Times New Roman" pitchFamily="18" charset="0"/>
              </a:rPr>
              <a:t>Floating-</a:t>
            </a:r>
            <a:r>
              <a:rPr lang="ro-RO" i="1" dirty="0" err="1"/>
              <a:t>p</a:t>
            </a:r>
            <a:r>
              <a:rPr lang="ro-RO" i="1" dirty="0" err="1">
                <a:cs typeface="Times New Roman" pitchFamily="18" charset="0"/>
              </a:rPr>
              <a:t>oint</a:t>
            </a:r>
            <a:r>
              <a:rPr lang="ro-RO" i="1" dirty="0">
                <a:cs typeface="Times New Roman" pitchFamily="18" charset="0"/>
              </a:rPr>
              <a:t> </a:t>
            </a:r>
            <a:r>
              <a:rPr lang="ro-RO" i="1" dirty="0" err="1">
                <a:cs typeface="Times New Roman" pitchFamily="18" charset="0"/>
              </a:rPr>
              <a:t>Operations</a:t>
            </a:r>
            <a:r>
              <a:rPr lang="ro-RO" i="1" dirty="0">
                <a:cs typeface="Times New Roman" pitchFamily="18" charset="0"/>
              </a:rPr>
              <a:t> </a:t>
            </a:r>
            <a:r>
              <a:rPr lang="ro-RO" i="1" dirty="0"/>
              <a:t>P</a:t>
            </a:r>
            <a:r>
              <a:rPr lang="ro-RO" i="1" dirty="0">
                <a:cs typeface="Times New Roman" pitchFamily="18" charset="0"/>
              </a:rPr>
              <a:t>er </a:t>
            </a:r>
            <a:r>
              <a:rPr lang="ro-RO" i="1" dirty="0" err="1">
                <a:cs typeface="Times New Roman" pitchFamily="18" charset="0"/>
              </a:rPr>
              <a:t>Second</a:t>
            </a:r>
            <a:r>
              <a:rPr lang="ro-RO" dirty="0">
                <a:cs typeface="Times New Roman" pitchFamily="18" charset="0"/>
              </a:rPr>
              <a:t>),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GFLOPS</a:t>
            </a:r>
            <a:r>
              <a:rPr lang="ro-RO" dirty="0">
                <a:cs typeface="Times New Roman" pitchFamily="18" charset="0"/>
              </a:rPr>
              <a:t>,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TFLOPS</a:t>
            </a:r>
            <a:r>
              <a:rPr lang="ro-RO" dirty="0">
                <a:cs typeface="Times New Roman" pitchFamily="18" charset="0"/>
              </a:rPr>
              <a:t>,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PFLOPS </a:t>
            </a:r>
            <a:endParaRPr lang="ro-RO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r>
              <a:rPr lang="ro-RO" dirty="0">
                <a:cs typeface="Times New Roman" pitchFamily="18" charset="0"/>
              </a:rPr>
              <a:t>Formula de calcul</a:t>
            </a:r>
            <a:r>
              <a:rPr lang="ro-RO" dirty="0"/>
              <a:t>:</a:t>
            </a:r>
          </a:p>
          <a:p>
            <a:endParaRPr lang="ro-RO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26.02.2018</a:t>
            </a:r>
            <a:endParaRPr lang="ro-RO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457AAA5-3B03-4DC8-A460-820CB7FD1FF5}" type="slidenum">
              <a:rPr lang="ro-RO"/>
              <a:pPr/>
              <a:t>27</a:t>
            </a:fld>
            <a:endParaRPr lang="ro-RO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/>
              <a:t>Structura sistemelor de calcul (01-1)</a:t>
            </a:r>
          </a:p>
        </p:txBody>
      </p:sp>
      <p:graphicFrame>
        <p:nvGraphicFramePr>
          <p:cNvPr id="264196" name="Object 4"/>
          <p:cNvGraphicFramePr>
            <a:graphicFrameLocks noChangeAspect="1"/>
          </p:cNvGraphicFramePr>
          <p:nvPr/>
        </p:nvGraphicFramePr>
        <p:xfrm>
          <a:off x="4427984" y="5373216"/>
          <a:ext cx="2392363" cy="822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4247" name="Equation" r:id="rId4" imgW="1257120" imgH="431640" progId="Equation.3">
                  <p:embed/>
                </p:oleObj>
              </mc:Choice>
              <mc:Fallback>
                <p:oleObj name="Equation" r:id="rId4" imgW="1257120" imgH="43164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7984" y="5373216"/>
                        <a:ext cx="2392363" cy="822325"/>
                      </a:xfrm>
                      <a:prstGeom prst="rect">
                        <a:avLst/>
                      </a:prstGeom>
                      <a:solidFill>
                        <a:srgbClr val="99CCFF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MFLOPS (2)</a:t>
            </a:r>
          </a:p>
        </p:txBody>
      </p:sp>
      <p:sp>
        <p:nvSpPr>
          <p:cNvPr id="265219" name="Rectangle 3"/>
          <p:cNvSpPr>
            <a:spLocks noGrp="1" noChangeArrowheads="1"/>
          </p:cNvSpPr>
          <p:nvPr>
            <p:ph idx="1"/>
          </p:nvPr>
        </p:nvSpPr>
        <p:spPr>
          <a:xfrm>
            <a:off x="395536" y="1268760"/>
            <a:ext cx="8352928" cy="5040560"/>
          </a:xfrm>
        </p:spPr>
        <p:txBody>
          <a:bodyPr>
            <a:normAutofit/>
          </a:bodyPr>
          <a:lstStyle/>
          <a:p>
            <a:pPr lvl="1"/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N</a:t>
            </a:r>
            <a:r>
              <a:rPr lang="ro-RO" i="1" baseline="-30000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VM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dirty="0"/>
              <a:t>–</a:t>
            </a:r>
            <a:r>
              <a:rPr lang="ro-RO" dirty="0">
                <a:cs typeface="Times New Roman" pitchFamily="18" charset="0"/>
              </a:rPr>
              <a:t> num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rul de </a:t>
            </a:r>
            <a:r>
              <a:rPr lang="ro-RO" dirty="0" smtClean="0">
                <a:cs typeface="Times New Roman" pitchFamily="18" charset="0"/>
              </a:rPr>
              <a:t>operații </a:t>
            </a:r>
            <a:r>
              <a:rPr lang="ro-RO" dirty="0">
                <a:cs typeface="Times New Roman" pitchFamily="18" charset="0"/>
              </a:rPr>
              <a:t>în virgul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mobil</a:t>
            </a:r>
            <a:r>
              <a:rPr lang="ro-RO" dirty="0"/>
              <a:t>ă</a:t>
            </a:r>
          </a:p>
          <a:p>
            <a:r>
              <a:rPr lang="ro-RO" dirty="0">
                <a:cs typeface="Times New Roman" pitchFamily="18" charset="0"/>
              </a:rPr>
              <a:t>Valoarea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MFLOPS </a:t>
            </a:r>
            <a:r>
              <a:rPr lang="ro-RO" dirty="0">
                <a:cs typeface="Times New Roman" pitchFamily="18" charset="0"/>
              </a:rPr>
              <a:t>este dependent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de calculator </a:t>
            </a:r>
            <a:r>
              <a:rPr lang="ro-RO" dirty="0" smtClean="0">
                <a:cs typeface="Times New Roman" pitchFamily="18" charset="0"/>
              </a:rPr>
              <a:t>și </a:t>
            </a:r>
            <a:r>
              <a:rPr lang="ro-RO" dirty="0">
                <a:cs typeface="Times New Roman" pitchFamily="18" charset="0"/>
              </a:rPr>
              <a:t>de program</a:t>
            </a:r>
            <a:r>
              <a:rPr lang="ro-RO" dirty="0"/>
              <a:t> </a:t>
            </a:r>
          </a:p>
          <a:p>
            <a:r>
              <a:rPr lang="ro-RO" dirty="0"/>
              <a:t>Probleme legate de indicatorul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MFLOPS</a:t>
            </a:r>
            <a:r>
              <a:rPr lang="ro-RO" dirty="0"/>
              <a:t>:</a:t>
            </a:r>
          </a:p>
          <a:p>
            <a:pPr lvl="1"/>
            <a:r>
              <a:rPr lang="ro-RO" dirty="0"/>
              <a:t>S</a:t>
            </a:r>
            <a:r>
              <a:rPr lang="ro-RO" dirty="0">
                <a:cs typeface="Times New Roman" pitchFamily="18" charset="0"/>
              </a:rPr>
              <a:t>etul </a:t>
            </a:r>
            <a:r>
              <a:rPr lang="ro-RO" dirty="0" smtClean="0">
                <a:cs typeface="Times New Roman" pitchFamily="18" charset="0"/>
              </a:rPr>
              <a:t>operațiilor </a:t>
            </a:r>
            <a:r>
              <a:rPr lang="ro-RO" dirty="0">
                <a:cs typeface="Times New Roman" pitchFamily="18" charset="0"/>
              </a:rPr>
              <a:t>de calcul în </a:t>
            </a:r>
            <a:r>
              <a:rPr lang="ro-RO" dirty="0"/>
              <a:t>VM</a:t>
            </a:r>
            <a:r>
              <a:rPr lang="ro-RO" dirty="0">
                <a:cs typeface="Times New Roman" pitchFamily="18" charset="0"/>
              </a:rPr>
              <a:t> difer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de la un calculator la altul</a:t>
            </a:r>
            <a:r>
              <a:rPr lang="ro-RO" dirty="0"/>
              <a:t> </a:t>
            </a:r>
          </a:p>
          <a:p>
            <a:pPr lvl="1"/>
            <a:r>
              <a:rPr lang="ro-RO" dirty="0"/>
              <a:t>V</a:t>
            </a:r>
            <a:r>
              <a:rPr lang="ro-RO" dirty="0">
                <a:cs typeface="Times New Roman" pitchFamily="18" charset="0"/>
              </a:rPr>
              <a:t>aloarea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MFLOPS </a:t>
            </a:r>
            <a:r>
              <a:rPr lang="ro-RO" dirty="0">
                <a:cs typeface="Times New Roman" pitchFamily="18" charset="0"/>
              </a:rPr>
              <a:t>se modific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în </a:t>
            </a:r>
            <a:r>
              <a:rPr lang="ro-RO" dirty="0" smtClean="0">
                <a:cs typeface="Times New Roman" pitchFamily="18" charset="0"/>
              </a:rPr>
              <a:t>funcție </a:t>
            </a:r>
            <a:r>
              <a:rPr lang="ro-RO" dirty="0">
                <a:cs typeface="Times New Roman" pitchFamily="18" charset="0"/>
              </a:rPr>
              <a:t>de</a:t>
            </a:r>
            <a:r>
              <a:rPr lang="ro-RO" dirty="0"/>
              <a:t>:</a:t>
            </a:r>
          </a:p>
          <a:p>
            <a:pPr lvl="2"/>
            <a:r>
              <a:rPr lang="ro-RO" dirty="0" smtClean="0"/>
              <a:t>C</a:t>
            </a:r>
            <a:r>
              <a:rPr lang="ro-RO" dirty="0" smtClean="0">
                <a:cs typeface="Times New Roman" pitchFamily="18" charset="0"/>
              </a:rPr>
              <a:t>ombinația operațiilor </a:t>
            </a:r>
            <a:r>
              <a:rPr lang="ro-RO" dirty="0">
                <a:cs typeface="Times New Roman" pitchFamily="18" charset="0"/>
              </a:rPr>
              <a:t>întregi </a:t>
            </a:r>
            <a:r>
              <a:rPr lang="ro-RO" dirty="0" smtClean="0">
                <a:cs typeface="Times New Roman" pitchFamily="18" charset="0"/>
              </a:rPr>
              <a:t>și </a:t>
            </a:r>
            <a:r>
              <a:rPr lang="ro-RO" dirty="0">
                <a:cs typeface="Times New Roman" pitchFamily="18" charset="0"/>
              </a:rPr>
              <a:t>în </a:t>
            </a:r>
            <a:r>
              <a:rPr lang="ro-RO" dirty="0"/>
              <a:t>VM</a:t>
            </a:r>
          </a:p>
          <a:p>
            <a:pPr lvl="2"/>
            <a:r>
              <a:rPr lang="ro-RO" dirty="0" smtClean="0"/>
              <a:t>C</a:t>
            </a:r>
            <a:r>
              <a:rPr lang="ro-RO" dirty="0" smtClean="0">
                <a:cs typeface="Times New Roman" pitchFamily="18" charset="0"/>
              </a:rPr>
              <a:t>ombinația operațiilor </a:t>
            </a:r>
            <a:r>
              <a:rPr lang="ro-RO" dirty="0">
                <a:cs typeface="Times New Roman" pitchFamily="18" charset="0"/>
              </a:rPr>
              <a:t>în </a:t>
            </a:r>
            <a:r>
              <a:rPr lang="ro-RO" dirty="0"/>
              <a:t>VM</a:t>
            </a:r>
            <a:r>
              <a:rPr lang="ro-RO" dirty="0">
                <a:cs typeface="Times New Roman" pitchFamily="18" charset="0"/>
              </a:rPr>
              <a:t> mai rapide </a:t>
            </a:r>
            <a:r>
              <a:rPr lang="ro-RO" dirty="0"/>
              <a:t>ș</a:t>
            </a:r>
            <a:r>
              <a:rPr lang="ro-RO" dirty="0" smtClean="0">
                <a:cs typeface="Times New Roman" pitchFamily="18" charset="0"/>
              </a:rPr>
              <a:t>i </a:t>
            </a:r>
            <a:r>
              <a:rPr lang="ro-RO" dirty="0">
                <a:cs typeface="Times New Roman" pitchFamily="18" charset="0"/>
              </a:rPr>
              <a:t>mai lente 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26.02.2018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2B6742B-3F83-496B-9534-7565A3A55DFB}" type="slidenum">
              <a:rPr lang="ro-RO"/>
              <a:pPr/>
              <a:t>28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/>
              <a:t>Structura sistemelor de calcul (01-1)</a:t>
            </a:r>
          </a:p>
        </p:txBody>
      </p:sp>
    </p:spTree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MFLOPS (3)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2930033"/>
          </a:xfrm>
        </p:spPr>
        <p:txBody>
          <a:bodyPr/>
          <a:lstStyle/>
          <a:p>
            <a:r>
              <a:rPr lang="ro-RO" sz="3400" dirty="0" smtClean="0">
                <a:cs typeface="Times New Roman" pitchFamily="18" charset="0"/>
              </a:rPr>
              <a:t>Soluția la ambele probleme</a:t>
            </a:r>
            <a:r>
              <a:rPr lang="ro-RO" sz="3400" dirty="0" smtClean="0"/>
              <a:t>: </a:t>
            </a:r>
            <a:r>
              <a:rPr lang="ro-RO" sz="3400" dirty="0" smtClean="0">
                <a:cs typeface="Times New Roman" pitchFamily="18" charset="0"/>
              </a:rPr>
              <a:t>utiliza</a:t>
            </a:r>
            <a:r>
              <a:rPr lang="ro-RO" sz="3400" dirty="0" smtClean="0"/>
              <a:t>rea</a:t>
            </a:r>
            <a:r>
              <a:rPr lang="ro-RO" sz="3400" dirty="0" smtClean="0">
                <a:cs typeface="Times New Roman" pitchFamily="18" charset="0"/>
              </a:rPr>
              <a:t> </a:t>
            </a:r>
            <a:r>
              <a:rPr lang="ro-RO" sz="3400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operații</a:t>
            </a:r>
            <a:r>
              <a:rPr lang="ro-RO" sz="34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lor</a:t>
            </a:r>
            <a:r>
              <a:rPr lang="ro-RO" sz="3400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normalizate </a:t>
            </a:r>
            <a:r>
              <a:rPr lang="ro-RO" sz="3400" dirty="0" smtClean="0">
                <a:cs typeface="Times New Roman" pitchFamily="18" charset="0"/>
              </a:rPr>
              <a:t>în </a:t>
            </a:r>
            <a:r>
              <a:rPr lang="ro-RO" sz="3400" dirty="0" smtClean="0"/>
              <a:t>VM </a:t>
            </a:r>
          </a:p>
          <a:p>
            <a:r>
              <a:rPr lang="ro-RO" sz="3400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Exemplu</a:t>
            </a:r>
            <a:r>
              <a:rPr lang="ro-RO" sz="34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ro-RO" sz="3400" dirty="0" smtClean="0">
                <a:cs typeface="Times New Roman" pitchFamily="18" charset="0"/>
              </a:rPr>
              <a:t>în care </a:t>
            </a:r>
            <a:r>
              <a:rPr lang="ro-RO" sz="3400" dirty="0" smtClean="0"/>
              <a:t>se </a:t>
            </a:r>
            <a:r>
              <a:rPr lang="ro-RO" sz="3400" dirty="0" smtClean="0">
                <a:cs typeface="Times New Roman" pitchFamily="18" charset="0"/>
              </a:rPr>
              <a:t>calculeaz</a:t>
            </a:r>
            <a:r>
              <a:rPr lang="ro-RO" sz="3400" dirty="0" smtClean="0"/>
              <a:t>ă</a:t>
            </a:r>
            <a:r>
              <a:rPr lang="ro-RO" sz="3400" dirty="0" smtClean="0">
                <a:cs typeface="Times New Roman" pitchFamily="18" charset="0"/>
              </a:rPr>
              <a:t> num</a:t>
            </a:r>
            <a:r>
              <a:rPr lang="ro-RO" sz="3400" dirty="0" smtClean="0"/>
              <a:t>ă</a:t>
            </a:r>
            <a:r>
              <a:rPr lang="ro-RO" sz="3400" dirty="0" smtClean="0">
                <a:cs typeface="Times New Roman" pitchFamily="18" charset="0"/>
              </a:rPr>
              <a:t>rul de operații normalizate în </a:t>
            </a:r>
            <a:r>
              <a:rPr lang="ro-RO" sz="3400" dirty="0" smtClean="0"/>
              <a:t>VM</a:t>
            </a:r>
            <a:r>
              <a:rPr lang="ro-RO" sz="3400" dirty="0" smtClean="0">
                <a:cs typeface="Times New Roman" pitchFamily="18" charset="0"/>
              </a:rPr>
              <a:t> pentru un program în funcție de operațiile reale din codul surs</a:t>
            </a:r>
            <a:r>
              <a:rPr lang="ro-RO" sz="3400" dirty="0" smtClean="0"/>
              <a:t>ă</a:t>
            </a:r>
            <a:r>
              <a:rPr lang="ro-RO" dirty="0" smtClean="0"/>
              <a:t> </a:t>
            </a:r>
            <a:endParaRPr lang="ro-RO" sz="3400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26.02.2018</a:t>
            </a:r>
            <a:endParaRPr lang="ro-RO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8A1A8A2-B654-4CFC-85EC-A016050C91AE}" type="slidenum">
              <a:rPr lang="ro-RO" smtClean="0"/>
              <a:pPr/>
              <a:t>29</a:t>
            </a:fld>
            <a:endParaRPr lang="ro-RO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(01-1)</a:t>
            </a:r>
            <a:endParaRPr lang="ro-RO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0493284"/>
              </p:ext>
            </p:extLst>
          </p:nvPr>
        </p:nvGraphicFramePr>
        <p:xfrm>
          <a:off x="971600" y="4437112"/>
          <a:ext cx="7128792" cy="182880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3564396"/>
                <a:gridCol w="3564396"/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Operații reale în VM</a:t>
                      </a:r>
                      <a:endParaRPr kumimoji="0" lang="ro-RO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Operații normalizate în VM</a:t>
                      </a:r>
                      <a:r>
                        <a:rPr kumimoji="0" lang="ro-RO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+mn-lt"/>
                        </a:rPr>
                        <a:t> </a:t>
                      </a:r>
                    </a:p>
                  </a:txBody>
                  <a:tcPr horzOverflow="overflow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ADD, SUB, MULT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horzOverflow="overflow"/>
                </a:tc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DIV, SQRT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horzOverflow="overflow"/>
                </a:tc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EXP, SIN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ro-RO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8</a:t>
                      </a:r>
                    </a:p>
                  </a:txBody>
                  <a:tcPr horzOverflow="overflow"/>
                </a:tc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MFLOPS (4)</a:t>
            </a:r>
          </a:p>
        </p:txBody>
      </p:sp>
      <p:sp>
        <p:nvSpPr>
          <p:cNvPr id="267267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412875"/>
            <a:ext cx="8382000" cy="4896445"/>
          </a:xfrm>
        </p:spPr>
        <p:txBody>
          <a:bodyPr>
            <a:normAutofit lnSpcReduction="10000"/>
          </a:bodyPr>
          <a:lstStyle/>
          <a:p>
            <a:r>
              <a:rPr lang="ro-RO" dirty="0" smtClean="0">
                <a:cs typeface="Times New Roman" pitchFamily="18" charset="0"/>
              </a:rPr>
              <a:t>Operațiile </a:t>
            </a:r>
            <a:r>
              <a:rPr lang="ro-RO" dirty="0">
                <a:cs typeface="Times New Roman" pitchFamily="18" charset="0"/>
              </a:rPr>
              <a:t>reale în </a:t>
            </a:r>
            <a:r>
              <a:rPr lang="ro-RO" dirty="0"/>
              <a:t>VM</a:t>
            </a:r>
            <a:r>
              <a:rPr lang="ro-RO" dirty="0">
                <a:cs typeface="Times New Roman" pitchFamily="18" charset="0"/>
              </a:rPr>
              <a:t> conduc la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valoarea nativ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ă</a:t>
            </a:r>
            <a:r>
              <a:rPr lang="ro-RO" dirty="0">
                <a:cs typeface="Times New Roman" pitchFamily="18" charset="0"/>
              </a:rPr>
              <a:t> pentru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MFLOPS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</a:p>
          <a:p>
            <a:r>
              <a:rPr lang="ro-RO" dirty="0" smtClean="0"/>
              <a:t>O</a:t>
            </a:r>
            <a:r>
              <a:rPr lang="ro-RO" dirty="0" smtClean="0">
                <a:cs typeface="Times New Roman" pitchFamily="18" charset="0"/>
              </a:rPr>
              <a:t>perațiile </a:t>
            </a:r>
            <a:r>
              <a:rPr lang="ro-RO" dirty="0">
                <a:cs typeface="Times New Roman" pitchFamily="18" charset="0"/>
              </a:rPr>
              <a:t>normalizate în </a:t>
            </a:r>
            <a:r>
              <a:rPr lang="ro-RO" dirty="0"/>
              <a:t>VM</a:t>
            </a:r>
            <a:r>
              <a:rPr lang="ro-RO" dirty="0">
                <a:cs typeface="Times New Roman" pitchFamily="18" charset="0"/>
              </a:rPr>
              <a:t> conduc la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valoarea normalizat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ă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dirty="0">
                <a:cs typeface="Times New Roman" pitchFamily="18" charset="0"/>
              </a:rPr>
              <a:t>pentru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MFLOPS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</a:p>
          <a:p>
            <a:r>
              <a:rPr lang="ro-RO" dirty="0">
                <a:cs typeface="Times New Roman" pitchFamily="18" charset="0"/>
              </a:rPr>
              <a:t>Indicatorii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MIPS </a:t>
            </a:r>
            <a:r>
              <a:rPr lang="ro-RO" dirty="0" smtClean="0">
                <a:cs typeface="Times New Roman" pitchFamily="18" charset="0"/>
              </a:rPr>
              <a:t>și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MFLOPS </a:t>
            </a:r>
            <a:r>
              <a:rPr lang="ro-RO" dirty="0">
                <a:cs typeface="Times New Roman" pitchFamily="18" charset="0"/>
              </a:rPr>
              <a:t>sunt utili pentru compararea calculatoarelor din </a:t>
            </a:r>
            <a:r>
              <a:rPr lang="ro-RO" dirty="0" smtClean="0">
                <a:cs typeface="Times New Roman" pitchFamily="18" charset="0"/>
              </a:rPr>
              <a:t>aceeași </a:t>
            </a:r>
            <a:r>
              <a:rPr lang="ro-RO" dirty="0">
                <a:cs typeface="Times New Roman" pitchFamily="18" charset="0"/>
              </a:rPr>
              <a:t>familie</a:t>
            </a:r>
            <a:endParaRPr lang="ro-RO" dirty="0"/>
          </a:p>
          <a:p>
            <a:pPr lvl="1"/>
            <a:r>
              <a:rPr lang="ro-RO" dirty="0">
                <a:cs typeface="Times New Roman" pitchFamily="18" charset="0"/>
              </a:rPr>
              <a:t>Nu sunt </a:t>
            </a:r>
            <a:r>
              <a:rPr lang="ro-RO" dirty="0" smtClean="0">
                <a:cs typeface="Times New Roman" pitchFamily="18" charset="0"/>
              </a:rPr>
              <a:t>potriviți </a:t>
            </a:r>
            <a:r>
              <a:rPr lang="ro-RO" dirty="0">
                <a:cs typeface="Times New Roman" pitchFamily="18" charset="0"/>
              </a:rPr>
              <a:t>pentru compararea calculatoarelor cu seturi diferite de </a:t>
            </a:r>
            <a:r>
              <a:rPr lang="ro-RO" dirty="0" smtClean="0">
                <a:cs typeface="Times New Roman" pitchFamily="18" charset="0"/>
              </a:rPr>
              <a:t>instrucțiuni</a:t>
            </a:r>
            <a:endParaRPr lang="ro-RO" dirty="0"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26.02.2018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DE63C1B-328C-471D-BA05-7FA5BA5AE807}" type="slidenum">
              <a:rPr lang="ro-RO"/>
              <a:pPr/>
              <a:t>30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/>
              <a:t>Structura sistemelor de calcul (01-1)</a:t>
            </a:r>
          </a:p>
        </p:txBody>
      </p:sp>
    </p:spTree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MFLOPS (</a:t>
            </a:r>
            <a:r>
              <a:rPr lang="en-US"/>
              <a:t>5</a:t>
            </a:r>
            <a:r>
              <a:rPr lang="ro-RO"/>
              <a:t>)</a:t>
            </a:r>
            <a:endParaRPr lang="en-US"/>
          </a:p>
        </p:txBody>
      </p:sp>
      <p:sp>
        <p:nvSpPr>
          <p:cNvPr id="279555" name="Rectangle 3"/>
          <p:cNvSpPr>
            <a:spLocks noGrp="1" noChangeArrowheads="1"/>
          </p:cNvSpPr>
          <p:nvPr>
            <p:ph idx="1"/>
          </p:nvPr>
        </p:nvSpPr>
        <p:spPr>
          <a:xfrm>
            <a:off x="395536" y="1340767"/>
            <a:ext cx="8352928" cy="4968553"/>
          </a:xfrm>
        </p:spPr>
        <p:txBody>
          <a:bodyPr>
            <a:normAutofit/>
          </a:bodyPr>
          <a:lstStyle/>
          <a:p>
            <a:r>
              <a:rPr lang="ro-RO" dirty="0" smtClean="0"/>
              <a:t>Totuși</a:t>
            </a:r>
            <a:r>
              <a:rPr lang="ro-RO" dirty="0"/>
              <a:t>,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MFLOPS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ro-RO" dirty="0"/>
              <a:t>este utilizat de anumite programe de evaluare a </a:t>
            </a:r>
            <a:r>
              <a:rPr lang="ro-RO" dirty="0" smtClean="0"/>
              <a:t>performanței </a:t>
            </a:r>
            <a:r>
              <a:rPr lang="ro-RO" dirty="0"/>
              <a:t>supercalculatoarelor</a:t>
            </a:r>
          </a:p>
          <a:p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Exemplu</a:t>
            </a:r>
            <a:r>
              <a:rPr lang="ro-RO" dirty="0"/>
              <a:t>: programul </a:t>
            </a:r>
            <a:r>
              <a:rPr lang="ro-RO" dirty="0" err="1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Linpack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 </a:t>
            </a:r>
          </a:p>
          <a:p>
            <a:pPr lvl="1"/>
            <a:r>
              <a:rPr lang="ro-RO" dirty="0"/>
              <a:t>Bibliotecă software pentru </a:t>
            </a:r>
            <a:r>
              <a:rPr lang="ro-RO" dirty="0" smtClean="0"/>
              <a:t>operații </a:t>
            </a:r>
            <a:r>
              <a:rPr lang="ro-RO" dirty="0"/>
              <a:t>de algebră numerică liniară (vectorială sau matricială) </a:t>
            </a:r>
          </a:p>
          <a:p>
            <a:pPr lvl="1"/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HPL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ro-RO" dirty="0"/>
              <a:t>(</a:t>
            </a:r>
            <a:r>
              <a:rPr lang="ro-RO" i="1" dirty="0" err="1"/>
              <a:t>High</a:t>
            </a:r>
            <a:r>
              <a:rPr lang="ro-RO" i="1" dirty="0"/>
              <a:t> </a:t>
            </a:r>
            <a:r>
              <a:rPr lang="ro-RO" i="1" dirty="0" err="1"/>
              <a:t>Performance</a:t>
            </a:r>
            <a:r>
              <a:rPr lang="ro-RO" i="1" dirty="0"/>
              <a:t> </a:t>
            </a:r>
            <a:r>
              <a:rPr lang="ro-RO" i="1" dirty="0" err="1"/>
              <a:t>Linpack</a:t>
            </a:r>
            <a:r>
              <a:rPr lang="ro-RO" dirty="0"/>
              <a:t>) – implementare portabilă a programului </a:t>
            </a:r>
            <a:r>
              <a:rPr lang="ro-RO" dirty="0" err="1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Linpack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ro-RO" dirty="0"/>
              <a:t>utilizată pentru lista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TOP500</a:t>
            </a:r>
            <a:endParaRPr lang="ro-RO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26.02.2018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FB52566-0703-42A4-92AB-023873FF27E1}" type="slidenum">
              <a:rPr lang="ro-RO"/>
              <a:pPr/>
              <a:t>31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/>
              <a:t>Structura sistemelor de calcul (01-1)</a:t>
            </a:r>
          </a:p>
        </p:txBody>
      </p:sp>
    </p:spTree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MFLOPS (</a:t>
            </a:r>
            <a:r>
              <a:rPr lang="en-US"/>
              <a:t>6</a:t>
            </a:r>
            <a:r>
              <a:rPr lang="ro-RO"/>
              <a:t>)</a:t>
            </a:r>
            <a:endParaRPr lang="en-US"/>
          </a:p>
        </p:txBody>
      </p:sp>
      <p:sp>
        <p:nvSpPr>
          <p:cNvPr id="280579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268760"/>
            <a:ext cx="8382000" cy="5112569"/>
          </a:xfrm>
        </p:spPr>
        <p:txBody>
          <a:bodyPr>
            <a:normAutofit/>
          </a:bodyPr>
          <a:lstStyle/>
          <a:p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TOP500 </a:t>
            </a:r>
            <a:r>
              <a:rPr lang="ro-RO" dirty="0"/>
              <a:t>– ordonează primele 500 cele mai rapide calculatoare cunoscute </a:t>
            </a:r>
            <a:r>
              <a:rPr lang="ro-RO" dirty="0" smtClean="0"/>
              <a:t>public</a:t>
            </a:r>
            <a:endParaRPr lang="ro-RO" dirty="0"/>
          </a:p>
          <a:p>
            <a:pPr lvl="1"/>
            <a:r>
              <a:rPr lang="ro-RO" dirty="0">
                <a:hlinkClick r:id="rId3"/>
              </a:rPr>
              <a:t>http://www.top500.org/</a:t>
            </a:r>
            <a:endParaRPr lang="ro-RO" dirty="0"/>
          </a:p>
          <a:p>
            <a:r>
              <a:rPr lang="ro-RO" dirty="0"/>
              <a:t>Lista actuală: publicată în </a:t>
            </a:r>
            <a:r>
              <a:rPr lang="ro-RO" dirty="0" smtClean="0"/>
              <a:t>noiembrie </a:t>
            </a:r>
            <a:r>
              <a:rPr lang="ro-RO" dirty="0" smtClean="0"/>
              <a:t>201</a:t>
            </a:r>
            <a:r>
              <a:rPr lang="en-US" dirty="0" smtClean="0"/>
              <a:t>7</a:t>
            </a:r>
            <a:endParaRPr lang="ro-RO" dirty="0"/>
          </a:p>
          <a:p>
            <a:r>
              <a:rPr lang="ro-RO" dirty="0" smtClean="0"/>
              <a:t>Nr. 1 în listă: </a:t>
            </a:r>
            <a:r>
              <a:rPr lang="ro-RO" dirty="0" err="1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Sunway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ro-RO" dirty="0" err="1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TaihuLight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ro-RO" dirty="0" smtClean="0"/>
              <a:t>(China)</a:t>
            </a:r>
          </a:p>
          <a:p>
            <a:pPr lvl="1">
              <a:spcBef>
                <a:spcPts val="600"/>
              </a:spcBef>
            </a:pPr>
            <a:r>
              <a:rPr lang="ro-RO" dirty="0" smtClean="0"/>
              <a:t>Dezvoltat de National </a:t>
            </a:r>
            <a:r>
              <a:rPr lang="ro-RO" dirty="0" err="1" smtClean="0"/>
              <a:t>Research</a:t>
            </a:r>
            <a:r>
              <a:rPr lang="ro-RO" dirty="0" smtClean="0"/>
              <a:t> Center of </a:t>
            </a:r>
            <a:r>
              <a:rPr lang="ro-RO" dirty="0" err="1" smtClean="0"/>
              <a:t>Parallel</a:t>
            </a:r>
            <a:r>
              <a:rPr lang="ro-RO" dirty="0" smtClean="0"/>
              <a:t> Computer Engineering </a:t>
            </a:r>
            <a:r>
              <a:rPr lang="ro-RO" dirty="0" err="1" smtClean="0"/>
              <a:t>and</a:t>
            </a:r>
            <a:r>
              <a:rPr lang="ro-RO" dirty="0" smtClean="0"/>
              <a:t> Technology (NRCPC)</a:t>
            </a:r>
          </a:p>
          <a:p>
            <a:pPr lvl="1">
              <a:spcBef>
                <a:spcPts val="600"/>
              </a:spcBef>
            </a:pPr>
            <a:r>
              <a:rPr lang="ro-RO" dirty="0" smtClean="0"/>
              <a:t>Instalat la National </a:t>
            </a:r>
            <a:r>
              <a:rPr lang="ro-RO" dirty="0" err="1" smtClean="0"/>
              <a:t>Supercomputer</a:t>
            </a:r>
            <a:r>
              <a:rPr lang="ro-RO" dirty="0" smtClean="0"/>
              <a:t> Center din </a:t>
            </a:r>
            <a:r>
              <a:rPr lang="ro-RO" dirty="0" err="1" smtClean="0"/>
              <a:t>Wuxi</a:t>
            </a:r>
            <a:r>
              <a:rPr lang="ro-RO" dirty="0" smtClean="0"/>
              <a:t>, China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26.02.2018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D76863-4DAA-4A15-AFFD-B970B320A424}" type="slidenum">
              <a:rPr lang="ro-RO"/>
              <a:pPr/>
              <a:t>32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/>
              <a:t>Structura sistemelor de calcul (01-1)</a:t>
            </a:r>
          </a:p>
        </p:txBody>
      </p:sp>
    </p:spTree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MFLOPS (</a:t>
            </a:r>
            <a:r>
              <a:rPr lang="en-US" dirty="0"/>
              <a:t>7</a:t>
            </a:r>
            <a:r>
              <a:rPr lang="ro-RO" dirty="0"/>
              <a:t>)</a:t>
            </a:r>
            <a:endParaRPr lang="en-US" dirty="0"/>
          </a:p>
        </p:txBody>
      </p:sp>
      <p:sp>
        <p:nvSpPr>
          <p:cNvPr id="282627" name="Rectangle 3"/>
          <p:cNvSpPr>
            <a:spLocks noGrp="1" noChangeArrowheads="1"/>
          </p:cNvSpPr>
          <p:nvPr>
            <p:ph idx="1"/>
          </p:nvPr>
        </p:nvSpPr>
        <p:spPr>
          <a:xfrm>
            <a:off x="395536" y="1268760"/>
            <a:ext cx="8352928" cy="4857403"/>
          </a:xfrm>
        </p:spPr>
        <p:txBody>
          <a:bodyPr>
            <a:normAutofit/>
          </a:bodyPr>
          <a:lstStyle/>
          <a:p>
            <a:pPr lvl="1"/>
            <a:r>
              <a:rPr lang="ro-RO" dirty="0" smtClean="0"/>
              <a:t>Performanța </a:t>
            </a:r>
            <a:r>
              <a:rPr lang="ro-RO" dirty="0" err="1" smtClean="0"/>
              <a:t>Linpack</a:t>
            </a:r>
            <a:r>
              <a:rPr lang="ro-RO" dirty="0" smtClean="0"/>
              <a:t>: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93 PFLOPS </a:t>
            </a:r>
          </a:p>
          <a:p>
            <a:pPr lvl="1"/>
            <a:r>
              <a:rPr lang="ro-RO" dirty="0" smtClean="0"/>
              <a:t>Performanța maximă: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125,4 PFLOPS </a:t>
            </a:r>
          </a:p>
          <a:p>
            <a:pPr lvl="1"/>
            <a:r>
              <a:rPr lang="ro-RO" dirty="0" smtClean="0"/>
              <a:t>Numărul total de nuclee: 10.649.600</a:t>
            </a:r>
          </a:p>
          <a:p>
            <a:pPr lvl="1"/>
            <a:r>
              <a:rPr lang="ro-RO" dirty="0" smtClean="0"/>
              <a:t>Numărul nodurilor de calcul: 40.960 </a:t>
            </a:r>
          </a:p>
          <a:p>
            <a:pPr lvl="1"/>
            <a:r>
              <a:rPr lang="ro-RO" dirty="0" smtClean="0"/>
              <a:t>Nod de calcul:</a:t>
            </a:r>
          </a:p>
          <a:p>
            <a:pPr lvl="2"/>
            <a:r>
              <a:rPr lang="ro-RO" dirty="0" smtClean="0"/>
              <a:t>Un procesor </a:t>
            </a:r>
            <a:r>
              <a:rPr lang="ro-RO" dirty="0" err="1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Sunway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 SW26010 260C </a:t>
            </a:r>
            <a:r>
              <a:rPr lang="ro-RO" dirty="0" smtClean="0"/>
              <a:t>(procesor RISC; 1,45 GHz; 260 nuclee; peste 3 TFLOPS) </a:t>
            </a:r>
            <a:r>
              <a:rPr lang="ro-RO" dirty="0" smtClean="0">
                <a:solidFill>
                  <a:schemeClr val="tx2"/>
                </a:solidFill>
              </a:rPr>
              <a:t> </a:t>
            </a:r>
          </a:p>
          <a:p>
            <a:pPr lvl="2"/>
            <a:r>
              <a:rPr lang="ro-RO" dirty="0" smtClean="0"/>
              <a:t>Memorie: bazată pe tehnologia DDR3, 32 GB </a:t>
            </a:r>
          </a:p>
          <a:p>
            <a:pPr lvl="2"/>
            <a:r>
              <a:rPr lang="ro-RO" dirty="0" smtClean="0"/>
              <a:t>Pentru fiecare nucleu: memorie cache de instrucțiuni (12 KB); memorie locală (64 KB)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26.02.2018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C8A1BCA-ADB1-4223-8FB6-3B867545B003}" type="slidenum">
              <a:rPr lang="ro-RO"/>
              <a:pPr/>
              <a:t>33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/>
              <a:t>Structura sistemelor de calcul (01-1)</a:t>
            </a:r>
          </a:p>
        </p:txBody>
      </p:sp>
    </p:spTree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MFLOPS </a:t>
            </a:r>
            <a:r>
              <a:rPr lang="ro-RO" dirty="0" smtClean="0"/>
              <a:t>(8)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4505849"/>
          </a:xfrm>
        </p:spPr>
        <p:txBody>
          <a:bodyPr/>
          <a:lstStyle/>
          <a:p>
            <a:pPr lvl="1"/>
            <a:r>
              <a:rPr lang="ro-RO" dirty="0" smtClean="0"/>
              <a:t>Memorie internă totală: 1,3 PB </a:t>
            </a:r>
          </a:p>
          <a:p>
            <a:pPr lvl="1"/>
            <a:r>
              <a:rPr lang="ro-RO" dirty="0" smtClean="0"/>
              <a:t>Interconexiune: </a:t>
            </a:r>
            <a:r>
              <a:rPr lang="ro-RO" dirty="0" err="1" smtClean="0"/>
              <a:t>Sunway</a:t>
            </a:r>
            <a:r>
              <a:rPr lang="ro-RO" dirty="0" smtClean="0"/>
              <a:t> </a:t>
            </a:r>
            <a:r>
              <a:rPr lang="ro-RO" dirty="0" err="1" smtClean="0"/>
              <a:t>Network</a:t>
            </a:r>
            <a:endParaRPr lang="ro-RO" dirty="0" smtClean="0"/>
          </a:p>
          <a:p>
            <a:pPr lvl="2"/>
            <a:r>
              <a:rPr lang="ro-RO" dirty="0" smtClean="0"/>
              <a:t>Bazată pe tehnologia PCI Express 3.0</a:t>
            </a:r>
          </a:p>
          <a:p>
            <a:pPr lvl="2"/>
            <a:r>
              <a:rPr lang="ro-RO" dirty="0" smtClean="0"/>
              <a:t>Lățime de bandă maximă de 16 GB/s între noduri</a:t>
            </a:r>
          </a:p>
          <a:p>
            <a:pPr lvl="1"/>
            <a:r>
              <a:rPr lang="ro-RO" dirty="0" smtClean="0"/>
              <a:t>Sistem de operare: </a:t>
            </a:r>
            <a:r>
              <a:rPr lang="ro-RO" dirty="0" err="1" smtClean="0"/>
              <a:t>Sunway</a:t>
            </a:r>
            <a:r>
              <a:rPr lang="ro-RO" dirty="0" smtClean="0"/>
              <a:t> </a:t>
            </a:r>
            <a:r>
              <a:rPr lang="ro-RO" dirty="0" err="1" smtClean="0"/>
              <a:t>Raise</a:t>
            </a:r>
            <a:r>
              <a:rPr lang="ro-RO" dirty="0" smtClean="0"/>
              <a:t> OS</a:t>
            </a:r>
          </a:p>
          <a:p>
            <a:pPr lvl="2"/>
            <a:r>
              <a:rPr lang="ro-RO" dirty="0" smtClean="0"/>
              <a:t>Bazat pe Linux </a:t>
            </a:r>
          </a:p>
          <a:p>
            <a:pPr lvl="2"/>
            <a:r>
              <a:rPr lang="ro-RO" dirty="0" smtClean="0"/>
              <a:t>Dezvoltat de NRCPC </a:t>
            </a:r>
          </a:p>
          <a:p>
            <a:pPr lvl="1"/>
            <a:r>
              <a:rPr lang="ro-RO" dirty="0" smtClean="0"/>
              <a:t>Consum de putere: 15,3 MW </a:t>
            </a:r>
          </a:p>
          <a:p>
            <a:pPr lvl="1"/>
            <a:r>
              <a:rPr lang="ro-RO" dirty="0" smtClean="0">
                <a:sym typeface="Symbol" pitchFamily="18" charset="2"/>
              </a:rPr>
              <a:t>Eficiență energetică: 6 GFLOPS / W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26.02.2018</a:t>
            </a:r>
            <a:endParaRPr lang="ro-RO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8A1A8A2-B654-4CFC-85EC-A016050C91AE}" type="slidenum">
              <a:rPr lang="ro-RO" smtClean="0"/>
              <a:pPr/>
              <a:t>34</a:t>
            </a:fld>
            <a:endParaRPr lang="ro-RO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(01-1)</a:t>
            </a:r>
            <a:endParaRPr lang="ro-RO" dirty="0"/>
          </a:p>
        </p:txBody>
      </p:sp>
    </p:spTree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MFLOPS (9)</a:t>
            </a:r>
            <a:endParaRPr lang="ro-R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26.02.2018</a:t>
            </a:r>
            <a:endParaRPr lang="ro-RO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8A1A8A2-B654-4CFC-85EC-A016050C91AE}" type="slidenum">
              <a:rPr lang="ro-RO" smtClean="0"/>
              <a:pPr/>
              <a:t>35</a:t>
            </a:fld>
            <a:endParaRPr lang="ro-RO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(01-1)</a:t>
            </a:r>
            <a:endParaRPr lang="ro-RO" dirty="0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1628800"/>
            <a:ext cx="8403309" cy="3744416"/>
          </a:xfrm>
        </p:spPr>
      </p:pic>
    </p:spTree>
  </p:cSld>
  <p:clrMapOvr>
    <a:masterClrMapping/>
  </p:clrMapOvr>
  <p:transition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MFLOPS (10)</a:t>
            </a:r>
            <a:endParaRPr lang="ro-R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26.02.2018</a:t>
            </a:r>
            <a:endParaRPr lang="ro-RO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8A1A8A2-B654-4CFC-85EC-A016050C91AE}" type="slidenum">
              <a:rPr lang="ro-RO" smtClean="0"/>
              <a:pPr/>
              <a:t>36</a:t>
            </a:fld>
            <a:endParaRPr lang="ro-RO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(01-1)</a:t>
            </a:r>
            <a:endParaRPr lang="ro-RO" dirty="0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646" y="1268760"/>
            <a:ext cx="7986802" cy="5040560"/>
          </a:xfrm>
        </p:spPr>
      </p:pic>
    </p:spTree>
  </p:cSld>
  <p:clrMapOvr>
    <a:masterClrMapping/>
  </p:clrMapOvr>
  <p:transition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Rezumat (1)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4418133"/>
          </a:xfrm>
        </p:spPr>
        <p:txBody>
          <a:bodyPr/>
          <a:lstStyle/>
          <a:p>
            <a:r>
              <a:rPr lang="ro-RO" sz="33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Timpul de execuție </a:t>
            </a:r>
            <a:r>
              <a:rPr lang="ro-RO" sz="3300" dirty="0" smtClean="0"/>
              <a:t>este principalul indicator de performanță</a:t>
            </a:r>
          </a:p>
          <a:p>
            <a:r>
              <a:rPr lang="ro-RO" sz="3300" dirty="0" smtClean="0"/>
              <a:t>Pentru estimarea performanței UCP, timpul de execuție se poate aproxima prin </a:t>
            </a:r>
            <a:r>
              <a:rPr lang="ro-RO" sz="33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timpul UCP</a:t>
            </a:r>
          </a:p>
          <a:p>
            <a:r>
              <a:rPr lang="ro-RO" sz="3300" dirty="0" smtClean="0"/>
              <a:t>Timpul UCP se poate exprima în funcție de numărul mediu al </a:t>
            </a:r>
            <a:r>
              <a:rPr lang="ro-RO" sz="33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ciclurilor de ceas pe instrucțiune </a:t>
            </a:r>
            <a:r>
              <a:rPr lang="ro-RO" sz="3300" dirty="0" smtClean="0"/>
              <a:t>(</a:t>
            </a:r>
            <a:r>
              <a:rPr lang="ro-RO" sz="33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CPI</a:t>
            </a:r>
            <a:r>
              <a:rPr lang="ro-RO" sz="3300" dirty="0" smtClean="0"/>
              <a:t>)</a:t>
            </a:r>
          </a:p>
          <a:p>
            <a:r>
              <a:rPr lang="ro-RO" sz="33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MIPS </a:t>
            </a:r>
            <a:r>
              <a:rPr lang="ro-RO" sz="3300" dirty="0" smtClean="0"/>
              <a:t>este un indicator popular de performanță</a:t>
            </a:r>
            <a:endParaRPr lang="ro-RO" sz="33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26.02.2018</a:t>
            </a:r>
            <a:endParaRPr lang="ro-RO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8A1A8A2-B654-4CFC-85EC-A016050C91AE}" type="slidenum">
              <a:rPr lang="ro-RO" smtClean="0"/>
              <a:pPr/>
              <a:t>37</a:t>
            </a:fld>
            <a:endParaRPr lang="ro-RO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(01-1)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511228206"/>
      </p:ext>
    </p:extLst>
  </p:cSld>
  <p:clrMapOvr>
    <a:masterClrMapping/>
  </p:clrMapOvr>
  <p:transition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Rezumat </a:t>
            </a:r>
            <a:r>
              <a:rPr lang="ro-RO" dirty="0" smtClean="0"/>
              <a:t>(2)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4585871"/>
          </a:xfrm>
        </p:spPr>
        <p:txBody>
          <a:bodyPr/>
          <a:lstStyle/>
          <a:p>
            <a:pPr lvl="1"/>
            <a:r>
              <a:rPr lang="ro-RO" sz="2900" dirty="0" smtClean="0"/>
              <a:t>Există diferite probleme atunci când </a:t>
            </a:r>
            <a:r>
              <a:rPr lang="ro-RO" sz="29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MIPS </a:t>
            </a:r>
            <a:r>
              <a:rPr lang="ro-RO" sz="2900" dirty="0" smtClean="0"/>
              <a:t>se utilizează pentru compararea performanțelor</a:t>
            </a:r>
          </a:p>
          <a:p>
            <a:r>
              <a:rPr lang="ro-RO" sz="3300" dirty="0" smtClean="0"/>
              <a:t>Pentru aplicații care necesită operații în VM, ca metrică de performanță se poate utiliza </a:t>
            </a:r>
            <a:r>
              <a:rPr lang="ro-RO" sz="33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MFLOPS </a:t>
            </a:r>
            <a:r>
              <a:rPr lang="ro-RO" sz="3300" dirty="0" smtClean="0"/>
              <a:t>(</a:t>
            </a:r>
            <a:r>
              <a:rPr lang="ro-RO" sz="33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GFLOPS</a:t>
            </a:r>
            <a:r>
              <a:rPr lang="ro-RO" sz="3300" dirty="0" smtClean="0"/>
              <a:t>, </a:t>
            </a:r>
            <a:r>
              <a:rPr lang="ro-RO" sz="33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TFLOPS</a:t>
            </a:r>
            <a:r>
              <a:rPr lang="ro-RO" sz="3300" dirty="0" smtClean="0"/>
              <a:t>, </a:t>
            </a:r>
            <a:r>
              <a:rPr lang="ro-RO" sz="33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PFLOPS</a:t>
            </a:r>
            <a:r>
              <a:rPr lang="ro-RO" sz="3300" dirty="0" smtClean="0"/>
              <a:t>)</a:t>
            </a:r>
          </a:p>
          <a:p>
            <a:pPr lvl="1"/>
            <a:r>
              <a:rPr lang="ro-RO" sz="2900" dirty="0" smtClean="0"/>
              <a:t>Pentru evitarea unor probleme legate de utilizarea indicatorului </a:t>
            </a:r>
            <a:r>
              <a:rPr lang="ro-RO" sz="29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MFLOPS</a:t>
            </a:r>
            <a:r>
              <a:rPr lang="ro-RO" sz="2900" dirty="0" smtClean="0"/>
              <a:t>, se pot considera </a:t>
            </a:r>
            <a:r>
              <a:rPr lang="ro-RO" sz="29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operații normalizate în VM</a:t>
            </a:r>
            <a:endParaRPr lang="ro-RO" sz="29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r>
              <a:rPr lang="ro-RO" sz="3300" dirty="0" smtClean="0"/>
              <a:t>Programul </a:t>
            </a:r>
            <a:r>
              <a:rPr lang="ro-RO" sz="3300" dirty="0" err="1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Linpack</a:t>
            </a:r>
            <a:r>
              <a:rPr lang="ro-RO" sz="33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ro-RO" sz="3300" dirty="0" smtClean="0"/>
              <a:t>se utilizează pentru evaluarea performanței supercalculatoarelor</a:t>
            </a:r>
            <a:endParaRPr lang="ro-RO" sz="33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26.02.2018</a:t>
            </a:r>
            <a:endParaRPr lang="ro-RO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8A1A8A2-B654-4CFC-85EC-A016050C91AE}" type="slidenum">
              <a:rPr lang="ro-RO" smtClean="0"/>
              <a:pPr/>
              <a:t>38</a:t>
            </a:fld>
            <a:endParaRPr lang="ro-RO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(01-1)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777186913"/>
      </p:ext>
    </p:extLst>
  </p:cSld>
  <p:clrMapOvr>
    <a:masterClrMapping/>
  </p:clrMapOvr>
  <p:transition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Noțiuni, cunoștințe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4579715"/>
          </a:xfrm>
        </p:spPr>
        <p:txBody>
          <a:bodyPr/>
          <a:lstStyle/>
          <a:p>
            <a:pPr marL="576000" lvl="1"/>
            <a:r>
              <a:rPr lang="ro-RO" dirty="0" smtClean="0"/>
              <a:t>Timpul de răspuns</a:t>
            </a:r>
          </a:p>
          <a:p>
            <a:pPr marL="576000" lvl="1"/>
            <a:r>
              <a:rPr lang="ro-RO" dirty="0" smtClean="0"/>
              <a:t>Timpul UCP</a:t>
            </a:r>
          </a:p>
          <a:p>
            <a:pPr marL="576000" lvl="1"/>
            <a:r>
              <a:rPr lang="ro-RO" dirty="0" smtClean="0"/>
              <a:t>Exprimarea timpului UCP</a:t>
            </a:r>
          </a:p>
          <a:p>
            <a:pPr marL="576000" lvl="1"/>
            <a:r>
              <a:rPr lang="ro-RO" dirty="0" smtClean="0"/>
              <a:t>Indicatorul MIPS</a:t>
            </a:r>
          </a:p>
          <a:p>
            <a:pPr marL="576000" lvl="1"/>
            <a:r>
              <a:rPr lang="ro-RO" dirty="0" smtClean="0"/>
              <a:t>Probleme legate de utilizarea indicatorului MIPS</a:t>
            </a:r>
          </a:p>
          <a:p>
            <a:pPr marL="576000" lvl="1"/>
            <a:r>
              <a:rPr lang="ro-RO" dirty="0" smtClean="0"/>
              <a:t>Indicatorul MFLOPS</a:t>
            </a:r>
          </a:p>
          <a:p>
            <a:pPr marL="576000" lvl="1"/>
            <a:r>
              <a:rPr lang="ro-RO" dirty="0"/>
              <a:t>Probleme legate de utilizarea </a:t>
            </a:r>
            <a:r>
              <a:rPr lang="ro-RO" dirty="0" smtClean="0"/>
              <a:t>indicatorului MFLOPS</a:t>
            </a:r>
            <a:endParaRPr lang="ro-R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26.02.2018</a:t>
            </a:r>
            <a:endParaRPr lang="ro-RO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8A1A8A2-B654-4CFC-85EC-A016050C91AE}" type="slidenum">
              <a:rPr lang="ro-RO" smtClean="0"/>
              <a:pPr/>
              <a:t>39</a:t>
            </a:fld>
            <a:endParaRPr lang="ro-RO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(01-1)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548414985"/>
      </p:ext>
    </p:extLst>
  </p:cSld>
  <p:clrMapOvr>
    <a:masterClrMapping/>
  </p:clrMapOvr>
  <p:transition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Întrebări</a:t>
            </a:r>
            <a:endParaRPr lang="en-US"/>
          </a:p>
        </p:txBody>
      </p:sp>
      <p:sp>
        <p:nvSpPr>
          <p:cNvPr id="284675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412875"/>
            <a:ext cx="8382000" cy="4896445"/>
          </a:xfrm>
        </p:spPr>
        <p:txBody>
          <a:bodyPr>
            <a:normAutofit/>
          </a:bodyPr>
          <a:lstStyle/>
          <a:p>
            <a:pPr marL="533400" indent="-533400">
              <a:buClr>
                <a:schemeClr val="accent3">
                  <a:lumMod val="60000"/>
                  <a:lumOff val="40000"/>
                </a:schemeClr>
              </a:buClr>
              <a:buFontTx/>
              <a:buAutoNum type="arabicPeriod"/>
            </a:pPr>
            <a:r>
              <a:rPr lang="ro-RO" dirty="0"/>
              <a:t>Care sunt deosebirile dintre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timpul de răspuns</a:t>
            </a:r>
            <a:r>
              <a:rPr lang="ro-RO" dirty="0"/>
              <a:t> </a:t>
            </a:r>
            <a:r>
              <a:rPr lang="ro-RO" dirty="0" smtClean="0"/>
              <a:t>și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timpul UCP</a:t>
            </a:r>
            <a:r>
              <a:rPr lang="ro-RO" dirty="0"/>
              <a:t>?</a:t>
            </a:r>
          </a:p>
          <a:p>
            <a:pPr marL="533400" indent="-533400">
              <a:buClr>
                <a:schemeClr val="accent3">
                  <a:lumMod val="60000"/>
                  <a:lumOff val="40000"/>
                </a:schemeClr>
              </a:buClr>
              <a:buFontTx/>
              <a:buAutoNum type="arabicPeriod"/>
            </a:pPr>
            <a:r>
              <a:rPr lang="ro-RO" dirty="0"/>
              <a:t>Cum se poate exprima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timpul UCP </a:t>
            </a:r>
            <a:r>
              <a:rPr lang="ro-RO" dirty="0"/>
              <a:t>în </a:t>
            </a:r>
            <a:r>
              <a:rPr lang="ro-RO" dirty="0" smtClean="0"/>
              <a:t>funcție </a:t>
            </a:r>
            <a:r>
              <a:rPr lang="ro-RO" dirty="0"/>
              <a:t>de numărul mediu al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ciclurilor de ceas pe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instrucțiune</a:t>
            </a:r>
            <a:r>
              <a:rPr lang="ro-RO" dirty="0"/>
              <a:t>?</a:t>
            </a:r>
          </a:p>
          <a:p>
            <a:pPr marL="533400" indent="-533400">
              <a:buClr>
                <a:schemeClr val="accent3">
                  <a:lumMod val="60000"/>
                  <a:lumOff val="40000"/>
                </a:schemeClr>
              </a:buClr>
              <a:buFontTx/>
              <a:buAutoNum type="arabicPeriod"/>
            </a:pPr>
            <a:r>
              <a:rPr lang="ro-RO" dirty="0"/>
              <a:t>Care sunt dezavantajele indicatorului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MIPS</a:t>
            </a:r>
            <a:r>
              <a:rPr lang="ro-RO" dirty="0"/>
              <a:t>?</a:t>
            </a:r>
          </a:p>
          <a:p>
            <a:pPr marL="533400" indent="-533400">
              <a:buClr>
                <a:schemeClr val="accent3">
                  <a:lumMod val="60000"/>
                  <a:lumOff val="40000"/>
                </a:schemeClr>
              </a:buClr>
              <a:buFontTx/>
              <a:buAutoNum type="arabicPeriod"/>
            </a:pPr>
            <a:r>
              <a:rPr lang="ro-RO" dirty="0"/>
              <a:t>Care sunt problemele legate de indicatorul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MFLOPS</a:t>
            </a:r>
            <a:r>
              <a:rPr lang="ro-RO" dirty="0"/>
              <a:t>?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26.02.2018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3039DF1-1473-46B9-9E82-80AA5BD3C657}" type="slidenum">
              <a:rPr lang="ro-RO"/>
              <a:pPr/>
              <a:t>40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/>
              <a:t>Structura sistemelor de calcul (01-1)</a:t>
            </a: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Dark Blue Swoosh-modified">
  <a:themeElements>
    <a:clrScheme name="Blue Template-Template">
      <a:dk1>
        <a:srgbClr val="000000"/>
      </a:dk1>
      <a:lt1>
        <a:srgbClr val="FFFFFF"/>
      </a:lt1>
      <a:dk2>
        <a:srgbClr val="050595"/>
      </a:dk2>
      <a:lt2>
        <a:srgbClr val="FFFF99"/>
      </a:lt2>
      <a:accent1>
        <a:srgbClr val="FFC000"/>
      </a:accent1>
      <a:accent2>
        <a:srgbClr val="3497AE"/>
      </a:accent2>
      <a:accent3>
        <a:srgbClr val="DF8045"/>
      </a:accent3>
      <a:accent4>
        <a:srgbClr val="7DCC2E"/>
      </a:accent4>
      <a:accent5>
        <a:srgbClr val="FF9929"/>
      </a:accent5>
      <a:accent6>
        <a:srgbClr val="7D3DA1"/>
      </a:accent6>
      <a:hlink>
        <a:srgbClr val="F3EB4F"/>
      </a:hlink>
      <a:folHlink>
        <a:srgbClr val="7DDDF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ln>
          <a:headEnd type="none" w="med" len="med"/>
          <a:tailEnd type="none" w="med" len="med"/>
        </a:ln>
      </a:spPr>
      <a:bodyPr vert="horz" wrap="square" lIns="91436" tIns="45718" rIns="91436" bIns="45718" numCol="1" rtlCol="0" anchor="ctr" anchorCtr="0" compatLnSpc="1">
        <a:prstTxWarp prst="textNoShape">
          <a:avLst/>
        </a:prstTxWarp>
      </a:bodyPr>
      <a:lstStyle>
        <a:defPPr algn="ctr" defTabSz="914099" fontAlgn="base">
          <a:spcBef>
            <a:spcPct val="0"/>
          </a:spcBef>
          <a:spcAft>
            <a:spcPct val="0"/>
          </a:spcAft>
          <a:defRPr sz="2300" dirty="0" smtClean="0">
            <a:solidFill>
              <a:srgbClr val="FFFFFF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Segoe" pitchFamily="34" charset="0"/>
          </a:defRPr>
        </a:defPPr>
      </a:lstStyle>
      <a:style>
        <a:lnRef idx="0">
          <a:schemeClr val="accent2"/>
        </a:lnRef>
        <a:fillRef idx="3">
          <a:schemeClr val="accent2"/>
        </a:fillRef>
        <a:effectRef idx="3">
          <a:schemeClr val="accent2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Dark Blue Swoosh-modif">
  <a:themeElements>
    <a:clrScheme name="Blue Template-Template">
      <a:dk1>
        <a:srgbClr val="000000"/>
      </a:dk1>
      <a:lt1>
        <a:srgbClr val="FFFFFF"/>
      </a:lt1>
      <a:dk2>
        <a:srgbClr val="050595"/>
      </a:dk2>
      <a:lt2>
        <a:srgbClr val="FFFF99"/>
      </a:lt2>
      <a:accent1>
        <a:srgbClr val="FFC000"/>
      </a:accent1>
      <a:accent2>
        <a:srgbClr val="3497AE"/>
      </a:accent2>
      <a:accent3>
        <a:srgbClr val="DF8045"/>
      </a:accent3>
      <a:accent4>
        <a:srgbClr val="7DCC2E"/>
      </a:accent4>
      <a:accent5>
        <a:srgbClr val="FF9929"/>
      </a:accent5>
      <a:accent6>
        <a:srgbClr val="7D3DA1"/>
      </a:accent6>
      <a:hlink>
        <a:srgbClr val="F3EB4F"/>
      </a:hlink>
      <a:folHlink>
        <a:srgbClr val="7DDDF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ln>
          <a:headEnd type="none" w="med" len="med"/>
          <a:tailEnd type="none" w="med" len="med"/>
        </a:ln>
      </a:spPr>
      <a:bodyPr vert="horz" wrap="square" lIns="91436" tIns="45718" rIns="91436" bIns="45718" numCol="1" rtlCol="0" anchor="ctr" anchorCtr="0" compatLnSpc="1">
        <a:prstTxWarp prst="textNoShape">
          <a:avLst/>
        </a:prstTxWarp>
      </a:bodyPr>
      <a:lstStyle>
        <a:defPPr algn="ctr" defTabSz="914099" fontAlgn="base">
          <a:spcBef>
            <a:spcPct val="0"/>
          </a:spcBef>
          <a:spcAft>
            <a:spcPct val="0"/>
          </a:spcAft>
          <a:defRPr sz="2300" dirty="0" smtClean="0">
            <a:solidFill>
              <a:srgbClr val="FFFFFF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Segoe" pitchFamily="34" charset="0"/>
          </a:defRPr>
        </a:defPPr>
      </a:lstStyle>
      <a:style>
        <a:lnRef idx="0">
          <a:schemeClr val="accent2"/>
        </a:lnRef>
        <a:fillRef idx="3">
          <a:schemeClr val="accent2"/>
        </a:fillRef>
        <a:effectRef idx="3">
          <a:schemeClr val="accent2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Dark Blue Swoosh-modified</Template>
  <TotalTime>3778</TotalTime>
  <Words>2091</Words>
  <Application>Microsoft Office PowerPoint</Application>
  <PresentationFormat>On-screen Show (4:3)</PresentationFormat>
  <Paragraphs>429</Paragraphs>
  <Slides>40</Slides>
  <Notes>40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40</vt:i4>
      </vt:variant>
    </vt:vector>
  </HeadingPairs>
  <TitlesOfParts>
    <vt:vector size="49" baseType="lpstr">
      <vt:lpstr>Arial</vt:lpstr>
      <vt:lpstr>Calibri</vt:lpstr>
      <vt:lpstr>Symbol</vt:lpstr>
      <vt:lpstr>Times New Roman</vt:lpstr>
      <vt:lpstr>Wingdings</vt:lpstr>
      <vt:lpstr>Dark Blue Swoosh-modified</vt:lpstr>
      <vt:lpstr>Dark Blue Swoosh-modif</vt:lpstr>
      <vt:lpstr>Equation</vt:lpstr>
      <vt:lpstr>Microsoft Equation 3.0</vt:lpstr>
      <vt:lpstr>Structura sistemelor de calcul</vt:lpstr>
      <vt:lpstr>Informații despre disciplina SSC (1)</vt:lpstr>
      <vt:lpstr>Informații despre disciplina SSC (2)</vt:lpstr>
      <vt:lpstr>Informații despre disciplina SSC (3)</vt:lpstr>
      <vt:lpstr>Informații despre disciplina SSC (4)</vt:lpstr>
      <vt:lpstr>Informații despre disciplina SSC (5)</vt:lpstr>
      <vt:lpstr>Informații despre disciplina SSC (6)</vt:lpstr>
      <vt:lpstr>Bibliografie (1)</vt:lpstr>
      <vt:lpstr>Bibliografie (2)</vt:lpstr>
      <vt:lpstr>Cuprinsul cursului</vt:lpstr>
      <vt:lpstr>1. Introducere</vt:lpstr>
      <vt:lpstr>Timpul de execuție (1)</vt:lpstr>
      <vt:lpstr>Timpul de execuție (2)</vt:lpstr>
      <vt:lpstr>Timpul de execuție (3)</vt:lpstr>
      <vt:lpstr>Timpul de execuție (4)</vt:lpstr>
      <vt:lpstr>1. Introducere</vt:lpstr>
      <vt:lpstr>Timpul UCP (1)</vt:lpstr>
      <vt:lpstr>Timpul UCP (2)</vt:lpstr>
      <vt:lpstr>Timpul UCP (3)</vt:lpstr>
      <vt:lpstr>Timpul UCP (4)</vt:lpstr>
      <vt:lpstr>1. Introducere</vt:lpstr>
      <vt:lpstr>MIPS (1)</vt:lpstr>
      <vt:lpstr>MIPS (2)</vt:lpstr>
      <vt:lpstr>MIPS (3)</vt:lpstr>
      <vt:lpstr>MIPS (4)</vt:lpstr>
      <vt:lpstr>1. Introducere</vt:lpstr>
      <vt:lpstr>MFLOPS (1)</vt:lpstr>
      <vt:lpstr>MFLOPS (2)</vt:lpstr>
      <vt:lpstr>MFLOPS (3)</vt:lpstr>
      <vt:lpstr>MFLOPS (4)</vt:lpstr>
      <vt:lpstr>MFLOPS (5)</vt:lpstr>
      <vt:lpstr>MFLOPS (6)</vt:lpstr>
      <vt:lpstr>MFLOPS (7)</vt:lpstr>
      <vt:lpstr>MFLOPS (8)</vt:lpstr>
      <vt:lpstr>MFLOPS (9)</vt:lpstr>
      <vt:lpstr>MFLOPS (10)</vt:lpstr>
      <vt:lpstr>Rezumat (1)</vt:lpstr>
      <vt:lpstr>Rezumat (2)</vt:lpstr>
      <vt:lpstr>Noțiuni, cunoștințe</vt:lpstr>
      <vt:lpstr>Întrebări</vt:lpstr>
    </vt:vector>
  </TitlesOfParts>
  <Company>Technical University of Cluj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SSC-Introducere-1</dc:title>
  <dc:creator>Baruch Zoltan</dc:creator>
  <cp:lastModifiedBy>Baruch Zoltan</cp:lastModifiedBy>
  <cp:revision>276</cp:revision>
  <cp:lastPrinted>1601-01-01T00:00:00Z</cp:lastPrinted>
  <dcterms:created xsi:type="dcterms:W3CDTF">2002-05-22T18:25:20Z</dcterms:created>
  <dcterms:modified xsi:type="dcterms:W3CDTF">2018-02-24T18:28:45Z</dcterms:modified>
</cp:coreProperties>
</file>