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694" r:id="rId2"/>
  </p:sldMasterIdLst>
  <p:notesMasterIdLst>
    <p:notesMasterId r:id="rId49"/>
  </p:notesMasterIdLst>
  <p:handoutMasterIdLst>
    <p:handoutMasterId r:id="rId50"/>
  </p:handoutMasterIdLst>
  <p:sldIdLst>
    <p:sldId id="287" r:id="rId3"/>
    <p:sldId id="288" r:id="rId4"/>
    <p:sldId id="289" r:id="rId5"/>
    <p:sldId id="270" r:id="rId6"/>
    <p:sldId id="290" r:id="rId7"/>
    <p:sldId id="271" r:id="rId8"/>
    <p:sldId id="322" r:id="rId9"/>
    <p:sldId id="292" r:id="rId10"/>
    <p:sldId id="293" r:id="rId11"/>
    <p:sldId id="274" r:id="rId12"/>
    <p:sldId id="296" r:id="rId13"/>
    <p:sldId id="272" r:id="rId14"/>
    <p:sldId id="295" r:id="rId15"/>
    <p:sldId id="297" r:id="rId16"/>
    <p:sldId id="275" r:id="rId17"/>
    <p:sldId id="298" r:id="rId18"/>
    <p:sldId id="273" r:id="rId19"/>
    <p:sldId id="299" r:id="rId20"/>
    <p:sldId id="300" r:id="rId21"/>
    <p:sldId id="301" r:id="rId22"/>
    <p:sldId id="276" r:id="rId23"/>
    <p:sldId id="277" r:id="rId24"/>
    <p:sldId id="302" r:id="rId25"/>
    <p:sldId id="303" r:id="rId26"/>
    <p:sldId id="278" r:id="rId27"/>
    <p:sldId id="304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313" r:id="rId37"/>
    <p:sldId id="314" r:id="rId38"/>
    <p:sldId id="315" r:id="rId39"/>
    <p:sldId id="316" r:id="rId40"/>
    <p:sldId id="317" r:id="rId41"/>
    <p:sldId id="318" r:id="rId42"/>
    <p:sldId id="319" r:id="rId43"/>
    <p:sldId id="320" r:id="rId44"/>
    <p:sldId id="323" r:id="rId45"/>
    <p:sldId id="324" r:id="rId46"/>
    <p:sldId id="325" r:id="rId47"/>
    <p:sldId id="321" r:id="rId4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85108" autoAdjust="0"/>
  </p:normalViewPr>
  <p:slideViewPr>
    <p:cSldViewPr>
      <p:cViewPr varScale="1">
        <p:scale>
          <a:sx n="143" d="100"/>
          <a:sy n="143" d="100"/>
        </p:scale>
        <p:origin x="3284" y="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7" d="100"/>
          <a:sy n="127" d="100"/>
        </p:scale>
        <p:origin x="4900" y="8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o-RO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6060B63-3C6F-4416-9241-6C25F770A0A9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755076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6BFCBD8D-60CF-462F-8F8B-4C10F83F9E3B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482941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90150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27931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78756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35950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06752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96552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361143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9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319100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18639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889749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71750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8652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504656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210470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387387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063711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019150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047289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195321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312209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22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890752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582488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24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072337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121436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33599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27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859029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28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310724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29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964982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231828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31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376438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32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311147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33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956944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927639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35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2173131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36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250829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37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490220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38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59088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39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424096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40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29347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41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778797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42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7216331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43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0552058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44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692599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45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8012453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CBD8D-60CF-462F-8F8B-4C10F83F9E3B}" type="slidenum">
              <a:rPr lang="ro-RO" smtClean="0"/>
              <a:pPr/>
              <a:t>46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12128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gi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75375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55D82-82B1-473A-B974-1C0B21B65AB6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ro-RO" dirty="0" smtClean="0"/>
              <a:t>Structura sistemelor de calcul (02-1)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36000">
                      <a:schemeClr val="accent3">
                        <a:lumMod val="60000"/>
                        <a:lumOff val="40000"/>
                      </a:schemeClr>
                    </a:gs>
                    <a:gs pos="86000">
                      <a:schemeClr val="accent3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24437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101B90-0BCF-43AA-98AA-7F83CFE7A9FB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dirty="0" smtClean="0"/>
              <a:t>Structura sistemelor de calcul (02-1)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825759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825759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55843B-41AA-4029-B53A-051E321DDAE7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(02-1)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4062437"/>
          </a:xfrm>
        </p:spPr>
        <p:txBody>
          <a:bodyPr/>
          <a:lstStyle>
            <a:lvl1pPr marL="281770" indent="-281770">
              <a:defRPr sz="2400"/>
            </a:lvl1pPr>
            <a:lvl2pPr marL="562218" indent="-265896">
              <a:defRPr sz="22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4062437"/>
          </a:xfrm>
        </p:spPr>
        <p:txBody>
          <a:bodyPr/>
          <a:lstStyle>
            <a:lvl1pPr marL="296321" indent="-296321">
              <a:defRPr sz="2400"/>
            </a:lvl1pPr>
            <a:lvl2pPr marL="570155" indent="-273833">
              <a:defRPr sz="22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0C62F-0DD2-4630-B849-A6B6D3D89C73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(02-1)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4CB3B7-52A4-4699-BF06-3BB3F9ECBFC2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(02-1)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490D7D-68A6-494C-90A4-6E613804FA1E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(02-1)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955D82-82B1-473A-B974-1C0B21B65AB6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(02-1)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60649"/>
            <a:ext cx="8424936" cy="648072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23528" y="1524000"/>
            <a:ext cx="8424936" cy="49859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 smtClean="0"/>
              <a:t>Click icon to add table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/>
            </a:lvl1pPr>
          </a:lstStyle>
          <a:p>
            <a:r>
              <a:rPr lang="ro-RO" smtClean="0"/>
              <a:t>Structura sistemelor de calcul (02-1)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/>
            </a:lvl1pPr>
          </a:lstStyle>
          <a:p>
            <a:fld id="{E69A2986-3D1C-4D83-86BA-F299B282C17C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09398"/>
          </a:xfrm>
        </p:spPr>
        <p:txBody>
          <a:bodyPr/>
          <a:lstStyle>
            <a:lvl1pPr algn="ctr">
              <a:defRPr sz="4400"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8352928" cy="2123658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61048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4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Click to edit Master text styles</a:t>
            </a:r>
          </a:p>
          <a:p>
            <a:pPr marL="396875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Second level</a:t>
            </a:r>
          </a:p>
          <a:p>
            <a:pPr marL="396875" lvl="2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Third level</a:t>
            </a:r>
          </a:p>
          <a:p>
            <a:pPr marL="396875" lvl="3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Fourth level</a:t>
            </a:r>
          </a:p>
          <a:p>
            <a:pPr marL="396875" lvl="4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smtClean="0"/>
              <a:t>Structura sistemelor de calcul (02-1)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955D82-82B1-473A-B974-1C0B21B65AB6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4135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95536" y="1524000"/>
            <a:ext cx="8352928" cy="22098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536" y="3886200"/>
            <a:ext cx="8352928" cy="22098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/>
            </a:lvl1pPr>
          </a:lstStyle>
          <a:p>
            <a:r>
              <a:rPr lang="ro-RO" dirty="0"/>
              <a:t>Structura sistemelor de calcul (02-1)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/>
            </a:lvl1pPr>
          </a:lstStyle>
          <a:p>
            <a:fld id="{B87DA6E2-55F5-4B74-ABF4-82EFEE2BE133}" type="slidenum">
              <a:rPr lang="ro-RO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4135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4100264" cy="45720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524000"/>
            <a:ext cx="4100264" cy="45720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/>
            </a:lvl1pPr>
          </a:lstStyle>
          <a:p>
            <a:r>
              <a:rPr lang="ro-RO"/>
              <a:t>Structura sistemelor de calcul (02-1)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/>
            </a:lvl1pPr>
          </a:lstStyle>
          <a:p>
            <a:fld id="{5A2E3D15-9C4D-45CD-AAFE-6ECB36002170}" type="slidenum">
              <a:rPr lang="ro-RO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897768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ro-RO" smtClean="0"/>
              <a:t>Structura sistemelor de calcul (02-1)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897767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897767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54AF97-6E84-46A2-B98D-D31059C06419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4134445"/>
          </a:xfrm>
        </p:spPr>
        <p:txBody>
          <a:bodyPr/>
          <a:lstStyle>
            <a:lvl1pPr marL="281770" indent="-281770">
              <a:defRPr sz="2800"/>
            </a:lvl1pPr>
            <a:lvl2pPr marL="562218" indent="-265896">
              <a:defRPr sz="24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4134445"/>
          </a:xfrm>
        </p:spPr>
        <p:txBody>
          <a:bodyPr/>
          <a:lstStyle>
            <a:lvl1pPr marL="296321" indent="-296321">
              <a:defRPr sz="2800"/>
            </a:lvl1pPr>
            <a:lvl2pPr marL="570155" indent="-273833">
              <a:defRPr sz="24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B781DE-7E8D-40A1-84D4-25F25E8079DB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EC91A5-F5CB-4ED5-B8DB-DC4BB8D1C78C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336754-5158-443C-B27D-03E06682E8E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(02-1)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87363"/>
            <a:ext cx="8352928" cy="609398"/>
          </a:xfrm>
        </p:spPr>
        <p:txBody>
          <a:bodyPr/>
          <a:lstStyle>
            <a:lvl1pPr algn="ctr">
              <a:defRPr sz="44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8352928" cy="2123658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86200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4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Click to edit Master text styles</a:t>
            </a:r>
          </a:p>
          <a:p>
            <a:pPr marL="396875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Second level</a:t>
            </a:r>
          </a:p>
          <a:p>
            <a:pPr marL="396875" lvl="2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Third level</a:t>
            </a:r>
          </a:p>
          <a:p>
            <a:pPr marL="396875" lvl="3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Fourth level</a:t>
            </a:r>
          </a:p>
          <a:p>
            <a:pPr marL="396875" lvl="4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smtClean="0"/>
              <a:t>Structura sistemelor de calcul (02-1)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166936-3B85-4C03-AB82-F1A9CD13B768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879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dirty="0" smtClean="0"/>
              <a:t>Structura sistemelor de calcul (02-1)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AE955D82-82B1-473A-B974-1C0B21B65AB6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6000">
                <a:schemeClr val="accent3">
                  <a:lumMod val="60000"/>
                  <a:lumOff val="40000"/>
                </a:schemeClr>
              </a:gs>
              <a:gs pos="86000">
                <a:schemeClr val="accent3">
                  <a:lumMod val="75000"/>
                </a:schemeClr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09320"/>
            <a:ext cx="216024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09320"/>
            <a:ext cx="289560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 smtClean="0"/>
              <a:t>Structura sistemelor de calcul (02-1)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09320"/>
            <a:ext cx="2160240" cy="4121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Cuprins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154984"/>
          </a:xfrm>
        </p:spPr>
        <p:txBody>
          <a:bodyPr/>
          <a:lstStyle/>
          <a:p>
            <a:endParaRPr lang="ro-RO" dirty="0" smtClean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ro-RO" dirty="0"/>
              <a:t>1. Introducere</a:t>
            </a: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Unitatea aritmetică și logică</a:t>
            </a:r>
          </a:p>
          <a:p>
            <a:r>
              <a:rPr lang="ro-RO" dirty="0"/>
              <a:t>3. Sisteme de memorie</a:t>
            </a:r>
            <a:endParaRPr lang="en-US" i="1" dirty="0"/>
          </a:p>
          <a:p>
            <a:r>
              <a:rPr lang="ro-RO" dirty="0"/>
              <a:t>4. Arhitecturi RISC</a:t>
            </a:r>
          </a:p>
          <a:p>
            <a:r>
              <a:rPr lang="ro-RO" dirty="0"/>
              <a:t>5. Introducere în arhitecturi paralele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57540D-F225-4894-9F74-7C888140B268}" type="slidenum">
              <a:rPr lang="ro-RO"/>
              <a:pPr/>
              <a:t>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dirty="0"/>
              <a:t>Structura sistemelor de calcul (02-1)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ro-RO" dirty="0"/>
              <a:t>. Unitatea aritmetică </a:t>
            </a:r>
            <a:r>
              <a:rPr lang="ro-RO" dirty="0" smtClean="0"/>
              <a:t>și </a:t>
            </a:r>
            <a:r>
              <a:rPr lang="ro-RO" dirty="0"/>
              <a:t>logică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3545586"/>
          </a:xfrm>
        </p:spPr>
        <p:txBody>
          <a:bodyPr/>
          <a:lstStyle/>
          <a:p>
            <a:endParaRPr lang="ro-RO" dirty="0"/>
          </a:p>
          <a:p>
            <a:endParaRPr lang="ro-RO" dirty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Adunarea</a:t>
            </a:r>
          </a:p>
          <a:p>
            <a:r>
              <a:rPr lang="ro-RO" dirty="0" smtClean="0"/>
              <a:t>Înmulțirea</a:t>
            </a:r>
            <a:endParaRPr lang="ro-RO" dirty="0"/>
          </a:p>
          <a:p>
            <a:r>
              <a:rPr lang="ro-RO" dirty="0" smtClean="0"/>
              <a:t>Împărțirea</a:t>
            </a:r>
            <a:endParaRPr lang="ro-RO" dirty="0"/>
          </a:p>
          <a:p>
            <a:r>
              <a:rPr lang="ro-RO" dirty="0"/>
              <a:t>Numere </a:t>
            </a:r>
            <a:r>
              <a:rPr lang="ro-RO" dirty="0" smtClean="0"/>
              <a:t>și operații </a:t>
            </a:r>
            <a:r>
              <a:rPr lang="ro-RO" dirty="0"/>
              <a:t>în virgulă mobilă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FB699D-3F8A-4BB9-995D-E55C9776FE48}" type="slidenum">
              <a:rPr lang="ro-RO"/>
              <a:pPr/>
              <a:t>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Adunarea</a:t>
            </a:r>
          </a:p>
        </p:txBody>
      </p:sp>
      <p:sp>
        <p:nvSpPr>
          <p:cNvPr id="200707" name="Rectangle 1027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321183"/>
          </a:xfrm>
        </p:spPr>
        <p:txBody>
          <a:bodyPr/>
          <a:lstStyle/>
          <a:p>
            <a:r>
              <a:rPr lang="ro-RO" dirty="0" smtClean="0"/>
              <a:t>O</a:t>
            </a:r>
            <a:r>
              <a:rPr lang="ro-RO" dirty="0" smtClean="0">
                <a:cs typeface="Times New Roman" pitchFamily="18" charset="0"/>
              </a:rPr>
              <a:t>perația </a:t>
            </a:r>
            <a:r>
              <a:rPr lang="ro-RO" dirty="0">
                <a:cs typeface="Times New Roman" pitchFamily="18" charset="0"/>
              </a:rPr>
              <a:t>aritmetic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utilizat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cel mai frecvent într‑un sistem de calcul</a:t>
            </a:r>
            <a:r>
              <a:rPr lang="ro-RO" dirty="0"/>
              <a:t> </a:t>
            </a:r>
          </a:p>
          <a:p>
            <a:r>
              <a:rPr lang="ro-RO" dirty="0" smtClean="0"/>
              <a:t>Operațiile </a:t>
            </a:r>
            <a:r>
              <a:rPr lang="ro-RO" dirty="0">
                <a:cs typeface="Times New Roman" pitchFamily="18" charset="0"/>
              </a:rPr>
              <a:t>aritmetice mai complexe ale UAL</a:t>
            </a:r>
            <a:r>
              <a:rPr lang="ro-RO" dirty="0"/>
              <a:t> </a:t>
            </a:r>
            <a:r>
              <a:rPr lang="ro-RO" dirty="0" smtClean="0">
                <a:cs typeface="Times New Roman" pitchFamily="18" charset="0"/>
              </a:rPr>
              <a:t>se </a:t>
            </a:r>
            <a:r>
              <a:rPr lang="ro-RO" dirty="0">
                <a:cs typeface="Times New Roman" pitchFamily="18" charset="0"/>
              </a:rPr>
              <a:t>reduc la o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serie de adun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rin </a:t>
            </a:r>
            <a:r>
              <a:rPr lang="ro-RO" dirty="0" smtClean="0">
                <a:cs typeface="Times New Roman" pitchFamily="18" charset="0"/>
              </a:rPr>
              <a:t>creșterea </a:t>
            </a:r>
            <a:r>
              <a:rPr lang="ro-RO" dirty="0">
                <a:cs typeface="Times New Roman" pitchFamily="18" charset="0"/>
              </a:rPr>
              <a:t>vitezei </a:t>
            </a:r>
            <a:r>
              <a:rPr lang="ro-RO" dirty="0" smtClean="0">
                <a:cs typeface="Times New Roman" pitchFamily="18" charset="0"/>
              </a:rPr>
              <a:t>operației </a:t>
            </a:r>
            <a:r>
              <a:rPr lang="ro-RO" dirty="0">
                <a:cs typeface="Times New Roman" pitchFamily="18" charset="0"/>
              </a:rPr>
              <a:t>de adunare se poate </a:t>
            </a:r>
            <a:r>
              <a:rPr lang="ro-RO" dirty="0" smtClean="0">
                <a:cs typeface="Times New Roman" pitchFamily="18" charset="0"/>
              </a:rPr>
              <a:t>crește </a:t>
            </a:r>
            <a:r>
              <a:rPr lang="ro-RO" dirty="0">
                <a:cs typeface="Times New Roman" pitchFamily="18" charset="0"/>
              </a:rPr>
              <a:t>viteza UAL</a:t>
            </a:r>
            <a:r>
              <a:rPr lang="ro-RO" dirty="0"/>
              <a:t> 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Viteza </a:t>
            </a:r>
            <a:r>
              <a:rPr lang="ro-RO" dirty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costul </a:t>
            </a:r>
            <a:r>
              <a:rPr lang="ro-RO" dirty="0">
                <a:cs typeface="Times New Roman" pitchFamily="18" charset="0"/>
              </a:rPr>
              <a:t>circuitelor de adunare sunt  </a:t>
            </a:r>
            <a:r>
              <a:rPr lang="ro-RO" dirty="0" smtClean="0">
                <a:cs typeface="Times New Roman" pitchFamily="18" charset="0"/>
              </a:rPr>
              <a:t>proporționale </a:t>
            </a:r>
            <a:r>
              <a:rPr lang="ro-RO" dirty="0">
                <a:cs typeface="Times New Roman" pitchFamily="18" charset="0"/>
              </a:rPr>
              <a:t>cu complexitatea acestora</a:t>
            </a:r>
            <a:r>
              <a:rPr lang="ro-RO" dirty="0"/>
              <a:t>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F42A0D-D4FA-432D-B930-1C9CB9D49AED}" type="slidenum">
              <a:rPr lang="ro-RO"/>
              <a:pPr/>
              <a:t>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Adunarea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Adunarea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Sumatorul elementar</a:t>
            </a:r>
          </a:p>
          <a:p>
            <a:pPr lvl="1"/>
            <a:r>
              <a:rPr lang="ro-RO" dirty="0"/>
              <a:t>Sumatorul cu propagarea succesivă a transportului</a:t>
            </a:r>
          </a:p>
          <a:p>
            <a:pPr lvl="1"/>
            <a:r>
              <a:rPr lang="ro-RO" dirty="0"/>
              <a:t>Sumatorul cu anticiparea transportului</a:t>
            </a:r>
          </a:p>
          <a:p>
            <a:pPr lvl="1"/>
            <a:r>
              <a:rPr lang="ro-RO" dirty="0"/>
              <a:t>Sumatorul cu </a:t>
            </a:r>
            <a:r>
              <a:rPr lang="ro-RO" dirty="0" smtClean="0"/>
              <a:t>selecția </a:t>
            </a:r>
            <a:r>
              <a:rPr lang="ro-RO" dirty="0"/>
              <a:t>transportului</a:t>
            </a:r>
          </a:p>
          <a:p>
            <a:pPr lvl="1"/>
            <a:r>
              <a:rPr lang="ro-RO" dirty="0"/>
              <a:t>Sumatorul cu salvarea transportului</a:t>
            </a:r>
          </a:p>
          <a:p>
            <a:pPr lvl="1"/>
            <a:r>
              <a:rPr lang="ro-RO" dirty="0"/>
              <a:t>Sumatorul serial</a:t>
            </a:r>
          </a:p>
          <a:p>
            <a:pPr lvl="1"/>
            <a:r>
              <a:rPr lang="ro-RO" dirty="0"/>
              <a:t>Sumatorul zecimal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513E77-81BF-4D56-A9AE-ED27F428286C}" type="slidenum">
              <a:rPr lang="ro-RO"/>
              <a:pPr/>
              <a:t>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Sumatorul elementar (1)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161139"/>
          </a:xfrm>
        </p:spPr>
        <p:txBody>
          <a:bodyPr/>
          <a:lstStyle/>
          <a:p>
            <a:r>
              <a:rPr lang="ro-RO" dirty="0"/>
              <a:t>A</a:t>
            </a:r>
            <a:r>
              <a:rPr lang="ro-RO" dirty="0">
                <a:cs typeface="Times New Roman" pitchFamily="18" charset="0"/>
              </a:rPr>
              <a:t>dun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trei intr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ri </a:t>
            </a:r>
            <a:r>
              <a:rPr lang="ro-RO" dirty="0">
                <a:cs typeface="Times New Roman" pitchFamily="18" charset="0"/>
              </a:rPr>
              <a:t>de câte un bit</a:t>
            </a:r>
            <a:r>
              <a:rPr lang="ro-RO" dirty="0"/>
              <a:t>: </a:t>
            </a:r>
          </a:p>
          <a:p>
            <a:pPr lvl="1"/>
            <a:r>
              <a:rPr lang="ro-RO" dirty="0" smtClean="0"/>
              <a:t>B</a:t>
            </a:r>
            <a:r>
              <a:rPr lang="ro-RO" dirty="0" smtClean="0">
                <a:cs typeface="Times New Roman" pitchFamily="18" charset="0"/>
              </a:rPr>
              <a:t>iții </a:t>
            </a:r>
            <a:r>
              <a:rPr lang="ro-RO" dirty="0">
                <a:cs typeface="Times New Roman" pitchFamily="18" charset="0"/>
              </a:rPr>
              <a:t>care trebuie </a:t>
            </a:r>
            <a:r>
              <a:rPr lang="ro-RO" dirty="0" smtClean="0">
                <a:cs typeface="Times New Roman" pitchFamily="18" charset="0"/>
              </a:rPr>
              <a:t>adunați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i="1" baseline="-300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sz="2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/>
              <a:t>, </a:t>
            </a:r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i="1" baseline="-300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cs typeface="Times New Roman" pitchFamily="18" charset="0"/>
              </a:rPr>
              <a:t>)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T</a:t>
            </a:r>
            <a:r>
              <a:rPr lang="ro-RO" dirty="0">
                <a:cs typeface="Times New Roman" pitchFamily="18" charset="0"/>
              </a:rPr>
              <a:t>ransportul de la bitul din </a:t>
            </a:r>
            <a:r>
              <a:rPr lang="ro-RO" dirty="0" smtClean="0">
                <a:cs typeface="Times New Roman" pitchFamily="18" charset="0"/>
              </a:rPr>
              <a:t>pozi</a:t>
            </a:r>
            <a:r>
              <a:rPr lang="ro-RO" dirty="0"/>
              <a:t>ț</a:t>
            </a:r>
            <a:r>
              <a:rPr lang="ro-RO" dirty="0" smtClean="0">
                <a:cs typeface="Times New Roman" pitchFamily="18" charset="0"/>
              </a:rPr>
              <a:t>ia </a:t>
            </a:r>
            <a:r>
              <a:rPr lang="ro-RO" dirty="0">
                <a:cs typeface="Times New Roman" pitchFamily="18" charset="0"/>
              </a:rPr>
              <a:t>mai </a:t>
            </a:r>
            <a:r>
              <a:rPr lang="ro-RO" dirty="0" smtClean="0">
                <a:cs typeface="Times New Roman" pitchFamily="18" charset="0"/>
              </a:rPr>
              <a:t>puțin </a:t>
            </a:r>
            <a:r>
              <a:rPr lang="ro-RO" dirty="0">
                <a:cs typeface="Times New Roman" pitchFamily="18" charset="0"/>
              </a:rPr>
              <a:t>semnificativ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(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cs typeface="Times New Roman" pitchFamily="18" charset="0"/>
              </a:rPr>
              <a:t>) </a:t>
            </a:r>
            <a:endParaRPr lang="ro-RO" dirty="0"/>
          </a:p>
          <a:p>
            <a:r>
              <a:rPr lang="ro-RO" dirty="0"/>
              <a:t>Generează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două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eșiri</a:t>
            </a:r>
            <a:r>
              <a:rPr lang="ro-RO" dirty="0"/>
              <a:t>:</a:t>
            </a:r>
          </a:p>
          <a:p>
            <a:pPr lvl="1"/>
            <a:r>
              <a:rPr lang="ro-RO" dirty="0"/>
              <a:t>B</a:t>
            </a:r>
            <a:r>
              <a:rPr lang="ro-RO" dirty="0">
                <a:cs typeface="Times New Roman" pitchFamily="18" charset="0"/>
              </a:rPr>
              <a:t>itul sum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(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cs typeface="Times New Roman" pitchFamily="18" charset="0"/>
              </a:rPr>
              <a:t>)</a:t>
            </a:r>
            <a:endParaRPr lang="ro-RO" dirty="0"/>
          </a:p>
          <a:p>
            <a:pPr lvl="1"/>
            <a:r>
              <a:rPr lang="ro-RO" dirty="0"/>
              <a:t>B</a:t>
            </a:r>
            <a:r>
              <a:rPr lang="ro-RO" dirty="0">
                <a:cs typeface="Times New Roman" pitchFamily="18" charset="0"/>
              </a:rPr>
              <a:t>itul de transport </a:t>
            </a:r>
            <a:r>
              <a:rPr lang="ro-RO" dirty="0"/>
              <a:t>la </a:t>
            </a:r>
            <a:r>
              <a:rPr lang="ro-RO" dirty="0" smtClean="0"/>
              <a:t>poziția </a:t>
            </a:r>
            <a:r>
              <a:rPr lang="ro-RO" dirty="0"/>
              <a:t>mai semnificativă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+1</a:t>
            </a:r>
            <a:r>
              <a:rPr lang="ro-RO" dirty="0">
                <a:cs typeface="Times New Roman" pitchFamily="18" charset="0"/>
              </a:rPr>
              <a:t>)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4203E9-26BC-43E0-9CC0-E7DAE720B3D4}" type="slidenum">
              <a:rPr lang="ro-RO"/>
              <a:pPr/>
              <a:t>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Sumatorul elementar (2)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761E13-8795-43C0-B0D6-EF5B089F5264}" type="slidenum">
              <a:rPr lang="ro-RO"/>
              <a:pPr/>
              <a:t>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  <p:pic>
        <p:nvPicPr>
          <p:cNvPr id="9" name="Content Placeholder 8" descr="ssc3-sum-elem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699792" y="2060848"/>
            <a:ext cx="3695708" cy="3154688"/>
          </a:xfr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60647"/>
            <a:ext cx="8424936" cy="720081"/>
          </a:xfrm>
        </p:spPr>
        <p:txBody>
          <a:bodyPr/>
          <a:lstStyle/>
          <a:p>
            <a:r>
              <a:rPr lang="ro-RO" dirty="0"/>
              <a:t>Sumatorul elementar (3)</a:t>
            </a:r>
          </a:p>
        </p:txBody>
      </p:sp>
      <p:graphicFrame>
        <p:nvGraphicFramePr>
          <p:cNvPr id="7" name="Table Placeholder 6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837800177"/>
              </p:ext>
            </p:extLst>
          </p:nvPr>
        </p:nvGraphicFramePr>
        <p:xfrm>
          <a:off x="2411760" y="1700808"/>
          <a:ext cx="4320480" cy="41148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160240"/>
                <a:gridCol w="2160240"/>
              </a:tblGrid>
              <a:tr h="2803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x</a:t>
                      </a:r>
                      <a:r>
                        <a:rPr kumimoji="0" lang="ro-RO" sz="2400" b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i</a:t>
                      </a:r>
                      <a:r>
                        <a:rPr kumimoji="0" lang="ro-RO" sz="2400" b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  </a:t>
                      </a:r>
                      <a:r>
                        <a:rPr kumimoji="0" lang="ro-RO" sz="2400" b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y</a:t>
                      </a:r>
                      <a:r>
                        <a:rPr kumimoji="0" lang="ro-RO" sz="2400" b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i</a:t>
                      </a:r>
                      <a:r>
                        <a:rPr kumimoji="0" lang="ro-RO" sz="2400" b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  T</a:t>
                      </a:r>
                      <a:r>
                        <a:rPr kumimoji="0" lang="ro-RO" sz="2400" b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i</a:t>
                      </a:r>
                      <a:endParaRPr kumimoji="0" lang="ro-RO" sz="24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T</a:t>
                      </a:r>
                      <a:r>
                        <a:rPr kumimoji="0" lang="ro-RO" sz="2400" b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i+1</a:t>
                      </a:r>
                      <a:r>
                        <a:rPr kumimoji="0" lang="ro-RO" sz="2400" b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  S</a:t>
                      </a:r>
                      <a:r>
                        <a:rPr kumimoji="0" lang="ro-RO" sz="2400" b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i</a:t>
                      </a:r>
                      <a:endParaRPr kumimoji="0" lang="ro-RO" sz="24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0   </a:t>
                      </a:r>
                      <a:r>
                        <a:rPr kumimoji="0" lang="ro-RO" sz="24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r>
                        <a:rPr kumimoji="0" lang="ro-RO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   </a:t>
                      </a:r>
                      <a:r>
                        <a:rPr kumimoji="0" lang="ro-RO" sz="24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endParaRPr kumimoji="0" lang="ro-RO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0    0</a:t>
                      </a:r>
                      <a:endParaRPr kumimoji="0" lang="ro-RO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0   </a:t>
                      </a:r>
                      <a:r>
                        <a:rPr kumimoji="0" lang="ro-RO" sz="24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r>
                        <a:rPr kumimoji="0" lang="ro-RO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   1</a:t>
                      </a:r>
                      <a:endParaRPr kumimoji="0" lang="ro-RO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0    1</a:t>
                      </a:r>
                      <a:endParaRPr kumimoji="0" lang="ro-RO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0   1   0</a:t>
                      </a:r>
                      <a:endParaRPr kumimoji="0" lang="ro-RO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0    1</a:t>
                      </a:r>
                      <a:endParaRPr kumimoji="0" lang="ro-RO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0   1   </a:t>
                      </a:r>
                      <a:r>
                        <a:rPr kumimoji="0" lang="ro-RO" sz="24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kumimoji="0" lang="ro-RO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1    0</a:t>
                      </a:r>
                      <a:endParaRPr kumimoji="0" lang="ro-RO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1   0   0</a:t>
                      </a:r>
                      <a:endParaRPr kumimoji="0" lang="ro-RO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0    1</a:t>
                      </a:r>
                      <a:endParaRPr kumimoji="0" lang="ro-RO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1   0   1</a:t>
                      </a:r>
                      <a:endParaRPr kumimoji="0" lang="ro-RO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1    0</a:t>
                      </a:r>
                      <a:endParaRPr kumimoji="0" lang="ro-RO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1   1   0</a:t>
                      </a:r>
                      <a:endParaRPr kumimoji="0" lang="ro-RO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1    0</a:t>
                      </a:r>
                      <a:endParaRPr kumimoji="0" lang="ro-RO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1   1   1</a:t>
                      </a:r>
                      <a:endParaRPr kumimoji="0" lang="ro-RO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1    </a:t>
                      </a:r>
                      <a:r>
                        <a:rPr kumimoji="0" lang="ro-RO" sz="24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kumimoji="0" lang="ro-RO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Structura sistemelor de calcul (02-1)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A2986-3D1C-4D83-86BA-F299B282C17C}" type="slidenum">
              <a:rPr lang="ro-RO" smtClean="0"/>
              <a:pPr/>
              <a:t>7</a:t>
            </a:fld>
            <a:endParaRPr lang="ro-R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Sumatorul elementar (4)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81336"/>
          </a:xfrm>
        </p:spPr>
        <p:txBody>
          <a:bodyPr/>
          <a:lstStyle/>
          <a:p>
            <a:r>
              <a:rPr lang="ro-RO" dirty="0"/>
              <a:t>Expresiile booleene ale </a:t>
            </a:r>
            <a:r>
              <a:rPr lang="ro-RO" dirty="0" smtClean="0"/>
              <a:t>ieșirilor</a:t>
            </a:r>
            <a:endParaRPr lang="ro-RO" dirty="0"/>
          </a:p>
          <a:p>
            <a:pPr lvl="1"/>
            <a:r>
              <a:rPr lang="ro-RO" i="1" dirty="0">
                <a:cs typeface="Times New Roman" pitchFamily="18" charset="0"/>
              </a:rPr>
              <a:t>S</a:t>
            </a:r>
            <a:r>
              <a:rPr lang="ro-RO" i="1" baseline="-30000" dirty="0">
                <a:cs typeface="Times New Roman" pitchFamily="18" charset="0"/>
              </a:rPr>
              <a:t>i</a:t>
            </a:r>
            <a:r>
              <a:rPr lang="ro-RO" dirty="0">
                <a:cs typeface="Times New Roman" pitchFamily="18" charset="0"/>
              </a:rPr>
              <a:t> = </a:t>
            </a:r>
            <a:r>
              <a:rPr lang="ro-RO" i="1" dirty="0" err="1">
                <a:cs typeface="Times New Roman" pitchFamily="18" charset="0"/>
              </a:rPr>
              <a:t>x</a:t>
            </a:r>
            <a:r>
              <a:rPr lang="ro-RO" i="1" baseline="-30000" dirty="0" err="1">
                <a:cs typeface="Times New Roman" pitchFamily="18" charset="0"/>
              </a:rPr>
              <a:t>i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b="1" dirty="0">
                <a:cs typeface="Times New Roman" pitchFamily="18" charset="0"/>
                <a:sym typeface="Symbol" pitchFamily="18" charset="2"/>
              </a:rPr>
              <a:t></a:t>
            </a:r>
            <a:r>
              <a:rPr lang="ro-RO" i="1" dirty="0" err="1">
                <a:cs typeface="Times New Roman" pitchFamily="18" charset="0"/>
              </a:rPr>
              <a:t>y</a:t>
            </a:r>
            <a:r>
              <a:rPr lang="ro-RO" i="1" baseline="-30000" dirty="0" err="1">
                <a:cs typeface="Times New Roman" pitchFamily="18" charset="0"/>
              </a:rPr>
              <a:t>i</a:t>
            </a:r>
            <a:r>
              <a:rPr lang="ro-RO" i="1" baseline="-30000" dirty="0">
                <a:cs typeface="Times New Roman" pitchFamily="18" charset="0"/>
              </a:rPr>
              <a:t> </a:t>
            </a:r>
            <a:r>
              <a:rPr lang="ro-RO" b="1" dirty="0">
                <a:cs typeface="Times New Roman" pitchFamily="18" charset="0"/>
                <a:sym typeface="Symbol" pitchFamily="18" charset="2"/>
              </a:rPr>
              <a:t></a:t>
            </a:r>
            <a:r>
              <a:rPr lang="ro-RO" i="1" dirty="0">
                <a:cs typeface="Times New Roman" pitchFamily="18" charset="0"/>
              </a:rPr>
              <a:t>T</a:t>
            </a:r>
            <a:r>
              <a:rPr lang="ro-RO" i="1" baseline="-30000" dirty="0">
                <a:cs typeface="Times New Roman" pitchFamily="18" charset="0"/>
              </a:rPr>
              <a:t>i</a:t>
            </a:r>
            <a:r>
              <a:rPr lang="ro-RO" dirty="0"/>
              <a:t> </a:t>
            </a:r>
          </a:p>
          <a:p>
            <a:pPr lvl="1"/>
            <a:r>
              <a:rPr lang="ro-RO" i="1" dirty="0">
                <a:cs typeface="Times New Roman" pitchFamily="18" charset="0"/>
              </a:rPr>
              <a:t>T</a:t>
            </a:r>
            <a:r>
              <a:rPr lang="ro-RO" i="1" baseline="-30000" dirty="0">
                <a:cs typeface="Times New Roman" pitchFamily="18" charset="0"/>
              </a:rPr>
              <a:t>i</a:t>
            </a:r>
            <a:r>
              <a:rPr lang="ro-RO" baseline="-30000" dirty="0">
                <a:cs typeface="Times New Roman" pitchFamily="18" charset="0"/>
              </a:rPr>
              <a:t>+1</a:t>
            </a:r>
            <a:r>
              <a:rPr lang="ro-RO" dirty="0">
                <a:cs typeface="Times New Roman" pitchFamily="18" charset="0"/>
              </a:rPr>
              <a:t> = </a:t>
            </a:r>
            <a:r>
              <a:rPr lang="ro-RO" i="1" dirty="0" err="1">
                <a:cs typeface="Times New Roman" pitchFamily="18" charset="0"/>
              </a:rPr>
              <a:t>x</a:t>
            </a:r>
            <a:r>
              <a:rPr lang="ro-RO" i="1" baseline="-30000" dirty="0" err="1">
                <a:cs typeface="Times New Roman" pitchFamily="18" charset="0"/>
              </a:rPr>
              <a:t>i</a:t>
            </a:r>
            <a:r>
              <a:rPr lang="ro-RO" i="1" dirty="0" err="1">
                <a:cs typeface="Times New Roman" pitchFamily="18" charset="0"/>
              </a:rPr>
              <a:t>y</a:t>
            </a:r>
            <a:r>
              <a:rPr lang="ro-RO" i="1" baseline="-30000" dirty="0" err="1">
                <a:cs typeface="Times New Roman" pitchFamily="18" charset="0"/>
              </a:rPr>
              <a:t>i</a:t>
            </a:r>
            <a:r>
              <a:rPr lang="ro-RO" dirty="0">
                <a:cs typeface="Times New Roman" pitchFamily="18" charset="0"/>
              </a:rPr>
              <a:t> + (</a:t>
            </a:r>
            <a:r>
              <a:rPr lang="ro-RO" i="1" dirty="0" err="1">
                <a:cs typeface="Times New Roman" pitchFamily="18" charset="0"/>
              </a:rPr>
              <a:t>x</a:t>
            </a:r>
            <a:r>
              <a:rPr lang="ro-RO" i="1" baseline="-30000" dirty="0" err="1">
                <a:cs typeface="Times New Roman" pitchFamily="18" charset="0"/>
              </a:rPr>
              <a:t>i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 err="1">
                <a:cs typeface="Times New Roman" pitchFamily="18" charset="0"/>
              </a:rPr>
              <a:t>y</a:t>
            </a:r>
            <a:r>
              <a:rPr lang="ro-RO" i="1" baseline="-30000" dirty="0" err="1">
                <a:cs typeface="Times New Roman" pitchFamily="18" charset="0"/>
              </a:rPr>
              <a:t>i</a:t>
            </a:r>
            <a:r>
              <a:rPr lang="ro-RO" dirty="0">
                <a:cs typeface="Times New Roman" pitchFamily="18" charset="0"/>
              </a:rPr>
              <a:t>)</a:t>
            </a:r>
            <a:r>
              <a:rPr lang="ro-RO" i="1" dirty="0">
                <a:cs typeface="Times New Roman" pitchFamily="18" charset="0"/>
              </a:rPr>
              <a:t> T</a:t>
            </a:r>
            <a:r>
              <a:rPr lang="ro-RO" i="1" baseline="-30000" dirty="0">
                <a:cs typeface="Times New Roman" pitchFamily="18" charset="0"/>
              </a:rPr>
              <a:t>i</a:t>
            </a:r>
            <a:r>
              <a:rPr lang="ro-RO" dirty="0">
                <a:cs typeface="Times New Roman" pitchFamily="18" charset="0"/>
              </a:rPr>
              <a:t>	</a:t>
            </a:r>
            <a:endParaRPr lang="ro-RO" dirty="0"/>
          </a:p>
          <a:p>
            <a:r>
              <a:rPr lang="ro-RO" dirty="0">
                <a:cs typeface="Times New Roman" pitchFamily="18" charset="0"/>
              </a:rPr>
              <a:t>Sumatorul elementar este unul din blocurile de baz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ale sumatoarelor mai complexe</a:t>
            </a:r>
            <a:r>
              <a:rPr lang="ro-RO" dirty="0"/>
              <a:t> </a:t>
            </a:r>
          </a:p>
          <a:p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</a:t>
            </a:r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emisumatorul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elementar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/>
              <a:t>Nu are intrare de transport</a:t>
            </a:r>
          </a:p>
          <a:p>
            <a:pPr lvl="1"/>
            <a:r>
              <a:rPr lang="ro-RO" dirty="0"/>
              <a:t>G</a:t>
            </a:r>
            <a:r>
              <a:rPr lang="ro-RO" dirty="0">
                <a:cs typeface="Times New Roman" pitchFamily="18" charset="0"/>
              </a:rPr>
              <a:t>enereaz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un bit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sum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un bit de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transport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091901-E4D1-4829-9303-919709925111}" type="slidenum">
              <a:rPr lang="ro-RO"/>
              <a:pPr/>
              <a:t>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Sumatorul elementar (5)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40769"/>
            <a:ext cx="8382000" cy="504753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Scăzătorul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elementar</a:t>
            </a:r>
          </a:p>
          <a:p>
            <a:pPr lvl="1">
              <a:lnSpc>
                <a:spcPct val="90000"/>
              </a:lnSpc>
            </a:pPr>
            <a:r>
              <a:rPr lang="ro-RO" dirty="0"/>
              <a:t>I</a:t>
            </a:r>
            <a:r>
              <a:rPr lang="ro-RO" dirty="0">
                <a:cs typeface="Times New Roman" pitchFamily="18" charset="0"/>
              </a:rPr>
              <a:t>ntr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biț</a:t>
            </a:r>
            <a:r>
              <a:rPr lang="ro-RO" dirty="0" smtClean="0"/>
              <a:t>i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care trebuie </a:t>
            </a:r>
            <a:r>
              <a:rPr lang="ro-RO" dirty="0" smtClean="0">
                <a:cs typeface="Times New Roman" pitchFamily="18" charset="0"/>
              </a:rPr>
              <a:t>sc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zuți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desc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zut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sc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z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tor</a:t>
            </a:r>
            <a:r>
              <a:rPr lang="ro-RO" dirty="0">
                <a:cs typeface="Times New Roman" pitchFamily="18" charset="0"/>
              </a:rPr>
              <a:t>)</a:t>
            </a:r>
            <a:r>
              <a:rPr lang="ro-RO" dirty="0"/>
              <a:t> </a:t>
            </a:r>
            <a:r>
              <a:rPr lang="ro-RO" dirty="0" smtClean="0"/>
              <a:t>și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împrumutul </a:t>
            </a:r>
            <a:r>
              <a:rPr lang="ro-RO" dirty="0">
                <a:cs typeface="Times New Roman" pitchFamily="18" charset="0"/>
              </a:rPr>
              <a:t>de la bitul din </a:t>
            </a:r>
            <a:r>
              <a:rPr lang="ro-RO" dirty="0" smtClean="0">
                <a:cs typeface="Times New Roman" pitchFamily="18" charset="0"/>
              </a:rPr>
              <a:t>poziția </a:t>
            </a:r>
            <a:r>
              <a:rPr lang="ro-RO" dirty="0">
                <a:cs typeface="Times New Roman" pitchFamily="18" charset="0"/>
              </a:rPr>
              <a:t>mai </a:t>
            </a:r>
            <a:r>
              <a:rPr lang="ro-RO" dirty="0" smtClean="0">
                <a:cs typeface="Times New Roman" pitchFamily="18" charset="0"/>
              </a:rPr>
              <a:t>puțin </a:t>
            </a:r>
            <a:r>
              <a:rPr lang="ro-RO" dirty="0">
                <a:cs typeface="Times New Roman" pitchFamily="18" charset="0"/>
              </a:rPr>
              <a:t>semnificativ</a:t>
            </a:r>
            <a:r>
              <a:rPr lang="ro-RO" dirty="0"/>
              <a:t>ă </a:t>
            </a:r>
          </a:p>
          <a:p>
            <a:pPr lvl="1">
              <a:lnSpc>
                <a:spcPct val="90000"/>
              </a:lnSpc>
            </a:pPr>
            <a:r>
              <a:rPr lang="ro-RO" dirty="0" smtClean="0">
                <a:cs typeface="Times New Roman" pitchFamily="18" charset="0"/>
              </a:rPr>
              <a:t>Ieșiri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bitul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diferenț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împrumutul </a:t>
            </a:r>
            <a:r>
              <a:rPr lang="ro-RO" dirty="0">
                <a:cs typeface="Times New Roman" pitchFamily="18" charset="0"/>
              </a:rPr>
              <a:t>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tre bitul din </a:t>
            </a:r>
            <a:r>
              <a:rPr lang="ro-RO" dirty="0" smtClean="0">
                <a:cs typeface="Times New Roman" pitchFamily="18" charset="0"/>
              </a:rPr>
              <a:t>poziția </a:t>
            </a:r>
            <a:r>
              <a:rPr lang="ro-RO" dirty="0">
                <a:cs typeface="Times New Roman" pitchFamily="18" charset="0"/>
              </a:rPr>
              <a:t>mai semnificativ</a:t>
            </a:r>
            <a:r>
              <a:rPr lang="ro-RO" dirty="0"/>
              <a:t>ă </a:t>
            </a:r>
            <a:endParaRPr lang="ro-RO" dirty="0" smtClean="0"/>
          </a:p>
          <a:p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</a:t>
            </a:r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emisc</a:t>
            </a:r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z</a:t>
            </a:r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tor</a:t>
            </a:r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ul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elementar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cade dou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intr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 de câte un bit </a:t>
            </a:r>
            <a:endParaRPr lang="ro-RO" dirty="0"/>
          </a:p>
          <a:p>
            <a:pPr lvl="1"/>
            <a:r>
              <a:rPr lang="ro-RO" dirty="0"/>
              <a:t>G</a:t>
            </a:r>
            <a:r>
              <a:rPr lang="ro-RO" dirty="0">
                <a:cs typeface="Times New Roman" pitchFamily="18" charset="0"/>
              </a:rPr>
              <a:t>enereaz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un bit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diferenț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și un bit de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împrumut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2416994-F1A6-40A2-A297-E8100E912BEB}" type="slidenum">
              <a:rPr lang="ro-RO"/>
              <a:pPr/>
              <a:t>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Adunarea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Adunarea</a:t>
            </a:r>
          </a:p>
          <a:p>
            <a:pPr lvl="1"/>
            <a:r>
              <a:rPr lang="ro-RO" dirty="0"/>
              <a:t>Sumatorul elementar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Sumatorul cu propagarea succesivă a transportului</a:t>
            </a:r>
          </a:p>
          <a:p>
            <a:pPr lvl="1"/>
            <a:r>
              <a:rPr lang="ro-RO" dirty="0"/>
              <a:t>Sumatorul cu anticiparea transportului</a:t>
            </a:r>
          </a:p>
          <a:p>
            <a:pPr lvl="1"/>
            <a:r>
              <a:rPr lang="ro-RO" dirty="0"/>
              <a:t>Sumatorul cu </a:t>
            </a:r>
            <a:r>
              <a:rPr lang="ro-RO" dirty="0" smtClean="0"/>
              <a:t>selecția </a:t>
            </a:r>
            <a:r>
              <a:rPr lang="ro-RO" dirty="0"/>
              <a:t>transportului</a:t>
            </a:r>
          </a:p>
          <a:p>
            <a:pPr lvl="1"/>
            <a:r>
              <a:rPr lang="ro-RO" dirty="0"/>
              <a:t>Sumatorul cu salvarea transportului</a:t>
            </a:r>
          </a:p>
          <a:p>
            <a:pPr lvl="1"/>
            <a:r>
              <a:rPr lang="ro-RO" dirty="0"/>
              <a:t>Sumatorul serial</a:t>
            </a:r>
          </a:p>
          <a:p>
            <a:pPr lvl="1"/>
            <a:r>
              <a:rPr lang="ro-RO" dirty="0"/>
              <a:t>Sumatorul zecimal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DDFB0B-0EAE-4969-BA30-B5967004954D}" type="slidenum">
              <a:rPr lang="ro-RO"/>
              <a:pPr/>
              <a:t>10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12725"/>
            <a:ext cx="8382000" cy="1190625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propagarea succesivă a transportului (1)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556792"/>
            <a:ext cx="8382000" cy="4680520"/>
          </a:xfrm>
        </p:spPr>
        <p:txBody>
          <a:bodyPr>
            <a:normAutofit/>
          </a:bodyPr>
          <a:lstStyle/>
          <a:p>
            <a:r>
              <a:rPr lang="en-US" sz="3300" dirty="0"/>
              <a:t>“</a:t>
            </a:r>
            <a:r>
              <a:rPr lang="ro-RO" sz="3300" i="1" dirty="0" err="1"/>
              <a:t>Ripple</a:t>
            </a:r>
            <a:r>
              <a:rPr lang="ro-RO" sz="3300" i="1" dirty="0"/>
              <a:t> </a:t>
            </a:r>
            <a:r>
              <a:rPr lang="ro-RO" sz="3300" i="1" dirty="0" err="1" smtClean="0"/>
              <a:t>Carry</a:t>
            </a:r>
            <a:r>
              <a:rPr lang="ro-RO" sz="3300" i="1" dirty="0" smtClean="0"/>
              <a:t> </a:t>
            </a:r>
            <a:r>
              <a:rPr lang="ro-RO" sz="3300" i="1" dirty="0" err="1" smtClean="0"/>
              <a:t>Adder</a:t>
            </a:r>
            <a:r>
              <a:rPr lang="en-US" sz="3300" dirty="0"/>
              <a:t>”</a:t>
            </a:r>
            <a:r>
              <a:rPr lang="ro-RO" sz="3300" dirty="0"/>
              <a:t> </a:t>
            </a:r>
          </a:p>
          <a:p>
            <a:r>
              <a:rPr lang="ro-RO" sz="3300" dirty="0"/>
              <a:t>A</a:t>
            </a:r>
            <a:r>
              <a:rPr lang="ro-RO" sz="3300" dirty="0">
                <a:cs typeface="Times New Roman" pitchFamily="18" charset="0"/>
              </a:rPr>
              <a:t>lgoritmul de adunare cu propagarea succesiv</a:t>
            </a:r>
            <a:r>
              <a:rPr lang="ro-RO" sz="3300" dirty="0"/>
              <a:t>ă</a:t>
            </a:r>
            <a:r>
              <a:rPr lang="ro-RO" sz="3300" dirty="0">
                <a:cs typeface="Times New Roman" pitchFamily="18" charset="0"/>
              </a:rPr>
              <a:t> a transportului</a:t>
            </a:r>
            <a:endParaRPr lang="ro-RO" sz="3300" dirty="0"/>
          </a:p>
          <a:p>
            <a:pPr lvl="1">
              <a:buFont typeface="Wingdings" pitchFamily="2" charset="2"/>
              <a:buNone/>
            </a:pPr>
            <a:r>
              <a:rPr lang="ro-RO" i="1" dirty="0"/>
              <a:t>    </a:t>
            </a:r>
            <a:r>
              <a:rPr lang="en-US" i="1" dirty="0" smtClean="0"/>
              <a:t> </a:t>
            </a:r>
            <a:r>
              <a:rPr lang="ro-RO" i="1" dirty="0" smtClean="0">
                <a:cs typeface="Times New Roman" pitchFamily="18" charset="0"/>
              </a:rPr>
              <a:t>x</a:t>
            </a:r>
            <a:r>
              <a:rPr lang="ro-RO" baseline="-30000" dirty="0" smtClean="0">
                <a:cs typeface="Times New Roman" pitchFamily="18" charset="0"/>
              </a:rPr>
              <a:t>3</a:t>
            </a:r>
            <a:r>
              <a:rPr lang="ro-RO" i="1" baseline="-30000" dirty="0">
                <a:cs typeface="Times New Roman" pitchFamily="18" charset="0"/>
              </a:rPr>
              <a:t> 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baseline="-30000" dirty="0">
                <a:cs typeface="Times New Roman" pitchFamily="18" charset="0"/>
              </a:rPr>
              <a:t>2</a:t>
            </a:r>
            <a:r>
              <a:rPr lang="ro-RO" i="1" baseline="-30000" dirty="0">
                <a:cs typeface="Times New Roman" pitchFamily="18" charset="0"/>
              </a:rPr>
              <a:t> 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i="1" baseline="-30000" dirty="0">
                <a:cs typeface="Times New Roman" pitchFamily="18" charset="0"/>
              </a:rPr>
              <a:t> 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+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ro-RO" i="1" dirty="0"/>
              <a:t>    </a:t>
            </a:r>
            <a:r>
              <a:rPr lang="en-US" i="1" dirty="0" smtClean="0"/>
              <a:t> </a:t>
            </a:r>
            <a:r>
              <a:rPr lang="ro-RO" i="1" dirty="0" smtClean="0">
                <a:cs typeface="Times New Roman" pitchFamily="18" charset="0"/>
              </a:rPr>
              <a:t>y</a:t>
            </a:r>
            <a:r>
              <a:rPr lang="ro-RO" baseline="-30000" dirty="0" smtClean="0">
                <a:cs typeface="Times New Roman" pitchFamily="18" charset="0"/>
              </a:rPr>
              <a:t>3</a:t>
            </a:r>
            <a:r>
              <a:rPr lang="ro-RO" i="1" baseline="-30000" dirty="0">
                <a:cs typeface="Times New Roman" pitchFamily="18" charset="0"/>
              </a:rPr>
              <a:t> 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baseline="-30000" dirty="0">
                <a:cs typeface="Times New Roman" pitchFamily="18" charset="0"/>
              </a:rPr>
              <a:t>2</a:t>
            </a:r>
            <a:r>
              <a:rPr lang="ro-RO" i="1" baseline="-30000" dirty="0">
                <a:cs typeface="Times New Roman" pitchFamily="18" charset="0"/>
              </a:rPr>
              <a:t> 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i="1" baseline="-30000" dirty="0">
                <a:cs typeface="Times New Roman" pitchFamily="18" charset="0"/>
              </a:rPr>
              <a:t> 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 </a:t>
            </a:r>
          </a:p>
          <a:p>
            <a:pPr lvl="1">
              <a:lnSpc>
                <a:spcPct val="110000"/>
              </a:lnSpc>
              <a:buFont typeface="Wingdings" pitchFamily="2" charset="2"/>
              <a:buNone/>
            </a:pPr>
            <a:r>
              <a:rPr lang="ro-RO" i="1" dirty="0" smtClean="0"/>
              <a:t> S</a:t>
            </a:r>
            <a:r>
              <a:rPr lang="ro-RO" baseline="-30000" dirty="0" smtClean="0"/>
              <a:t>4 </a:t>
            </a:r>
            <a:r>
              <a:rPr lang="ro-RO" i="1" dirty="0"/>
              <a:t>S</a:t>
            </a:r>
            <a:r>
              <a:rPr lang="ro-RO" baseline="-30000" dirty="0">
                <a:cs typeface="Times New Roman" pitchFamily="18" charset="0"/>
              </a:rPr>
              <a:t>3</a:t>
            </a:r>
            <a:r>
              <a:rPr lang="ro-RO" i="1" baseline="-30000" dirty="0">
                <a:cs typeface="Times New Roman" pitchFamily="18" charset="0"/>
              </a:rPr>
              <a:t> </a:t>
            </a:r>
            <a:r>
              <a:rPr lang="ro-RO" i="1" dirty="0"/>
              <a:t>S</a:t>
            </a:r>
            <a:r>
              <a:rPr lang="ro-RO" baseline="-30000" dirty="0">
                <a:cs typeface="Times New Roman" pitchFamily="18" charset="0"/>
              </a:rPr>
              <a:t>2</a:t>
            </a:r>
            <a:r>
              <a:rPr lang="ro-RO" i="1" baseline="-30000" dirty="0">
                <a:cs typeface="Times New Roman" pitchFamily="18" charset="0"/>
              </a:rPr>
              <a:t> </a:t>
            </a:r>
            <a:r>
              <a:rPr lang="ro-RO" i="1" dirty="0"/>
              <a:t>S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i="1" baseline="-30000" dirty="0">
                <a:cs typeface="Times New Roman" pitchFamily="18" charset="0"/>
              </a:rPr>
              <a:t> </a:t>
            </a:r>
            <a:r>
              <a:rPr lang="ro-RO" i="1" dirty="0"/>
              <a:t>S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</a:t>
            </a:r>
            <a:endParaRPr lang="ro-RO" dirty="0"/>
          </a:p>
          <a:p>
            <a:r>
              <a:rPr lang="ro-RO" sz="3300" dirty="0">
                <a:cs typeface="Times New Roman" pitchFamily="18" charset="0"/>
              </a:rPr>
              <a:t>O posibilitate de implementare</a:t>
            </a:r>
            <a:r>
              <a:rPr lang="ro-RO" sz="3300" dirty="0"/>
              <a:t>: </a:t>
            </a:r>
            <a:r>
              <a:rPr lang="ro-RO" sz="33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conectarea </a:t>
            </a:r>
            <a:r>
              <a:rPr lang="ro-RO" sz="3300" dirty="0">
                <a:cs typeface="Times New Roman" pitchFamily="18" charset="0"/>
              </a:rPr>
              <a:t>mai mult</a:t>
            </a:r>
            <a:r>
              <a:rPr lang="ro-RO" sz="3300" dirty="0"/>
              <a:t>or</a:t>
            </a:r>
            <a:r>
              <a:rPr lang="ro-RO" sz="3300" dirty="0">
                <a:cs typeface="Times New Roman" pitchFamily="18" charset="0"/>
              </a:rPr>
              <a:t> sumatoare elementare </a:t>
            </a:r>
            <a:r>
              <a:rPr lang="ro-RO" sz="33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în serie</a:t>
            </a:r>
            <a:r>
              <a:rPr lang="ro-RO" sz="3300" dirty="0">
                <a:cs typeface="Times New Roman" pitchFamily="18" charset="0"/>
              </a:rPr>
              <a:t>, câte un sumator elementar pentru fiecare bit </a:t>
            </a:r>
            <a:endParaRPr lang="ro-RO" sz="3300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A91A46-D3C9-415D-8FB5-C6942C10FA82}" type="slidenum">
              <a:rPr lang="ro-RO"/>
              <a:pPr/>
              <a:t>11</a:t>
            </a:fld>
            <a:endParaRPr lang="ro-RO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  <p:sp>
        <p:nvSpPr>
          <p:cNvPr id="208900" name="Line 4"/>
          <p:cNvSpPr>
            <a:spLocks noChangeShapeType="1"/>
          </p:cNvSpPr>
          <p:nvPr/>
        </p:nvSpPr>
        <p:spPr bwMode="auto">
          <a:xfrm>
            <a:off x="928662" y="4071942"/>
            <a:ext cx="1915146" cy="51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propagarea succesivă a transportului (2)</a:t>
            </a:r>
          </a:p>
        </p:txBody>
      </p:sp>
      <p:sp>
        <p:nvSpPr>
          <p:cNvPr id="183300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28775"/>
            <a:ext cx="7772400" cy="775597"/>
          </a:xfrm>
        </p:spPr>
        <p:txBody>
          <a:bodyPr/>
          <a:lstStyle/>
          <a:p>
            <a:r>
              <a:rPr lang="ro-RO" sz="2800" dirty="0"/>
              <a:t>Schema bloc </a:t>
            </a:r>
            <a:r>
              <a:rPr lang="ro-RO" sz="2800" dirty="0">
                <a:cs typeface="Times New Roman" pitchFamily="18" charset="0"/>
              </a:rPr>
              <a:t>pentru adunarea a dou</a:t>
            </a:r>
            <a:r>
              <a:rPr lang="ro-RO" sz="2800" dirty="0"/>
              <a:t>ă</a:t>
            </a:r>
            <a:r>
              <a:rPr lang="ro-RO" sz="2800" dirty="0">
                <a:cs typeface="Times New Roman" pitchFamily="18" charset="0"/>
              </a:rPr>
              <a:t> numere binare de câte 4 </a:t>
            </a:r>
            <a:r>
              <a:rPr lang="ro-RO" sz="2800" dirty="0" smtClean="0">
                <a:cs typeface="Times New Roman" pitchFamily="18" charset="0"/>
              </a:rPr>
              <a:t>biți</a:t>
            </a:r>
            <a:r>
              <a:rPr lang="ro-RO" sz="2800" dirty="0" smtClean="0"/>
              <a:t> </a:t>
            </a:r>
            <a:endParaRPr lang="ro-RO" sz="2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267E0-311C-437A-9777-7929F126C91F}" type="slidenum">
              <a:rPr lang="ro-RO"/>
              <a:pPr/>
              <a:t>12</a:t>
            </a:fld>
            <a:endParaRPr lang="ro-RO"/>
          </a:p>
        </p:txBody>
      </p:sp>
      <p:pic>
        <p:nvPicPr>
          <p:cNvPr id="9" name="Content Placeholder 8" descr="ssc3-sum-prsucc.bmp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1259632" y="3068960"/>
            <a:ext cx="6656846" cy="2684683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12725"/>
            <a:ext cx="8382000" cy="1190625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propagarea succesivă a transportului (3)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28800"/>
            <a:ext cx="8382000" cy="4608512"/>
          </a:xfrm>
        </p:spPr>
        <p:txBody>
          <a:bodyPr>
            <a:normAutofit lnSpcReduction="10000"/>
          </a:bodyPr>
          <a:lstStyle/>
          <a:p>
            <a:r>
              <a:rPr lang="ro-RO" dirty="0"/>
              <a:t>E</a:t>
            </a:r>
            <a:r>
              <a:rPr lang="ro-RO" dirty="0">
                <a:cs typeface="Times New Roman" pitchFamily="18" charset="0"/>
              </a:rPr>
              <a:t>ste un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sumator paralel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dirty="0"/>
              <a:t>T</a:t>
            </a:r>
            <a:r>
              <a:rPr lang="ro-RO" dirty="0">
                <a:cs typeface="Times New Roman" pitchFamily="18" charset="0"/>
              </a:rPr>
              <a:t>ransportul trebuie 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se propage succesiv prin toate sumatoarele înainte de a se </a:t>
            </a:r>
            <a:r>
              <a:rPr lang="ro-RO" dirty="0" smtClean="0">
                <a:cs typeface="Times New Roman" pitchFamily="18" charset="0"/>
              </a:rPr>
              <a:t>cunoaște </a:t>
            </a:r>
            <a:r>
              <a:rPr lang="ro-RO" dirty="0">
                <a:cs typeface="Times New Roman" pitchFamily="18" charset="0"/>
              </a:rPr>
              <a:t>rezultatul final</a:t>
            </a:r>
            <a:r>
              <a:rPr lang="ro-RO" dirty="0"/>
              <a:t> 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Avantaje</a:t>
            </a:r>
            <a:r>
              <a:rPr lang="ro-RO" dirty="0"/>
              <a:t>: simplitate, cost redus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Dezavantaj</a:t>
            </a:r>
            <a:r>
              <a:rPr lang="ro-RO" dirty="0"/>
              <a:t>: viteză redusă</a:t>
            </a:r>
          </a:p>
          <a:p>
            <a:r>
              <a:rPr lang="ro-RO" dirty="0"/>
              <a:t>Poate fi utilizat </a:t>
            </a:r>
            <a:r>
              <a:rPr lang="ro-RO" dirty="0" smtClean="0"/>
              <a:t>și </a:t>
            </a:r>
            <a:r>
              <a:rPr lang="ro-RO" dirty="0"/>
              <a:t>ca scăzător</a:t>
            </a: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Sc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derea</a:t>
            </a:r>
            <a:r>
              <a:rPr lang="ro-RO" dirty="0">
                <a:cs typeface="Times New Roman" pitchFamily="18" charset="0"/>
              </a:rPr>
              <a:t>: prin adunarea complementului </a:t>
            </a:r>
            <a:r>
              <a:rPr lang="ro-RO" dirty="0" smtClean="0">
                <a:cs typeface="Times New Roman" pitchFamily="18" charset="0"/>
              </a:rPr>
              <a:t>faț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de 2 al sc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torului la desc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zut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63E4D5-3E23-4539-83A4-25F406C142F8}" type="slidenum">
              <a:rPr lang="ro-RO"/>
              <a:pPr/>
              <a:t>13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12725"/>
            <a:ext cx="8367464" cy="1190625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propagarea succesivă a transportului (4)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556792"/>
            <a:ext cx="8511480" cy="4680520"/>
          </a:xfrm>
        </p:spPr>
        <p:txBody>
          <a:bodyPr>
            <a:normAutofit/>
          </a:bodyPr>
          <a:lstStyle/>
          <a:p>
            <a:r>
              <a:rPr lang="ro-RO" dirty="0"/>
              <a:t>Presupunem </a:t>
            </a:r>
            <a:r>
              <a:rPr lang="ro-RO" dirty="0">
                <a:cs typeface="Times New Roman" pitchFamily="18" charset="0"/>
              </a:rPr>
              <a:t>numerele binare</a:t>
            </a:r>
            <a:r>
              <a:rPr lang="ro-RO" dirty="0"/>
              <a:t>:</a:t>
            </a:r>
          </a:p>
          <a:p>
            <a:pPr lvl="1">
              <a:buFont typeface="Wingdings" pitchFamily="2" charset="2"/>
              <a:buNone/>
            </a:pP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	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= 0</a:t>
            </a:r>
            <a:r>
              <a:rPr lang="ro-RO" dirty="0"/>
              <a:t> </a:t>
            </a:r>
            <a:r>
              <a:rPr lang="ro-RO" dirty="0">
                <a:cs typeface="Times New Roman" pitchFamily="18" charset="0"/>
              </a:rPr>
              <a:t>1001</a:t>
            </a:r>
            <a:r>
              <a:rPr lang="ro-RO" dirty="0"/>
              <a:t> (</a:t>
            </a:r>
            <a:r>
              <a:rPr lang="en-US" dirty="0"/>
              <a:t>+</a:t>
            </a:r>
            <a:r>
              <a:rPr lang="ro-RO" dirty="0"/>
              <a:t>9)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ro-RO" i="1" dirty="0"/>
              <a:t> 	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= 0</a:t>
            </a:r>
            <a:r>
              <a:rPr lang="ro-RO" dirty="0"/>
              <a:t> </a:t>
            </a:r>
            <a:r>
              <a:rPr lang="ro-RO" dirty="0">
                <a:cs typeface="Times New Roman" pitchFamily="18" charset="0"/>
              </a:rPr>
              <a:t>0011</a:t>
            </a:r>
            <a:r>
              <a:rPr lang="ro-RO" dirty="0"/>
              <a:t> (</a:t>
            </a:r>
            <a:r>
              <a:rPr lang="en-US" dirty="0"/>
              <a:t>+</a:t>
            </a:r>
            <a:r>
              <a:rPr lang="ro-RO" dirty="0"/>
              <a:t>3)</a:t>
            </a:r>
          </a:p>
          <a:p>
            <a:pPr>
              <a:lnSpc>
                <a:spcPct val="120000"/>
              </a:lnSpc>
            </a:pPr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derea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/>
              <a:t>–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poate fi executat</a:t>
            </a:r>
            <a:r>
              <a:rPr lang="ro-RO" dirty="0"/>
              <a:t>ă astfel:</a:t>
            </a:r>
          </a:p>
          <a:p>
            <a:pPr>
              <a:buFontTx/>
              <a:buNone/>
            </a:pPr>
            <a:r>
              <a:rPr lang="en-US" dirty="0"/>
              <a:t>   </a:t>
            </a:r>
            <a:r>
              <a:rPr lang="ro-RO" dirty="0"/>
              <a:t>    </a:t>
            </a:r>
            <a:r>
              <a:rPr lang="ro-RO" sz="3200" dirty="0"/>
              <a:t>X       </a:t>
            </a:r>
            <a:r>
              <a:rPr lang="en-US" sz="3200" dirty="0"/>
              <a:t>   </a:t>
            </a:r>
            <a:r>
              <a:rPr lang="en-US" sz="3200" dirty="0" smtClean="0"/>
              <a:t>    </a:t>
            </a:r>
            <a:r>
              <a:rPr lang="ro-RO" sz="3200" dirty="0" smtClean="0"/>
              <a:t>0 </a:t>
            </a:r>
            <a:r>
              <a:rPr lang="ro-RO" sz="3200" dirty="0"/>
              <a:t>1001 </a:t>
            </a:r>
            <a:r>
              <a:rPr lang="en-US" sz="3200" dirty="0"/>
              <a:t> +</a:t>
            </a:r>
            <a:r>
              <a:rPr lang="ro-RO" sz="3200" dirty="0"/>
              <a:t>9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3200" dirty="0"/>
              <a:t>   </a:t>
            </a:r>
            <a:r>
              <a:rPr lang="ro-RO" sz="3200" dirty="0"/>
              <a:t>    C2(Y</a:t>
            </a:r>
            <a:r>
              <a:rPr lang="ro-RO" sz="3200" dirty="0" smtClean="0"/>
              <a:t>)</a:t>
            </a:r>
            <a:r>
              <a:rPr lang="en-US" sz="3200" dirty="0" smtClean="0"/>
              <a:t>    </a:t>
            </a:r>
            <a:r>
              <a:rPr lang="ro-RO" sz="2000" dirty="0" smtClean="0"/>
              <a:t> </a:t>
            </a:r>
            <a:r>
              <a:rPr lang="en-US" sz="3200" dirty="0" smtClean="0"/>
              <a:t> </a:t>
            </a:r>
            <a:r>
              <a:rPr lang="ro-RO" sz="3200" dirty="0" smtClean="0"/>
              <a:t>  1 </a:t>
            </a:r>
            <a:r>
              <a:rPr lang="ro-RO" sz="3200" dirty="0"/>
              <a:t>1101 </a:t>
            </a:r>
            <a:r>
              <a:rPr lang="en-US" sz="3200" dirty="0"/>
              <a:t> </a:t>
            </a:r>
            <a:r>
              <a:rPr lang="ro-RO" sz="3200" dirty="0" smtClean="0"/>
              <a:t>–</a:t>
            </a:r>
            <a:r>
              <a:rPr lang="ro-RO" sz="3200" dirty="0"/>
              <a:t>3</a:t>
            </a:r>
          </a:p>
          <a:p>
            <a:pPr>
              <a:buFontTx/>
              <a:buNone/>
            </a:pPr>
            <a:r>
              <a:rPr lang="en-US" sz="3200" dirty="0"/>
              <a:t>   </a:t>
            </a:r>
            <a:r>
              <a:rPr lang="ro-RO" sz="3200" dirty="0"/>
              <a:t>    X–Y  </a:t>
            </a:r>
            <a:r>
              <a:rPr lang="en-US" sz="3200" dirty="0" smtClean="0"/>
              <a:t> </a:t>
            </a:r>
            <a:r>
              <a:rPr lang="en-US" sz="1200" dirty="0" smtClean="0"/>
              <a:t> </a:t>
            </a:r>
            <a:r>
              <a:rPr lang="ro-RO" sz="3200" dirty="0" smtClean="0"/>
              <a:t>  </a:t>
            </a:r>
            <a:r>
              <a:rPr lang="en-US" sz="3200" b="1" dirty="0" smtClean="0">
                <a:sym typeface="Wingdings" pitchFamily="2" charset="2"/>
              </a:rPr>
              <a:t></a:t>
            </a:r>
            <a:r>
              <a:rPr lang="en-US" sz="3200" dirty="0" smtClean="0"/>
              <a:t> </a:t>
            </a:r>
            <a:r>
              <a:rPr lang="ro-RO" sz="3200" dirty="0"/>
              <a:t>0 0110 </a:t>
            </a:r>
            <a:r>
              <a:rPr lang="en-US" sz="3200" dirty="0"/>
              <a:t> +</a:t>
            </a:r>
            <a:r>
              <a:rPr lang="ro-RO" sz="3200" dirty="0"/>
              <a:t>6</a:t>
            </a:r>
            <a:endParaRPr lang="en-US" sz="3200" dirty="0"/>
          </a:p>
          <a:p>
            <a:r>
              <a:rPr lang="ro-RO" dirty="0"/>
              <a:t>Transportul de la </a:t>
            </a:r>
            <a:r>
              <a:rPr lang="ro-RO" dirty="0" smtClean="0"/>
              <a:t>poziția </a:t>
            </a:r>
            <a:r>
              <a:rPr lang="ro-RO" dirty="0"/>
              <a:t>c.m.s. se neglijează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228616F-7E47-4D0B-8991-03F1B2C28794}" type="slidenum">
              <a:rPr lang="ro-RO"/>
              <a:pPr/>
              <a:t>14</a:t>
            </a:fld>
            <a:endParaRPr lang="ro-RO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  <p:sp>
        <p:nvSpPr>
          <p:cNvPr id="209924" name="Line 4"/>
          <p:cNvSpPr>
            <a:spLocks noChangeShapeType="1"/>
          </p:cNvSpPr>
          <p:nvPr/>
        </p:nvSpPr>
        <p:spPr bwMode="auto">
          <a:xfrm>
            <a:off x="2483768" y="5085184"/>
            <a:ext cx="123348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09925" name="Line 5"/>
          <p:cNvSpPr>
            <a:spLocks noChangeShapeType="1"/>
          </p:cNvSpPr>
          <p:nvPr/>
        </p:nvSpPr>
        <p:spPr bwMode="auto">
          <a:xfrm>
            <a:off x="3851920" y="5085184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Adunarea</a:t>
            </a:r>
          </a:p>
        </p:txBody>
      </p:sp>
      <p:sp>
        <p:nvSpPr>
          <p:cNvPr id="186371" name="Rectangle 1027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Adunarea</a:t>
            </a:r>
          </a:p>
          <a:p>
            <a:pPr lvl="1"/>
            <a:r>
              <a:rPr lang="ro-RO" dirty="0"/>
              <a:t>Sumatorul elementar</a:t>
            </a:r>
          </a:p>
          <a:p>
            <a:pPr lvl="1"/>
            <a:r>
              <a:rPr lang="ro-RO" dirty="0"/>
              <a:t>Sumatorul cu propagarea succesivă a transportului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Sumatorul cu anticiparea transportului</a:t>
            </a:r>
          </a:p>
          <a:p>
            <a:pPr lvl="1"/>
            <a:r>
              <a:rPr lang="ro-RO" dirty="0"/>
              <a:t>Sumatorul cu </a:t>
            </a:r>
            <a:r>
              <a:rPr lang="ro-RO" dirty="0" smtClean="0"/>
              <a:t>selecția </a:t>
            </a:r>
            <a:r>
              <a:rPr lang="ro-RO" dirty="0"/>
              <a:t>transportului</a:t>
            </a:r>
          </a:p>
          <a:p>
            <a:pPr lvl="1"/>
            <a:r>
              <a:rPr lang="ro-RO" dirty="0"/>
              <a:t>Sumatorul cu salvarea transportului</a:t>
            </a:r>
          </a:p>
          <a:p>
            <a:pPr lvl="1"/>
            <a:r>
              <a:rPr lang="ro-RO" dirty="0"/>
              <a:t>Sumatorul serial</a:t>
            </a:r>
          </a:p>
          <a:p>
            <a:pPr lvl="1"/>
            <a:r>
              <a:rPr lang="ro-RO" dirty="0"/>
              <a:t>Sumatorul zecimal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E83A43-994C-4488-ABE9-701E1DBA2047}" type="slidenum">
              <a:rPr lang="ro-RO"/>
              <a:pPr/>
              <a:t>15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anticiparea transportului (1)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84784"/>
            <a:ext cx="8382000" cy="4824536"/>
          </a:xfrm>
        </p:spPr>
        <p:txBody>
          <a:bodyPr>
            <a:normAutofit/>
          </a:bodyPr>
          <a:lstStyle/>
          <a:p>
            <a:r>
              <a:rPr lang="en-US" dirty="0"/>
              <a:t>“</a:t>
            </a:r>
            <a:r>
              <a:rPr lang="ro-RO" i="1" dirty="0" err="1"/>
              <a:t>Carry</a:t>
            </a:r>
            <a:r>
              <a:rPr lang="ro-RO" i="1" dirty="0"/>
              <a:t> </a:t>
            </a:r>
            <a:r>
              <a:rPr lang="ro-RO" i="1" dirty="0" err="1" smtClean="0"/>
              <a:t>Lookahead</a:t>
            </a:r>
            <a:r>
              <a:rPr lang="ro-RO" i="1" dirty="0" smtClean="0"/>
              <a:t> </a:t>
            </a:r>
            <a:r>
              <a:rPr lang="ro-RO" i="1" dirty="0" err="1" smtClean="0"/>
              <a:t>Adder</a:t>
            </a:r>
            <a:r>
              <a:rPr lang="en-US" dirty="0"/>
              <a:t>”</a:t>
            </a:r>
            <a:endParaRPr lang="ro-RO" dirty="0"/>
          </a:p>
          <a:p>
            <a:r>
              <a:rPr lang="ro-RO" dirty="0">
                <a:cs typeface="Times New Roman" pitchFamily="18" charset="0"/>
              </a:rPr>
              <a:t>Reduce timpul necesar pentru formarea semnalelor de transport</a:t>
            </a:r>
            <a:r>
              <a:rPr lang="ro-RO" dirty="0"/>
              <a:t> </a:t>
            </a:r>
          </a:p>
          <a:p>
            <a:r>
              <a:rPr lang="ro-RO" dirty="0">
                <a:cs typeface="Times New Roman" pitchFamily="18" charset="0"/>
              </a:rPr>
              <a:t>Intrarea de transport necesar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pentru un etaj este generat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 mod direct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Nu se </a:t>
            </a:r>
            <a:r>
              <a:rPr lang="ro-RO" dirty="0" smtClean="0"/>
              <a:t>așteaptă </a:t>
            </a:r>
            <a:r>
              <a:rPr lang="ro-RO" dirty="0">
                <a:cs typeface="Times New Roman" pitchFamily="18" charset="0"/>
              </a:rPr>
              <a:t>propagarea transporturilor de la un etaj la altul</a:t>
            </a:r>
            <a:r>
              <a:rPr lang="ro-RO" dirty="0"/>
              <a:t> </a:t>
            </a:r>
          </a:p>
          <a:p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chema bloc </a:t>
            </a:r>
            <a:r>
              <a:rPr lang="ro-RO" dirty="0"/>
              <a:t>a unui sumator cu anticiparea transportului </a:t>
            </a:r>
            <a:r>
              <a:rPr lang="ro-RO" dirty="0">
                <a:cs typeface="Times New Roman" pitchFamily="18" charset="0"/>
              </a:rPr>
              <a:t>de 4 </a:t>
            </a:r>
            <a:r>
              <a:rPr lang="ro-RO" dirty="0" smtClean="0">
                <a:cs typeface="Times New Roman" pitchFamily="18" charset="0"/>
              </a:rPr>
              <a:t>biți</a:t>
            </a:r>
            <a:r>
              <a:rPr lang="ro-RO" dirty="0" smtClean="0"/>
              <a:t> </a:t>
            </a:r>
            <a:r>
              <a:rPr lang="ro-RO" dirty="0">
                <a:sym typeface="Symbol" pitchFamily="18" charset="2"/>
              </a:rPr>
              <a:t>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07057C-2AB4-4A4F-910B-7715CC5CCB83}" type="slidenum">
              <a:rPr lang="ro-RO"/>
              <a:pPr/>
              <a:t>16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anticiparea transportului (2)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8E14F6-635B-4AC2-8478-769E57C2DC5E}" type="slidenum">
              <a:rPr lang="ro-RO"/>
              <a:pPr/>
              <a:t>17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  <p:pic>
        <p:nvPicPr>
          <p:cNvPr id="9" name="Content Placeholder 8" descr="ssc3-sum-at1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899592" y="1772816"/>
            <a:ext cx="7349139" cy="4446584"/>
          </a:xfr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anticiparea transportului (3)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28800"/>
            <a:ext cx="8382000" cy="4608512"/>
          </a:xfrm>
        </p:spPr>
        <p:txBody>
          <a:bodyPr>
            <a:normAutofit lnSpcReduction="10000"/>
          </a:bodyPr>
          <a:lstStyle/>
          <a:p>
            <a:r>
              <a:rPr lang="ro-RO" dirty="0"/>
              <a:t>T</a:t>
            </a:r>
            <a:r>
              <a:rPr lang="ro-RO" dirty="0">
                <a:cs typeface="Times New Roman" pitchFamily="18" charset="0"/>
              </a:rPr>
              <a:t>ransportul de </a:t>
            </a:r>
            <a:r>
              <a:rPr lang="ro-RO" dirty="0" smtClean="0">
                <a:cs typeface="Times New Roman" pitchFamily="18" charset="0"/>
              </a:rPr>
              <a:t>ieșire </a:t>
            </a:r>
            <a:r>
              <a:rPr lang="ro-RO" dirty="0">
                <a:cs typeface="Times New Roman" pitchFamily="18" charset="0"/>
              </a:rPr>
              <a:t>al unui sumator elementar:</a:t>
            </a:r>
            <a:r>
              <a:rPr lang="ro-RO" dirty="0"/>
              <a:t> </a:t>
            </a:r>
          </a:p>
          <a:p>
            <a:pPr lvl="1">
              <a:buFont typeface="Wingdings" pitchFamily="2" charset="2"/>
              <a:buNone/>
            </a:pPr>
            <a:r>
              <a:rPr lang="ro-RO" i="1" dirty="0"/>
              <a:t>  </a:t>
            </a:r>
            <a:r>
              <a:rPr lang="ro-RO" i="1" dirty="0">
                <a:cs typeface="Times New Roman" pitchFamily="18" charset="0"/>
              </a:rPr>
              <a:t>T</a:t>
            </a:r>
            <a:r>
              <a:rPr lang="ro-RO" i="1" baseline="-30000" dirty="0">
                <a:cs typeface="Times New Roman" pitchFamily="18" charset="0"/>
              </a:rPr>
              <a:t>i</a:t>
            </a:r>
            <a:r>
              <a:rPr lang="ro-RO" baseline="-30000" dirty="0">
                <a:cs typeface="Times New Roman" pitchFamily="18" charset="0"/>
              </a:rPr>
              <a:t>+1</a:t>
            </a:r>
            <a:r>
              <a:rPr lang="ro-RO" dirty="0">
                <a:cs typeface="Times New Roman" pitchFamily="18" charset="0"/>
              </a:rPr>
              <a:t> = 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i="1" baseline="-30000" dirty="0">
                <a:cs typeface="Times New Roman" pitchFamily="18" charset="0"/>
              </a:rPr>
              <a:t>i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i="1" baseline="-30000" dirty="0">
                <a:cs typeface="Times New Roman" pitchFamily="18" charset="0"/>
              </a:rPr>
              <a:t>i</a:t>
            </a:r>
            <a:r>
              <a:rPr lang="ro-RO" dirty="0">
                <a:cs typeface="Times New Roman" pitchFamily="18" charset="0"/>
              </a:rPr>
              <a:t> + (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i="1" baseline="-30000" dirty="0">
                <a:cs typeface="Times New Roman" pitchFamily="18" charset="0"/>
              </a:rPr>
              <a:t>i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i="1" baseline="-30000" dirty="0">
                <a:cs typeface="Times New Roman" pitchFamily="18" charset="0"/>
              </a:rPr>
              <a:t>i</a:t>
            </a:r>
            <a:r>
              <a:rPr lang="ro-RO" dirty="0">
                <a:cs typeface="Times New Roman" pitchFamily="18" charset="0"/>
              </a:rPr>
              <a:t>)</a:t>
            </a:r>
            <a:r>
              <a:rPr lang="ro-RO" i="1" dirty="0">
                <a:cs typeface="Times New Roman" pitchFamily="18" charset="0"/>
              </a:rPr>
              <a:t> T</a:t>
            </a:r>
            <a:r>
              <a:rPr lang="ro-RO" i="1" baseline="-30000" dirty="0">
                <a:cs typeface="Times New Roman" pitchFamily="18" charset="0"/>
              </a:rPr>
              <a:t>i</a:t>
            </a:r>
            <a:r>
              <a:rPr lang="ro-RO" dirty="0"/>
              <a:t> </a:t>
            </a:r>
          </a:p>
          <a:p>
            <a:r>
              <a:rPr lang="ro-RO" dirty="0"/>
              <a:t>Expresiile pentru</a:t>
            </a:r>
            <a:r>
              <a:rPr lang="ro-RO" i="1" dirty="0">
                <a:solidFill>
                  <a:schemeClr val="tx2"/>
                </a:solidFill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baseline="-25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1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și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baseline="-25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</a:t>
            </a:r>
            <a:r>
              <a:rPr lang="ro-RO" dirty="0"/>
              <a:t>:</a:t>
            </a:r>
          </a:p>
          <a:p>
            <a:pPr lvl="1">
              <a:buFont typeface="Wingdings" pitchFamily="2" charset="2"/>
              <a:buNone/>
            </a:pPr>
            <a:r>
              <a:rPr lang="ro-RO" i="1" dirty="0"/>
              <a:t>  </a:t>
            </a:r>
            <a:r>
              <a:rPr lang="ro-RO" i="1" dirty="0">
                <a:cs typeface="Times New Roman" pitchFamily="18" charset="0"/>
              </a:rPr>
              <a:t>T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dirty="0">
                <a:cs typeface="Times New Roman" pitchFamily="18" charset="0"/>
              </a:rPr>
              <a:t> = 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+ (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)</a:t>
            </a:r>
            <a:r>
              <a:rPr lang="ro-RO" i="1" dirty="0">
                <a:cs typeface="Times New Roman" pitchFamily="18" charset="0"/>
              </a:rPr>
              <a:t> T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/>
              <a:t> </a:t>
            </a:r>
          </a:p>
          <a:p>
            <a:pPr lvl="1">
              <a:buFont typeface="Wingdings" pitchFamily="2" charset="2"/>
              <a:buNone/>
            </a:pPr>
            <a:r>
              <a:rPr lang="ro-RO" i="1" dirty="0"/>
              <a:t>  </a:t>
            </a:r>
            <a:r>
              <a:rPr lang="ro-RO" i="1" dirty="0">
                <a:cs typeface="Times New Roman" pitchFamily="18" charset="0"/>
              </a:rPr>
              <a:t>T</a:t>
            </a:r>
            <a:r>
              <a:rPr lang="ro-RO" baseline="-30000" dirty="0">
                <a:cs typeface="Times New Roman" pitchFamily="18" charset="0"/>
              </a:rPr>
              <a:t>2</a:t>
            </a:r>
            <a:r>
              <a:rPr lang="ro-RO" dirty="0">
                <a:cs typeface="Times New Roman" pitchFamily="18" charset="0"/>
              </a:rPr>
              <a:t> = 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dirty="0">
                <a:cs typeface="Times New Roman" pitchFamily="18" charset="0"/>
              </a:rPr>
              <a:t> + (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dirty="0">
                <a:cs typeface="Times New Roman" pitchFamily="18" charset="0"/>
              </a:rPr>
              <a:t>)</a:t>
            </a:r>
            <a:r>
              <a:rPr lang="ro-RO" i="1" dirty="0">
                <a:cs typeface="Times New Roman" pitchFamily="18" charset="0"/>
              </a:rPr>
              <a:t> T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dirty="0">
                <a:cs typeface="Times New Roman" pitchFamily="18" charset="0"/>
              </a:rPr>
              <a:t> </a:t>
            </a:r>
            <a:endParaRPr lang="ro-RO" dirty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ro-RO" dirty="0"/>
              <a:t>    </a:t>
            </a:r>
            <a:r>
              <a:rPr lang="ro-RO" sz="2000" dirty="0"/>
              <a:t> </a:t>
            </a:r>
            <a:r>
              <a:rPr lang="ro-RO" dirty="0"/>
              <a:t> </a:t>
            </a:r>
            <a:r>
              <a:rPr lang="ro-RO" dirty="0" smtClean="0"/>
              <a:t> </a:t>
            </a:r>
            <a:r>
              <a:rPr lang="ro-RO" dirty="0" smtClean="0">
                <a:cs typeface="Times New Roman" pitchFamily="18" charset="0"/>
              </a:rPr>
              <a:t>= 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dirty="0">
                <a:cs typeface="Times New Roman" pitchFamily="18" charset="0"/>
              </a:rPr>
              <a:t> + (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dirty="0">
                <a:cs typeface="Times New Roman" pitchFamily="18" charset="0"/>
              </a:rPr>
              <a:t>) [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+ (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)</a:t>
            </a:r>
            <a:r>
              <a:rPr lang="ro-RO" i="1" dirty="0">
                <a:cs typeface="Times New Roman" pitchFamily="18" charset="0"/>
              </a:rPr>
              <a:t> T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]</a:t>
            </a:r>
            <a:r>
              <a:rPr lang="ro-RO" dirty="0"/>
              <a:t> </a:t>
            </a:r>
          </a:p>
          <a:p>
            <a:r>
              <a:rPr lang="ro-RO" dirty="0">
                <a:cs typeface="Times New Roman" pitchFamily="18" charset="0"/>
              </a:rPr>
              <a:t>Pentru simplificarea expresiei fiec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rui transport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se utilizeaz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funcțiile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g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E69B64-19F8-4F78-B4E2-29A4B809702B}" type="slidenum">
              <a:rPr lang="ro-RO"/>
              <a:pPr/>
              <a:t>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anticiparea transportului (4)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28800"/>
            <a:ext cx="8382000" cy="4608512"/>
          </a:xfrm>
        </p:spPr>
        <p:txBody>
          <a:bodyPr>
            <a:normAutofit lnSpcReduction="10000"/>
          </a:bodyPr>
          <a:lstStyle/>
          <a:p>
            <a:r>
              <a:rPr lang="ro-RO" dirty="0" smtClean="0">
                <a:cs typeface="Times New Roman" pitchFamily="18" charset="0"/>
              </a:rPr>
              <a:t>Funcția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g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generarea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transportului</a:t>
            </a:r>
            <a:r>
              <a:rPr lang="ro-RO" dirty="0"/>
              <a:t> </a:t>
            </a:r>
          </a:p>
          <a:p>
            <a:pPr lvl="1">
              <a:buFont typeface="Wingdings" pitchFamily="2" charset="2"/>
              <a:buNone/>
            </a:pPr>
            <a:r>
              <a:rPr lang="ro-RO" i="1" dirty="0"/>
              <a:t>   </a:t>
            </a:r>
            <a:r>
              <a:rPr lang="en-US" i="1" dirty="0" smtClean="0"/>
              <a:t> </a:t>
            </a:r>
            <a:r>
              <a:rPr lang="ro-RO" i="1" dirty="0" smtClean="0">
                <a:cs typeface="Times New Roman" pitchFamily="18" charset="0"/>
              </a:rPr>
              <a:t>g</a:t>
            </a:r>
            <a:r>
              <a:rPr lang="ro-RO" i="1" baseline="-30000" dirty="0" smtClean="0">
                <a:cs typeface="Times New Roman" pitchFamily="18" charset="0"/>
              </a:rPr>
              <a:t>i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= 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i="1" baseline="-30000" dirty="0">
                <a:cs typeface="Times New Roman" pitchFamily="18" charset="0"/>
              </a:rPr>
              <a:t>i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i="1" baseline="-30000" dirty="0">
                <a:cs typeface="Times New Roman" pitchFamily="18" charset="0"/>
              </a:rPr>
              <a:t>i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Etajul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generează un transport egal cu 1</a:t>
            </a:r>
          </a:p>
          <a:p>
            <a:r>
              <a:rPr lang="ro-RO" dirty="0" smtClean="0"/>
              <a:t>F</a:t>
            </a:r>
            <a:r>
              <a:rPr lang="ro-RO" dirty="0" smtClean="0">
                <a:cs typeface="Times New Roman" pitchFamily="18" charset="0"/>
              </a:rPr>
              <a:t>uncția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propagarea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intr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rii de transport la </a:t>
            </a:r>
            <a:r>
              <a:rPr lang="ro-RO" dirty="0" smtClean="0">
                <a:cs typeface="Times New Roman" pitchFamily="18" charset="0"/>
              </a:rPr>
              <a:t>ieșirea </a:t>
            </a:r>
            <a:r>
              <a:rPr lang="ro-RO" dirty="0">
                <a:cs typeface="Times New Roman" pitchFamily="18" charset="0"/>
              </a:rPr>
              <a:t>de transport</a:t>
            </a:r>
            <a:r>
              <a:rPr lang="ro-RO" dirty="0"/>
              <a:t> </a:t>
            </a:r>
          </a:p>
          <a:p>
            <a:pPr lvl="1">
              <a:buFont typeface="Wingdings" pitchFamily="2" charset="2"/>
              <a:buNone/>
            </a:pPr>
            <a:r>
              <a:rPr lang="ro-RO" i="1" dirty="0"/>
              <a:t>   </a:t>
            </a:r>
            <a:r>
              <a:rPr lang="en-US" i="1" dirty="0" smtClean="0"/>
              <a:t> </a:t>
            </a:r>
            <a:r>
              <a:rPr lang="ro-RO" i="1" dirty="0" smtClean="0">
                <a:cs typeface="Times New Roman" pitchFamily="18" charset="0"/>
              </a:rPr>
              <a:t>p</a:t>
            </a:r>
            <a:r>
              <a:rPr lang="ro-RO" i="1" baseline="-30000" dirty="0" smtClean="0">
                <a:cs typeface="Times New Roman" pitchFamily="18" charset="0"/>
              </a:rPr>
              <a:t>i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= 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i="1" baseline="-30000" dirty="0">
                <a:cs typeface="Times New Roman" pitchFamily="18" charset="0"/>
              </a:rPr>
              <a:t>i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i="1" baseline="-30000" dirty="0">
                <a:cs typeface="Times New Roman" pitchFamily="18" charset="0"/>
              </a:rPr>
              <a:t>i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Etajul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propagă transportul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dirty="0"/>
              <a:t>Transportul de </a:t>
            </a:r>
            <a:r>
              <a:rPr lang="ro-RO" dirty="0" smtClean="0"/>
              <a:t>ieșire</a:t>
            </a:r>
            <a:r>
              <a:rPr lang="ro-RO" dirty="0">
                <a:cs typeface="Times New Roman" pitchFamily="18" charset="0"/>
              </a:rPr>
              <a:t>:</a:t>
            </a:r>
            <a:r>
              <a:rPr lang="ro-RO" dirty="0"/>
              <a:t> </a:t>
            </a:r>
          </a:p>
          <a:p>
            <a:pPr lvl="1">
              <a:buFont typeface="Wingdings" pitchFamily="2" charset="2"/>
              <a:buNone/>
            </a:pPr>
            <a:r>
              <a:rPr lang="ro-RO" i="1" dirty="0"/>
              <a:t>  </a:t>
            </a:r>
            <a:r>
              <a:rPr lang="en-US" i="1" dirty="0" smtClean="0"/>
              <a:t>  </a:t>
            </a:r>
            <a:r>
              <a:rPr lang="ro-RO" i="1" dirty="0" smtClean="0">
                <a:cs typeface="Times New Roman" pitchFamily="18" charset="0"/>
              </a:rPr>
              <a:t>T</a:t>
            </a:r>
            <a:r>
              <a:rPr lang="ro-RO" i="1" baseline="-30000" dirty="0" smtClean="0">
                <a:cs typeface="Times New Roman" pitchFamily="18" charset="0"/>
              </a:rPr>
              <a:t>i</a:t>
            </a:r>
            <a:r>
              <a:rPr lang="ro-RO" baseline="-30000" dirty="0" smtClean="0">
                <a:cs typeface="Times New Roman" pitchFamily="18" charset="0"/>
              </a:rPr>
              <a:t>+1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= </a:t>
            </a:r>
            <a:r>
              <a:rPr lang="ro-RO" i="1" dirty="0">
                <a:cs typeface="Times New Roman" pitchFamily="18" charset="0"/>
              </a:rPr>
              <a:t>g</a:t>
            </a:r>
            <a:r>
              <a:rPr lang="ro-RO" i="1" baseline="-30000" dirty="0">
                <a:cs typeface="Times New Roman" pitchFamily="18" charset="0"/>
              </a:rPr>
              <a:t>i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i="1" baseline="-30000" dirty="0">
                <a:cs typeface="Times New Roman" pitchFamily="18" charset="0"/>
              </a:rPr>
              <a:t>i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cs typeface="Times New Roman" pitchFamily="18" charset="0"/>
              </a:rPr>
              <a:t>T</a:t>
            </a:r>
            <a:r>
              <a:rPr lang="ro-RO" i="1" baseline="-30000" dirty="0">
                <a:cs typeface="Times New Roman" pitchFamily="18" charset="0"/>
              </a:rPr>
              <a:t>i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6EB504E-D08F-4272-A465-297BE3B0E03D}" type="slidenum">
              <a:rPr lang="ro-RO"/>
              <a:pPr/>
              <a:t>19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anticiparea transportului (5)</a:t>
            </a:r>
          </a:p>
        </p:txBody>
      </p:sp>
      <p:sp>
        <p:nvSpPr>
          <p:cNvPr id="21401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28800"/>
            <a:ext cx="8382000" cy="4680520"/>
          </a:xfrm>
        </p:spPr>
        <p:txBody>
          <a:bodyPr>
            <a:normAutofit lnSpcReduction="10000"/>
          </a:bodyPr>
          <a:lstStyle/>
          <a:p>
            <a:r>
              <a:rPr lang="ro-RO" dirty="0">
                <a:cs typeface="Times New Roman" pitchFamily="18" charset="0"/>
              </a:rPr>
              <a:t>Pentru sumatorul cu anticiparea transportului de 4 </a:t>
            </a:r>
            <a:r>
              <a:rPr lang="ro-RO" dirty="0" smtClean="0">
                <a:cs typeface="Times New Roman" pitchFamily="18" charset="0"/>
              </a:rPr>
              <a:t>biți</a:t>
            </a:r>
            <a:r>
              <a:rPr lang="ro-RO" dirty="0"/>
              <a:t>: </a:t>
            </a:r>
          </a:p>
          <a:p>
            <a:pPr lvl="1">
              <a:buFont typeface="Wingdings" pitchFamily="2" charset="2"/>
              <a:buNone/>
            </a:pPr>
            <a:r>
              <a:rPr lang="ro-RO" i="1" dirty="0">
                <a:cs typeface="Times New Roman" pitchFamily="18" charset="0"/>
              </a:rPr>
              <a:t>	T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dirty="0">
                <a:cs typeface="Times New Roman" pitchFamily="18" charset="0"/>
              </a:rPr>
              <a:t> = </a:t>
            </a:r>
            <a:r>
              <a:rPr lang="ro-RO" i="1" dirty="0">
                <a:cs typeface="Times New Roman" pitchFamily="18" charset="0"/>
              </a:rPr>
              <a:t>g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cs typeface="Times New Roman" pitchFamily="18" charset="0"/>
              </a:rPr>
              <a:t>T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/>
              <a:t> </a:t>
            </a:r>
          </a:p>
          <a:p>
            <a:pPr lvl="1">
              <a:buFont typeface="Wingdings" pitchFamily="2" charset="2"/>
              <a:buNone/>
            </a:pPr>
            <a:r>
              <a:rPr lang="ro-RO" i="1" dirty="0">
                <a:cs typeface="Times New Roman" pitchFamily="18" charset="0"/>
              </a:rPr>
              <a:t>	T</a:t>
            </a:r>
            <a:r>
              <a:rPr lang="ro-RO" baseline="-30000" dirty="0">
                <a:cs typeface="Times New Roman" pitchFamily="18" charset="0"/>
              </a:rPr>
              <a:t>2</a:t>
            </a:r>
            <a:r>
              <a:rPr lang="ro-RO" dirty="0">
                <a:cs typeface="Times New Roman" pitchFamily="18" charset="0"/>
              </a:rPr>
              <a:t> = </a:t>
            </a:r>
            <a:r>
              <a:rPr lang="ro-RO" i="1" dirty="0">
                <a:cs typeface="Times New Roman" pitchFamily="18" charset="0"/>
              </a:rPr>
              <a:t>g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1 </a:t>
            </a:r>
            <a:r>
              <a:rPr lang="ro-RO" i="1" dirty="0">
                <a:cs typeface="Times New Roman" pitchFamily="18" charset="0"/>
              </a:rPr>
              <a:t>g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cs typeface="Times New Roman" pitchFamily="18" charset="0"/>
              </a:rPr>
              <a:t>T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/>
              <a:t> </a:t>
            </a:r>
          </a:p>
          <a:p>
            <a:pPr lvl="1">
              <a:buFont typeface="Wingdings" pitchFamily="2" charset="2"/>
              <a:buNone/>
            </a:pPr>
            <a:r>
              <a:rPr lang="ro-RO" i="1" dirty="0">
                <a:cs typeface="Times New Roman" pitchFamily="18" charset="0"/>
              </a:rPr>
              <a:t>	T</a:t>
            </a:r>
            <a:r>
              <a:rPr lang="ro-RO" baseline="-30000" dirty="0">
                <a:cs typeface="Times New Roman" pitchFamily="18" charset="0"/>
              </a:rPr>
              <a:t>3</a:t>
            </a:r>
            <a:r>
              <a:rPr lang="ro-RO" dirty="0">
                <a:cs typeface="Times New Roman" pitchFamily="18" charset="0"/>
              </a:rPr>
              <a:t> = </a:t>
            </a:r>
            <a:r>
              <a:rPr lang="ro-RO" i="1" dirty="0">
                <a:cs typeface="Times New Roman" pitchFamily="18" charset="0"/>
              </a:rPr>
              <a:t>g</a:t>
            </a:r>
            <a:r>
              <a:rPr lang="ro-RO" baseline="-30000" dirty="0">
                <a:cs typeface="Times New Roman" pitchFamily="18" charset="0"/>
              </a:rPr>
              <a:t>2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2 </a:t>
            </a:r>
            <a:r>
              <a:rPr lang="ro-RO" i="1" dirty="0">
                <a:cs typeface="Times New Roman" pitchFamily="18" charset="0"/>
              </a:rPr>
              <a:t>g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2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1 </a:t>
            </a:r>
            <a:r>
              <a:rPr lang="ro-RO" i="1" dirty="0">
                <a:cs typeface="Times New Roman" pitchFamily="18" charset="0"/>
              </a:rPr>
              <a:t>g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2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cs typeface="Times New Roman" pitchFamily="18" charset="0"/>
              </a:rPr>
              <a:t>T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/>
              <a:t> </a:t>
            </a:r>
          </a:p>
          <a:p>
            <a:pPr lvl="1">
              <a:buFont typeface="Wingdings" pitchFamily="2" charset="2"/>
              <a:buNone/>
            </a:pPr>
            <a:r>
              <a:rPr lang="ro-RO" i="1" dirty="0">
                <a:cs typeface="Times New Roman" pitchFamily="18" charset="0"/>
              </a:rPr>
              <a:t>	T</a:t>
            </a:r>
            <a:r>
              <a:rPr lang="ro-RO" baseline="-30000" dirty="0">
                <a:cs typeface="Times New Roman" pitchFamily="18" charset="0"/>
              </a:rPr>
              <a:t>4</a:t>
            </a:r>
            <a:r>
              <a:rPr lang="ro-RO" dirty="0">
                <a:cs typeface="Times New Roman" pitchFamily="18" charset="0"/>
              </a:rPr>
              <a:t> = </a:t>
            </a:r>
            <a:r>
              <a:rPr lang="ro-RO" i="1" dirty="0">
                <a:cs typeface="Times New Roman" pitchFamily="18" charset="0"/>
              </a:rPr>
              <a:t>g</a:t>
            </a:r>
            <a:r>
              <a:rPr lang="ro-RO" baseline="-30000" dirty="0">
                <a:cs typeface="Times New Roman" pitchFamily="18" charset="0"/>
              </a:rPr>
              <a:t>3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3 </a:t>
            </a:r>
            <a:r>
              <a:rPr lang="ro-RO" i="1" dirty="0">
                <a:cs typeface="Times New Roman" pitchFamily="18" charset="0"/>
              </a:rPr>
              <a:t>g</a:t>
            </a:r>
            <a:r>
              <a:rPr lang="ro-RO" baseline="-30000" dirty="0">
                <a:cs typeface="Times New Roman" pitchFamily="18" charset="0"/>
              </a:rPr>
              <a:t>2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3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2 </a:t>
            </a:r>
            <a:r>
              <a:rPr lang="ro-RO" i="1" dirty="0">
                <a:cs typeface="Times New Roman" pitchFamily="18" charset="0"/>
              </a:rPr>
              <a:t>g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3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2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1 </a:t>
            </a:r>
            <a:r>
              <a:rPr lang="ro-RO" i="1" dirty="0">
                <a:cs typeface="Times New Roman" pitchFamily="18" charset="0"/>
              </a:rPr>
              <a:t>g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</a:t>
            </a:r>
            <a:endParaRPr lang="ro-RO" dirty="0"/>
          </a:p>
          <a:p>
            <a:pPr lvl="1">
              <a:buFont typeface="Wingdings" pitchFamily="2" charset="2"/>
              <a:buNone/>
            </a:pPr>
            <a:r>
              <a:rPr lang="ro-RO" dirty="0"/>
              <a:t>        </a:t>
            </a:r>
            <a:r>
              <a:rPr lang="ro-RO" dirty="0" smtClean="0"/>
              <a:t>   </a:t>
            </a:r>
            <a:r>
              <a:rPr lang="en-US" dirty="0" smtClean="0"/>
              <a:t> </a:t>
            </a:r>
            <a:r>
              <a:rPr lang="ro-RO" dirty="0" smtClean="0">
                <a:cs typeface="Times New Roman" pitchFamily="18" charset="0"/>
              </a:rPr>
              <a:t>+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3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2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1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0 </a:t>
            </a:r>
            <a:r>
              <a:rPr lang="ro-RO" i="1" dirty="0">
                <a:cs typeface="Times New Roman" pitchFamily="18" charset="0"/>
              </a:rPr>
              <a:t>T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/>
              <a:t>  </a:t>
            </a:r>
          </a:p>
          <a:p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chema bloc </a:t>
            </a:r>
            <a:r>
              <a:rPr lang="ro-RO" dirty="0"/>
              <a:t>modificată </a:t>
            </a:r>
            <a:r>
              <a:rPr lang="ro-RO" dirty="0">
                <a:cs typeface="Times New Roman" pitchFamily="18" charset="0"/>
              </a:rPr>
              <a:t>a sumatorului cu anticiparea transportului</a:t>
            </a:r>
            <a:r>
              <a:rPr lang="ro-RO" dirty="0"/>
              <a:t> de 4 </a:t>
            </a:r>
            <a:r>
              <a:rPr lang="ro-RO" dirty="0" smtClean="0"/>
              <a:t>biți </a:t>
            </a:r>
            <a:r>
              <a:rPr lang="ro-RO" dirty="0">
                <a:sym typeface="Symbol" pitchFamily="18" charset="2"/>
              </a:rPr>
              <a:t>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7008C-0F53-4135-B84D-1CDFB1BD412B}" type="slidenum">
              <a:rPr lang="ro-RO"/>
              <a:pPr/>
              <a:t>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anticiparea transportului (6)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A4367B-51E7-4614-9134-7F487BC163AC}" type="slidenum">
              <a:rPr lang="ro-RO"/>
              <a:pPr/>
              <a:t>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  <p:pic>
        <p:nvPicPr>
          <p:cNvPr id="9" name="Content Placeholder 8" descr="ssc3-sum-at2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899592" y="1988840"/>
            <a:ext cx="7308082" cy="3976856"/>
          </a:xfr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anticiparea transportului (7)</a:t>
            </a:r>
          </a:p>
        </p:txBody>
      </p:sp>
      <p:sp>
        <p:nvSpPr>
          <p:cNvPr id="18842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436096" y="1524000"/>
            <a:ext cx="3240360" cy="3385542"/>
          </a:xfrm>
        </p:spPr>
        <p:txBody>
          <a:bodyPr/>
          <a:lstStyle/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ro-RO" sz="2400" dirty="0"/>
          </a:p>
          <a:p>
            <a:r>
              <a:rPr lang="ro-RO" dirty="0"/>
              <a:t>Schema pentru generarea transportului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baseline="-25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4</a:t>
            </a:r>
            <a:endParaRPr lang="en-US" baseline="-25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ro-RO" sz="2400" dirty="0"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622B3-BA6E-41AB-BB21-35A00F60EF34}" type="slidenum">
              <a:rPr lang="ro-RO"/>
              <a:pPr/>
              <a:t>22</a:t>
            </a:fld>
            <a:endParaRPr lang="ro-RO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772816"/>
            <a:ext cx="4314513" cy="3940422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anticiparea transportului (8)</a:t>
            </a:r>
          </a:p>
        </p:txBody>
      </p:sp>
      <p:sp>
        <p:nvSpPr>
          <p:cNvPr id="217091" name="Rectangle 1027"/>
          <p:cNvSpPr>
            <a:spLocks noGrp="1" noChangeArrowheads="1"/>
          </p:cNvSpPr>
          <p:nvPr>
            <p:ph idx="1"/>
          </p:nvPr>
        </p:nvSpPr>
        <p:spPr>
          <a:xfrm>
            <a:off x="381000" y="1628800"/>
            <a:ext cx="8382000" cy="4173450"/>
          </a:xfrm>
        </p:spPr>
        <p:txBody>
          <a:bodyPr/>
          <a:lstStyle/>
          <a:p>
            <a:r>
              <a:rPr lang="ro-RO" dirty="0">
                <a:cs typeface="Times New Roman" pitchFamily="18" charset="0"/>
              </a:rPr>
              <a:t>Se limiteaz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de intr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 ale </a:t>
            </a:r>
            <a:r>
              <a:rPr lang="ro-RO" dirty="0" err="1">
                <a:cs typeface="Times New Roman" pitchFamily="18" charset="0"/>
              </a:rPr>
              <a:t>por</a:t>
            </a:r>
            <a:r>
              <a:rPr lang="ro-RO" dirty="0" err="1"/>
              <a:t>ţ</a:t>
            </a:r>
            <a:r>
              <a:rPr lang="ro-RO" dirty="0" err="1">
                <a:cs typeface="Times New Roman" pitchFamily="18" charset="0"/>
              </a:rPr>
              <a:t>ilor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de </a:t>
            </a:r>
            <a:r>
              <a:rPr lang="ro-RO" dirty="0" smtClean="0">
                <a:cs typeface="Times New Roman" pitchFamily="18" charset="0"/>
              </a:rPr>
              <a:t>porți </a:t>
            </a:r>
            <a:r>
              <a:rPr lang="ro-RO" dirty="0">
                <a:cs typeface="Times New Roman" pitchFamily="18" charset="0"/>
              </a:rPr>
              <a:t>alimentate de acestea</a:t>
            </a:r>
          </a:p>
          <a:p>
            <a:pPr lvl="1"/>
            <a:r>
              <a:rPr lang="ro-RO" dirty="0">
                <a:cs typeface="Times New Roman" pitchFamily="18" charset="0"/>
              </a:rPr>
              <a:t>Este necesar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ad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ugarea unor nivele logice suplimentare </a:t>
            </a:r>
          </a:p>
          <a:p>
            <a:r>
              <a:rPr lang="ro-RO" dirty="0">
                <a:cs typeface="Times New Roman" pitchFamily="18" charset="0"/>
              </a:rPr>
              <a:t>Se definesc dou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noi </a:t>
            </a:r>
            <a:r>
              <a:rPr lang="ro-RO" dirty="0" smtClean="0">
                <a:cs typeface="Times New Roman" pitchFamily="18" charset="0"/>
              </a:rPr>
              <a:t>funcții </a:t>
            </a:r>
            <a:r>
              <a:rPr lang="ro-RO" dirty="0">
                <a:cs typeface="Times New Roman" pitchFamily="18" charset="0"/>
              </a:rPr>
              <a:t>pentru blocul corespunz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tor </a:t>
            </a:r>
            <a:r>
              <a:rPr lang="ro-RO" dirty="0" smtClean="0">
                <a:cs typeface="Times New Roman" pitchFamily="18" charset="0"/>
              </a:rPr>
              <a:t>biților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pân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la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k</a:t>
            </a:r>
            <a:r>
              <a:rPr lang="ro-RO" dirty="0">
                <a:cs typeface="Times New Roman" pitchFamily="18" charset="0"/>
              </a:rPr>
              <a:t>:</a:t>
            </a:r>
          </a:p>
          <a:p>
            <a:pPr lvl="1"/>
            <a:r>
              <a:rPr lang="ro-RO" dirty="0">
                <a:cs typeface="Times New Roman" pitchFamily="18" charset="0"/>
              </a:rPr>
              <a:t>Generarea transportului pe grup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G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,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k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</a:p>
          <a:p>
            <a:pPr lvl="1"/>
            <a:r>
              <a:rPr lang="ro-RO" dirty="0">
                <a:cs typeface="Times New Roman" pitchFamily="18" charset="0"/>
              </a:rPr>
              <a:t>Propagarea transportului pe grup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,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k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A9D022-6078-489E-AAB4-B93971F53E73}" type="slidenum">
              <a:rPr lang="ro-RO"/>
              <a:pPr/>
              <a:t>23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anticiparea transportului (</a:t>
            </a:r>
            <a:r>
              <a:rPr lang="en-US" dirty="0"/>
              <a:t>9</a:t>
            </a:r>
            <a:r>
              <a:rPr lang="ro-RO" dirty="0"/>
              <a:t>)</a:t>
            </a:r>
            <a:endParaRPr lang="en-US" dirty="0"/>
          </a:p>
        </p:txBody>
      </p:sp>
      <p:sp>
        <p:nvSpPr>
          <p:cNvPr id="21811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28800"/>
            <a:ext cx="8382000" cy="4425827"/>
          </a:xfrm>
        </p:spPr>
        <p:txBody>
          <a:bodyPr/>
          <a:lstStyle/>
          <a:p>
            <a:r>
              <a:rPr lang="ro-RO" dirty="0"/>
              <a:t>Pentru un grup de 4 </a:t>
            </a:r>
            <a:r>
              <a:rPr lang="ro-RO" dirty="0" smtClean="0"/>
              <a:t>biț</a:t>
            </a:r>
            <a:r>
              <a:rPr lang="ro-RO" dirty="0" smtClean="0">
                <a:cs typeface="Times New Roman" pitchFamily="18" charset="0"/>
              </a:rPr>
              <a:t>i</a:t>
            </a:r>
            <a:r>
              <a:rPr lang="ro-RO" dirty="0">
                <a:cs typeface="Times New Roman" pitchFamily="18" charset="0"/>
              </a:rPr>
              <a:t>:</a:t>
            </a:r>
          </a:p>
          <a:p>
            <a:pPr lvl="1">
              <a:buFont typeface="Wingdings" pitchFamily="2" charset="2"/>
              <a:buNone/>
            </a:pPr>
            <a:r>
              <a:rPr lang="ro-RO" i="1" dirty="0">
                <a:cs typeface="Times New Roman" pitchFamily="18" charset="0"/>
              </a:rPr>
              <a:t>	G</a:t>
            </a:r>
            <a:r>
              <a:rPr lang="ro-RO" baseline="-30000" dirty="0">
                <a:cs typeface="Times New Roman" pitchFamily="18" charset="0"/>
              </a:rPr>
              <a:t>0,3</a:t>
            </a:r>
            <a:r>
              <a:rPr lang="ro-RO" dirty="0">
                <a:cs typeface="Times New Roman" pitchFamily="18" charset="0"/>
              </a:rPr>
              <a:t> = </a:t>
            </a:r>
            <a:r>
              <a:rPr lang="ro-RO" i="1" dirty="0">
                <a:cs typeface="Times New Roman" pitchFamily="18" charset="0"/>
              </a:rPr>
              <a:t>g</a:t>
            </a:r>
            <a:r>
              <a:rPr lang="ro-RO" baseline="-30000" dirty="0">
                <a:cs typeface="Times New Roman" pitchFamily="18" charset="0"/>
              </a:rPr>
              <a:t>3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3 </a:t>
            </a:r>
            <a:r>
              <a:rPr lang="ro-RO" i="1" dirty="0">
                <a:cs typeface="Times New Roman" pitchFamily="18" charset="0"/>
              </a:rPr>
              <a:t>g</a:t>
            </a:r>
            <a:r>
              <a:rPr lang="ro-RO" baseline="-30000" dirty="0">
                <a:cs typeface="Times New Roman" pitchFamily="18" charset="0"/>
              </a:rPr>
              <a:t>2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3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2 </a:t>
            </a:r>
            <a:r>
              <a:rPr lang="ro-RO" i="1" dirty="0">
                <a:cs typeface="Times New Roman" pitchFamily="18" charset="0"/>
              </a:rPr>
              <a:t>g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3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2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1 </a:t>
            </a:r>
            <a:r>
              <a:rPr lang="ro-RO" i="1" dirty="0">
                <a:cs typeface="Times New Roman" pitchFamily="18" charset="0"/>
              </a:rPr>
              <a:t>g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</a:t>
            </a:r>
          </a:p>
          <a:p>
            <a:pPr lvl="1">
              <a:buFont typeface="Wingdings" pitchFamily="2" charset="2"/>
              <a:buNone/>
            </a:pPr>
            <a:r>
              <a:rPr lang="ro-RO" i="1" dirty="0">
                <a:cs typeface="Times New Roman" pitchFamily="18" charset="0"/>
              </a:rPr>
              <a:t>	P</a:t>
            </a:r>
            <a:r>
              <a:rPr lang="ro-RO" baseline="-30000" dirty="0">
                <a:cs typeface="Times New Roman" pitchFamily="18" charset="0"/>
              </a:rPr>
              <a:t>0,3</a:t>
            </a:r>
            <a:r>
              <a:rPr lang="ro-RO" dirty="0">
                <a:cs typeface="Times New Roman" pitchFamily="18" charset="0"/>
              </a:rPr>
              <a:t> =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3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2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1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  </a:t>
            </a:r>
          </a:p>
          <a:p>
            <a:r>
              <a:rPr lang="ro-RO" dirty="0">
                <a:cs typeface="Times New Roman" pitchFamily="18" charset="0"/>
              </a:rPr>
              <a:t>Rezult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:</a:t>
            </a:r>
          </a:p>
          <a:p>
            <a:pPr lvl="1">
              <a:buFont typeface="Wingdings" pitchFamily="2" charset="2"/>
              <a:buNone/>
            </a:pPr>
            <a:r>
              <a:rPr lang="ro-RO" i="1" dirty="0">
                <a:cs typeface="Times New Roman" pitchFamily="18" charset="0"/>
              </a:rPr>
              <a:t>	T</a:t>
            </a:r>
            <a:r>
              <a:rPr lang="ro-RO" baseline="-30000" dirty="0">
                <a:cs typeface="Times New Roman" pitchFamily="18" charset="0"/>
              </a:rPr>
              <a:t>4</a:t>
            </a:r>
            <a:r>
              <a:rPr lang="ro-RO" dirty="0">
                <a:cs typeface="Times New Roman" pitchFamily="18" charset="0"/>
              </a:rPr>
              <a:t> = </a:t>
            </a:r>
            <a:r>
              <a:rPr lang="ro-RO" i="1" dirty="0">
                <a:cs typeface="Times New Roman" pitchFamily="18" charset="0"/>
              </a:rPr>
              <a:t>G</a:t>
            </a:r>
            <a:r>
              <a:rPr lang="ro-RO" baseline="-30000" dirty="0">
                <a:cs typeface="Times New Roman" pitchFamily="18" charset="0"/>
              </a:rPr>
              <a:t>0,3</a:t>
            </a:r>
            <a:r>
              <a:rPr lang="ro-RO" dirty="0">
                <a:cs typeface="Times New Roman" pitchFamily="18" charset="0"/>
              </a:rPr>
              <a:t> + </a:t>
            </a:r>
            <a:r>
              <a:rPr lang="ro-RO" i="1" dirty="0">
                <a:cs typeface="Times New Roman" pitchFamily="18" charset="0"/>
              </a:rPr>
              <a:t>P</a:t>
            </a:r>
            <a:r>
              <a:rPr lang="ro-RO" baseline="-30000" dirty="0">
                <a:cs typeface="Times New Roman" pitchFamily="18" charset="0"/>
              </a:rPr>
              <a:t>0,3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cs typeface="Times New Roman" pitchFamily="18" charset="0"/>
              </a:rPr>
              <a:t>T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</a:t>
            </a:r>
          </a:p>
          <a:p>
            <a:pPr lvl="1"/>
            <a:r>
              <a:rPr lang="ro-RO" dirty="0">
                <a:cs typeface="Times New Roman" pitchFamily="18" charset="0"/>
              </a:rPr>
              <a:t>Form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similar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cu </a:t>
            </a:r>
            <a:r>
              <a:rPr lang="ro-RO" dirty="0" smtClean="0">
                <a:cs typeface="Times New Roman" pitchFamily="18" charset="0"/>
              </a:rPr>
              <a:t>ecuația </a:t>
            </a:r>
            <a:r>
              <a:rPr lang="ro-RO" dirty="0">
                <a:cs typeface="Times New Roman" pitchFamily="18" charset="0"/>
              </a:rPr>
              <a:t>pentru </a:t>
            </a:r>
            <a:r>
              <a:rPr lang="ro-RO" i="1" dirty="0">
                <a:cs typeface="Times New Roman" pitchFamily="18" charset="0"/>
              </a:rPr>
              <a:t>T</a:t>
            </a:r>
            <a:r>
              <a:rPr lang="ro-RO" baseline="-25000" dirty="0">
                <a:cs typeface="Times New Roman" pitchFamily="18" charset="0"/>
              </a:rPr>
              <a:t>1</a:t>
            </a:r>
          </a:p>
          <a:p>
            <a:r>
              <a:rPr lang="ro-RO" dirty="0">
                <a:cs typeface="Times New Roman" pitchFamily="18" charset="0"/>
              </a:rPr>
              <a:t>Sumatorul poate fi extins  </a:t>
            </a:r>
            <a:endParaRPr lang="ro-RO" dirty="0">
              <a:cs typeface="Times New Roman" pitchFamily="18" charset="0"/>
              <a:sym typeface="Symbol" pitchFamily="18" charset="2"/>
            </a:endParaRP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Exemplu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pentru 16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biți</a:t>
            </a:r>
            <a:endParaRPr lang="ro-RO" dirty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55EAF0-37E0-4797-9D6A-0AB1DD12004B}" type="slidenum">
              <a:rPr lang="ro-RO"/>
              <a:pPr/>
              <a:t>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anticiparea transportului (</a:t>
            </a:r>
            <a:r>
              <a:rPr lang="en-US" dirty="0"/>
              <a:t>10</a:t>
            </a:r>
            <a:r>
              <a:rPr lang="ro-RO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171660-BC3E-45C3-8B84-EF9CE4AE6F8F}" type="slidenum">
              <a:rPr lang="ro-RO"/>
              <a:pPr/>
              <a:t>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  <p:pic>
        <p:nvPicPr>
          <p:cNvPr id="9" name="Content Placeholder 8" descr="ssc3-sum-at4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971600" y="1772816"/>
            <a:ext cx="7174641" cy="4184364"/>
          </a:xfrm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Adunarea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Adunarea</a:t>
            </a:r>
          </a:p>
          <a:p>
            <a:pPr lvl="1"/>
            <a:r>
              <a:rPr lang="ro-RO" dirty="0"/>
              <a:t>Sumatorul elementar</a:t>
            </a:r>
          </a:p>
          <a:p>
            <a:pPr lvl="1"/>
            <a:r>
              <a:rPr lang="ro-RO" dirty="0"/>
              <a:t>Sumatorul cu propagarea succesivă a transportului</a:t>
            </a:r>
          </a:p>
          <a:p>
            <a:pPr lvl="1"/>
            <a:r>
              <a:rPr lang="ro-RO" dirty="0"/>
              <a:t>Sumatorul cu anticiparea transportului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Sumatorul cu </a:t>
            </a:r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selecția </a:t>
            </a:r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transportului</a:t>
            </a:r>
          </a:p>
          <a:p>
            <a:pPr lvl="1"/>
            <a:r>
              <a:rPr lang="ro-RO" dirty="0"/>
              <a:t>Sumatorul cu salvarea transportului</a:t>
            </a:r>
          </a:p>
          <a:p>
            <a:pPr lvl="1"/>
            <a:r>
              <a:rPr lang="ro-RO" dirty="0"/>
              <a:t>Sumatorul serial</a:t>
            </a:r>
          </a:p>
          <a:p>
            <a:pPr lvl="1"/>
            <a:r>
              <a:rPr lang="ro-RO" dirty="0"/>
              <a:t>Sumatorul zecimal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C10E8A-07E0-41BF-AE9F-1E8B86DD724B}" type="slidenum">
              <a:rPr lang="ro-RO"/>
              <a:pPr/>
              <a:t>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60649"/>
            <a:ext cx="8352928" cy="720080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</a:t>
            </a:r>
            <a:r>
              <a:rPr lang="ro-RO" dirty="0" smtClean="0"/>
              <a:t>selecția </a:t>
            </a:r>
            <a:r>
              <a:rPr lang="ro-RO" dirty="0"/>
              <a:t>transportului</a:t>
            </a:r>
            <a:r>
              <a:rPr lang="en-US" dirty="0"/>
              <a:t> (1)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84784"/>
            <a:ext cx="8382000" cy="4752528"/>
          </a:xfrm>
        </p:spPr>
        <p:txBody>
          <a:bodyPr>
            <a:normAutofit fontScale="92500"/>
          </a:bodyPr>
          <a:lstStyle/>
          <a:p>
            <a:r>
              <a:rPr lang="ro-RO" dirty="0">
                <a:cs typeface="Times New Roman" pitchFamily="18" charset="0"/>
              </a:rPr>
              <a:t>“</a:t>
            </a:r>
            <a:r>
              <a:rPr lang="ro-RO" i="1" dirty="0" err="1">
                <a:cs typeface="Times New Roman" pitchFamily="18" charset="0"/>
              </a:rPr>
              <a:t>Carry</a:t>
            </a:r>
            <a:r>
              <a:rPr lang="ro-RO" i="1" dirty="0">
                <a:cs typeface="Times New Roman" pitchFamily="18" charset="0"/>
              </a:rPr>
              <a:t> Select </a:t>
            </a:r>
            <a:r>
              <a:rPr lang="ro-RO" i="1" dirty="0" err="1">
                <a:cs typeface="Times New Roman" pitchFamily="18" charset="0"/>
              </a:rPr>
              <a:t>Adder</a:t>
            </a:r>
            <a:r>
              <a:rPr lang="ro-RO" dirty="0">
                <a:cs typeface="Times New Roman" pitchFamily="18" charset="0"/>
              </a:rPr>
              <a:t>”</a:t>
            </a:r>
          </a:p>
          <a:p>
            <a:r>
              <a:rPr lang="ro-RO" dirty="0">
                <a:cs typeface="Times New Roman" pitchFamily="18" charset="0"/>
              </a:rPr>
              <a:t>Utilizeaz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circuite redundante pentru </a:t>
            </a:r>
            <a:r>
              <a:rPr lang="ro-RO" dirty="0" smtClean="0">
                <a:cs typeface="Times New Roman" pitchFamily="18" charset="0"/>
              </a:rPr>
              <a:t>creșterea </a:t>
            </a:r>
            <a:r>
              <a:rPr lang="ro-RO" dirty="0">
                <a:cs typeface="Times New Roman" pitchFamily="18" charset="0"/>
              </a:rPr>
              <a:t>vitezei de adunare</a:t>
            </a:r>
            <a:r>
              <a:rPr lang="ro-RO" dirty="0"/>
              <a:t> </a:t>
            </a:r>
          </a:p>
          <a:p>
            <a:r>
              <a:rPr lang="ro-RO" dirty="0"/>
              <a:t>Se </a:t>
            </a:r>
            <a:r>
              <a:rPr lang="ro-RO" dirty="0">
                <a:cs typeface="Times New Roman" pitchFamily="18" charset="0"/>
              </a:rPr>
              <a:t>calculeaz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jum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tatea superioar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 sumei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pentru ambele valori posibile ale transportului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ro-RO" dirty="0">
                <a:cs typeface="Times New Roman" pitchFamily="18" charset="0"/>
              </a:rPr>
              <a:t>Atunci când transportul este cunoscut, este selectat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jum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tatea superioar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corect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 sumei</a:t>
            </a:r>
            <a:r>
              <a:rPr lang="ro-RO" dirty="0"/>
              <a:t> 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Exemplu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pentru </a:t>
            </a:r>
            <a:r>
              <a:rPr lang="ro-RO" dirty="0">
                <a:cs typeface="Times New Roman" pitchFamily="18" charset="0"/>
              </a:rPr>
              <a:t>numere de câte 8 </a:t>
            </a:r>
            <a:r>
              <a:rPr lang="ro-RO" dirty="0" smtClean="0">
                <a:cs typeface="Times New Roman" pitchFamily="18" charset="0"/>
              </a:rPr>
              <a:t>biți</a:t>
            </a:r>
            <a:r>
              <a:rPr lang="en-US" dirty="0" smtClean="0"/>
              <a:t> </a:t>
            </a:r>
            <a:r>
              <a:rPr lang="en-US" dirty="0">
                <a:sym typeface="Symbol" pitchFamily="18" charset="2"/>
              </a:rPr>
              <a:t>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4D6BE9-6DD9-4FE7-A5D8-89E1795E0DD1}" type="slidenum">
              <a:rPr lang="ro-RO"/>
              <a:pPr/>
              <a:t>27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60649"/>
            <a:ext cx="8352928" cy="720079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</a:t>
            </a:r>
            <a:r>
              <a:rPr lang="ro-RO" dirty="0" smtClean="0"/>
              <a:t>selecția </a:t>
            </a:r>
            <a:r>
              <a:rPr lang="ro-RO" dirty="0"/>
              <a:t>transportului</a:t>
            </a:r>
            <a:r>
              <a:rPr lang="en-US" dirty="0"/>
              <a:t> (2)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3281AC-A2A8-4192-9397-5C9321E9AD8B}" type="slidenum">
              <a:rPr lang="ro-RO"/>
              <a:pPr/>
              <a:t>28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  <p:pic>
        <p:nvPicPr>
          <p:cNvPr id="9" name="Content Placeholder 8" descr="ssc3-sum-selt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15616" y="1772816"/>
            <a:ext cx="6931775" cy="3825126"/>
          </a:xfrm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60648"/>
            <a:ext cx="8382000" cy="720079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</a:t>
            </a:r>
            <a:r>
              <a:rPr lang="ro-RO" dirty="0" smtClean="0"/>
              <a:t>selecția </a:t>
            </a:r>
            <a:r>
              <a:rPr lang="ro-RO" dirty="0"/>
              <a:t>transportului</a:t>
            </a:r>
            <a:r>
              <a:rPr lang="en-US" dirty="0"/>
              <a:t> (3)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84784"/>
            <a:ext cx="8382000" cy="4752528"/>
          </a:xfrm>
        </p:spPr>
        <p:txBody>
          <a:bodyPr>
            <a:normAutofit lnSpcReduction="10000"/>
          </a:bodyPr>
          <a:lstStyle/>
          <a:p>
            <a:r>
              <a:rPr lang="ro-RO" dirty="0">
                <a:cs typeface="Times New Roman" pitchFamily="18" charset="0"/>
              </a:rPr>
              <a:t>Altă posibilitate: </a:t>
            </a:r>
            <a:r>
              <a:rPr lang="ro-RO" dirty="0" smtClean="0">
                <a:cs typeface="Times New Roman" pitchFamily="18" charset="0"/>
              </a:rPr>
              <a:t>împ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rțirea </a:t>
            </a:r>
            <a:r>
              <a:rPr lang="ro-RO" dirty="0">
                <a:cs typeface="Times New Roman" pitchFamily="18" charset="0"/>
              </a:rPr>
              <a:t>sumatorului în  patru sferturi</a:t>
            </a:r>
            <a:r>
              <a:rPr lang="ro-RO" dirty="0"/>
              <a:t> </a:t>
            </a:r>
          </a:p>
          <a:p>
            <a:pPr lvl="1"/>
            <a:r>
              <a:rPr lang="ro-RO" dirty="0">
                <a:cs typeface="Times New Roman" pitchFamily="18" charset="0"/>
              </a:rPr>
              <a:t>Pentru cele trei sferturi superioare ale numerelor, se realizeaz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adunarea pentru ambele valori ale transportului</a:t>
            </a:r>
            <a:endParaRPr lang="ro-RO" dirty="0"/>
          </a:p>
          <a:p>
            <a:r>
              <a:rPr lang="ro-RO" dirty="0"/>
              <a:t>Se </a:t>
            </a:r>
            <a:r>
              <a:rPr lang="ro-RO" dirty="0">
                <a:cs typeface="Times New Roman" pitchFamily="18" charset="0"/>
              </a:rPr>
              <a:t>limiteaz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de </a:t>
            </a:r>
            <a:r>
              <a:rPr lang="ro-RO" dirty="0" smtClean="0">
                <a:cs typeface="Times New Roman" pitchFamily="18" charset="0"/>
              </a:rPr>
              <a:t>biți adunați </a:t>
            </a:r>
            <a:r>
              <a:rPr lang="ro-RO" dirty="0">
                <a:cs typeface="Times New Roman" pitchFamily="18" charset="0"/>
              </a:rPr>
              <a:t>simultan</a:t>
            </a:r>
          </a:p>
          <a:p>
            <a:pPr lvl="1"/>
            <a:r>
              <a:rPr lang="ro-RO" dirty="0">
                <a:cs typeface="Times New Roman" pitchFamily="18" charset="0"/>
              </a:rPr>
              <a:t>Se elimin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dezavantajul sumatorului cu anticiparea transportului din punct de vedere al </a:t>
            </a:r>
            <a:r>
              <a:rPr lang="ro-RO" dirty="0" smtClean="0">
                <a:cs typeface="Times New Roman" pitchFamily="18" charset="0"/>
              </a:rPr>
              <a:t>complexit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ii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B62C75-CD88-42A9-9CFE-15204C0CD252}" type="slidenum">
              <a:rPr lang="ro-RO"/>
              <a:pPr/>
              <a:t>29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Adunarea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Adunarea</a:t>
            </a:r>
          </a:p>
          <a:p>
            <a:pPr lvl="1"/>
            <a:r>
              <a:rPr lang="ro-RO" dirty="0"/>
              <a:t>Sumatorul elementar</a:t>
            </a:r>
          </a:p>
          <a:p>
            <a:pPr lvl="1"/>
            <a:r>
              <a:rPr lang="ro-RO" dirty="0"/>
              <a:t>Sumatorul cu propagarea succesivă a transportului</a:t>
            </a:r>
          </a:p>
          <a:p>
            <a:pPr lvl="1"/>
            <a:r>
              <a:rPr lang="ro-RO" dirty="0"/>
              <a:t>Sumatorul cu anticiparea transportului</a:t>
            </a:r>
          </a:p>
          <a:p>
            <a:pPr lvl="1"/>
            <a:r>
              <a:rPr lang="ro-RO" dirty="0"/>
              <a:t>Sumatorul cu </a:t>
            </a:r>
            <a:r>
              <a:rPr lang="ro-RO" dirty="0" smtClean="0"/>
              <a:t>selecția </a:t>
            </a:r>
            <a:r>
              <a:rPr lang="ro-RO" dirty="0"/>
              <a:t>transportului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Sumatorul cu salvarea transportului</a:t>
            </a:r>
          </a:p>
          <a:p>
            <a:pPr lvl="1"/>
            <a:r>
              <a:rPr lang="ro-RO" dirty="0"/>
              <a:t>Sumatorul serial</a:t>
            </a:r>
          </a:p>
          <a:p>
            <a:pPr lvl="1"/>
            <a:r>
              <a:rPr lang="ro-RO" dirty="0"/>
              <a:t>Sumatorul zecimal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93382D-760A-4367-A77D-650B1DBB7A4E}" type="slidenum">
              <a:rPr lang="ro-RO"/>
              <a:pPr/>
              <a:t>30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60649"/>
            <a:ext cx="8352928" cy="720080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salvarea transportului</a:t>
            </a:r>
            <a:r>
              <a:rPr lang="en-US" dirty="0"/>
              <a:t> (1)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556792"/>
            <a:ext cx="8382000" cy="468052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“</a:t>
            </a:r>
            <a:r>
              <a:rPr lang="ro-RO" i="1" dirty="0" err="1">
                <a:cs typeface="Times New Roman" pitchFamily="18" charset="0"/>
              </a:rPr>
              <a:t>Carry</a:t>
            </a:r>
            <a:r>
              <a:rPr lang="ro-RO" i="1" dirty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Save</a:t>
            </a:r>
            <a:r>
              <a:rPr lang="ro-RO" i="1" dirty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Adder</a:t>
            </a:r>
            <a:r>
              <a:rPr lang="ro-RO" dirty="0">
                <a:cs typeface="Times New Roman" pitchFamily="18" charset="0"/>
              </a:rPr>
              <a:t>”</a:t>
            </a:r>
          </a:p>
          <a:p>
            <a:pPr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Utilizat atunci când trebuie adunate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mai mult de dou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numere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Reduce timpul de propagare al semnalelor de transport</a:t>
            </a:r>
            <a:r>
              <a:rPr lang="ro-RO" dirty="0"/>
              <a:t> </a:t>
            </a:r>
          </a:p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SST </a:t>
            </a:r>
            <a:r>
              <a:rPr lang="ro-RO" dirty="0">
                <a:cs typeface="Times New Roman" pitchFamily="18" charset="0"/>
              </a:rPr>
              <a:t>de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biți</a:t>
            </a:r>
            <a:r>
              <a:rPr lang="ro-RO" dirty="0">
                <a:cs typeface="Times New Roman" pitchFamily="18" charset="0"/>
              </a:rPr>
              <a:t>: </a:t>
            </a:r>
            <a:r>
              <a:rPr lang="ro-RO" dirty="0" smtClean="0">
                <a:cs typeface="Times New Roman" pitchFamily="18" charset="0"/>
              </a:rPr>
              <a:t>colecție </a:t>
            </a:r>
            <a:r>
              <a:rPr lang="ro-RO" dirty="0">
                <a:cs typeface="Times New Roman" pitchFamily="18" charset="0"/>
              </a:rPr>
              <a:t>de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 sumatoare elementare independente</a:t>
            </a:r>
            <a:r>
              <a:rPr lang="ro-RO" dirty="0"/>
              <a:t> </a:t>
            </a:r>
          </a:p>
          <a:p>
            <a:pPr lvl="1"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Intr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ri</a:t>
            </a:r>
            <a:r>
              <a:rPr lang="ro-RO" dirty="0">
                <a:cs typeface="Times New Roman" pitchFamily="18" charset="0"/>
              </a:rPr>
              <a:t>: trei numere de câte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biți </a:t>
            </a:r>
            <a:endParaRPr lang="ro-RO" dirty="0">
              <a:cs typeface="Times New Roman" pitchFamily="18" charset="0"/>
            </a:endParaRPr>
          </a:p>
          <a:p>
            <a:pPr lvl="1">
              <a:lnSpc>
                <a:spcPct val="90000"/>
              </a:lnSpc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Ieșiri</a:t>
            </a:r>
            <a:r>
              <a:rPr lang="ro-RO" dirty="0">
                <a:cs typeface="Times New Roman" pitchFamily="18" charset="0"/>
              </a:rPr>
              <a:t>: un cuvânt sum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de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bi</a:t>
            </a:r>
            <a:r>
              <a:rPr lang="ro-RO" dirty="0"/>
              <a:t>ț</a:t>
            </a:r>
            <a:r>
              <a:rPr lang="ro-RO" dirty="0" smtClean="0">
                <a:cs typeface="Times New Roman" pitchFamily="18" charset="0"/>
              </a:rPr>
              <a:t>i</a:t>
            </a:r>
            <a:r>
              <a:rPr lang="ro-RO" dirty="0">
                <a:cs typeface="Times New Roman" pitchFamily="18" charset="0"/>
              </a:rPr>
              <a:t>, un cuvânt de transport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de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biți</a:t>
            </a:r>
            <a:r>
              <a:rPr lang="en-US" dirty="0" smtClean="0">
                <a:cs typeface="Times New Roman" pitchFamily="18" charset="0"/>
              </a:rPr>
              <a:t> </a:t>
            </a:r>
            <a:endParaRPr lang="en-US" dirty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7E40F5-D8AF-4FEB-9D92-FCF83ED7DB83}" type="slidenum">
              <a:rPr lang="ro-RO"/>
              <a:pPr/>
              <a:t>31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60648"/>
            <a:ext cx="8352928" cy="720081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salvarea transportului</a:t>
            </a:r>
            <a:r>
              <a:rPr lang="en-US" dirty="0"/>
              <a:t> (2)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84784"/>
            <a:ext cx="8382000" cy="4210383"/>
          </a:xfrm>
        </p:spPr>
        <p:txBody>
          <a:bodyPr/>
          <a:lstStyle/>
          <a:p>
            <a:r>
              <a:rPr lang="ro-RO" dirty="0">
                <a:cs typeface="Times New Roman" pitchFamily="18" charset="0"/>
              </a:rPr>
              <a:t>Fiecare sumator elementar </a:t>
            </a:r>
            <a:r>
              <a:rPr lang="ro-RO" dirty="0" smtClean="0">
                <a:cs typeface="Times New Roman" pitchFamily="18" charset="0"/>
              </a:rPr>
              <a:t>funcționeaz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independent unul de cel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lalt</a:t>
            </a:r>
          </a:p>
          <a:p>
            <a:r>
              <a:rPr lang="ro-RO" dirty="0">
                <a:cs typeface="Times New Roman" pitchFamily="18" charset="0"/>
              </a:rPr>
              <a:t>Semnalele de transport nu sunt propagate între sumatoarele elementare </a:t>
            </a:r>
          </a:p>
          <a:p>
            <a:r>
              <a:rPr lang="ro-RO" dirty="0">
                <a:cs typeface="Times New Roman" pitchFamily="18" charset="0"/>
              </a:rPr>
              <a:t>Pentru </a:t>
            </a:r>
            <a:r>
              <a:rPr lang="ro-RO" dirty="0" smtClean="0">
                <a:cs typeface="Times New Roman" pitchFamily="18" charset="0"/>
              </a:rPr>
              <a:t>obținerea </a:t>
            </a:r>
            <a:r>
              <a:rPr lang="ro-RO" dirty="0">
                <a:cs typeface="Times New Roman" pitchFamily="18" charset="0"/>
              </a:rPr>
              <a:t>rezultatului final, suma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cs typeface="Times New Roman" pitchFamily="18" charset="0"/>
              </a:rPr>
              <a:t>transportul trebuie adunate utilizând un sumator </a:t>
            </a:r>
            <a:r>
              <a:rPr lang="ro-RO" dirty="0" smtClean="0">
                <a:cs typeface="Times New Roman" pitchFamily="18" charset="0"/>
              </a:rPr>
              <a:t>obișnuit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sumator cu propagarea transportului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SPT</a:t>
            </a:r>
            <a:r>
              <a:rPr lang="ro-RO" dirty="0">
                <a:cs typeface="Times New Roman" pitchFamily="18" charset="0"/>
              </a:rPr>
              <a:t>) </a:t>
            </a:r>
            <a:endParaRPr lang="en-US" dirty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E8C078-5E0E-4E00-AD51-AD62E5BB5FD5}" type="slidenum">
              <a:rPr lang="ro-RO"/>
              <a:pPr/>
              <a:t>32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60649"/>
            <a:ext cx="8352928" cy="648072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salvarea transportului</a:t>
            </a:r>
            <a:r>
              <a:rPr lang="en-US" dirty="0"/>
              <a:t> (3)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524000"/>
            <a:ext cx="8424936" cy="45720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adunarea a patru numere 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dirty="0">
                <a:cs typeface="Times New Roman" pitchFamily="18" charset="0"/>
              </a:rPr>
              <a:t>, </a:t>
            </a:r>
            <a:r>
              <a:rPr lang="ro-RO" i="1" dirty="0">
                <a:cs typeface="Times New Roman" pitchFamily="18" charset="0"/>
              </a:rPr>
              <a:t>Y,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cs typeface="Times New Roman" pitchFamily="18" charset="0"/>
              </a:rPr>
              <a:t>Z</a:t>
            </a:r>
            <a:r>
              <a:rPr lang="ro-RO" dirty="0">
                <a:cs typeface="Times New Roman" pitchFamily="18" charset="0"/>
              </a:rPr>
              <a:t>, </a:t>
            </a:r>
            <a:r>
              <a:rPr lang="ro-RO" i="1" dirty="0">
                <a:cs typeface="Times New Roman" pitchFamily="18" charset="0"/>
              </a:rPr>
              <a:t>W</a:t>
            </a:r>
            <a:r>
              <a:rPr lang="ro-RO" dirty="0">
                <a:cs typeface="Times New Roman" pitchFamily="18" charset="0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= 5 (0101),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= 3 (0011),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Z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= 4 (0100),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W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= 1 (0001) </a:t>
            </a:r>
          </a:p>
          <a:p>
            <a:pPr lvl="1"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5 + 3 + 4 + 1 = 13</a:t>
            </a:r>
          </a:p>
          <a:p>
            <a:pPr lvl="1"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Prima etap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lvl="1" algn="just">
              <a:lnSpc>
                <a:spcPct val="90000"/>
              </a:lnSpc>
              <a:buFont typeface="Wingdings" pitchFamily="2" charset="2"/>
              <a:buNone/>
            </a:pPr>
            <a:r>
              <a:rPr lang="ro-RO" sz="2400" dirty="0">
                <a:cs typeface="Courier New" pitchFamily="49" charset="0"/>
              </a:rPr>
              <a:t>	  X			  0101</a:t>
            </a:r>
            <a:endParaRPr lang="ro-RO" sz="2400" dirty="0">
              <a:cs typeface="Times New Roman" pitchFamily="18" charset="0"/>
            </a:endParaRPr>
          </a:p>
          <a:p>
            <a:pPr lvl="1" algn="just">
              <a:lnSpc>
                <a:spcPct val="90000"/>
              </a:lnSpc>
              <a:buFont typeface="Wingdings" pitchFamily="2" charset="2"/>
              <a:buNone/>
            </a:pPr>
            <a:r>
              <a:rPr lang="ro-RO" sz="2400" dirty="0">
                <a:cs typeface="Courier New" pitchFamily="49" charset="0"/>
              </a:rPr>
              <a:t>	  Y			  0011</a:t>
            </a:r>
            <a:endParaRPr lang="ro-RO" sz="2400" dirty="0">
              <a:cs typeface="Times New Roman" pitchFamily="18" charset="0"/>
            </a:endParaRPr>
          </a:p>
          <a:p>
            <a:pPr lvl="1" algn="just">
              <a:lnSpc>
                <a:spcPct val="90000"/>
              </a:lnSpc>
              <a:buFont typeface="Wingdings" pitchFamily="2" charset="2"/>
              <a:buNone/>
            </a:pPr>
            <a:r>
              <a:rPr lang="ro-RO" sz="2400" dirty="0">
                <a:cs typeface="Courier New" pitchFamily="49" charset="0"/>
              </a:rPr>
              <a:t>	  Z			  </a:t>
            </a:r>
            <a:r>
              <a:rPr lang="ro-RO" sz="2400" u="sng" dirty="0">
                <a:cs typeface="Courier New" pitchFamily="49" charset="0"/>
              </a:rPr>
              <a:t>0100</a:t>
            </a:r>
            <a:endParaRPr lang="ro-RO" sz="2400" dirty="0">
              <a:cs typeface="Times New Roman" pitchFamily="18" charset="0"/>
            </a:endParaRPr>
          </a:p>
          <a:p>
            <a:pPr lvl="1" algn="just">
              <a:lnSpc>
                <a:spcPct val="90000"/>
              </a:lnSpc>
              <a:buFont typeface="Wingdings" pitchFamily="2" charset="2"/>
              <a:buNone/>
            </a:pPr>
            <a:r>
              <a:rPr lang="ro-RO" sz="2400" dirty="0">
                <a:cs typeface="Courier New" pitchFamily="49" charset="0"/>
              </a:rPr>
              <a:t>	  Suma			  0010</a:t>
            </a:r>
            <a:endParaRPr lang="ro-RO" sz="2400" dirty="0">
              <a:cs typeface="Times New Roman" pitchFamily="18" charset="0"/>
            </a:endParaRPr>
          </a:p>
          <a:p>
            <a:pPr lvl="1" algn="just">
              <a:lnSpc>
                <a:spcPct val="90000"/>
              </a:lnSpc>
              <a:buFont typeface="Wingdings" pitchFamily="2" charset="2"/>
              <a:buNone/>
            </a:pPr>
            <a:r>
              <a:rPr lang="ro-RO" sz="2400" dirty="0">
                <a:cs typeface="Courier New" pitchFamily="49" charset="0"/>
              </a:rPr>
              <a:t>	  Transportul salvat	  1010</a:t>
            </a:r>
            <a:endParaRPr lang="ro-RO" sz="2400" dirty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4E6F81-603F-49CC-8A20-BB64C7184160}" type="slidenum">
              <a:rPr lang="ro-RO"/>
              <a:pPr/>
              <a:t>33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60649"/>
            <a:ext cx="8352928" cy="720080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salvarea transportului</a:t>
            </a:r>
            <a:r>
              <a:rPr lang="en-US" dirty="0"/>
              <a:t> (4)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556792"/>
            <a:ext cx="8382000" cy="4680520"/>
          </a:xfrm>
        </p:spPr>
        <p:txBody>
          <a:bodyPr>
            <a:normAutofit/>
          </a:bodyPr>
          <a:lstStyle/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Etapa a doua</a:t>
            </a:r>
          </a:p>
          <a:p>
            <a:pPr lvl="1" algn="just">
              <a:buFont typeface="Wingdings" pitchFamily="2" charset="2"/>
              <a:buNone/>
            </a:pPr>
            <a:r>
              <a:rPr lang="ro-RO" sz="2400" dirty="0">
                <a:cs typeface="Courier New" pitchFamily="49" charset="0"/>
              </a:rPr>
              <a:t>	  W			    0001</a:t>
            </a:r>
            <a:endParaRPr lang="ro-RO" sz="2400" dirty="0">
              <a:cs typeface="Times New Roman" pitchFamily="18" charset="0"/>
            </a:endParaRPr>
          </a:p>
          <a:p>
            <a:pPr lvl="1" algn="just">
              <a:buNone/>
            </a:pPr>
            <a:r>
              <a:rPr lang="ro-RO" sz="2400" dirty="0" smtClean="0">
                <a:cs typeface="Courier New" pitchFamily="49" charset="0"/>
              </a:rPr>
              <a:t>	  Suma			    0010</a:t>
            </a:r>
            <a:endParaRPr lang="ro-RO" sz="2400" dirty="0" smtClean="0">
              <a:cs typeface="Times New Roman" pitchFamily="18" charset="0"/>
            </a:endParaRPr>
          </a:p>
          <a:p>
            <a:pPr lvl="1" algn="just">
              <a:buFont typeface="Wingdings" pitchFamily="2" charset="2"/>
              <a:buNone/>
            </a:pPr>
            <a:r>
              <a:rPr lang="ro-RO" sz="2400" dirty="0">
                <a:cs typeface="Courier New" pitchFamily="49" charset="0"/>
              </a:rPr>
              <a:t>	  Transportul salvat	    </a:t>
            </a:r>
            <a:r>
              <a:rPr lang="ro-RO" sz="2400" u="sng" dirty="0">
                <a:cs typeface="Courier New" pitchFamily="49" charset="0"/>
              </a:rPr>
              <a:t>1010</a:t>
            </a:r>
            <a:endParaRPr lang="ro-RO" sz="2400" dirty="0">
              <a:cs typeface="Times New Roman" pitchFamily="18" charset="0"/>
            </a:endParaRPr>
          </a:p>
          <a:p>
            <a:pPr lvl="1" algn="just">
              <a:buFont typeface="Wingdings" pitchFamily="2" charset="2"/>
              <a:buNone/>
            </a:pPr>
            <a:r>
              <a:rPr lang="ro-RO" sz="2400" dirty="0">
                <a:cs typeface="Courier New" pitchFamily="49" charset="0"/>
              </a:rPr>
              <a:t>	  Noua sum</a:t>
            </a:r>
            <a:r>
              <a:rPr lang="ro-RO" sz="2400" dirty="0"/>
              <a:t>ă</a:t>
            </a:r>
            <a:r>
              <a:rPr lang="ro-RO" sz="2400" dirty="0">
                <a:cs typeface="Courier New" pitchFamily="49" charset="0"/>
              </a:rPr>
              <a:t>		    1001</a:t>
            </a:r>
            <a:endParaRPr lang="ro-RO" sz="2400" dirty="0">
              <a:cs typeface="Times New Roman" pitchFamily="18" charset="0"/>
            </a:endParaRPr>
          </a:p>
          <a:p>
            <a:pPr lvl="1" algn="just">
              <a:buFont typeface="Wingdings" pitchFamily="2" charset="2"/>
              <a:buNone/>
            </a:pPr>
            <a:r>
              <a:rPr lang="ro-RO" sz="2400" dirty="0">
                <a:cs typeface="Courier New" pitchFamily="49" charset="0"/>
              </a:rPr>
              <a:t>	  Noul transport salvat  </a:t>
            </a:r>
            <a:r>
              <a:rPr lang="en-US" sz="2400" dirty="0" smtClean="0">
                <a:cs typeface="Courier New" pitchFamily="49" charset="0"/>
              </a:rPr>
              <a:t> </a:t>
            </a:r>
            <a:r>
              <a:rPr lang="ro-RO" sz="2400" dirty="0" smtClean="0">
                <a:cs typeface="Courier New" pitchFamily="49" charset="0"/>
              </a:rPr>
              <a:t> </a:t>
            </a:r>
            <a:r>
              <a:rPr lang="ro-RO" sz="2400" dirty="0">
                <a:cs typeface="Courier New" pitchFamily="49" charset="0"/>
              </a:rPr>
              <a:t>0100</a:t>
            </a: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Etapa a treia</a:t>
            </a:r>
          </a:p>
          <a:p>
            <a:pPr lvl="1" algn="just">
              <a:buFont typeface="Wingdings" pitchFamily="2" charset="2"/>
              <a:buNone/>
            </a:pPr>
            <a:r>
              <a:rPr lang="ro-RO" sz="2400" dirty="0">
                <a:cs typeface="Courier New" pitchFamily="49" charset="0"/>
              </a:rPr>
              <a:t>	  Noua sum</a:t>
            </a:r>
            <a:r>
              <a:rPr lang="ro-RO" sz="2400" dirty="0"/>
              <a:t>ă</a:t>
            </a:r>
            <a:r>
              <a:rPr lang="ro-RO" sz="2400" dirty="0">
                <a:cs typeface="Courier New" pitchFamily="49" charset="0"/>
              </a:rPr>
              <a:t>		    1001</a:t>
            </a:r>
            <a:endParaRPr lang="ro-RO" sz="2400" dirty="0">
              <a:cs typeface="Times New Roman" pitchFamily="18" charset="0"/>
            </a:endParaRPr>
          </a:p>
          <a:p>
            <a:pPr lvl="1" algn="just">
              <a:buFont typeface="Wingdings" pitchFamily="2" charset="2"/>
              <a:buNone/>
            </a:pPr>
            <a:r>
              <a:rPr lang="ro-RO" sz="2400" dirty="0">
                <a:cs typeface="Courier New" pitchFamily="49" charset="0"/>
              </a:rPr>
              <a:t>	  Noul transport salvat  </a:t>
            </a:r>
            <a:r>
              <a:rPr lang="en-US" sz="1000" dirty="0" smtClean="0">
                <a:cs typeface="Courier New" pitchFamily="49" charset="0"/>
              </a:rPr>
              <a:t> </a:t>
            </a:r>
            <a:r>
              <a:rPr lang="ro-RO" sz="2000" dirty="0" smtClean="0">
                <a:cs typeface="Courier New" pitchFamily="49" charset="0"/>
              </a:rPr>
              <a:t> </a:t>
            </a:r>
            <a:r>
              <a:rPr lang="ro-RO" sz="2400" dirty="0" smtClean="0">
                <a:cs typeface="Courier New" pitchFamily="49" charset="0"/>
              </a:rPr>
              <a:t> </a:t>
            </a:r>
            <a:r>
              <a:rPr lang="ro-RO" sz="2400" u="sng" dirty="0">
                <a:cs typeface="Courier New" pitchFamily="49" charset="0"/>
              </a:rPr>
              <a:t>0100</a:t>
            </a:r>
            <a:endParaRPr lang="ro-RO" sz="2400" dirty="0">
              <a:cs typeface="Times New Roman" pitchFamily="18" charset="0"/>
            </a:endParaRPr>
          </a:p>
          <a:p>
            <a:pPr lvl="1" algn="just">
              <a:buFont typeface="Wingdings" pitchFamily="2" charset="2"/>
              <a:buNone/>
            </a:pPr>
            <a:r>
              <a:rPr lang="ro-RO" sz="2400" dirty="0">
                <a:cs typeface="Courier New" pitchFamily="49" charset="0"/>
              </a:rPr>
              <a:t>	  Rezultat		    1101  (13)</a:t>
            </a:r>
            <a:endParaRPr lang="ro-RO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A52E5E-F670-4999-A913-90F78B97C014}" type="slidenum">
              <a:rPr lang="ro-RO"/>
              <a:pPr/>
              <a:t>34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60649"/>
            <a:ext cx="8352928" cy="720080"/>
          </a:xfrm>
        </p:spPr>
        <p:txBody>
          <a:bodyPr>
            <a:normAutofit fontScale="90000"/>
          </a:bodyPr>
          <a:lstStyle/>
          <a:p>
            <a:r>
              <a:rPr lang="ro-RO" dirty="0"/>
              <a:t>Sumatorul cu salvarea transportului</a:t>
            </a:r>
            <a:r>
              <a:rPr lang="en-US" dirty="0"/>
              <a:t> (5)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BE849AB-60A8-4057-969B-DDE54104F558}" type="slidenum">
              <a:rPr lang="ro-RO"/>
              <a:pPr/>
              <a:t>35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108" y="1484784"/>
            <a:ext cx="5752144" cy="4695213"/>
          </a:xfrm>
        </p:spPr>
      </p:pic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Adunarea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Adunarea</a:t>
            </a:r>
          </a:p>
          <a:p>
            <a:pPr lvl="1"/>
            <a:r>
              <a:rPr lang="ro-RO" dirty="0"/>
              <a:t>Sumatorul elementar</a:t>
            </a:r>
          </a:p>
          <a:p>
            <a:pPr lvl="1"/>
            <a:r>
              <a:rPr lang="ro-RO" dirty="0"/>
              <a:t>Sumatorul cu propagarea succesivă a transportului</a:t>
            </a:r>
          </a:p>
          <a:p>
            <a:pPr lvl="1"/>
            <a:r>
              <a:rPr lang="ro-RO" dirty="0"/>
              <a:t>Sumatorul cu anticiparea transportului</a:t>
            </a:r>
          </a:p>
          <a:p>
            <a:pPr lvl="1"/>
            <a:r>
              <a:rPr lang="ro-RO" dirty="0"/>
              <a:t>Sumatorul cu </a:t>
            </a:r>
            <a:r>
              <a:rPr lang="ro-RO" dirty="0" smtClean="0"/>
              <a:t>selecția </a:t>
            </a:r>
            <a:r>
              <a:rPr lang="ro-RO" dirty="0"/>
              <a:t>transportului</a:t>
            </a:r>
          </a:p>
          <a:p>
            <a:pPr lvl="1"/>
            <a:r>
              <a:rPr lang="ro-RO" dirty="0"/>
              <a:t>Sumatorul cu salvarea transportului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Sumatorul serial</a:t>
            </a:r>
          </a:p>
          <a:p>
            <a:pPr lvl="1"/>
            <a:r>
              <a:rPr lang="ro-RO" dirty="0"/>
              <a:t>Sumatorul zecimal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5B4EF7-6545-405E-963C-DB66824F58F8}" type="slidenum">
              <a:rPr lang="ro-RO"/>
              <a:pPr/>
              <a:t>36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Sumatorul serial</a:t>
            </a:r>
            <a:r>
              <a:rPr lang="en-US" dirty="0"/>
              <a:t> (1)</a:t>
            </a:r>
          </a:p>
        </p:txBody>
      </p:sp>
      <p:sp>
        <p:nvSpPr>
          <p:cNvPr id="231427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524000"/>
            <a:ext cx="8352928" cy="4572000"/>
          </a:xfrm>
        </p:spPr>
        <p:txBody>
          <a:bodyPr>
            <a:normAutofit lnSpcReduction="10000"/>
          </a:bodyPr>
          <a:lstStyle/>
          <a:p>
            <a:r>
              <a:rPr lang="ro-RO" dirty="0">
                <a:cs typeface="Times New Roman" pitchFamily="18" charset="0"/>
              </a:rPr>
              <a:t>Execut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adunarea pas cu pas începând cu bitul </a:t>
            </a:r>
            <a:r>
              <a:rPr lang="ro-RO" dirty="0" err="1">
                <a:cs typeface="Times New Roman" pitchFamily="18" charset="0"/>
              </a:rPr>
              <a:t>c.m.p.s</a:t>
            </a:r>
            <a:r>
              <a:rPr lang="ro-RO" dirty="0">
                <a:cs typeface="Times New Roman" pitchFamily="18" charset="0"/>
              </a:rPr>
              <a:t>. </a:t>
            </a:r>
          </a:p>
          <a:p>
            <a:pPr lvl="1"/>
            <a:r>
              <a:rPr lang="ro-RO" dirty="0" smtClean="0">
                <a:cs typeface="Times New Roman" pitchFamily="18" charset="0"/>
              </a:rPr>
              <a:t>Ieșirea </a:t>
            </a:r>
            <a:r>
              <a:rPr lang="ro-RO" dirty="0">
                <a:cs typeface="Times New Roman" pitchFamily="18" charset="0"/>
              </a:rPr>
              <a:t>va fi generat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bit cu bit </a:t>
            </a:r>
          </a:p>
          <a:p>
            <a:r>
              <a:rPr lang="ro-RO" dirty="0">
                <a:cs typeface="Times New Roman" pitchFamily="18" charset="0"/>
              </a:rPr>
              <a:t>Un singur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sumator elementar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cs typeface="Times New Roman" pitchFamily="18" charset="0"/>
              </a:rPr>
              <a:t>un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bistabil</a:t>
            </a:r>
            <a:r>
              <a:rPr lang="ro-RO" dirty="0">
                <a:solidFill>
                  <a:schemeClr val="tx2"/>
                </a:solidFill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</a:t>
            </a:r>
            <a:r>
              <a:rPr lang="ro-RO" dirty="0">
                <a:cs typeface="Times New Roman" pitchFamily="18" charset="0"/>
              </a:rPr>
              <a:t> (</a:t>
            </a:r>
            <a:r>
              <a:rPr lang="ro-RO" i="1" dirty="0" err="1">
                <a:cs typeface="Times New Roman" pitchFamily="18" charset="0"/>
              </a:rPr>
              <a:t>latch</a:t>
            </a:r>
            <a:r>
              <a:rPr lang="ro-RO" dirty="0">
                <a:cs typeface="Times New Roman" pitchFamily="18" charset="0"/>
              </a:rPr>
              <a:t>)</a:t>
            </a:r>
          </a:p>
          <a:p>
            <a:pPr lvl="1"/>
            <a:r>
              <a:rPr lang="ro-RO" dirty="0">
                <a:cs typeface="Times New Roman" pitchFamily="18" charset="0"/>
              </a:rPr>
              <a:t>Bistabilul D: utilizat pentru propagarea transportului sumei </a:t>
            </a:r>
            <a:r>
              <a:rPr lang="ro-RO" dirty="0" smtClean="0">
                <a:cs typeface="Times New Roman" pitchFamily="18" charset="0"/>
              </a:rPr>
              <a:t>biților </a:t>
            </a:r>
            <a:r>
              <a:rPr lang="ro-RO" dirty="0">
                <a:cs typeface="Times New Roman" pitchFamily="18" charset="0"/>
              </a:rPr>
              <a:t>de ordin </a:t>
            </a:r>
            <a:r>
              <a:rPr lang="ro-RO" i="1" dirty="0">
                <a:cs typeface="Times New Roman" pitchFamily="18" charset="0"/>
              </a:rPr>
              <a:t>i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 </a:t>
            </a:r>
            <a:r>
              <a:rPr lang="ro-RO" dirty="0">
                <a:cs typeface="Times New Roman" pitchFamily="18" charset="0"/>
              </a:rPr>
              <a:t>la suma </a:t>
            </a:r>
            <a:r>
              <a:rPr lang="ro-RO" dirty="0" smtClean="0">
                <a:cs typeface="Times New Roman" pitchFamily="18" charset="0"/>
              </a:rPr>
              <a:t>biților </a:t>
            </a:r>
            <a:r>
              <a:rPr lang="ro-RO" dirty="0">
                <a:cs typeface="Times New Roman" pitchFamily="18" charset="0"/>
              </a:rPr>
              <a:t>de ordin </a:t>
            </a:r>
            <a:r>
              <a:rPr lang="ro-RO" i="1" dirty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+1 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Avantaje</a:t>
            </a:r>
            <a:r>
              <a:rPr lang="ro-RO" dirty="0">
                <a:cs typeface="Times New Roman" pitchFamily="18" charset="0"/>
              </a:rPr>
              <a:t>: simplitate, cost redus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D4A530-434C-4D98-B664-5D40605C1078}" type="slidenum">
              <a:rPr lang="ro-RO"/>
              <a:pPr/>
              <a:t>37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Sumatorul serial</a:t>
            </a:r>
            <a:r>
              <a:rPr lang="en-US" dirty="0"/>
              <a:t> (2)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B89860-D931-4E11-A21C-44CE1D90B144}" type="slidenum">
              <a:rPr lang="ro-RO"/>
              <a:pPr/>
              <a:t>38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  <p:pic>
        <p:nvPicPr>
          <p:cNvPr id="9" name="Content Placeholder 8" descr="ssc3-sum-serial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691680" y="2305309"/>
            <a:ext cx="5760640" cy="2839128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Adunarea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Adunarea</a:t>
            </a:r>
          </a:p>
          <a:p>
            <a:pPr lvl="1"/>
            <a:r>
              <a:rPr lang="ro-RO" dirty="0"/>
              <a:t>Sumatorul elementar</a:t>
            </a:r>
          </a:p>
          <a:p>
            <a:pPr lvl="1"/>
            <a:r>
              <a:rPr lang="ro-RO" dirty="0"/>
              <a:t>Sumatorul cu propagarea succesivă a transportului</a:t>
            </a:r>
          </a:p>
          <a:p>
            <a:pPr lvl="1"/>
            <a:r>
              <a:rPr lang="ro-RO" dirty="0"/>
              <a:t>Sumatorul cu anticiparea transportului</a:t>
            </a:r>
          </a:p>
          <a:p>
            <a:pPr lvl="1"/>
            <a:r>
              <a:rPr lang="ro-RO" dirty="0"/>
              <a:t>Sumatorul cu </a:t>
            </a:r>
            <a:r>
              <a:rPr lang="ro-RO" dirty="0" smtClean="0"/>
              <a:t>selecția </a:t>
            </a:r>
            <a:r>
              <a:rPr lang="ro-RO" dirty="0"/>
              <a:t>transportului</a:t>
            </a:r>
          </a:p>
          <a:p>
            <a:pPr lvl="1"/>
            <a:r>
              <a:rPr lang="ro-RO" dirty="0"/>
              <a:t>Sumatorul cu salvarea transportului</a:t>
            </a:r>
          </a:p>
          <a:p>
            <a:pPr lvl="1"/>
            <a:r>
              <a:rPr lang="ro-RO" dirty="0"/>
              <a:t>Sumatorul serial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Sumatorul zecimal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1174BB-B9DE-426D-A7B3-FEDB09FD73A7}" type="slidenum">
              <a:rPr lang="ro-RO"/>
              <a:pPr/>
              <a:t>39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Sumatorul zecimal</a:t>
            </a:r>
            <a:r>
              <a:rPr lang="en-US" dirty="0"/>
              <a:t> (1)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84784"/>
            <a:ext cx="8382000" cy="4364272"/>
          </a:xfrm>
        </p:spPr>
        <p:txBody>
          <a:bodyPr/>
          <a:lstStyle/>
          <a:p>
            <a:r>
              <a:rPr lang="ro-RO" dirty="0"/>
              <a:t>Utilizat pentru </a:t>
            </a:r>
            <a:r>
              <a:rPr lang="ro-RO" dirty="0">
                <a:cs typeface="Times New Roman" pitchFamily="18" charset="0"/>
              </a:rPr>
              <a:t>numere reprezentate în zecimal</a:t>
            </a:r>
            <a:r>
              <a:rPr lang="ro-RO" dirty="0"/>
              <a:t> (BCD)</a:t>
            </a:r>
          </a:p>
          <a:p>
            <a:r>
              <a:rPr lang="ro-RO" dirty="0">
                <a:cs typeface="Times New Roman" pitchFamily="18" charset="0"/>
              </a:rPr>
              <a:t>Adun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cifre BCD în paralel </a:t>
            </a:r>
          </a:p>
          <a:p>
            <a:r>
              <a:rPr lang="ro-RO" dirty="0">
                <a:cs typeface="Times New Roman" pitchFamily="18" charset="0"/>
              </a:rPr>
              <a:t>Genereaz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o sum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 cod BCD</a:t>
            </a:r>
            <a:r>
              <a:rPr lang="ro-RO" dirty="0"/>
              <a:t> </a:t>
            </a:r>
          </a:p>
          <a:p>
            <a:r>
              <a:rPr lang="ro-RO" dirty="0">
                <a:cs typeface="Times New Roman" pitchFamily="18" charset="0"/>
              </a:rPr>
              <a:t>Dac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suma </a:t>
            </a:r>
            <a:r>
              <a:rPr lang="ro-RO" dirty="0" smtClean="0">
                <a:cs typeface="Times New Roman" pitchFamily="18" charset="0"/>
              </a:rPr>
              <a:t>dep</a:t>
            </a:r>
            <a:r>
              <a:rPr lang="ro-RO" dirty="0" smtClean="0"/>
              <a:t>ăș</a:t>
            </a:r>
            <a:r>
              <a:rPr lang="ro-RO" dirty="0" smtClean="0">
                <a:cs typeface="Times New Roman" pitchFamily="18" charset="0"/>
              </a:rPr>
              <a:t>ește </a:t>
            </a:r>
            <a:r>
              <a:rPr lang="ro-RO" dirty="0">
                <a:cs typeface="Times New Roman" pitchFamily="18" charset="0"/>
              </a:rPr>
              <a:t>valoarea 9 sau se genereaz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un transport 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tre cifra urm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toare,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rezultatul trebuie corectat </a:t>
            </a:r>
          </a:p>
          <a:p>
            <a:pPr lvl="1"/>
            <a:r>
              <a:rPr lang="ro-RO" dirty="0" smtClean="0">
                <a:cs typeface="Times New Roman" pitchFamily="18" charset="0"/>
              </a:rPr>
              <a:t>Corecția</a:t>
            </a:r>
            <a:r>
              <a:rPr lang="ro-RO" dirty="0">
                <a:cs typeface="Times New Roman" pitchFamily="18" charset="0"/>
              </a:rPr>
              <a:t>: se adun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valoarea 6 la rezultat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00CAF-F4A0-48C8-89D3-74F71F335D57}" type="slidenum">
              <a:rPr lang="ro-RO"/>
              <a:pPr/>
              <a:t>40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Sumatorul zecimal</a:t>
            </a:r>
            <a:r>
              <a:rPr lang="en-US" dirty="0"/>
              <a:t> (2)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556792"/>
            <a:ext cx="8382000" cy="3976473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</a:t>
            </a:r>
          </a:p>
          <a:p>
            <a:pPr algn="just">
              <a:buFontTx/>
              <a:buNone/>
            </a:pPr>
            <a:r>
              <a:rPr lang="ro-RO" sz="2400" dirty="0">
                <a:cs typeface="Courier New" pitchFamily="49" charset="0"/>
              </a:rPr>
              <a:t>	  372 +</a:t>
            </a:r>
            <a:endParaRPr lang="ro-RO" sz="2400" dirty="0">
              <a:cs typeface="Times New Roman" pitchFamily="18" charset="0"/>
            </a:endParaRPr>
          </a:p>
          <a:p>
            <a:pPr algn="just">
              <a:buFontTx/>
              <a:buNone/>
            </a:pPr>
            <a:r>
              <a:rPr lang="ro-RO" sz="2400" dirty="0">
                <a:cs typeface="Courier New" pitchFamily="49" charset="0"/>
              </a:rPr>
              <a:t>	  </a:t>
            </a:r>
            <a:r>
              <a:rPr lang="ro-RO" sz="2400" u="sng" dirty="0">
                <a:cs typeface="Courier New" pitchFamily="49" charset="0"/>
              </a:rPr>
              <a:t>489</a:t>
            </a:r>
            <a:endParaRPr lang="ro-RO" sz="2400" dirty="0">
              <a:cs typeface="Times New Roman" pitchFamily="18" charset="0"/>
            </a:endParaRPr>
          </a:p>
          <a:p>
            <a:pPr algn="just">
              <a:buFontTx/>
              <a:buNone/>
            </a:pPr>
            <a:r>
              <a:rPr lang="ro-RO" sz="2400" dirty="0">
                <a:cs typeface="Courier New" pitchFamily="49" charset="0"/>
              </a:rPr>
              <a:t>	  7FB +	suma intermediar</a:t>
            </a:r>
            <a:r>
              <a:rPr lang="ro-RO" sz="2400" dirty="0"/>
              <a:t>ă</a:t>
            </a:r>
            <a:endParaRPr lang="ro-RO" sz="2400" dirty="0">
              <a:cs typeface="Times New Roman" pitchFamily="18" charset="0"/>
            </a:endParaRPr>
          </a:p>
          <a:p>
            <a:pPr algn="just">
              <a:buFontTx/>
              <a:buNone/>
            </a:pPr>
            <a:r>
              <a:rPr lang="ro-RO" sz="2400" dirty="0">
                <a:cs typeface="Courier New" pitchFamily="49" charset="0"/>
              </a:rPr>
              <a:t>	  </a:t>
            </a:r>
            <a:r>
              <a:rPr lang="ro-RO" sz="2400" u="sng" dirty="0">
                <a:cs typeface="Courier New" pitchFamily="49" charset="0"/>
              </a:rPr>
              <a:t>066</a:t>
            </a:r>
            <a:endParaRPr lang="ro-RO" sz="2400" dirty="0">
              <a:cs typeface="Times New Roman" pitchFamily="18" charset="0"/>
            </a:endParaRPr>
          </a:p>
          <a:p>
            <a:pPr algn="just">
              <a:buFontTx/>
              <a:buNone/>
            </a:pPr>
            <a:r>
              <a:rPr lang="ro-RO" sz="2400" dirty="0">
                <a:cs typeface="Courier New" pitchFamily="49" charset="0"/>
              </a:rPr>
              <a:t>	  861	suma zecimal</a:t>
            </a:r>
            <a:r>
              <a:rPr lang="ro-RO" sz="2400" dirty="0"/>
              <a:t>ă</a:t>
            </a:r>
            <a:endParaRPr lang="ro-RO" sz="2400" dirty="0">
              <a:cs typeface="Times New Roman" pitchFamily="18" charset="0"/>
            </a:endParaRPr>
          </a:p>
          <a:p>
            <a:endParaRPr lang="ro-RO" sz="2000" dirty="0">
              <a:cs typeface="Times New Roman" pitchFamily="18" charset="0"/>
            </a:endParaRPr>
          </a:p>
          <a:p>
            <a:r>
              <a:rPr lang="ro-RO" dirty="0">
                <a:cs typeface="Times New Roman" pitchFamily="18" charset="0"/>
              </a:rPr>
              <a:t>Schema bloc a unui sumator zecimal bazat pe dou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sumatoare de 4 </a:t>
            </a:r>
            <a:r>
              <a:rPr lang="ro-RO" dirty="0" smtClean="0">
                <a:cs typeface="Times New Roman" pitchFamily="18" charset="0"/>
              </a:rPr>
              <a:t>biți</a:t>
            </a:r>
            <a:r>
              <a:rPr lang="ro-RO" sz="2400" dirty="0" smtClean="0"/>
              <a:t> </a:t>
            </a:r>
            <a:r>
              <a:rPr lang="ro-RO" sz="2400" dirty="0">
                <a:sym typeface="Symbol" pitchFamily="18" charset="2"/>
              </a:rPr>
              <a:t>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956F35-C364-4ECC-89CE-5CE497FCDC2F}" type="slidenum">
              <a:rPr lang="ro-RO"/>
              <a:pPr/>
              <a:t>41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Sumatorul zecimal</a:t>
            </a:r>
            <a:r>
              <a:rPr lang="en-US" dirty="0"/>
              <a:t> (3)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5F7958-91AD-4541-9EA9-12671C1467DA}" type="slidenum">
              <a:rPr lang="ro-RO"/>
              <a:pPr/>
              <a:t>42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  <p:pic>
        <p:nvPicPr>
          <p:cNvPr id="9" name="Content Placeholder 8" descr="ssc3-sum-zec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339749" y="1340768"/>
            <a:ext cx="4475230" cy="4906451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68761"/>
            <a:ext cx="8439472" cy="5040559"/>
          </a:xfrm>
        </p:spPr>
        <p:txBody>
          <a:bodyPr/>
          <a:lstStyle/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Sumatorul cu propagare succesivă a transportului </a:t>
            </a:r>
            <a:r>
              <a:rPr lang="ro-RO" sz="3300" dirty="0" smtClean="0"/>
              <a:t>se obține prin </a:t>
            </a:r>
            <a:r>
              <a:rPr lang="ro-RO" sz="3300" dirty="0"/>
              <a:t>conectarea în serie </a:t>
            </a:r>
            <a:r>
              <a:rPr lang="ro-RO" sz="3300" dirty="0" smtClean="0"/>
              <a:t>a unor </a:t>
            </a:r>
            <a:r>
              <a:rPr lang="ro-RO" sz="3300" dirty="0"/>
              <a:t>sumatoare </a:t>
            </a:r>
            <a:r>
              <a:rPr lang="ro-RO" sz="3300" dirty="0" smtClean="0"/>
              <a:t>elementare (SE)</a:t>
            </a:r>
          </a:p>
          <a:p>
            <a:pPr lvl="1">
              <a:spcBef>
                <a:spcPts val="0"/>
              </a:spcBef>
            </a:pPr>
            <a:r>
              <a:rPr lang="ro-RO" sz="2900" dirty="0" smtClean="0"/>
              <a:t>Dezavantaj: viteza redusă de propagare a transportului</a:t>
            </a:r>
            <a:endParaRPr lang="ro-RO" sz="2900" dirty="0"/>
          </a:p>
          <a:p>
            <a:pPr>
              <a:spcBef>
                <a:spcPts val="600"/>
              </a:spcBef>
            </a:pP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Sumatorul cu anticiparea transportului </a:t>
            </a:r>
            <a:r>
              <a:rPr lang="ro-RO" sz="3300" dirty="0" smtClean="0"/>
              <a:t>conține o logică suplimentară pentru generarea în paralel a intrărilor de transport ale fiecărui etaj</a:t>
            </a:r>
          </a:p>
          <a:p>
            <a:pPr>
              <a:spcBef>
                <a:spcPts val="600"/>
              </a:spcBef>
            </a:pPr>
            <a:r>
              <a:rPr lang="ro-RO" sz="33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Sumatorul cu selecția transportului </a:t>
            </a:r>
            <a:r>
              <a:rPr lang="ro-RO" sz="3300" dirty="0"/>
              <a:t>calculează jumătatea superioară a sumei pentru ambele valori posibile ale transportului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101B90-0BCF-43AA-98AA-7F83CFE7A9FB}" type="slidenum">
              <a:rPr lang="ro-RO" smtClean="0"/>
              <a:pPr/>
              <a:t>43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(02-1)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573990302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68761"/>
            <a:ext cx="8511480" cy="5040560"/>
          </a:xfrm>
        </p:spPr>
        <p:txBody>
          <a:bodyPr/>
          <a:lstStyle/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Sumatorul cu salvarea transportului </a:t>
            </a:r>
            <a:r>
              <a:rPr lang="ro-RO" sz="3300" dirty="0" smtClean="0"/>
              <a:t>este format din SE independente, între care nu sunt propagate semnalele de transport</a:t>
            </a:r>
          </a:p>
          <a:p>
            <a:pPr lvl="1">
              <a:spcBef>
                <a:spcPts val="0"/>
              </a:spcBef>
            </a:pPr>
            <a:r>
              <a:rPr lang="ro-RO" sz="2900" dirty="0"/>
              <a:t>P</a:t>
            </a:r>
            <a:r>
              <a:rPr lang="ro-RO" sz="2900" dirty="0" smtClean="0"/>
              <a:t>ropagarea transportului este amânată până la ultimul etaj</a:t>
            </a:r>
          </a:p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Sumatorul serial </a:t>
            </a:r>
            <a:r>
              <a:rPr lang="ro-RO" sz="3300" dirty="0" smtClean="0"/>
              <a:t>adună numerele bit cu bit, obținând un bit al sumei în fiecare ciclu de ceas</a:t>
            </a:r>
          </a:p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Sumatorul zecimal </a:t>
            </a:r>
            <a:r>
              <a:rPr lang="ro-RO" sz="3300" dirty="0" smtClean="0"/>
              <a:t>este echivalentul unui SE pentru două cifre zecimale</a:t>
            </a:r>
          </a:p>
          <a:p>
            <a:pPr lvl="1">
              <a:spcBef>
                <a:spcPts val="0"/>
              </a:spcBef>
            </a:pPr>
            <a:r>
              <a:rPr lang="ro-RO" sz="2900" dirty="0" smtClean="0"/>
              <a:t>Rezultatul trebuie corectat pentru a se obține o cifră zecimală</a:t>
            </a:r>
            <a:endParaRPr lang="ro-RO" sz="29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101B90-0BCF-43AA-98AA-7F83CFE7A9FB}" type="slidenum">
              <a:rPr lang="ro-RO" smtClean="0"/>
              <a:pPr/>
              <a:t>44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(02-1)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29458100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Noțiuni, cunoștințe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511480" cy="4970591"/>
          </a:xfrm>
        </p:spPr>
        <p:txBody>
          <a:bodyPr/>
          <a:lstStyle/>
          <a:p>
            <a:pPr marL="576000" lvl="1"/>
            <a:r>
              <a:rPr lang="ro-RO" dirty="0" smtClean="0"/>
              <a:t>Sumator cu propagare succesivă a transportului</a:t>
            </a:r>
          </a:p>
          <a:p>
            <a:pPr marL="576000" lvl="1">
              <a:spcBef>
                <a:spcPts val="600"/>
              </a:spcBef>
            </a:pPr>
            <a:r>
              <a:rPr lang="ro-RO" dirty="0" smtClean="0"/>
              <a:t>Sumator cu anticiparea transportului</a:t>
            </a:r>
          </a:p>
          <a:p>
            <a:pPr marL="576000" lvl="1">
              <a:spcBef>
                <a:spcPts val="600"/>
              </a:spcBef>
            </a:pPr>
            <a:r>
              <a:rPr lang="ro-RO" dirty="0" smtClean="0"/>
              <a:t>Funcțiile p și g pentru propagarea și generarea transportului pe bit</a:t>
            </a:r>
          </a:p>
          <a:p>
            <a:pPr marL="576000" lvl="1">
              <a:spcBef>
                <a:spcPts val="600"/>
              </a:spcBef>
            </a:pPr>
            <a:r>
              <a:rPr lang="ro-RO" dirty="0"/>
              <a:t>Funcțiile P</a:t>
            </a:r>
            <a:r>
              <a:rPr lang="ro-RO" dirty="0" smtClean="0"/>
              <a:t> </a:t>
            </a:r>
            <a:r>
              <a:rPr lang="ro-RO" dirty="0"/>
              <a:t>și </a:t>
            </a:r>
            <a:r>
              <a:rPr lang="ro-RO" dirty="0" smtClean="0"/>
              <a:t>G </a:t>
            </a:r>
            <a:r>
              <a:rPr lang="ro-RO" dirty="0"/>
              <a:t>pentru propagarea și generarea transportului pe </a:t>
            </a:r>
            <a:r>
              <a:rPr lang="ro-RO" dirty="0" smtClean="0"/>
              <a:t>un grup de biți</a:t>
            </a:r>
            <a:endParaRPr lang="ro-RO" dirty="0"/>
          </a:p>
          <a:p>
            <a:pPr marL="576000" lvl="1">
              <a:spcBef>
                <a:spcPts val="600"/>
              </a:spcBef>
            </a:pPr>
            <a:r>
              <a:rPr lang="ro-RO" dirty="0" smtClean="0"/>
              <a:t>Principiul sumatorului cu selecția transportului</a:t>
            </a:r>
          </a:p>
          <a:p>
            <a:pPr marL="576000" lvl="1">
              <a:spcBef>
                <a:spcPts val="600"/>
              </a:spcBef>
            </a:pPr>
            <a:r>
              <a:rPr lang="ro-RO" dirty="0"/>
              <a:t>Principiul sumatorului cu </a:t>
            </a:r>
            <a:r>
              <a:rPr lang="ro-RO" dirty="0" smtClean="0"/>
              <a:t>salvarea transportului</a:t>
            </a:r>
          </a:p>
          <a:p>
            <a:pPr marL="576000" lvl="1">
              <a:spcBef>
                <a:spcPts val="600"/>
              </a:spcBef>
            </a:pPr>
            <a:r>
              <a:rPr lang="ro-RO" dirty="0" smtClean="0"/>
              <a:t>Sumator serial</a:t>
            </a:r>
          </a:p>
          <a:p>
            <a:pPr marL="576000" lvl="1">
              <a:spcBef>
                <a:spcPts val="600"/>
              </a:spcBef>
            </a:pPr>
            <a:r>
              <a:rPr lang="ro-RO" dirty="0" smtClean="0"/>
              <a:t>Sumator zecimal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101B90-0BCF-43AA-98AA-7F83CFE7A9FB}" type="slidenum">
              <a:rPr lang="ro-RO" smtClean="0"/>
              <a:pPr/>
              <a:t>45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(02-1)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02489326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Întrebări</a:t>
            </a:r>
            <a:endParaRPr lang="en-US" dirty="0"/>
          </a:p>
        </p:txBody>
      </p:sp>
      <p:sp>
        <p:nvSpPr>
          <p:cNvPr id="2375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33400" indent="-533400">
              <a:lnSpc>
                <a:spcPct val="9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sz="3200" dirty="0"/>
              <a:t>Care este dezavantajul sumatorului cu </a:t>
            </a:r>
            <a:r>
              <a:rPr lang="ro-RO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propagarea succesivă a transportului</a:t>
            </a:r>
            <a:r>
              <a:rPr lang="ro-RO" sz="3200" dirty="0"/>
              <a:t>?</a:t>
            </a:r>
          </a:p>
          <a:p>
            <a:pPr marL="533400" indent="-533400">
              <a:lnSpc>
                <a:spcPct val="9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sz="3200" dirty="0"/>
              <a:t>Care este avantajul sumatorului cu </a:t>
            </a:r>
            <a:r>
              <a:rPr lang="ro-RO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anticiparea transportului</a:t>
            </a:r>
            <a:r>
              <a:rPr lang="ro-RO" sz="3200" dirty="0"/>
              <a:t>?</a:t>
            </a:r>
          </a:p>
          <a:p>
            <a:pPr marL="533400" indent="-533400">
              <a:lnSpc>
                <a:spcPct val="9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sz="3200" dirty="0"/>
              <a:t>Care este principiul sumatorului cu </a:t>
            </a:r>
            <a:r>
              <a:rPr lang="ro-RO" sz="32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selecția </a:t>
            </a:r>
            <a:r>
              <a:rPr lang="ro-RO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transportului</a:t>
            </a:r>
            <a:r>
              <a:rPr lang="ro-RO" sz="3200" dirty="0"/>
              <a:t>?</a:t>
            </a:r>
          </a:p>
          <a:p>
            <a:pPr marL="533400" indent="-533400">
              <a:lnSpc>
                <a:spcPct val="9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sz="3200" dirty="0"/>
              <a:t>Cum se realizează </a:t>
            </a:r>
            <a:r>
              <a:rPr lang="ro-RO" sz="3200" dirty="0" smtClean="0"/>
              <a:t>creșterea </a:t>
            </a:r>
            <a:r>
              <a:rPr lang="ro-RO" sz="3200" dirty="0"/>
              <a:t>vitezei la sumatorul cu </a:t>
            </a:r>
            <a:r>
              <a:rPr lang="ro-RO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salvarea transportului</a:t>
            </a:r>
            <a:r>
              <a:rPr lang="ro-RO" sz="3200" dirty="0"/>
              <a:t>?</a:t>
            </a:r>
          </a:p>
          <a:p>
            <a:pPr marL="533400" indent="-533400">
              <a:lnSpc>
                <a:spcPct val="9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sz="3200" dirty="0"/>
              <a:t>Când trebuie corectat rezultatul adunării  zecimale? 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84334B-1F79-4BA5-8641-6045386D94BD}" type="slidenum">
              <a:rPr lang="ro-RO"/>
              <a:pPr/>
              <a:t>46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(02-1)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ark Blue Swoosh-modified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Dark Blue Swoosh-modif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Blue Swoosh-modified</Template>
  <TotalTime>2377</TotalTime>
  <Words>2001</Words>
  <Application>Microsoft Office PowerPoint</Application>
  <PresentationFormat>On-screen Show (4:3)</PresentationFormat>
  <Paragraphs>483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</vt:lpstr>
      <vt:lpstr>Calibri</vt:lpstr>
      <vt:lpstr>Courier New</vt:lpstr>
      <vt:lpstr>Symbol</vt:lpstr>
      <vt:lpstr>Times New Roman</vt:lpstr>
      <vt:lpstr>Wingdings</vt:lpstr>
      <vt:lpstr>Dark Blue Swoosh-modified</vt:lpstr>
      <vt:lpstr>Dark Blue Swoosh-modif</vt:lpstr>
      <vt:lpstr>Cuprins</vt:lpstr>
      <vt:lpstr>2. Unitatea aritmetică și logică</vt:lpstr>
      <vt:lpstr>Adunarea</vt:lpstr>
      <vt:lpstr>Adunarea</vt:lpstr>
      <vt:lpstr>Sumatorul elementar (1)</vt:lpstr>
      <vt:lpstr>Sumatorul elementar (2)</vt:lpstr>
      <vt:lpstr>Sumatorul elementar (3)</vt:lpstr>
      <vt:lpstr>Sumatorul elementar (4)</vt:lpstr>
      <vt:lpstr>Sumatorul elementar (5)</vt:lpstr>
      <vt:lpstr>Adunarea</vt:lpstr>
      <vt:lpstr>Sumatorul cu propagarea succesivă a transportului (1)</vt:lpstr>
      <vt:lpstr>Sumatorul cu propagarea succesivă a transportului (2)</vt:lpstr>
      <vt:lpstr>Sumatorul cu propagarea succesivă a transportului (3)</vt:lpstr>
      <vt:lpstr>Sumatorul cu propagarea succesivă a transportului (4)</vt:lpstr>
      <vt:lpstr>Adunarea</vt:lpstr>
      <vt:lpstr>Sumatorul cu anticiparea transportului (1)</vt:lpstr>
      <vt:lpstr>Sumatorul cu anticiparea transportului (2)</vt:lpstr>
      <vt:lpstr>Sumatorul cu anticiparea transportului (3)</vt:lpstr>
      <vt:lpstr>Sumatorul cu anticiparea transportului (4)</vt:lpstr>
      <vt:lpstr>Sumatorul cu anticiparea transportului (5)</vt:lpstr>
      <vt:lpstr>Sumatorul cu anticiparea transportului (6)</vt:lpstr>
      <vt:lpstr>Sumatorul cu anticiparea transportului (7)</vt:lpstr>
      <vt:lpstr>Sumatorul cu anticiparea transportului (8)</vt:lpstr>
      <vt:lpstr>Sumatorul cu anticiparea transportului (9)</vt:lpstr>
      <vt:lpstr>Sumatorul cu anticiparea transportului (10)</vt:lpstr>
      <vt:lpstr>Adunarea</vt:lpstr>
      <vt:lpstr>Sumatorul cu selecția transportului (1)</vt:lpstr>
      <vt:lpstr>Sumatorul cu selecția transportului (2)</vt:lpstr>
      <vt:lpstr>Sumatorul cu selecția transportului (3)</vt:lpstr>
      <vt:lpstr>Adunarea</vt:lpstr>
      <vt:lpstr>Sumatorul cu salvarea transportului (1)</vt:lpstr>
      <vt:lpstr>Sumatorul cu salvarea transportului (2)</vt:lpstr>
      <vt:lpstr>Sumatorul cu salvarea transportului (3)</vt:lpstr>
      <vt:lpstr>Sumatorul cu salvarea transportului (4)</vt:lpstr>
      <vt:lpstr>Sumatorul cu salvarea transportului (5)</vt:lpstr>
      <vt:lpstr>Adunarea</vt:lpstr>
      <vt:lpstr>Sumatorul serial (1)</vt:lpstr>
      <vt:lpstr>Sumatorul serial (2)</vt:lpstr>
      <vt:lpstr>Adunarea</vt:lpstr>
      <vt:lpstr>Sumatorul zecimal (1)</vt:lpstr>
      <vt:lpstr>Sumatorul zecimal (2)</vt:lpstr>
      <vt:lpstr>Sumatorul zecimal (3)</vt:lpstr>
      <vt:lpstr>Rezumat (1)</vt:lpstr>
      <vt:lpstr>Rezumat (2)</vt:lpstr>
      <vt:lpstr>Noțiuni, cunoștințe</vt:lpstr>
      <vt:lpstr>Întrebări</vt:lpstr>
    </vt:vector>
  </TitlesOfParts>
  <Company>Technical University of Cluj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SSC-Adunare</dc:title>
  <dc:creator>Baruch Zoltan</dc:creator>
  <cp:lastModifiedBy>Baruch Zoltan</cp:lastModifiedBy>
  <cp:revision>175</cp:revision>
  <cp:lastPrinted>1601-01-01T00:00:00Z</cp:lastPrinted>
  <dcterms:created xsi:type="dcterms:W3CDTF">2002-05-22T18:25:20Z</dcterms:created>
  <dcterms:modified xsi:type="dcterms:W3CDTF">2018-03-04T10:38:49Z</dcterms:modified>
</cp:coreProperties>
</file>