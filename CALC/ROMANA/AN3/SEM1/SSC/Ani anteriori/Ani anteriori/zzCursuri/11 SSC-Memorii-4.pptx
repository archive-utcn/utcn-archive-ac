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  <p:sldMasterId id="2147483687" r:id="rId2"/>
  </p:sldMasterIdLst>
  <p:notesMasterIdLst>
    <p:notesMasterId r:id="rId61"/>
  </p:notesMasterIdLst>
  <p:handoutMasterIdLst>
    <p:handoutMasterId r:id="rId62"/>
  </p:handoutMasterIdLst>
  <p:sldIdLst>
    <p:sldId id="333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320" r:id="rId13"/>
    <p:sldId id="334" r:id="rId14"/>
    <p:sldId id="335" r:id="rId15"/>
    <p:sldId id="336" r:id="rId16"/>
    <p:sldId id="337" r:id="rId17"/>
    <p:sldId id="380" r:id="rId18"/>
    <p:sldId id="339" r:id="rId19"/>
    <p:sldId id="340" r:id="rId20"/>
    <p:sldId id="381" r:id="rId21"/>
    <p:sldId id="342" r:id="rId22"/>
    <p:sldId id="382" r:id="rId23"/>
    <p:sldId id="344" r:id="rId24"/>
    <p:sldId id="345" r:id="rId25"/>
    <p:sldId id="346" r:id="rId26"/>
    <p:sldId id="347" r:id="rId27"/>
    <p:sldId id="348" r:id="rId28"/>
    <p:sldId id="349" r:id="rId29"/>
    <p:sldId id="372" r:id="rId30"/>
    <p:sldId id="350" r:id="rId31"/>
    <p:sldId id="383" r:id="rId32"/>
    <p:sldId id="373" r:id="rId33"/>
    <p:sldId id="352" r:id="rId34"/>
    <p:sldId id="353" r:id="rId35"/>
    <p:sldId id="354" r:id="rId36"/>
    <p:sldId id="384" r:id="rId37"/>
    <p:sldId id="385" r:id="rId38"/>
    <p:sldId id="386" r:id="rId39"/>
    <p:sldId id="387" r:id="rId40"/>
    <p:sldId id="388" r:id="rId41"/>
    <p:sldId id="389" r:id="rId42"/>
    <p:sldId id="374" r:id="rId43"/>
    <p:sldId id="391" r:id="rId44"/>
    <p:sldId id="390" r:id="rId45"/>
    <p:sldId id="392" r:id="rId46"/>
    <p:sldId id="393" r:id="rId47"/>
    <p:sldId id="365" r:id="rId48"/>
    <p:sldId id="377" r:id="rId49"/>
    <p:sldId id="394" r:id="rId50"/>
    <p:sldId id="368" r:id="rId51"/>
    <p:sldId id="369" r:id="rId52"/>
    <p:sldId id="395" r:id="rId53"/>
    <p:sldId id="371" r:id="rId54"/>
    <p:sldId id="406" r:id="rId55"/>
    <p:sldId id="407" r:id="rId56"/>
    <p:sldId id="410" r:id="rId57"/>
    <p:sldId id="408" r:id="rId58"/>
    <p:sldId id="409" r:id="rId59"/>
    <p:sldId id="375" r:id="rId6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269" autoAdjust="0"/>
  </p:normalViewPr>
  <p:slideViewPr>
    <p:cSldViewPr>
      <p:cViewPr varScale="1">
        <p:scale>
          <a:sx n="143" d="100"/>
          <a:sy n="143" d="100"/>
        </p:scale>
        <p:origin x="3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CD078D-A108-4B13-8A7D-984B51784FA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92498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2AE80F83-5676-4FD9-A8BF-D5840449B432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3675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689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581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3236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3349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1961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41757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44278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3395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47805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8501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2091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9061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979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2155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2637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65464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1407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6365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6565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1412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50042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3080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95966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58161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181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0869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3713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562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656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8954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60947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66887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7247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3119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62391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57097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4887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9852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14719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51073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03434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2400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0037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11559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40682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87091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52368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76408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38617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04844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430341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98337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00678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41515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72635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9841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77894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80F83-5676-4FD9-A8BF-D5840449B432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657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9BB79814-F4AD-4A3C-A7F5-E71B9F736A09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3F443844-F871-4766-8053-8DB196E5ADD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39A576-8179-475B-B84B-A6BBD2FD4B5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E4CCC6-18DA-4973-853B-CE4DBCBAC1E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7799AF-2B91-457D-B346-E3E3FC6DC170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FD6991-62FD-4C03-BFC8-55A724B142C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B79814-F4AD-4A3C-A7F5-E71B9F736A09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>
            <a:lvl1pPr algn="ctr">
              <a:defRPr sz="480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DFA0F4-4C05-4BB1-A546-5E7DF7DD9743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9BB79814-F4AD-4A3C-A7F5-E71B9F736A09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146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  <p:extLst>
      <p:ext uri="{BB962C8B-B14F-4D97-AF65-F5344CB8AC3E}">
        <p14:creationId xmlns:p14="http://schemas.microsoft.com/office/powerpoint/2010/main" val="366788552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63640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49572B3-FF6B-4953-9EBB-EE6BF2211D45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8683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E6BA2-6FEE-4CEE-918C-B59C9FFA1653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99705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45BD2E-0E0A-4C11-9AEC-B38B25F6828C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21382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B79CA5-5E57-4F7B-AFBB-9F8ED52ACF6E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1132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E9AD5-D5A7-41A1-A602-B70795CEF871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94112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3AC408-1B0E-4840-B17F-FE79CE7B545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984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  <p:extLst>
      <p:ext uri="{BB962C8B-B14F-4D97-AF65-F5344CB8AC3E}">
        <p14:creationId xmlns:p14="http://schemas.microsoft.com/office/powerpoint/2010/main" val="298873022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>
                <a:solidFill>
                  <a:srgbClr val="FFFFFF"/>
                </a:solidFill>
              </a:rPr>
              <a:t>07.05.2018</a:t>
            </a:r>
            <a:endParaRPr lang="ro-RO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>
                <a:solidFill>
                  <a:srgbClr val="FFFFFF"/>
                </a:solidFill>
              </a:rPr>
              <a:t>Structura sistemelor de calcul (03-4)</a:t>
            </a:r>
            <a:endParaRPr lang="ro-RO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3AC408-1B0E-4840-B17F-FE79CE7B545F}" type="slidenum">
              <a:rPr lang="ro-RO" smtClean="0">
                <a:solidFill>
                  <a:srgbClr val="FFFFFF"/>
                </a:solidFill>
              </a:rPr>
              <a:pPr/>
              <a:t>‹#›</a:t>
            </a:fld>
            <a:endParaRPr lang="ro-R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519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A63AC408-1B0E-4840-B17F-FE79CE7B545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0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BB79814-F4AD-4A3C-A7F5-E71B9F736A09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‹#›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641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Sisteme de memorie</a:t>
            </a:r>
          </a:p>
        </p:txBody>
      </p:sp>
      <p:sp>
        <p:nvSpPr>
          <p:cNvPr id="309251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ro-RO" dirty="0"/>
              <a:t>Ierarhia memoriilor</a:t>
            </a:r>
          </a:p>
          <a:p>
            <a:r>
              <a:rPr lang="ro-RO" dirty="0"/>
              <a:t>Tipuri de memorii</a:t>
            </a:r>
          </a:p>
          <a:p>
            <a:r>
              <a:rPr lang="ro-RO" dirty="0" smtClean="0"/>
              <a:t>Memorii semiconductoare</a:t>
            </a:r>
            <a:endParaRPr lang="ro-RO" dirty="0"/>
          </a:p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asociativă</a:t>
            </a:r>
          </a:p>
          <a:p>
            <a:r>
              <a:rPr lang="ro-RO" dirty="0"/>
              <a:t>Memoria </a:t>
            </a:r>
            <a:r>
              <a:rPr lang="ro-RO" i="1" dirty="0" err="1"/>
              <a:t>cache</a:t>
            </a:r>
            <a:endParaRPr lang="ro-RO" i="1" dirty="0"/>
          </a:p>
          <a:p>
            <a:r>
              <a:rPr lang="ro-RO" dirty="0"/>
              <a:t>Memoria virtuală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364F7-C6D8-4ABC-9481-2D8B3D7ADC30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asociativă (1)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439472" cy="489644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emorii RAM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datele sunt identificate cu ajutorul un</a:t>
            </a:r>
            <a:r>
              <a:rPr lang="ro-RO" dirty="0"/>
              <a:t>or</a:t>
            </a:r>
            <a:r>
              <a:rPr lang="ro-RO" dirty="0">
                <a:cs typeface="Times New Roman" pitchFamily="18" charset="0"/>
              </a:rPr>
              <a:t> adrese unice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Memorii asociative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datele sunt </a:t>
            </a:r>
            <a:r>
              <a:rPr lang="ro-RO" dirty="0" smtClean="0">
                <a:cs typeface="Times New Roman" pitchFamily="18" charset="0"/>
              </a:rPr>
              <a:t>identificate </a:t>
            </a:r>
            <a:r>
              <a:rPr lang="ro-RO" dirty="0">
                <a:cs typeface="Times New Roman" pitchFamily="18" charset="0"/>
              </a:rPr>
              <a:t>prin </a:t>
            </a:r>
            <a:r>
              <a:rPr lang="ro-RO" dirty="0" smtClean="0">
                <a:cs typeface="Times New Roman" pitchFamily="18" charset="0"/>
              </a:rPr>
              <a:t>conținutul </a:t>
            </a:r>
            <a:r>
              <a:rPr lang="ro-RO" dirty="0">
                <a:cs typeface="Times New Roman" pitchFamily="18" charset="0"/>
              </a:rPr>
              <a:t>acestora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memorii adresabile prin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conținut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(CAM –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Content </a:t>
            </a:r>
            <a:r>
              <a:rPr lang="ro-RO" i="1" dirty="0" err="1">
                <a:cs typeface="Times New Roman" pitchFamily="18" charset="0"/>
                <a:sym typeface="Symbol" pitchFamily="18" charset="2"/>
              </a:rPr>
              <a:t>Addressable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o-RO" i="1" dirty="0" err="1">
                <a:cs typeface="Times New Roman" pitchFamily="18" charset="0"/>
                <a:sym typeface="Symbol" pitchFamily="18" charset="2"/>
              </a:rPr>
              <a:t>Memory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)</a:t>
            </a:r>
            <a:endParaRPr lang="ro-RO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ro-RO" dirty="0">
                <a:sym typeface="Symbol" pitchFamily="18" charset="2"/>
              </a:rPr>
              <a:t>M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emori</a:t>
            </a:r>
            <a:r>
              <a:rPr lang="ro-RO" dirty="0">
                <a:sym typeface="Symbol" pitchFamily="18" charset="2"/>
              </a:rPr>
              <a:t>e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asociativ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cu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n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cuvinte</a:t>
            </a:r>
            <a:r>
              <a:rPr lang="ro-RO" dirty="0">
                <a:sym typeface="Symbol" pitchFamily="18" charset="2"/>
              </a:rPr>
              <a:t>: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timpul de c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utare </a:t>
            </a:r>
            <a:r>
              <a:rPr lang="ro-RO" dirty="0">
                <a:sym typeface="Symbol" pitchFamily="18" charset="2"/>
              </a:rPr>
              <a:t>a unei date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este independent de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n</a:t>
            </a:r>
            <a:endParaRPr lang="ro-RO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ro-RO" dirty="0">
                <a:sym typeface="Symbol" pitchFamily="18" charset="2"/>
              </a:rPr>
              <a:t>T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oate cuvintele din memorie pot fi comparate în paralel cu cuvântul c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utat</a:t>
            </a:r>
            <a:endParaRPr lang="ro-RO" dirty="0"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7ED923-A851-4A22-A95A-8FA301B7766E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2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45426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(2)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 smtClean="0"/>
              <a:t>Cost </a:t>
            </a:r>
            <a:r>
              <a:rPr lang="ro-RO" dirty="0"/>
              <a:t>mai ridicat decât al memoriilor RAM</a:t>
            </a:r>
          </a:p>
          <a:p>
            <a:r>
              <a:rPr lang="ro-RO" dirty="0"/>
              <a:t>Exemple de u</a:t>
            </a:r>
            <a:r>
              <a:rPr lang="ro-RO" dirty="0">
                <a:cs typeface="Times New Roman" pitchFamily="18" charset="0"/>
              </a:rPr>
              <a:t>tilizare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emorii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i="1" dirty="0"/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/>
              <a:t> t</a:t>
            </a:r>
            <a:r>
              <a:rPr lang="ro-RO" dirty="0">
                <a:cs typeface="Times New Roman" pitchFamily="18" charset="0"/>
              </a:rPr>
              <a:t>ranslatarea adreselor </a:t>
            </a:r>
            <a:endParaRPr lang="ro-RO" dirty="0"/>
          </a:p>
          <a:p>
            <a:pPr lvl="1"/>
            <a:r>
              <a:rPr lang="ro-RO" dirty="0" smtClean="0"/>
              <a:t>R</a:t>
            </a:r>
            <a:r>
              <a:rPr lang="ro-RO" dirty="0" smtClean="0">
                <a:cs typeface="Times New Roman" pitchFamily="18" charset="0"/>
              </a:rPr>
              <a:t>ecunoașter</a:t>
            </a:r>
            <a:r>
              <a:rPr lang="ro-RO" dirty="0" smtClean="0"/>
              <a:t>ea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modelelor </a:t>
            </a:r>
            <a:endParaRPr lang="ro-RO" dirty="0"/>
          </a:p>
          <a:p>
            <a:r>
              <a:rPr lang="ro-RO" dirty="0"/>
              <a:t>Două tipuri de memorii asociative: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 potrivire exact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/>
              <a:t>:</a:t>
            </a:r>
            <a:r>
              <a:rPr lang="ro-RO" dirty="0"/>
              <a:t> d</a:t>
            </a:r>
            <a:r>
              <a:rPr lang="ro-RO" dirty="0">
                <a:cs typeface="Times New Roman" pitchFamily="18" charset="0"/>
              </a:rPr>
              <a:t>atele sunt identificate pe baza </a:t>
            </a:r>
            <a:r>
              <a:rPr lang="ro-RO" dirty="0" smtClean="0">
                <a:cs typeface="Times New Roman" pitchFamily="18" charset="0"/>
              </a:rPr>
              <a:t>egalit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ii </a:t>
            </a:r>
            <a:r>
              <a:rPr lang="ro-RO" dirty="0">
                <a:cs typeface="Times New Roman" pitchFamily="18" charset="0"/>
              </a:rPr>
              <a:t>cu o cheie</a:t>
            </a:r>
            <a:r>
              <a:rPr lang="ro-RO" dirty="0"/>
              <a:t>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Cu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comparație</a:t>
            </a:r>
            <a:r>
              <a:rPr lang="ro-RO" i="1" dirty="0"/>
              <a:t>:</a:t>
            </a:r>
            <a:r>
              <a:rPr lang="ro-RO" dirty="0"/>
              <a:t> utilizează operatori </a:t>
            </a:r>
            <a:r>
              <a:rPr lang="ro-RO" dirty="0" smtClean="0"/>
              <a:t>relaționali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462723-8C55-4060-8F36-DC7ECBC1923E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3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4262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(3)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896544"/>
          </a:xfrm>
        </p:spPr>
        <p:txBody>
          <a:bodyPr>
            <a:normAutofit/>
          </a:bodyPr>
          <a:lstStyle/>
          <a:p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rganizarea logic</a:t>
            </a:r>
            <a:r>
              <a:rPr lang="ro-RO" dirty="0"/>
              <a:t>ă:</a:t>
            </a:r>
            <a:r>
              <a:rPr lang="ro-RO" dirty="0">
                <a:cs typeface="Times New Roman" pitchFamily="18" charset="0"/>
              </a:rPr>
              <a:t> fix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sau variabil</a:t>
            </a:r>
            <a:r>
              <a:rPr lang="ro-RO" dirty="0"/>
              <a:t>ă</a:t>
            </a:r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rganizare fix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cuvânt este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rțit </a:t>
            </a:r>
            <a:r>
              <a:rPr lang="ro-RO" dirty="0">
                <a:cs typeface="Times New Roman" pitchFamily="18" charset="0"/>
              </a:rPr>
              <a:t>în segmente fixe</a:t>
            </a:r>
            <a:endParaRPr lang="ro-RO" dirty="0"/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Segment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cheie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fiecare bit al acestui segment trebuie utilizat pentru interogare </a:t>
            </a:r>
            <a:endParaRPr lang="ro-RO" dirty="0"/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Organizare variabil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Un c</a:t>
            </a:r>
            <a:r>
              <a:rPr lang="ro-RO" dirty="0">
                <a:cs typeface="Times New Roman" pitchFamily="18" charset="0"/>
              </a:rPr>
              <a:t>uvânt poate fi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rțit </a:t>
            </a:r>
            <a:r>
              <a:rPr lang="ro-RO" dirty="0">
                <a:cs typeface="Times New Roman" pitchFamily="18" charset="0"/>
              </a:rPr>
              <a:t>în segmente fixe</a:t>
            </a:r>
            <a:endParaRPr lang="ro-RO" dirty="0"/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rice parte a unui segment poate fi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interogare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complet interogabil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BCCDFD-8054-48A7-B52E-920DDD3A7E26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4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2516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5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098" y="1484784"/>
            <a:ext cx="5144164" cy="4637895"/>
          </a:xfrm>
        </p:spPr>
      </p:pic>
    </p:spTree>
    <p:extLst>
      <p:ext uri="{BB962C8B-B14F-4D97-AF65-F5344CB8AC3E}">
        <p14:creationId xmlns:p14="http://schemas.microsoft.com/office/powerpoint/2010/main" val="29613148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sz="4800" dirty="0" smtClean="0"/>
              <a:t>Memoria asociativă (5)</a:t>
            </a:r>
            <a:endParaRPr lang="ro-RO" sz="4800" dirty="0"/>
          </a:p>
        </p:txBody>
      </p:sp>
      <p:pic>
        <p:nvPicPr>
          <p:cNvPr id="8" name="Content Placeholder 7" descr="ssc4-asociativ2.bmp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187624" y="1988840"/>
            <a:ext cx="6798274" cy="25944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5157192"/>
            <a:ext cx="8352928" cy="917174"/>
          </a:xfrm>
        </p:spPr>
        <p:txBody>
          <a:bodyPr/>
          <a:lstStyle/>
          <a:p>
            <a:pPr marL="0" lvl="1" algn="ctr">
              <a:buSzPct val="100000"/>
              <a:buNone/>
            </a:pPr>
            <a:r>
              <a:rPr lang="ro-RO" dirty="0" smtClean="0"/>
              <a:t>Celulă de memorie asociativă</a:t>
            </a:r>
          </a:p>
          <a:p>
            <a:pPr marL="0" lvl="1" indent="0" algn="ctr">
              <a:buSzPct val="100000"/>
            </a:pPr>
            <a:r>
              <a:rPr lang="ro-RO" sz="2800" dirty="0"/>
              <a:t>Sunt necesare în jur de 10 tranzistoare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/>
                </a:solidFill>
              </a:rPr>
              <a:t>07.05.2018</a:t>
            </a:r>
            <a:endParaRPr lang="ro-RO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/>
                </a:solidFill>
              </a:rPr>
              <a:t>Structura sistemelor de calcul (03-4)</a:t>
            </a:r>
            <a:endParaRPr lang="ro-RO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A0F4-4C05-4BB1-A546-5E7DF7DD9743}" type="slidenum">
              <a:rPr lang="ro-RO" smtClean="0">
                <a:solidFill>
                  <a:srgbClr val="FFFFFF"/>
                </a:solidFill>
              </a:rPr>
              <a:pPr/>
              <a:t>6</a:t>
            </a:fld>
            <a:endParaRPr lang="ro-R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08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Prelucrare asociativă 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/>
            <a:r>
              <a:rPr lang="ro-RO" dirty="0" smtClean="0">
                <a:cs typeface="Times New Roman" pitchFamily="18" charset="0"/>
              </a:rPr>
              <a:t>Executată cu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procesor asociativ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Procesorul asociativ conține </a:t>
            </a:r>
            <a:r>
              <a:rPr lang="ro-RO" dirty="0">
                <a:cs typeface="Times New Roman" pitchFamily="18" charset="0"/>
              </a:rPr>
              <a:t>o memorie asociativ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o logic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control suplimentară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Memoria asociativ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poate executa în paralel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primitive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Exemple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executate de o memorie asociativ</a:t>
            </a:r>
            <a:r>
              <a:rPr lang="ro-RO" dirty="0"/>
              <a:t>ă: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SET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setarea la 1 a tuturor </a:t>
            </a:r>
            <a:r>
              <a:rPr lang="ro-RO" dirty="0" smtClean="0">
                <a:cs typeface="Times New Roman" pitchFamily="18" charset="0"/>
              </a:rPr>
              <a:t>biților </a:t>
            </a:r>
            <a:r>
              <a:rPr lang="ro-RO" dirty="0">
                <a:cs typeface="Times New Roman" pitchFamily="18" charset="0"/>
              </a:rPr>
              <a:t>de potrivire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843BB3-E330-450B-A1FB-98B3D327E276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7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07423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284250"/>
          </a:xfrm>
        </p:spPr>
        <p:txBody>
          <a:bodyPr/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COMPARE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comparații </a:t>
            </a:r>
            <a:r>
              <a:rPr lang="ro-RO" dirty="0">
                <a:cs typeface="Times New Roman" pitchFamily="18" charset="0"/>
              </a:rPr>
              <a:t>paralele ale argumentului mascat cu toate cuvintele</a:t>
            </a:r>
            <a:endParaRPr lang="ro-RO" dirty="0">
              <a:solidFill>
                <a:schemeClr val="tx2"/>
              </a:solidFill>
              <a:cs typeface="Times New Roman" pitchFamily="18" charset="0"/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READ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transmiterea pe liniile de date a cuvintelor care au </a:t>
            </a:r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de potrivire </a:t>
            </a:r>
            <a:r>
              <a:rPr lang="ro-RO" dirty="0" smtClean="0"/>
              <a:t>setați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WRITE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scrierea în paralel a argumentului mascat în toate cuvintele care au </a:t>
            </a:r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de potrivire </a:t>
            </a:r>
            <a:r>
              <a:rPr lang="ro-RO" dirty="0" smtClean="0">
                <a:cs typeface="Times New Roman" pitchFamily="18" charset="0"/>
              </a:rPr>
              <a:t>setați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REPORT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raporta</a:t>
            </a:r>
            <a:r>
              <a:rPr lang="ro-RO" dirty="0"/>
              <a:t>rea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ii </a:t>
            </a:r>
            <a:r>
              <a:rPr lang="ro-RO" dirty="0">
                <a:cs typeface="Times New Roman" pitchFamily="18" charset="0"/>
              </a:rPr>
              <a:t>centrale 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potrivire dup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utare precedent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D8FC88-107C-4C84-85D9-4456523CBCD4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8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333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asociativă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52928" cy="5040560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Avantajele prelucr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rii asociative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Viteza </a:t>
            </a:r>
            <a:r>
              <a:rPr lang="ro-RO" dirty="0" smtClean="0">
                <a:cs typeface="Times New Roman" pitchFamily="18" charset="0"/>
              </a:rPr>
              <a:t>ridicat</a:t>
            </a:r>
            <a:r>
              <a:rPr lang="ro-RO" dirty="0" smtClean="0"/>
              <a:t>ă: pentru </a:t>
            </a:r>
            <a:r>
              <a:rPr lang="ro-RO" dirty="0" smtClean="0">
                <a:cs typeface="Times New Roman" pitchFamily="18" charset="0"/>
              </a:rPr>
              <a:t>anumite probleme, timpul de execuție se poate reduce cu un factor de </a:t>
            </a:r>
            <a:r>
              <a:rPr lang="ro-RO" i="1" dirty="0" smtClean="0">
                <a:cs typeface="Times New Roman" pitchFamily="18" charset="0"/>
              </a:rPr>
              <a:t>n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Un mod mai natural de a </a:t>
            </a:r>
            <a:r>
              <a:rPr lang="ro-RO" dirty="0" smtClean="0">
                <a:cs typeface="Times New Roman" pitchFamily="18" charset="0"/>
              </a:rPr>
              <a:t>soluționa </a:t>
            </a:r>
            <a:r>
              <a:rPr lang="ro-RO" dirty="0">
                <a:cs typeface="Times New Roman" pitchFamily="18" charset="0"/>
              </a:rPr>
              <a:t>anumite probleme de calcul</a:t>
            </a:r>
            <a:r>
              <a:rPr lang="ro-RO" dirty="0"/>
              <a:t> </a:t>
            </a:r>
          </a:p>
          <a:p>
            <a:pPr lvl="1"/>
            <a:r>
              <a:rPr lang="ro-RO" dirty="0" smtClean="0"/>
              <a:t>O</a:t>
            </a:r>
            <a:r>
              <a:rPr lang="ro-RO" dirty="0" smtClean="0">
                <a:cs typeface="Times New Roman" pitchFamily="18" charset="0"/>
              </a:rPr>
              <a:t>perațiile </a:t>
            </a:r>
            <a:r>
              <a:rPr lang="ro-RO" dirty="0">
                <a:cs typeface="Times New Roman" pitchFamily="18" charset="0"/>
              </a:rPr>
              <a:t>sunt executate local</a:t>
            </a:r>
            <a:r>
              <a:rPr lang="ro-RO" dirty="0"/>
              <a:t>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Aplicații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prelucrarea imaginilor</a:t>
            </a:r>
            <a:r>
              <a:rPr lang="ro-RO" dirty="0"/>
              <a:t>;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urmărirea </a:t>
            </a:r>
            <a:r>
              <a:rPr lang="ro-RO" dirty="0">
                <a:cs typeface="Times New Roman" pitchFamily="18" charset="0"/>
              </a:rPr>
              <a:t>semnalelor radar</a:t>
            </a:r>
            <a:r>
              <a:rPr lang="ro-RO" dirty="0"/>
              <a:t>;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inteligența </a:t>
            </a:r>
            <a:r>
              <a:rPr lang="ro-RO" dirty="0">
                <a:cs typeface="Times New Roman" pitchFamily="18" charset="0"/>
              </a:rPr>
              <a:t>artificial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timp real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3D898-90B4-4C9B-B767-C7FBF959E24F}" type="slidenum">
              <a:rPr lang="ro-RO">
                <a:solidFill>
                  <a:srgbClr val="FFFFFF">
                    <a:tint val="75000"/>
                  </a:srgbClr>
                </a:solidFill>
              </a:rPr>
              <a:pPr/>
              <a:t>9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2350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Sisteme de memorie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64381"/>
          </a:xfrm>
        </p:spPr>
        <p:txBody>
          <a:bodyPr/>
          <a:lstStyle/>
          <a:p>
            <a:endParaRPr lang="ro-RO" dirty="0" smtClean="0"/>
          </a:p>
          <a:p>
            <a:r>
              <a:rPr lang="ro-RO" dirty="0"/>
              <a:t>Ierarhia memoriilor</a:t>
            </a:r>
          </a:p>
          <a:p>
            <a:r>
              <a:rPr lang="ro-RO" dirty="0"/>
              <a:t>Tipuri de memorii</a:t>
            </a:r>
          </a:p>
          <a:p>
            <a:r>
              <a:rPr lang="ro-RO" dirty="0"/>
              <a:t>Memorii semiconductoare</a:t>
            </a:r>
          </a:p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</a:t>
            </a:r>
          </a:p>
          <a:p>
            <a:r>
              <a:rPr lang="ro-RO" dirty="0"/>
              <a:t>Memoria asociativă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</a:p>
          <a:p>
            <a:r>
              <a:rPr lang="ro-RO" dirty="0"/>
              <a:t>Memoria </a:t>
            </a:r>
            <a:r>
              <a:rPr lang="ro-RO" dirty="0" smtClean="0"/>
              <a:t>virtuală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rgbClr val="FFFFFF">
                    <a:tint val="75000"/>
                  </a:srgbClr>
                </a:solidFill>
              </a:rPr>
              <a:t>07.05.2018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>
                <a:solidFill>
                  <a:srgbClr val="FFFFFF">
                    <a:tint val="75000"/>
                  </a:srgbClr>
                </a:solidFill>
              </a:rPr>
              <a:pPr/>
              <a:t>10</a:t>
            </a:fld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>
                <a:solidFill>
                  <a:srgbClr val="FFFFFF">
                    <a:tint val="75000"/>
                  </a:srgbClr>
                </a:solidFill>
              </a:rPr>
              <a:t>Structura sistemelor de calcul (03-4)</a:t>
            </a:r>
            <a:endParaRPr lang="ro-RO">
              <a:solidFill>
                <a:srgbClr val="FFFFFF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0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Principiul memoriei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/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EADCA3-15DE-4340-A124-26A022C8F237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memoriei </a:t>
            </a:r>
            <a:r>
              <a:rPr lang="ro-RO" i="1" dirty="0"/>
              <a:t>cache</a:t>
            </a:r>
            <a:r>
              <a:rPr lang="ro-RO" dirty="0"/>
              <a:t> (1)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emorie rapid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,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temporar pentru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strarea unei </a:t>
            </a:r>
            <a:r>
              <a:rPr lang="ro-RO" dirty="0" smtClean="0">
                <a:cs typeface="Times New Roman" pitchFamily="18" charset="0"/>
              </a:rPr>
              <a:t>porțiuni </a:t>
            </a:r>
            <a:r>
              <a:rPr lang="ro-RO" dirty="0">
                <a:cs typeface="Times New Roman" pitchFamily="18" charset="0"/>
              </a:rPr>
              <a:t>a datelor </a:t>
            </a:r>
            <a:r>
              <a:rPr lang="ro-RO" dirty="0" smtClean="0">
                <a:cs typeface="Times New Roman" pitchFamily="18" charset="0"/>
              </a:rPr>
              <a:t>și instrucțiunilor </a:t>
            </a:r>
            <a:r>
              <a:rPr lang="ro-RO" dirty="0">
                <a:cs typeface="Times New Roman" pitchFamily="18" charset="0"/>
              </a:rPr>
              <a:t>în vederea utiliz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imediate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Memoria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este mai costisitoare </a:t>
            </a:r>
            <a:r>
              <a:rPr lang="ro-RO" dirty="0">
                <a:latin typeface="Arial" charset="0"/>
                <a:cs typeface="Times New Roman" pitchFamily="18" charset="0"/>
              </a:rPr>
              <a:t>→</a:t>
            </a:r>
            <a:r>
              <a:rPr lang="ro-RO" dirty="0">
                <a:cs typeface="Times New Roman" pitchFamily="18" charset="0"/>
              </a:rPr>
              <a:t> dimensiunea</a:t>
            </a:r>
            <a:r>
              <a:rPr lang="ro-RO" dirty="0"/>
              <a:t> acestei memorii </a:t>
            </a:r>
            <a:r>
              <a:rPr lang="ro-RO" dirty="0" smtClean="0"/>
              <a:t>într-un </a:t>
            </a:r>
            <a:r>
              <a:rPr lang="ro-RO" dirty="0" smtClean="0">
                <a:cs typeface="Times New Roman" pitchFamily="18" charset="0"/>
              </a:rPr>
              <a:t>sistem de calcul </a:t>
            </a:r>
            <a:r>
              <a:rPr lang="ro-RO" dirty="0" smtClean="0"/>
              <a:t>este </a:t>
            </a:r>
            <a:r>
              <a:rPr lang="ro-RO" dirty="0">
                <a:cs typeface="Times New Roman" pitchFamily="18" charset="0"/>
              </a:rPr>
              <a:t>limitat</a:t>
            </a:r>
            <a:r>
              <a:rPr lang="ro-RO" dirty="0"/>
              <a:t>ă 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mare parte din cererile de acces vor fi satisf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cute de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latin typeface="Arial" charset="0"/>
                <a:cs typeface="Times New Roman" pitchFamily="18" charset="0"/>
              </a:rPr>
              <a:t>→</a:t>
            </a: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proprietatea de localitate 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referințelor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E8247C-0878-4465-8673-4C7A21C53739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memoriei </a:t>
            </a:r>
            <a:r>
              <a:rPr lang="ro-RO" i="1" dirty="0"/>
              <a:t>cache</a:t>
            </a:r>
            <a:r>
              <a:rPr lang="ro-RO" dirty="0"/>
              <a:t> (2)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93981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Amplasare</a:t>
            </a:r>
            <a:r>
              <a:rPr lang="ro-RO" dirty="0">
                <a:cs typeface="Times New Roman" pitchFamily="18" charset="0"/>
              </a:rPr>
              <a:t>:</a:t>
            </a:r>
            <a:r>
              <a:rPr lang="ro-RO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între 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UCP</a:t>
            </a:r>
            <a:endParaRPr lang="ro-RO" dirty="0"/>
          </a:p>
          <a:p>
            <a:pPr lvl="1">
              <a:spcBef>
                <a:spcPts val="600"/>
              </a:spcBef>
            </a:pPr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onțin</a:t>
            </a:r>
            <a:r>
              <a:rPr lang="ro-RO" dirty="0" smtClean="0"/>
              <a:t>e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err="1">
                <a:cs typeface="Times New Roman" pitchFamily="18" charset="0"/>
              </a:rPr>
              <a:t>cópii</a:t>
            </a:r>
            <a:r>
              <a:rPr lang="ro-RO" dirty="0">
                <a:cs typeface="Times New Roman" pitchFamily="18" charset="0"/>
              </a:rPr>
              <a:t> ale unor blocuri din memoria principală</a:t>
            </a:r>
            <a:r>
              <a:rPr lang="ro-RO" dirty="0"/>
              <a:t> </a:t>
            </a:r>
          </a:p>
          <a:p>
            <a:pPr lvl="1">
              <a:spcBef>
                <a:spcPts val="600"/>
              </a:spcBef>
            </a:pPr>
            <a:r>
              <a:rPr lang="ro-RO" dirty="0"/>
              <a:t>Dacă un </a:t>
            </a:r>
            <a:r>
              <a:rPr lang="ro-RO" dirty="0">
                <a:cs typeface="Times New Roman" pitchFamily="18" charset="0"/>
              </a:rPr>
              <a:t>cuvânt </a:t>
            </a:r>
            <a:r>
              <a:rPr lang="ro-RO" dirty="0"/>
              <a:t>solicitat de UCP </a:t>
            </a:r>
            <a:r>
              <a:rPr lang="ro-RO" dirty="0">
                <a:cs typeface="Times New Roman" pitchFamily="18" charset="0"/>
              </a:rPr>
              <a:t>se afl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, nu va fi necesar accesul la 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mai lent</a:t>
            </a:r>
            <a:r>
              <a:rPr lang="ro-RO" dirty="0"/>
              <a:t>ă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ătățirea p</a:t>
            </a:r>
            <a:r>
              <a:rPr lang="ro-RO" dirty="0" smtClean="0">
                <a:cs typeface="Times New Roman" pitchFamily="18" charset="0"/>
              </a:rPr>
              <a:t>erformanț</a:t>
            </a:r>
            <a:r>
              <a:rPr lang="ro-RO" dirty="0" smtClean="0"/>
              <a:t>ei</a:t>
            </a:r>
            <a:r>
              <a:rPr lang="ro-RO" dirty="0"/>
              <a:t>: amplasarea</a:t>
            </a:r>
            <a:r>
              <a:rPr lang="ro-RO" dirty="0">
                <a:cs typeface="Times New Roman" pitchFamily="18" charset="0"/>
              </a:rPr>
              <a:t> memoriei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în a</a:t>
            </a:r>
            <a:r>
              <a:rPr lang="ro-RO" dirty="0" smtClean="0">
                <a:cs typeface="Times New Roman" pitchFamily="18" charset="0"/>
              </a:rPr>
              <a:t>celași </a:t>
            </a:r>
            <a:r>
              <a:rPr lang="ro-RO" dirty="0">
                <a:cs typeface="Times New Roman" pitchFamily="18" charset="0"/>
              </a:rPr>
              <a:t>circuit integrat ca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procesorul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E8EE6-9902-4D2F-89E8-496FFC4B1C33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</a:p>
          <a:p>
            <a:pPr lvl="1"/>
            <a:r>
              <a:rPr lang="ro-RO" dirty="0"/>
              <a:t>Principiul memoriei </a:t>
            </a:r>
            <a:r>
              <a:rPr lang="ro-RO" i="1" dirty="0"/>
              <a:t>cache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Organizarea memoriei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/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27E2E3-F61C-401E-8928-385F2E2E59BF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Organizarea memoriei </a:t>
            </a:r>
            <a:r>
              <a:rPr lang="ro-RO" i="1" dirty="0" err="1"/>
              <a:t>cache</a:t>
            </a:r>
            <a:r>
              <a:rPr lang="ro-RO" dirty="0"/>
              <a:t> (1)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713312"/>
          </a:xfrm>
        </p:spPr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Cuvintele de </a:t>
            </a:r>
            <a:r>
              <a:rPr lang="ro-RO" dirty="0" smtClean="0">
                <a:cs typeface="Times New Roman" pitchFamily="18" charset="0"/>
              </a:rPr>
              <a:t>memorie: </a:t>
            </a:r>
            <a:r>
              <a:rPr lang="ro-RO" dirty="0">
                <a:cs typeface="Times New Roman" pitchFamily="18" charset="0"/>
              </a:rPr>
              <a:t>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strate într‑o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 de date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unt grupate în pagini </a:t>
            </a:r>
            <a:r>
              <a:rPr lang="ro-RO" dirty="0">
                <a:latin typeface="Arial" charset="0"/>
                <a:cs typeface="Times New Roman" pitchFamily="18" charset="0"/>
              </a:rPr>
              <a:t>→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blocuri </a:t>
            </a:r>
            <a:r>
              <a:rPr lang="ro-RO" dirty="0">
                <a:cs typeface="Times New Roman" pitchFamily="18" charset="0"/>
              </a:rPr>
              <a:t>sau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linii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cs typeface="Times New Roman" pitchFamily="18" charset="0"/>
              </a:rPr>
              <a:t>Fiecare bloc al memoriei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este marcat cu adresa sa de </a:t>
            </a:r>
            <a:r>
              <a:rPr lang="ro-RO" dirty="0" smtClean="0">
                <a:cs typeface="Times New Roman" pitchFamily="18" charset="0"/>
              </a:rPr>
              <a:t>bloc </a:t>
            </a:r>
            <a:r>
              <a:rPr lang="ro-RO" dirty="0" smtClean="0">
                <a:latin typeface="Arial" charset="0"/>
                <a:cs typeface="Times New Roman" pitchFamily="18" charset="0"/>
              </a:rPr>
              <a:t>→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marcaj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en-US" dirty="0"/>
              <a:t>“</a:t>
            </a:r>
            <a:r>
              <a:rPr lang="ro-RO" i="1" dirty="0" err="1">
                <a:cs typeface="Times New Roman" pitchFamily="18" charset="0"/>
              </a:rPr>
              <a:t>tag</a:t>
            </a:r>
            <a:r>
              <a:rPr lang="en-US" dirty="0">
                <a:cs typeface="Times New Roman" pitchFamily="18" charset="0"/>
              </a:rPr>
              <a:t>”</a:t>
            </a:r>
            <a:r>
              <a:rPr lang="ro-RO" dirty="0">
                <a:cs typeface="Times New Roman" pitchFamily="18" charset="0"/>
              </a:rPr>
              <a:t>) </a:t>
            </a:r>
            <a:endParaRPr lang="en-US" dirty="0">
              <a:cs typeface="Times New Roman" pitchFamily="18" charset="0"/>
            </a:endParaRPr>
          </a:p>
          <a:p>
            <a:r>
              <a:rPr lang="ro-RO" dirty="0" smtClean="0">
                <a:cs typeface="Times New Roman" pitchFamily="18" charset="0"/>
              </a:rPr>
              <a:t>Colecția </a:t>
            </a:r>
            <a:r>
              <a:rPr lang="ro-RO" dirty="0">
                <a:cs typeface="Times New Roman" pitchFamily="18" charset="0"/>
              </a:rPr>
              <a:t>adreselor de marcaj asignate momentan memoriei </a:t>
            </a:r>
            <a:r>
              <a:rPr lang="ro-RO" i="1" dirty="0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: </a:t>
            </a:r>
            <a:r>
              <a:rPr lang="ro-RO" dirty="0">
                <a:cs typeface="Times New Roman" pitchFamily="18" charset="0"/>
              </a:rPr>
              <a:t>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într‑o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 de marcaje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E13C02-E15A-4CAF-9B6A-3FAA92F1E5D5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Organizarea memoriei </a:t>
            </a:r>
            <a:r>
              <a:rPr lang="ro-RO" i="1" dirty="0" err="1"/>
              <a:t>cache</a:t>
            </a:r>
            <a:r>
              <a:rPr lang="ro-RO" dirty="0"/>
              <a:t>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395536" y="5229200"/>
            <a:ext cx="8352928" cy="387798"/>
          </a:xfrm>
        </p:spPr>
        <p:txBody>
          <a:bodyPr/>
          <a:lstStyle/>
          <a:p>
            <a:pPr marL="0" lvl="1" algn="ctr">
              <a:buNone/>
            </a:pPr>
            <a:r>
              <a:rPr lang="ro-RO" sz="2800" dirty="0"/>
              <a:t>Structura </a:t>
            </a:r>
            <a:r>
              <a:rPr lang="ro-RO" sz="2800" dirty="0" smtClean="0"/>
              <a:t>de bază a unei memorii </a:t>
            </a:r>
            <a:r>
              <a:rPr lang="ro-RO" sz="2800" i="1" dirty="0" err="1" smtClean="0"/>
              <a:t>cache</a:t>
            </a:r>
            <a:endParaRPr lang="ro-RO" sz="28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16</a:t>
            </a:fld>
            <a:endParaRPr lang="ro-RO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531" y="1664920"/>
            <a:ext cx="3316938" cy="2884656"/>
          </a:xfr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Principiul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Funcționarea memoriei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</a:p>
          <a:p>
            <a:pPr lvl="1"/>
            <a:r>
              <a:rPr lang="ro-RO" dirty="0"/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04BA4-C974-4A1E-9378-82F6DB8C0BA1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(1)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95049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Atunci când UCP genereaz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cerere de citire</a:t>
            </a:r>
            <a:r>
              <a:rPr lang="ro-RO" dirty="0"/>
              <a:t>: 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ererea este trimis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i="1" dirty="0">
                <a:cs typeface="Times New Roman" pitchFamily="18" charset="0"/>
              </a:rPr>
              <a:t> </a:t>
            </a:r>
            <a:endParaRPr lang="ro-RO" i="1" dirty="0"/>
          </a:p>
          <a:p>
            <a:pPr lvl="1"/>
            <a:r>
              <a:rPr lang="ro-RO" dirty="0"/>
              <a:t>Dacă</a:t>
            </a:r>
            <a:r>
              <a:rPr lang="ro-RO" dirty="0">
                <a:cs typeface="Times New Roman" pitchFamily="18" charset="0"/>
              </a:rPr>
              <a:t> cuvântul nu este g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sit în memoria </a:t>
            </a:r>
            <a:r>
              <a:rPr lang="ro-RO" i="1" dirty="0" err="1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>
                <a:cs typeface="Times New Roman" pitchFamily="18" charset="0"/>
              </a:rPr>
              <a:t>cuvântul solicitat este furnizat de memoria principal</a:t>
            </a:r>
            <a:r>
              <a:rPr lang="ro-RO" dirty="0"/>
              <a:t>ă </a:t>
            </a:r>
          </a:p>
          <a:p>
            <a:pPr lvl="1"/>
            <a:r>
              <a:rPr lang="ro-RO" dirty="0"/>
              <a:t>Dacă </a:t>
            </a:r>
            <a:r>
              <a:rPr lang="ro-RO" dirty="0">
                <a:cs typeface="Times New Roman" pitchFamily="18" charset="0"/>
              </a:rPr>
              <a:t>cuvântul este g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sit în memoria </a:t>
            </a:r>
            <a:r>
              <a:rPr lang="ro-RO" i="1" dirty="0" err="1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 este necesar accesul la memoria principal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en-US" dirty="0">
                <a:solidFill>
                  <a:schemeClr val="tx2"/>
                </a:solidFill>
              </a:rPr>
              <a:t> </a:t>
            </a:r>
            <a:endParaRPr lang="ro-RO" dirty="0">
              <a:solidFill>
                <a:schemeClr val="tx2"/>
              </a:solidFill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6E8A87-2FC4-4844-903F-69BE6DE03720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Funcționarea memoriei </a:t>
            </a:r>
            <a:r>
              <a:rPr lang="ro-RO" i="1" dirty="0" smtClean="0"/>
              <a:t>cache</a:t>
            </a:r>
            <a:r>
              <a:rPr lang="ro-RO" dirty="0" smtClean="0"/>
              <a:t> (2)</a:t>
            </a:r>
            <a:endParaRPr lang="ro-RO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5805264"/>
            <a:ext cx="8352928" cy="387798"/>
          </a:xfrm>
        </p:spPr>
        <p:txBody>
          <a:bodyPr/>
          <a:lstStyle/>
          <a:p>
            <a:pPr algn="ctr">
              <a:buNone/>
            </a:pPr>
            <a:r>
              <a:rPr lang="ro-RO" sz="2800" dirty="0" smtClean="0"/>
              <a:t>Execuția unei operații de citire</a:t>
            </a:r>
            <a:endParaRPr lang="ro-RO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A0F4-4C05-4BB1-A546-5E7DF7DD9743}" type="slidenum">
              <a:rPr lang="ro-RO" smtClean="0"/>
              <a:pPr/>
              <a:t>19</a:t>
            </a:fld>
            <a:endParaRPr lang="ro-RO"/>
          </a:p>
        </p:txBody>
      </p:sp>
      <p:pic>
        <p:nvPicPr>
          <p:cNvPr id="10" name="Content Placeholder 9" descr="ssc4-cache-function1.bmp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763688" y="1484783"/>
            <a:ext cx="5599431" cy="4083536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(3)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902881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Atunci când UCP genereaz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cerere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scriere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ererea este trimis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endParaRPr lang="ro-RO" i="1" dirty="0"/>
          </a:p>
          <a:p>
            <a:pPr lvl="1"/>
            <a:r>
              <a:rPr lang="ro-RO" dirty="0"/>
              <a:t>Dacă</a:t>
            </a:r>
            <a:r>
              <a:rPr lang="ro-RO" dirty="0">
                <a:cs typeface="Times New Roman" pitchFamily="18" charset="0"/>
              </a:rPr>
              <a:t> cuvântul nu este g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sit în memoria </a:t>
            </a:r>
            <a:r>
              <a:rPr lang="ro-RO" i="1" dirty="0" err="1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>
                <a:cs typeface="Times New Roman" pitchFamily="18" charset="0"/>
              </a:rPr>
              <a:t>se încarc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copie a </a:t>
            </a:r>
            <a:r>
              <a:rPr lang="ro-RO" dirty="0" smtClean="0">
                <a:cs typeface="Times New Roman" pitchFamily="18" charset="0"/>
              </a:rPr>
              <a:t>blocului în care se află cuvântul din </a:t>
            </a:r>
            <a:r>
              <a:rPr lang="ro-RO" dirty="0">
                <a:cs typeface="Times New Roman" pitchFamily="18" charset="0"/>
              </a:rPr>
              <a:t>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endParaRPr lang="ro-RO" i="1" dirty="0"/>
          </a:p>
          <a:p>
            <a:pPr lvl="2"/>
            <a:r>
              <a:rPr lang="ro-RO" sz="3000" dirty="0">
                <a:cs typeface="Tahoma" pitchFamily="34" charset="0"/>
              </a:rPr>
              <a:t>Se execută o </a:t>
            </a:r>
            <a:r>
              <a:rPr lang="ro-RO" sz="3000" dirty="0" smtClean="0">
                <a:cs typeface="Tahoma" pitchFamily="34" charset="0"/>
              </a:rPr>
              <a:t>operație </a:t>
            </a:r>
            <a:r>
              <a:rPr lang="ro-RO" sz="3000" dirty="0">
                <a:cs typeface="Tahoma" pitchFamily="34" charset="0"/>
              </a:rPr>
              <a:t>de scriere</a:t>
            </a:r>
            <a:r>
              <a:rPr lang="ro-RO" sz="3000" dirty="0"/>
              <a:t> </a:t>
            </a:r>
          </a:p>
          <a:p>
            <a:pPr lvl="1"/>
            <a:r>
              <a:rPr lang="ro-RO" dirty="0"/>
              <a:t>Dacă</a:t>
            </a:r>
            <a:r>
              <a:rPr lang="ro-RO" dirty="0">
                <a:cs typeface="Times New Roman" pitchFamily="18" charset="0"/>
              </a:rPr>
              <a:t> cuvântul este g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sit în memoria </a:t>
            </a:r>
            <a:r>
              <a:rPr lang="ro-RO" i="1" dirty="0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:</a:t>
            </a:r>
            <a:r>
              <a:rPr lang="ro-RO" dirty="0" smtClean="0"/>
              <a:t> </a:t>
            </a:r>
            <a:r>
              <a:rPr lang="ro-RO" dirty="0">
                <a:cs typeface="Times New Roman" pitchFamily="18" charset="0"/>
              </a:rPr>
              <a:t>se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 smtClean="0">
                <a:cs typeface="Times New Roman" pitchFamily="18" charset="0"/>
              </a:rPr>
              <a:t>operație </a:t>
            </a:r>
            <a:r>
              <a:rPr lang="ro-RO" dirty="0">
                <a:cs typeface="Times New Roman" pitchFamily="18" charset="0"/>
              </a:rPr>
              <a:t>de scriere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A861A2-F24F-43C2-BDD1-3ABBEB493773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Funcționarea memoriei </a:t>
            </a:r>
            <a:r>
              <a:rPr lang="ro-RO" i="1" dirty="0" smtClean="0"/>
              <a:t>cache</a:t>
            </a:r>
            <a:r>
              <a:rPr lang="ro-RO" dirty="0" smtClean="0"/>
              <a:t> (4)</a:t>
            </a:r>
            <a:endParaRPr lang="ro-RO" dirty="0"/>
          </a:p>
        </p:txBody>
      </p:sp>
      <p:pic>
        <p:nvPicPr>
          <p:cNvPr id="8" name="Content Placeholder 7" descr="ssc4-cache-function2.bmp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763688" y="1556792"/>
            <a:ext cx="5609117" cy="409059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5805264"/>
            <a:ext cx="8352928" cy="387798"/>
          </a:xfrm>
        </p:spPr>
        <p:txBody>
          <a:bodyPr/>
          <a:lstStyle/>
          <a:p>
            <a:pPr algn="ctr">
              <a:buNone/>
            </a:pPr>
            <a:r>
              <a:rPr lang="ro-RO" sz="2800" dirty="0" smtClean="0"/>
              <a:t>Execuția </a:t>
            </a:r>
            <a:r>
              <a:rPr lang="ro-RO" sz="2800" dirty="0"/>
              <a:t>unei </a:t>
            </a:r>
            <a:r>
              <a:rPr lang="ro-RO" sz="2800" dirty="0" smtClean="0"/>
              <a:t>operații </a:t>
            </a:r>
            <a:r>
              <a:rPr lang="ro-RO" sz="2800" dirty="0"/>
              <a:t>de </a:t>
            </a:r>
            <a:r>
              <a:rPr lang="ro-RO" sz="2800" dirty="0" smtClean="0"/>
              <a:t>scriere</a:t>
            </a:r>
            <a:endParaRPr lang="ro-RO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A0F4-4C05-4BB1-A546-5E7DF7DD9743}" type="slidenum">
              <a:rPr lang="ro-RO" smtClean="0"/>
              <a:pPr/>
              <a:t>21</a:t>
            </a:fld>
            <a:endParaRPr lang="ro-R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(5)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/>
              <a:t>Poate apare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inconsistența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datelor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ata din </a:t>
            </a:r>
            <a:r>
              <a:rPr lang="ro-RO" dirty="0"/>
              <a:t>memoria </a:t>
            </a:r>
            <a:r>
              <a:rPr lang="ro-RO" i="1" dirty="0"/>
              <a:t>cache</a:t>
            </a:r>
            <a:r>
              <a:rPr lang="ro-RO" dirty="0">
                <a:cs typeface="Times New Roman" pitchFamily="18" charset="0"/>
              </a:rPr>
              <a:t> difer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data din </a:t>
            </a:r>
            <a:r>
              <a:rPr lang="ro-RO" dirty="0"/>
              <a:t>memoria principală</a:t>
            </a:r>
            <a:r>
              <a:rPr lang="ro-RO" dirty="0">
                <a:cs typeface="Times New Roman" pitchFamily="18" charset="0"/>
              </a:rPr>
              <a:t> cu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>
                <a:cs typeface="Times New Roman" pitchFamily="18" charset="0"/>
              </a:rPr>
              <a:t>adres</a:t>
            </a:r>
            <a:r>
              <a:rPr lang="ro-RO" dirty="0"/>
              <a:t>ă </a:t>
            </a:r>
          </a:p>
          <a:p>
            <a:r>
              <a:rPr lang="ro-RO" dirty="0">
                <a:cs typeface="Times New Roman" pitchFamily="18" charset="0"/>
              </a:rPr>
              <a:t>O </a:t>
            </a:r>
            <a:r>
              <a:rPr lang="ro-RO" dirty="0" smtClean="0">
                <a:cs typeface="Times New Roman" pitchFamily="18" charset="0"/>
              </a:rPr>
              <a:t>inconsistenț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/>
              <a:t>temporară</a:t>
            </a:r>
            <a:r>
              <a:rPr lang="ro-RO" dirty="0">
                <a:cs typeface="Times New Roman" pitchFamily="18" charset="0"/>
              </a:rPr>
              <a:t> este acceptabil</a:t>
            </a:r>
            <a:r>
              <a:rPr lang="ro-RO" dirty="0"/>
              <a:t>ă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roblema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coerenței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memoriilor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cache</a:t>
            </a:r>
            <a:r>
              <a:rPr lang="ro-RO" dirty="0"/>
              <a:t>: p</a:t>
            </a:r>
            <a:r>
              <a:rPr lang="ro-RO" dirty="0">
                <a:cs typeface="Times New Roman" pitchFamily="18" charset="0"/>
              </a:rPr>
              <a:t>revenirea utiliz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improprii a datei vechi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isteme </a:t>
            </a:r>
            <a:r>
              <a:rPr lang="ro-RO" dirty="0" err="1" smtClean="0">
                <a:cs typeface="Times New Roman" pitchFamily="18" charset="0"/>
              </a:rPr>
              <a:t>multi</a:t>
            </a:r>
            <a:r>
              <a:rPr lang="ro-RO" dirty="0" smtClean="0">
                <a:cs typeface="Times New Roman" pitchFamily="18" charset="0"/>
              </a:rPr>
              <a:t>-procesor </a:t>
            </a:r>
            <a:endParaRPr lang="ro-RO" dirty="0"/>
          </a:p>
          <a:p>
            <a:pPr lvl="1"/>
            <a:r>
              <a:rPr lang="ro-RO" dirty="0"/>
              <a:t>Sisteme </a:t>
            </a:r>
            <a:r>
              <a:rPr lang="ro-RO" dirty="0" smtClean="0"/>
              <a:t>uni-procesor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34B8D7-33B3-45A3-82CE-C5E1B4B497CA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(6)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352928" cy="4968552"/>
          </a:xfrm>
        </p:spPr>
        <p:txBody>
          <a:bodyPr>
            <a:normAutofit/>
          </a:bodyPr>
          <a:lstStyle/>
          <a:p>
            <a:r>
              <a:rPr lang="ro-RO" dirty="0"/>
              <a:t>Strategii de scriere: </a:t>
            </a:r>
            <a:r>
              <a:rPr lang="ro-RO" i="1" dirty="0" err="1">
                <a:cs typeface="Times New Roman" pitchFamily="18" charset="0"/>
              </a:rPr>
              <a:t>write-back</a:t>
            </a:r>
            <a:r>
              <a:rPr lang="ro-RO" dirty="0"/>
              <a:t>,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write-through</a:t>
            </a:r>
            <a:endParaRPr lang="ro-RO" dirty="0"/>
          </a:p>
          <a:p>
            <a:pPr>
              <a:spcBef>
                <a:spcPts val="6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write-back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cuvânt din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i se asociaz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bit de modificare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(</a:t>
            </a:r>
            <a:r>
              <a:rPr lang="en-US" dirty="0" smtClean="0">
                <a:cs typeface="Times New Roman" pitchFamily="18" charset="0"/>
              </a:rPr>
              <a:t>“</a:t>
            </a:r>
            <a:r>
              <a:rPr lang="ro-RO" i="1" dirty="0" err="1" smtClean="0">
                <a:cs typeface="Times New Roman" pitchFamily="18" charset="0"/>
              </a:rPr>
              <a:t>dirty</a:t>
            </a:r>
            <a:r>
              <a:rPr lang="ro-RO" i="1" dirty="0" smtClean="0">
                <a:cs typeface="Times New Roman" pitchFamily="18" charset="0"/>
              </a:rPr>
              <a:t> bit</a:t>
            </a:r>
            <a:r>
              <a:rPr lang="en-US" i="1" dirty="0" smtClean="0">
                <a:cs typeface="Times New Roman" pitchFamily="18" charset="0"/>
              </a:rPr>
              <a:t>”</a:t>
            </a:r>
            <a:r>
              <a:rPr lang="ro-RO" dirty="0" smtClean="0">
                <a:cs typeface="Times New Roman" pitchFamily="18" charset="0"/>
              </a:rPr>
              <a:t>)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Toate modific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rile asupra unui cuvânt sunt efectuate în memoria </a:t>
            </a:r>
            <a:r>
              <a:rPr lang="ro-RO" i="1" dirty="0" err="1">
                <a:cs typeface="Times New Roman" pitchFamily="18" charset="0"/>
              </a:rPr>
              <a:t>cache</a:t>
            </a:r>
            <a:endParaRPr lang="ro-RO" i="1" dirty="0"/>
          </a:p>
          <a:p>
            <a:pPr lvl="1"/>
            <a:r>
              <a:rPr lang="ro-RO" dirty="0">
                <a:cs typeface="Times New Roman" pitchFamily="18" charset="0"/>
              </a:rPr>
              <a:t>Dacă un cuvânt trebuie eliminat </a:t>
            </a:r>
            <a:r>
              <a:rPr lang="ro-RO" dirty="0" smtClean="0">
                <a:cs typeface="Times New Roman" pitchFamily="18" charset="0"/>
              </a:rPr>
              <a:t>și</a:t>
            </a:r>
            <a:r>
              <a:rPr lang="ro-RO" dirty="0" smtClean="0"/>
              <a:t> </a:t>
            </a:r>
            <a:r>
              <a:rPr lang="ro-RO" dirty="0">
                <a:cs typeface="Times New Roman" pitchFamily="18" charset="0"/>
              </a:rPr>
              <a:t>bitul </a:t>
            </a:r>
            <a:r>
              <a:rPr lang="ro-RO" dirty="0"/>
              <a:t>de modificare </a:t>
            </a:r>
            <a:r>
              <a:rPr lang="ro-RO" dirty="0">
                <a:cs typeface="Times New Roman" pitchFamily="18" charset="0"/>
              </a:rPr>
              <a:t>este setat: cuvântul este actualizat în memoria principal</a:t>
            </a:r>
            <a:r>
              <a:rPr lang="ro-RO" dirty="0"/>
              <a:t>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72B3B4-A411-48EC-8D3B-CEB484407FD4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(7)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56792"/>
            <a:ext cx="8382000" cy="4364272"/>
          </a:xfrm>
        </p:spPr>
        <p:txBody>
          <a:bodyPr/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</a:t>
            </a:r>
            <a:r>
              <a:rPr lang="ro-RO" dirty="0"/>
              <a:t>: </a:t>
            </a:r>
          </a:p>
          <a:p>
            <a:pPr lvl="2"/>
            <a:r>
              <a:rPr lang="ro-RO" sz="3000" dirty="0" smtClean="0">
                <a:cs typeface="Tahoma" pitchFamily="34" charset="0"/>
              </a:rPr>
              <a:t>Cuvântul din memoria </a:t>
            </a:r>
            <a:r>
              <a:rPr lang="ro-RO" sz="3000" i="1" dirty="0" err="1" smtClean="0">
                <a:cs typeface="Tahoma" pitchFamily="34" charset="0"/>
              </a:rPr>
              <a:t>cache</a:t>
            </a:r>
            <a:r>
              <a:rPr lang="ro-RO" sz="3000" dirty="0" smtClean="0">
                <a:cs typeface="Tahoma" pitchFamily="34" charset="0"/>
              </a:rPr>
              <a:t> poate fi modificat de mai multe ori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Dezavantaje</a:t>
            </a:r>
            <a:r>
              <a:rPr lang="ro-RO" dirty="0" smtClean="0"/>
              <a:t>: </a:t>
            </a:r>
          </a:p>
          <a:p>
            <a:pPr lvl="2"/>
            <a:r>
              <a:rPr lang="ro-RO" sz="3000" dirty="0" smtClean="0">
                <a:cs typeface="Tahoma" pitchFamily="34" charset="0"/>
              </a:rPr>
              <a:t>Memoria </a:t>
            </a:r>
            <a:r>
              <a:rPr lang="ro-RO" sz="3000" i="1" dirty="0" smtClean="0">
                <a:cs typeface="Tahoma" pitchFamily="34" charset="0"/>
              </a:rPr>
              <a:t>cache</a:t>
            </a:r>
            <a:r>
              <a:rPr lang="ro-RO" sz="3000" dirty="0" smtClean="0">
                <a:cs typeface="Tahoma" pitchFamily="34" charset="0"/>
              </a:rPr>
              <a:t> și memoria principală pot fi temporar inconsistente </a:t>
            </a:r>
          </a:p>
          <a:p>
            <a:pPr lvl="2"/>
            <a:r>
              <a:rPr lang="ro-RO" sz="3000" dirty="0" smtClean="0">
                <a:cs typeface="Tahoma" pitchFamily="34" charset="0"/>
              </a:rPr>
              <a:t>Se </a:t>
            </a:r>
            <a:r>
              <a:rPr lang="ro-RO" sz="3000" dirty="0">
                <a:cs typeface="Tahoma" pitchFamily="34" charset="0"/>
              </a:rPr>
              <a:t>complică recuperarea în cazul defectelor de sistem</a:t>
            </a:r>
            <a:r>
              <a:rPr lang="ro-RO" sz="3000" dirty="0"/>
              <a:t> </a:t>
            </a:r>
          </a:p>
          <a:p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AFCC4D-ADC9-41B3-A65A-5DC8859B3F6F}" type="slidenum">
              <a:rPr lang="ro-RO"/>
              <a:pPr/>
              <a:t>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  <a:r>
              <a:rPr lang="ro-RO" dirty="0"/>
              <a:t> (8)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write-through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uvântul este modificat atât în memoria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, cât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în memoria principal</a:t>
            </a:r>
            <a:r>
              <a:rPr lang="ro-RO" dirty="0"/>
              <a:t>ă</a:t>
            </a:r>
            <a:endParaRPr lang="ro-RO" dirty="0">
              <a:solidFill>
                <a:schemeClr val="tx2"/>
              </a:solidFill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vantaje</a:t>
            </a:r>
            <a:r>
              <a:rPr lang="ro-RO" dirty="0"/>
              <a:t>:</a:t>
            </a:r>
          </a:p>
          <a:p>
            <a:pPr lvl="2"/>
            <a:r>
              <a:rPr lang="ro-RO" sz="3000" dirty="0">
                <a:cs typeface="Tahoma" pitchFamily="34" charset="0"/>
              </a:rPr>
              <a:t>Implementare simplă</a:t>
            </a:r>
          </a:p>
          <a:p>
            <a:pPr lvl="2"/>
            <a:r>
              <a:rPr lang="ro-RO" sz="3000" dirty="0">
                <a:cs typeface="Tahoma" pitchFamily="34" charset="0"/>
              </a:rPr>
              <a:t>Memoria principală are întotdeauna date consistente cu memoria </a:t>
            </a:r>
            <a:r>
              <a:rPr lang="ro-RO" sz="3000" i="1" dirty="0" err="1">
                <a:cs typeface="Tahoma" pitchFamily="34" charset="0"/>
              </a:rPr>
              <a:t>cache</a:t>
            </a:r>
            <a:endParaRPr lang="ro-RO" sz="3000" i="1" dirty="0">
              <a:cs typeface="Tahoma" pitchFamily="34" charset="0"/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Dezavantaj</a:t>
            </a:r>
            <a:r>
              <a:rPr lang="ro-RO" dirty="0"/>
              <a:t>:</a:t>
            </a:r>
          </a:p>
          <a:p>
            <a:pPr lvl="2"/>
            <a:r>
              <a:rPr lang="ro-RO" sz="3000" dirty="0" smtClean="0">
                <a:cs typeface="Tahoma" pitchFamily="34" charset="0"/>
              </a:rPr>
              <a:t>Încetinește </a:t>
            </a:r>
            <a:r>
              <a:rPr lang="ro-RO" sz="3000" dirty="0">
                <a:cs typeface="Tahoma" pitchFamily="34" charset="0"/>
              </a:rPr>
              <a:t>UCP </a:t>
            </a:r>
            <a:r>
              <a:rPr lang="ro-RO" sz="30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C1E26F-996F-4F5C-BAE8-85560C806CD7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</a:p>
          <a:p>
            <a:pPr lvl="1"/>
            <a:r>
              <a:rPr lang="ro-RO" dirty="0"/>
              <a:t>Principiul memoriei </a:t>
            </a:r>
            <a:r>
              <a:rPr lang="ro-RO" i="1" dirty="0"/>
              <a:t>cache</a:t>
            </a:r>
          </a:p>
          <a:p>
            <a:pPr lvl="1"/>
            <a:r>
              <a:rPr lang="ro-RO" dirty="0"/>
              <a:t>Organizarea memoriei </a:t>
            </a:r>
            <a:r>
              <a:rPr lang="ro-RO" i="1" dirty="0"/>
              <a:t>cache</a:t>
            </a:r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BE464E-D394-4803-B3E8-168008866FB9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Maparea adreselor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424936" cy="48965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Translatarea adresei de memorie </a:t>
            </a:r>
            <a:r>
              <a:rPr lang="ro-RO" dirty="0">
                <a:cs typeface="Times New Roman" pitchFamily="18" charset="0"/>
              </a:rPr>
              <a:t>specificat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UCP în </a:t>
            </a:r>
            <a:r>
              <a:rPr lang="ro-RO" dirty="0" smtClean="0">
                <a:cs typeface="Times New Roman" pitchFamily="18" charset="0"/>
              </a:rPr>
              <a:t>locația </a:t>
            </a:r>
            <a:r>
              <a:rPr lang="ro-RO" dirty="0">
                <a:cs typeface="Times New Roman" pitchFamily="18" charset="0"/>
              </a:rPr>
              <a:t>cuvântului din memoria </a:t>
            </a:r>
            <a:r>
              <a:rPr lang="ro-RO" i="1" dirty="0" smtClean="0">
                <a:cs typeface="Times New Roman" pitchFamily="18" charset="0"/>
              </a:rPr>
              <a:t>cache</a:t>
            </a:r>
            <a:endParaRPr lang="ro-RO" i="1" dirty="0"/>
          </a:p>
          <a:p>
            <a:pPr>
              <a:lnSpc>
                <a:spcPct val="90000"/>
              </a:lnSpc>
            </a:pPr>
            <a:r>
              <a:rPr lang="ro-RO" dirty="0"/>
              <a:t>Tipuri de mapare a adreselor: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Mapare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asociativ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Mapare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direct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Mapare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cu seturi asociative</a:t>
            </a:r>
          </a:p>
          <a:p>
            <a:pPr>
              <a:lnSpc>
                <a:spcPct val="90000"/>
              </a:lnSpc>
            </a:pPr>
            <a:r>
              <a:rPr lang="ro-RO" dirty="0"/>
              <a:t>Pentru exemple: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Memorie principală de </a:t>
            </a:r>
            <a:r>
              <a:rPr lang="ro-RO" dirty="0">
                <a:cs typeface="Times New Roman" pitchFamily="18" charset="0"/>
              </a:rPr>
              <a:t>64 K cuvinte </a:t>
            </a:r>
            <a:r>
              <a:rPr lang="ro-RO" dirty="0"/>
              <a:t>(</a:t>
            </a:r>
            <a:r>
              <a:rPr lang="ro-RO" dirty="0">
                <a:cs typeface="Times New Roman" pitchFamily="18" charset="0"/>
              </a:rPr>
              <a:t>16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/>
              <a:t>)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Memorie </a:t>
            </a:r>
            <a:r>
              <a:rPr lang="ro-RO" i="1" dirty="0" err="1"/>
              <a:t>cache</a:t>
            </a:r>
            <a:r>
              <a:rPr lang="ro-RO" dirty="0"/>
              <a:t> de 256 cuvinte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E780C-BF18-41D2-926D-531FBA84A24E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  <a:endParaRPr lang="en-US" i="1" dirty="0"/>
          </a:p>
        </p:txBody>
      </p:sp>
      <p:sp>
        <p:nvSpPr>
          <p:cNvPr id="3512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9667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Principiul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adreselor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928C7D-687C-4542-A364-DD5AA09C729D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</a:t>
            </a:r>
            <a:r>
              <a:rPr lang="ro-RO" dirty="0" smtClean="0"/>
              <a:t>asociativă (1)</a:t>
            </a:r>
            <a:endParaRPr lang="ro-RO" dirty="0"/>
          </a:p>
        </p:txBody>
      </p:sp>
      <p:sp>
        <p:nvSpPr>
          <p:cNvPr id="3287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emorie </a:t>
            </a:r>
            <a:r>
              <a:rPr lang="ro-RO" i="1" dirty="0" err="1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cu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asociativitate total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dresa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 conținutul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sunt memorate ca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cuvinte separate </a:t>
            </a:r>
            <a:r>
              <a:rPr lang="ro-RO" dirty="0">
                <a:cs typeface="Times New Roman" pitchFamily="18" charset="0"/>
              </a:rPr>
              <a:t>în memoria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i="1" dirty="0"/>
              <a:t> 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cuvânt de memorie poate fi memorat în orice </a:t>
            </a:r>
            <a:r>
              <a:rPr lang="ro-RO" dirty="0" smtClean="0">
                <a:cs typeface="Times New Roman" pitchFamily="18" charset="0"/>
              </a:rPr>
              <a:t>locație </a:t>
            </a:r>
            <a:r>
              <a:rPr lang="ro-RO" dirty="0">
                <a:cs typeface="Times New Roman" pitchFamily="18" charset="0"/>
              </a:rPr>
              <a:t>a memoriei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i="1" dirty="0"/>
              <a:t> </a:t>
            </a:r>
          </a:p>
          <a:p>
            <a:r>
              <a:rPr lang="ro-RO" dirty="0"/>
              <a:t>Organizarea: </a:t>
            </a:r>
            <a:r>
              <a:rPr lang="ro-RO" dirty="0" smtClean="0">
                <a:cs typeface="Times New Roman" pitchFamily="18" charset="0"/>
              </a:rPr>
              <a:t>combina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 </a:t>
            </a:r>
            <a:r>
              <a:rPr lang="ro-RO" dirty="0">
                <a:cs typeface="Times New Roman" pitchFamily="18" charset="0"/>
              </a:rPr>
              <a:t>între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 asociativ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 RAM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oar adresele cuvintelor sunt memorate în partea asociativ</a:t>
            </a:r>
            <a:r>
              <a:rPr lang="ro-RO" dirty="0"/>
              <a:t>ă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AB7263-588A-41E0-B4EE-C2CE578A7E59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asociativă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pic>
        <p:nvPicPr>
          <p:cNvPr id="9" name="Content Placeholder 8" descr="ssc4-cache-asociativ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907705" y="1484785"/>
            <a:ext cx="5325476" cy="4598345"/>
          </a:xfr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  <a:endParaRPr lang="en-US" i="1" dirty="0"/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9667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Principiul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2B9201-C4DE-46E5-BBC0-6F0D7F78CC52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Maparea directă (1)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Se utilizează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RAM în locul memoriilor asociative </a:t>
            </a:r>
            <a:r>
              <a:rPr lang="ro-RO" dirty="0">
                <a:sym typeface="Symbol" pitchFamily="18" charset="2"/>
              </a:rPr>
              <a:t> se reduce costul </a:t>
            </a:r>
          </a:p>
          <a:p>
            <a:r>
              <a:rPr lang="ro-RO" dirty="0">
                <a:cs typeface="Times New Roman" pitchFamily="18" charset="0"/>
                <a:sym typeface="Symbol" pitchFamily="18" charset="2"/>
              </a:rPr>
              <a:t>Consider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m c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memoria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cache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este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împ</a:t>
            </a:r>
            <a:r>
              <a:rPr lang="ro-RO" dirty="0" smtClean="0">
                <a:sym typeface="Symbol" pitchFamily="18" charset="2"/>
              </a:rPr>
              <a:t>ă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r</a:t>
            </a:r>
            <a:r>
              <a:rPr lang="ro-RO" dirty="0" smtClean="0">
                <a:sym typeface="Symbol" pitchFamily="18" charset="2"/>
              </a:rPr>
              <a:t>ț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it</a:t>
            </a:r>
            <a:r>
              <a:rPr lang="ro-RO" dirty="0" smtClean="0">
                <a:sym typeface="Symbol" pitchFamily="18" charset="2"/>
              </a:rPr>
              <a:t>ă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în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b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= 2</a:t>
            </a:r>
            <a:r>
              <a:rPr lang="ro-RO" i="1" baseline="30000" dirty="0">
                <a:cs typeface="Times New Roman" pitchFamily="18" charset="0"/>
                <a:sym typeface="Symbol" pitchFamily="18" charset="2"/>
              </a:rPr>
              <a:t>s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regiuni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(0),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(1), …,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b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-1)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seturi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  <a:sym typeface="Symbol" pitchFamily="18" charset="2"/>
            </a:endParaRPr>
          </a:p>
          <a:p>
            <a:r>
              <a:rPr lang="ro-RO" dirty="0">
                <a:cs typeface="Times New Roman" pitchFamily="18" charset="0"/>
                <a:sym typeface="Symbol" pitchFamily="18" charset="2"/>
              </a:rPr>
              <a:t>Memoria principal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este divizat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în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blocuri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itchFamily="18" charset="2"/>
              </a:rPr>
              <a:t> </a:t>
            </a:r>
          </a:p>
          <a:p>
            <a:r>
              <a:rPr lang="ro-RO" dirty="0">
                <a:sym typeface="Symbol" pitchFamily="18" charset="2"/>
              </a:rPr>
              <a:t>F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iecare bloc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i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) din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este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amplasat într‑un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set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(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j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) din 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ro-RO" baseline="-30000" dirty="0">
                <a:cs typeface="Times New Roman" pitchFamily="18" charset="0"/>
                <a:sym typeface="Symbol" pitchFamily="18" charset="2"/>
              </a:rPr>
              <a:t>1</a:t>
            </a:r>
            <a:endParaRPr lang="ro-RO" dirty="0">
              <a:sym typeface="Symbol" pitchFamily="18" charset="2"/>
            </a:endParaRPr>
          </a:p>
          <a:p>
            <a:pPr lvl="1"/>
            <a:r>
              <a:rPr lang="ro-RO" dirty="0">
                <a:sym typeface="Symbol" pitchFamily="18" charset="2"/>
              </a:rPr>
              <a:t>Adresa </a:t>
            </a:r>
            <a:r>
              <a:rPr lang="ro-RO" i="1" dirty="0">
                <a:sym typeface="Symbol" pitchFamily="18" charset="2"/>
              </a:rPr>
              <a:t>j</a:t>
            </a:r>
            <a:r>
              <a:rPr lang="ro-RO" dirty="0">
                <a:sym typeface="Symbol" pitchFamily="18" charset="2"/>
              </a:rPr>
              <a:t> a setului: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mod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6A76-E9AC-4A41-98EE-4218CAD9728E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Maparea directă (2)</a:t>
            </a:r>
          </a:p>
        </p:txBody>
      </p:sp>
      <p:sp>
        <p:nvSpPr>
          <p:cNvPr id="331779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518160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Consider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m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set al memoriei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con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ine </a:t>
            </a:r>
            <a:r>
              <a:rPr lang="ro-RO" dirty="0">
                <a:cs typeface="Times New Roman" pitchFamily="18" charset="0"/>
              </a:rPr>
              <a:t>un singur cuvânt</a:t>
            </a:r>
            <a:r>
              <a:rPr lang="ro-RO" dirty="0"/>
              <a:t> </a:t>
            </a:r>
          </a:p>
          <a:p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dresele de memorie sunt divizate în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</a:t>
            </a:r>
            <a:r>
              <a:rPr lang="ro-RO" dirty="0"/>
              <a:t>: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Index</a:t>
            </a:r>
            <a:r>
              <a:rPr lang="ro-RO" dirty="0" smtClean="0"/>
              <a:t>: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ordin inferior ai adresei din 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latin typeface="Arial" charset="0"/>
                <a:cs typeface="Times New Roman" pitchFamily="18" charset="0"/>
              </a:rPr>
              <a:t>→</a:t>
            </a:r>
            <a:r>
              <a:rPr lang="ro-RO" dirty="0"/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identifică setul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memoriei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care poate memora blocul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Marcaj</a:t>
            </a:r>
            <a:r>
              <a:rPr lang="ro-RO" dirty="0" smtClean="0"/>
              <a:t>: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ordin superior </a:t>
            </a:r>
            <a:r>
              <a:rPr lang="ro-RO" dirty="0" smtClean="0">
                <a:cs typeface="Times New Roman" pitchFamily="18" charset="0"/>
              </a:rPr>
              <a:t>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ma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ai adresei din 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6712E6-D883-4305-88BB-C2EA69C1944F}" type="slidenum">
              <a:rPr lang="ro-RO"/>
              <a:pPr/>
              <a:t>33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(3)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875"/>
            <a:ext cx="8352928" cy="4824437"/>
          </a:xfrm>
        </p:spPr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La adresa specificat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index:</a:t>
            </a:r>
          </a:p>
          <a:p>
            <a:pPr lvl="1"/>
            <a:r>
              <a:rPr lang="ro-RO" dirty="0">
                <a:cs typeface="Times New Roman" pitchFamily="18" charset="0"/>
              </a:rPr>
              <a:t>Este memorat un marcaj în memoria de marcaje </a:t>
            </a:r>
          </a:p>
          <a:p>
            <a:pPr lvl="1"/>
            <a:r>
              <a:rPr lang="ro-RO" dirty="0"/>
              <a:t>Este memorat</a:t>
            </a:r>
            <a:r>
              <a:rPr lang="ro-RO" dirty="0">
                <a:cs typeface="Times New Roman" pitchFamily="18" charset="0"/>
              </a:rPr>
              <a:t> un bloc în memoria de date</a:t>
            </a:r>
            <a:r>
              <a:rPr lang="ro-RO" dirty="0"/>
              <a:t> </a:t>
            </a:r>
          </a:p>
          <a:p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emoria de marcaje poate fi o memorie RAM </a:t>
            </a:r>
            <a:r>
              <a:rPr lang="ro-RO" dirty="0" smtClean="0">
                <a:cs typeface="Times New Roman" pitchFamily="18" charset="0"/>
              </a:rPr>
              <a:t>obișnuit</a:t>
            </a:r>
            <a:r>
              <a:rPr lang="ro-RO" dirty="0" smtClean="0"/>
              <a:t>ă</a:t>
            </a:r>
            <a:r>
              <a:rPr lang="ro-RO" dirty="0">
                <a:cs typeface="Times New Roman" pitchFamily="18" charset="0"/>
              </a:rPr>
              <a:t>, adresat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index (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 smtClean="0">
                <a:cs typeface="Times New Roman" pitchFamily="18" charset="0"/>
              </a:rPr>
              <a:t> 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i)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2</a:t>
            </a:r>
            <a:r>
              <a:rPr lang="ro-RO" i="1" baseline="30000" dirty="0">
                <a:cs typeface="Times New Roman" pitchFamily="18" charset="0"/>
              </a:rPr>
              <a:t>d</a:t>
            </a:r>
            <a:r>
              <a:rPr lang="ro-RO" dirty="0">
                <a:cs typeface="Times New Roman" pitchFamily="18" charset="0"/>
              </a:rPr>
              <a:t> cuvinte pe set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cei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ordin inferior ai adresei formeaz</a:t>
            </a:r>
            <a:r>
              <a:rPr lang="ro-RO" dirty="0"/>
              <a:t>ă 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deplasamentul </a:t>
            </a:r>
            <a:r>
              <a:rPr lang="ro-RO" dirty="0">
                <a:cs typeface="Times New Roman" pitchFamily="18" charset="0"/>
              </a:rPr>
              <a:t>cuvântului din set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A1D66C-D3C4-4067-9A09-CB5B2FADB262}" type="slidenum">
              <a:rPr lang="ro-RO"/>
              <a:pPr/>
              <a:t>34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(4)</a:t>
            </a:r>
            <a:endParaRPr lang="ro-RO" dirty="0"/>
          </a:p>
        </p:txBody>
      </p:sp>
      <p:pic>
        <p:nvPicPr>
          <p:cNvPr id="7" name="Content Placeholder 6" descr="ssc4-cache-direct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915816" y="1412775"/>
            <a:ext cx="3323173" cy="472268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(5)</a:t>
            </a:r>
            <a:endParaRPr lang="ro-RO" dirty="0"/>
          </a:p>
        </p:txBody>
      </p:sp>
      <p:pic>
        <p:nvPicPr>
          <p:cNvPr id="7" name="Content Placeholder 6" descr="ssc4-cache-direct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483768" y="1412776"/>
            <a:ext cx="4155592" cy="468850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062651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 ale mapării directe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N</a:t>
            </a:r>
            <a:r>
              <a:rPr lang="ro-RO" dirty="0" smtClean="0">
                <a:cs typeface="Times New Roman" pitchFamily="18" charset="0"/>
              </a:rPr>
              <a:t>ecesit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un num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 mai redus de 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pentru fiecare cuvânt din memoria </a:t>
            </a:r>
            <a:r>
              <a:rPr lang="ro-RO" i="1" dirty="0" smtClean="0">
                <a:cs typeface="Times New Roman" pitchFamily="18" charset="0"/>
              </a:rPr>
              <a:t>cache</a:t>
            </a:r>
            <a:r>
              <a:rPr lang="ro-RO" i="1" dirty="0" smtClean="0"/>
              <a:t> </a:t>
            </a:r>
          </a:p>
          <a:p>
            <a:pPr lvl="1"/>
            <a:r>
              <a:rPr lang="ro-RO" dirty="0" smtClean="0"/>
              <a:t>Nu necesită memorie asociativă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 al mapării directe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P</a:t>
            </a:r>
            <a:r>
              <a:rPr lang="ro-RO" dirty="0" smtClean="0">
                <a:cs typeface="Times New Roman" pitchFamily="18" charset="0"/>
              </a:rPr>
              <a:t>erforman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ele pot fi reduse dac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dou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sau mai multe cuvinte </a:t>
            </a:r>
            <a:r>
              <a:rPr lang="ro-RO" dirty="0" smtClean="0"/>
              <a:t>cu</a:t>
            </a:r>
            <a:r>
              <a:rPr lang="ro-RO" dirty="0" smtClean="0">
                <a:cs typeface="Times New Roman" pitchFamily="18" charset="0"/>
              </a:rPr>
              <a:t> acela</a:t>
            </a:r>
            <a:r>
              <a:rPr lang="ro-RO" dirty="0" smtClean="0"/>
              <a:t>și</a:t>
            </a:r>
            <a:r>
              <a:rPr lang="ro-RO" dirty="0" smtClean="0">
                <a:cs typeface="Times New Roman" pitchFamily="18" charset="0"/>
              </a:rPr>
              <a:t> index, dar marcaje diferite, sunt accesate frecvent</a:t>
            </a:r>
            <a:r>
              <a:rPr lang="ro-RO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148828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 de proiectare a unei memorii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cache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cu mapare directă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Procesor conectat cu o memorie extern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adresabil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la nivel de octet (B)</a:t>
            </a:r>
            <a:endParaRPr lang="ro-RO" dirty="0" smtClean="0"/>
          </a:p>
          <a:p>
            <a:pPr lvl="1"/>
            <a:r>
              <a:rPr lang="ro-RO" dirty="0" smtClean="0"/>
              <a:t>M</a:t>
            </a:r>
            <a:r>
              <a:rPr lang="ro-RO" dirty="0" smtClean="0">
                <a:cs typeface="Times New Roman" pitchFamily="18" charset="0"/>
              </a:rPr>
              <a:t>agistral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de adrese de 32 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endParaRPr lang="ro-RO" dirty="0" smtClean="0"/>
          </a:p>
          <a:p>
            <a:pPr lvl="1"/>
            <a:r>
              <a:rPr lang="ro-RO" dirty="0" smtClean="0"/>
              <a:t>M</a:t>
            </a:r>
            <a:r>
              <a:rPr lang="ro-RO" dirty="0" smtClean="0">
                <a:cs typeface="Times New Roman" pitchFamily="18" charset="0"/>
              </a:rPr>
              <a:t>agistral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de date de 32 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endParaRPr lang="ro-RO" dirty="0" smtClean="0"/>
          </a:p>
          <a:p>
            <a:pPr lvl="1"/>
            <a:r>
              <a:rPr lang="ro-RO" dirty="0" smtClean="0">
                <a:cs typeface="Times New Roman" pitchFamily="18" charset="0"/>
              </a:rPr>
              <a:t>Dimensiunea memoriei </a:t>
            </a:r>
            <a:r>
              <a:rPr lang="ro-RO" i="1" dirty="0" smtClean="0">
                <a:cs typeface="Times New Roman" pitchFamily="18" charset="0"/>
              </a:rPr>
              <a:t>cache</a:t>
            </a:r>
            <a:r>
              <a:rPr lang="ro-RO" dirty="0" smtClean="0"/>
              <a:t>: </a:t>
            </a:r>
            <a:r>
              <a:rPr lang="ro-RO" dirty="0" smtClean="0">
                <a:cs typeface="Times New Roman" pitchFamily="18" charset="0"/>
              </a:rPr>
              <a:t>1 MB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/>
              <a:t>Dimensiunea unui set: 32 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84784"/>
            <a:ext cx="8511480" cy="4722831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Nr. de seturi</a:t>
            </a:r>
            <a:r>
              <a:rPr lang="ro-RO" sz="3300" dirty="0" smtClean="0"/>
              <a:t>: </a:t>
            </a:r>
            <a:r>
              <a:rPr lang="ro-RO" sz="3300" dirty="0" smtClean="0">
                <a:cs typeface="Times New Roman" charset="0"/>
              </a:rPr>
              <a:t>1 MB / 32 B = 2</a:t>
            </a:r>
            <a:r>
              <a:rPr lang="ro-RO" sz="3300" baseline="30000" dirty="0" smtClean="0">
                <a:cs typeface="Times New Roman" charset="0"/>
              </a:rPr>
              <a:t>20</a:t>
            </a:r>
            <a:r>
              <a:rPr lang="ro-RO" sz="3300" dirty="0" smtClean="0">
                <a:cs typeface="Times New Roman" charset="0"/>
              </a:rPr>
              <a:t> B / 2</a:t>
            </a:r>
            <a:r>
              <a:rPr lang="ro-RO" sz="3300" baseline="30000" dirty="0" smtClean="0">
                <a:cs typeface="Times New Roman" charset="0"/>
              </a:rPr>
              <a:t>5</a:t>
            </a:r>
            <a:r>
              <a:rPr lang="ro-RO" sz="3300" dirty="0" smtClean="0">
                <a:cs typeface="Times New Roman" charset="0"/>
              </a:rPr>
              <a:t> B = 2</a:t>
            </a:r>
            <a:r>
              <a:rPr lang="ro-RO" sz="3300" baseline="30000" dirty="0" smtClean="0">
                <a:cs typeface="Times New Roman" charset="0"/>
              </a:rPr>
              <a:t>15</a:t>
            </a:r>
            <a:r>
              <a:rPr lang="ro-RO" sz="3300" dirty="0" smtClean="0">
                <a:cs typeface="Times New Roman" charset="0"/>
              </a:rPr>
              <a:t> </a:t>
            </a:r>
            <a:endParaRPr lang="ro-RO" sz="3300" dirty="0" smtClean="0"/>
          </a:p>
          <a:p>
            <a:r>
              <a:rPr lang="ro-RO" sz="3300" dirty="0" smtClean="0">
                <a:cs typeface="Times New Roman" charset="0"/>
              </a:rPr>
              <a:t>Selectarea </a:t>
            </a:r>
            <a:r>
              <a:rPr lang="ro-RO" sz="3300" dirty="0" smtClean="0"/>
              <a:t>seturilor</a:t>
            </a:r>
            <a:r>
              <a:rPr lang="ro-RO" sz="3300" dirty="0" smtClean="0">
                <a:cs typeface="Times New Roman" charset="0"/>
              </a:rPr>
              <a:t> din memoria de date</a:t>
            </a:r>
            <a:r>
              <a:rPr lang="ro-RO" sz="3300" dirty="0" smtClean="0"/>
              <a:t>:           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sz="3300" dirty="0" smtClean="0"/>
              <a:t> = 15 (biți pentru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charset="0"/>
              </a:rPr>
              <a:t>adresa setului</a:t>
            </a:r>
            <a:r>
              <a:rPr lang="ro-RO" sz="3300" dirty="0" smtClean="0"/>
              <a:t>)</a:t>
            </a:r>
          </a:p>
          <a:p>
            <a:r>
              <a:rPr lang="ro-RO" sz="3300" dirty="0"/>
              <a:t>A</a:t>
            </a:r>
            <a:r>
              <a:rPr lang="ro-RO" sz="3300" dirty="0">
                <a:cs typeface="Times New Roman" charset="0"/>
              </a:rPr>
              <a:t>dresarea </a:t>
            </a:r>
            <a:r>
              <a:rPr lang="ro-RO" sz="3300" dirty="0" smtClean="0">
                <a:cs typeface="Times New Roman" charset="0"/>
              </a:rPr>
              <a:t>unui </a:t>
            </a:r>
            <a:r>
              <a:rPr lang="ro-RO" sz="3300" dirty="0">
                <a:cs typeface="Times New Roman" charset="0"/>
              </a:rPr>
              <a:t>B din </a:t>
            </a:r>
            <a:r>
              <a:rPr lang="ro-RO" sz="3300" dirty="0"/>
              <a:t>setul de 32 B: </a:t>
            </a:r>
            <a:r>
              <a:rPr lang="ro-RO" sz="33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/>
              <a:t>= 5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Marcajul</a:t>
            </a:r>
            <a:r>
              <a:rPr lang="ro-RO" sz="3300" dirty="0" smtClean="0"/>
              <a:t>: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charset="0"/>
              </a:rPr>
              <a:t> </a:t>
            </a:r>
            <a:r>
              <a:rPr lang="ro-RO" sz="3300" dirty="0" smtClean="0">
                <a:cs typeface="Times New Roman" charset="0"/>
              </a:rPr>
              <a:t>= 32 – (15 + 5) = 12</a:t>
            </a:r>
            <a:endParaRPr lang="ro-RO" sz="3300" dirty="0" smtClean="0"/>
          </a:p>
          <a:p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Dimensiunea memoriei de marcaje</a:t>
            </a:r>
            <a:r>
              <a:rPr lang="ro-RO" sz="3300" dirty="0"/>
              <a:t>:</a:t>
            </a:r>
            <a:r>
              <a:rPr lang="ro-RO" sz="3300" dirty="0">
                <a:cs typeface="Times New Roman" charset="0"/>
              </a:rPr>
              <a:t> 2</a:t>
            </a:r>
            <a:r>
              <a:rPr lang="ro-RO" sz="3300" baseline="30000" dirty="0">
                <a:cs typeface="Times New Roman" charset="0"/>
              </a:rPr>
              <a:t>15</a:t>
            </a:r>
            <a:r>
              <a:rPr lang="ro-RO" sz="3300" dirty="0">
                <a:cs typeface="Times New Roman" charset="0"/>
              </a:rPr>
              <a:t> </a:t>
            </a:r>
            <a:r>
              <a:rPr lang="ro-RO" sz="3300" dirty="0"/>
              <a:t>x</a:t>
            </a:r>
            <a:r>
              <a:rPr lang="ro-RO" sz="3300" dirty="0">
                <a:cs typeface="Times New Roman" charset="0"/>
              </a:rPr>
              <a:t> </a:t>
            </a:r>
            <a:r>
              <a:rPr lang="ro-RO" sz="3300" dirty="0" smtClean="0">
                <a:cs typeface="Times New Roman" charset="0"/>
              </a:rPr>
              <a:t>12 bi</a:t>
            </a:r>
            <a:r>
              <a:rPr lang="ro-RO" sz="3300" dirty="0" smtClean="0"/>
              <a:t>ț</a:t>
            </a:r>
            <a:r>
              <a:rPr lang="ro-RO" sz="3300" dirty="0" smtClean="0">
                <a:cs typeface="Times New Roman" charset="0"/>
              </a:rPr>
              <a:t>i</a:t>
            </a:r>
            <a:endParaRPr lang="ro-RO" sz="3300" dirty="0"/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Nr. de cuvinte din memoria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 date</a:t>
            </a:r>
            <a:r>
              <a:rPr lang="ro-RO" sz="3300" dirty="0"/>
              <a:t>: 1 MB / 4 B = </a:t>
            </a:r>
            <a:r>
              <a:rPr lang="ro-RO" sz="3300" dirty="0">
                <a:cs typeface="Times New Roman" charset="0"/>
              </a:rPr>
              <a:t>2</a:t>
            </a:r>
            <a:r>
              <a:rPr lang="ro-RO" sz="3300" baseline="30000" dirty="0">
                <a:cs typeface="Times New Roman" charset="0"/>
              </a:rPr>
              <a:t>20</a:t>
            </a:r>
            <a:r>
              <a:rPr lang="ro-RO" sz="3300" dirty="0">
                <a:cs typeface="Times New Roman" charset="0"/>
              </a:rPr>
              <a:t> B / 2</a:t>
            </a:r>
            <a:r>
              <a:rPr lang="ro-RO" sz="3300" baseline="30000" dirty="0">
                <a:cs typeface="Times New Roman" charset="0"/>
              </a:rPr>
              <a:t>2</a:t>
            </a:r>
            <a:r>
              <a:rPr lang="ro-RO" sz="3300" dirty="0">
                <a:cs typeface="Times New Roman" charset="0"/>
              </a:rPr>
              <a:t> B</a:t>
            </a:r>
            <a:r>
              <a:rPr lang="ro-RO" sz="3300" dirty="0"/>
              <a:t> = 2</a:t>
            </a:r>
            <a:r>
              <a:rPr lang="ro-RO" sz="3300" baseline="30000" dirty="0"/>
              <a:t>18</a:t>
            </a:r>
            <a:r>
              <a:rPr lang="ro-RO" sz="3300" dirty="0"/>
              <a:t> </a:t>
            </a:r>
            <a:r>
              <a:rPr lang="ro-RO" sz="3300" dirty="0" smtClean="0"/>
              <a:t>cuvinte de 32 biți</a:t>
            </a:r>
            <a:endParaRPr lang="ro-RO" sz="3300" dirty="0" smtClean="0">
              <a:cs typeface="Times New Roman" charset="0"/>
            </a:endParaRPr>
          </a:p>
          <a:p>
            <a:r>
              <a:rPr lang="ro-RO" sz="3300" dirty="0" smtClean="0">
                <a:cs typeface="Times New Roman" charset="0"/>
              </a:rPr>
              <a:t>Adres</a:t>
            </a:r>
            <a:r>
              <a:rPr lang="ro-RO" sz="3300" dirty="0" smtClean="0"/>
              <a:t>ă</a:t>
            </a:r>
            <a:r>
              <a:rPr lang="ro-RO" sz="3300" dirty="0" smtClean="0">
                <a:cs typeface="Times New Roman" charset="0"/>
              </a:rPr>
              <a:t> de 18 bi</a:t>
            </a:r>
            <a:r>
              <a:rPr lang="ro-RO" sz="3300" dirty="0" smtClean="0"/>
              <a:t>ț</a:t>
            </a:r>
            <a:r>
              <a:rPr lang="ro-RO" sz="3300" dirty="0" smtClean="0">
                <a:cs typeface="Times New Roman" charset="0"/>
              </a:rPr>
              <a:t>i pentru memoria de date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directă </a:t>
            </a:r>
            <a:r>
              <a:rPr lang="ro-RO" dirty="0" smtClean="0"/>
              <a:t>(9)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62" y="1412776"/>
            <a:ext cx="5635636" cy="4789028"/>
          </a:xfrm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 err="1"/>
              <a:t>cache</a:t>
            </a:r>
            <a:endParaRPr lang="en-US" i="1" dirty="0"/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9667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Principiul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Maparea cu seturi asociative</a:t>
            </a:r>
          </a:p>
          <a:p>
            <a:pPr lvl="1"/>
            <a:r>
              <a:rPr lang="ro-RO" dirty="0"/>
              <a:t>Strategii de înlocuire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02A6C4-2BEB-4B17-B77A-3093CBE8730B}" type="slidenum">
              <a:rPr lang="ro-RO"/>
              <a:pPr/>
              <a:t>41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cu seturi asociative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88976"/>
          </a:xfrm>
        </p:spPr>
        <p:txBody>
          <a:bodyPr/>
          <a:lstStyle/>
          <a:p>
            <a:r>
              <a:rPr lang="ro-RO" sz="3300" dirty="0" smtClean="0"/>
              <a:t>P</a:t>
            </a:r>
            <a:r>
              <a:rPr lang="ro-RO" sz="3300" dirty="0" smtClean="0">
                <a:cs typeface="Times New Roman" pitchFamily="18" charset="0"/>
              </a:rPr>
              <a:t>ermi</a:t>
            </a:r>
            <a:r>
              <a:rPr lang="ro-RO" sz="3300" dirty="0" smtClean="0"/>
              <a:t>te</a:t>
            </a:r>
            <a:r>
              <a:rPr lang="ro-RO" sz="3300" dirty="0" smtClean="0">
                <a:cs typeface="Times New Roman" pitchFamily="18" charset="0"/>
              </a:rPr>
              <a:t>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memorarea mai multor blocuri cu același index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sz="3300" dirty="0" smtClean="0"/>
              <a:t>M</a:t>
            </a:r>
            <a:r>
              <a:rPr lang="ro-RO" sz="3300" dirty="0" smtClean="0">
                <a:cs typeface="Times New Roman" pitchFamily="18" charset="0"/>
              </a:rPr>
              <a:t>emoria </a:t>
            </a:r>
            <a:r>
              <a:rPr lang="ro-RO" sz="3300" i="1" dirty="0" err="1" smtClean="0">
                <a:cs typeface="Times New Roman" pitchFamily="18" charset="0"/>
              </a:rPr>
              <a:t>cache</a:t>
            </a:r>
            <a:r>
              <a:rPr lang="ro-RO" sz="3300" dirty="0" smtClean="0">
                <a:cs typeface="Times New Roman" pitchFamily="18" charset="0"/>
              </a:rPr>
              <a:t> </a:t>
            </a:r>
            <a:r>
              <a:rPr lang="ro-RO" sz="3300" i="1" dirty="0" smtClean="0">
                <a:cs typeface="Times New Roman" pitchFamily="18" charset="0"/>
              </a:rPr>
              <a:t>M</a:t>
            </a:r>
            <a:r>
              <a:rPr lang="ro-RO" sz="3300" baseline="-30000" dirty="0" smtClean="0">
                <a:cs typeface="Times New Roman" pitchFamily="18" charset="0"/>
              </a:rPr>
              <a:t>1</a:t>
            </a:r>
            <a:r>
              <a:rPr lang="ro-RO" sz="3300" dirty="0" smtClean="0">
                <a:cs typeface="Times New Roman" pitchFamily="18" charset="0"/>
              </a:rPr>
              <a:t> este divizat</a:t>
            </a:r>
            <a:r>
              <a:rPr lang="ro-RO" sz="3300" dirty="0" smtClean="0"/>
              <a:t>ă</a:t>
            </a:r>
            <a:r>
              <a:rPr lang="ro-RO" sz="3300" dirty="0" smtClean="0">
                <a:cs typeface="Times New Roman" pitchFamily="18" charset="0"/>
              </a:rPr>
              <a:t> în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</a:t>
            </a:r>
            <a:r>
              <a:rPr lang="ro-RO" sz="3300" dirty="0" smtClean="0">
                <a:cs typeface="Times New Roman" pitchFamily="18" charset="0"/>
              </a:rPr>
              <a:t> = 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sz="3300" i="1" baseline="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300" dirty="0" smtClean="0"/>
              <a:t>seturi</a:t>
            </a:r>
          </a:p>
          <a:p>
            <a:r>
              <a:rPr lang="ro-RO" sz="3300" dirty="0" smtClean="0"/>
              <a:t>F</a:t>
            </a:r>
            <a:r>
              <a:rPr lang="ro-RO" sz="3300" dirty="0" smtClean="0">
                <a:cs typeface="Times New Roman" pitchFamily="18" charset="0"/>
              </a:rPr>
              <a:t>iecare set </a:t>
            </a:r>
            <a:r>
              <a:rPr lang="ro-RO" sz="3300" dirty="0" smtClean="0"/>
              <a:t>poate </a:t>
            </a:r>
            <a:r>
              <a:rPr lang="ro-RO" sz="3300" dirty="0" smtClean="0">
                <a:cs typeface="Times New Roman" pitchFamily="18" charset="0"/>
              </a:rPr>
              <a:t>memora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300" dirty="0" smtClean="0">
                <a:cs typeface="Times New Roman" pitchFamily="18" charset="0"/>
              </a:rPr>
              <a:t>=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sz="3300" i="1" baseline="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300" dirty="0" smtClean="0">
                <a:cs typeface="Times New Roman" pitchFamily="18" charset="0"/>
              </a:rPr>
              <a:t>blocuri</a:t>
            </a:r>
            <a:r>
              <a:rPr lang="ro-RO" sz="3300" dirty="0" smtClean="0"/>
              <a:t> </a:t>
            </a:r>
          </a:p>
          <a:p>
            <a:r>
              <a:rPr lang="ro-RO" sz="3300" dirty="0" smtClean="0">
                <a:cs typeface="Times New Roman" pitchFamily="18" charset="0"/>
              </a:rPr>
              <a:t>Fiecare set </a:t>
            </a:r>
            <a:r>
              <a:rPr lang="ro-RO" sz="3300" i="1" dirty="0" smtClean="0">
                <a:cs typeface="Times New Roman" pitchFamily="18" charset="0"/>
              </a:rPr>
              <a:t>M</a:t>
            </a:r>
            <a:r>
              <a:rPr lang="ro-RO" sz="3300" baseline="-30000" dirty="0" smtClean="0">
                <a:cs typeface="Times New Roman" pitchFamily="18" charset="0"/>
              </a:rPr>
              <a:t>1</a:t>
            </a:r>
            <a:r>
              <a:rPr lang="ro-RO" sz="3300" dirty="0" smtClean="0">
                <a:cs typeface="Times New Roman" pitchFamily="18" charset="0"/>
              </a:rPr>
              <a:t>(</a:t>
            </a:r>
            <a:r>
              <a:rPr lang="ro-RO" sz="3300" i="1" dirty="0" smtClean="0">
                <a:cs typeface="Times New Roman" pitchFamily="18" charset="0"/>
              </a:rPr>
              <a:t>k</a:t>
            </a:r>
            <a:r>
              <a:rPr lang="ro-RO" sz="3300" dirty="0" smtClean="0">
                <a:cs typeface="Times New Roman" pitchFamily="18" charset="0"/>
              </a:rPr>
              <a:t>) este o memorie asociativ</a:t>
            </a:r>
            <a:r>
              <a:rPr lang="ro-RO" sz="3300" dirty="0" smtClean="0"/>
              <a:t>ă </a:t>
            </a:r>
          </a:p>
          <a:p>
            <a:r>
              <a:rPr lang="ro-RO" sz="3300" dirty="0" smtClean="0">
                <a:cs typeface="Times New Roman" pitchFamily="18" charset="0"/>
              </a:rPr>
              <a:t>Maparea asociativ</a:t>
            </a:r>
            <a:r>
              <a:rPr lang="ro-RO" sz="3300" dirty="0" smtClean="0"/>
              <a:t>ă și cea</a:t>
            </a:r>
            <a:r>
              <a:rPr lang="ro-RO" sz="3300" dirty="0" smtClean="0">
                <a:cs typeface="Times New Roman" pitchFamily="18" charset="0"/>
              </a:rPr>
              <a:t> direct</a:t>
            </a:r>
            <a:r>
              <a:rPr lang="ro-RO" sz="3300" dirty="0" smtClean="0"/>
              <a:t>ă: </a:t>
            </a:r>
            <a:r>
              <a:rPr lang="ro-RO" sz="3300" dirty="0" smtClean="0">
                <a:cs typeface="Times New Roman" pitchFamily="18" charset="0"/>
              </a:rPr>
              <a:t>cazuri speciale ale map</a:t>
            </a:r>
            <a:r>
              <a:rPr lang="ro-RO" sz="3300" dirty="0" smtClean="0"/>
              <a:t>ă</a:t>
            </a:r>
            <a:r>
              <a:rPr lang="ro-RO" sz="3300" dirty="0" smtClean="0">
                <a:cs typeface="Times New Roman" pitchFamily="18" charset="0"/>
              </a:rPr>
              <a:t>rii cu seturi asociative</a:t>
            </a:r>
            <a:endParaRPr lang="ro-RO" sz="3300" dirty="0" smtClean="0"/>
          </a:p>
          <a:p>
            <a:pPr lvl="1"/>
            <a:r>
              <a:rPr lang="ro-RO" i="1" dirty="0" smtClean="0"/>
              <a:t>k</a:t>
            </a:r>
            <a:r>
              <a:rPr lang="ro-RO" dirty="0" smtClean="0"/>
              <a:t> = 1: mapare directă</a:t>
            </a:r>
          </a:p>
          <a:p>
            <a:pPr lvl="1"/>
            <a:r>
              <a:rPr lang="ro-RO" i="1" dirty="0" smtClean="0"/>
              <a:t>b</a:t>
            </a:r>
            <a:r>
              <a:rPr lang="ro-RO" dirty="0" smtClean="0"/>
              <a:t> = 1: mapare complet asociativă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cu seturi asociative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85926"/>
          </a:xfrm>
        </p:spPr>
        <p:txBody>
          <a:bodyPr/>
          <a:lstStyle/>
          <a:p>
            <a:r>
              <a:rPr lang="ro-RO" dirty="0" smtClean="0"/>
              <a:t>În practică, se utilizează valori mici ale numărului </a:t>
            </a:r>
            <a:r>
              <a:rPr lang="ro-RO" i="1" dirty="0" smtClean="0"/>
              <a:t>k</a:t>
            </a:r>
            <a:r>
              <a:rPr lang="ro-RO" dirty="0" smtClean="0"/>
              <a:t> (ex., </a:t>
            </a:r>
            <a:r>
              <a:rPr lang="ro-RO" i="1" dirty="0" smtClean="0"/>
              <a:t>k</a:t>
            </a:r>
            <a:r>
              <a:rPr lang="ro-RO" dirty="0" smtClean="0"/>
              <a:t> = 4)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P</a:t>
            </a:r>
            <a:r>
              <a:rPr lang="ro-RO" dirty="0" smtClean="0">
                <a:cs typeface="Times New Roman" pitchFamily="18" charset="0"/>
              </a:rPr>
              <a:t>ermite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utilizarea unor memorii RAM pentru memorarea marcajelor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 smtClean="0"/>
              <a:t>M</a:t>
            </a:r>
            <a:r>
              <a:rPr lang="ro-RO" dirty="0" smtClean="0">
                <a:cs typeface="Times New Roman" pitchFamily="18" charset="0"/>
              </a:rPr>
              <a:t>emorie </a:t>
            </a:r>
            <a:r>
              <a:rPr lang="ro-RO" i="1" dirty="0" err="1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 cu seturi asociative cu </a:t>
            </a:r>
            <a:r>
              <a:rPr lang="ro-RO" i="1" dirty="0" smtClean="0">
                <a:cs typeface="Times New Roman" pitchFamily="18" charset="0"/>
              </a:rPr>
              <a:t>k</a:t>
            </a:r>
            <a:r>
              <a:rPr lang="ro-RO" dirty="0" smtClean="0">
                <a:cs typeface="Times New Roman" pitchFamily="18" charset="0"/>
              </a:rPr>
              <a:t> blocuri </a:t>
            </a:r>
            <a:r>
              <a:rPr lang="ro-RO" dirty="0" smtClean="0">
                <a:sym typeface="Symbol" pitchFamily="18" charset="2"/>
              </a:rPr>
              <a:t>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set asociativ cu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 smtClean="0">
                <a:cs typeface="Times New Roman" pitchFamily="18" charset="0"/>
              </a:rPr>
              <a:t>Fiecare bloc de memorie: aceeași structur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ca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o memorie </a:t>
            </a:r>
            <a:r>
              <a:rPr lang="ro-RO" i="1" dirty="0" smtClean="0">
                <a:cs typeface="Times New Roman" pitchFamily="18" charset="0"/>
              </a:rPr>
              <a:t>cache</a:t>
            </a:r>
            <a:r>
              <a:rPr lang="ro-RO" dirty="0" smtClean="0">
                <a:cs typeface="Times New Roman" pitchFamily="18" charset="0"/>
              </a:rPr>
              <a:t> cu mapare direct</a:t>
            </a:r>
            <a:r>
              <a:rPr lang="ro-RO" dirty="0" smtClean="0"/>
              <a:t>ă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Arhitectura </a:t>
            </a:r>
            <a:r>
              <a:rPr lang="ro-RO" dirty="0" smtClean="0"/>
              <a:t>unui set asociativ cu </a:t>
            </a:r>
            <a:r>
              <a:rPr lang="ro-RO" i="1" dirty="0" smtClean="0"/>
              <a:t>k</a:t>
            </a:r>
            <a:r>
              <a:rPr lang="ro-RO" dirty="0" smtClean="0"/>
              <a:t> căi </a:t>
            </a:r>
            <a:r>
              <a:rPr lang="ro-RO" dirty="0" smtClean="0">
                <a:sym typeface="Symbol" pitchFamily="18" charset="2"/>
              </a:rPr>
              <a:t>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cu seturi asociative </a:t>
            </a:r>
            <a:r>
              <a:rPr lang="ro-RO" dirty="0" smtClean="0"/>
              <a:t>(3)</a:t>
            </a:r>
            <a:endParaRPr lang="ro-RO" dirty="0"/>
          </a:p>
        </p:txBody>
      </p:sp>
      <p:pic>
        <p:nvPicPr>
          <p:cNvPr id="7" name="Content Placeholder 6" descr="ssc4-cache-set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483768" y="1412776"/>
            <a:ext cx="4180645" cy="466619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Maparea cu seturi asociative (4)</a:t>
            </a:r>
            <a:endParaRPr lang="ro-RO" dirty="0"/>
          </a:p>
        </p:txBody>
      </p:sp>
      <p:pic>
        <p:nvPicPr>
          <p:cNvPr id="8" name="Content Placeholder 7" descr="ssc4-cache-set2.bmp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835696" y="1340768"/>
            <a:ext cx="5504700" cy="423477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5733256"/>
            <a:ext cx="8352928" cy="387798"/>
          </a:xfrm>
        </p:spPr>
        <p:txBody>
          <a:bodyPr/>
          <a:lstStyle/>
          <a:p>
            <a:pPr algn="ctr">
              <a:buNone/>
            </a:pPr>
            <a:r>
              <a:rPr lang="ro-RO" sz="2800" dirty="0" smtClean="0"/>
              <a:t>Memorie </a:t>
            </a:r>
            <a:r>
              <a:rPr lang="ro-RO" sz="2800" i="1" dirty="0" err="1" smtClean="0"/>
              <a:t>cache</a:t>
            </a:r>
            <a:r>
              <a:rPr lang="ro-RO" sz="2800" dirty="0" smtClean="0"/>
              <a:t> cu seturi asociative cu două căi</a:t>
            </a:r>
            <a:endParaRPr lang="ro-RO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A0F4-4C05-4BB1-A546-5E7DF7DD9743}" type="slidenum">
              <a:rPr lang="ro-RO" smtClean="0"/>
              <a:pPr/>
              <a:t>45</a:t>
            </a:fld>
            <a:endParaRPr lang="ro-RO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12725"/>
            <a:ext cx="8072494" cy="695995"/>
          </a:xfrm>
        </p:spPr>
        <p:txBody>
          <a:bodyPr>
            <a:normAutofit/>
          </a:bodyPr>
          <a:lstStyle/>
          <a:p>
            <a:r>
              <a:rPr lang="ro-RO" dirty="0"/>
              <a:t>Maparea cu seturi asociative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9051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 de proiectare a unei memorii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cache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cu seturi asociative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Procesor</a:t>
            </a:r>
            <a:r>
              <a:rPr lang="ro-RO" dirty="0" smtClean="0"/>
              <a:t> </a:t>
            </a:r>
            <a:r>
              <a:rPr lang="ro-RO" dirty="0"/>
              <a:t>de 32/64 </a:t>
            </a:r>
            <a:r>
              <a:rPr lang="ro-RO" dirty="0" smtClean="0"/>
              <a:t>biți</a:t>
            </a:r>
            <a:endParaRPr lang="ro-RO" dirty="0"/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agistral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adrese de 32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endParaRPr lang="ro-RO" dirty="0"/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agistral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date de 64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endParaRPr lang="ro-RO" dirty="0"/>
          </a:p>
          <a:p>
            <a:pPr lvl="1"/>
            <a:r>
              <a:rPr lang="ro-RO" dirty="0" smtClean="0">
                <a:cs typeface="Times New Roman" pitchFamily="18" charset="0"/>
              </a:rPr>
              <a:t>Dimensiunea memoriei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/>
              <a:t>: </a:t>
            </a:r>
            <a:r>
              <a:rPr lang="ro-RO" dirty="0" smtClean="0"/>
              <a:t>2 MB </a:t>
            </a:r>
            <a:endParaRPr lang="ro-RO" dirty="0"/>
          </a:p>
          <a:p>
            <a:pPr lvl="1"/>
            <a:r>
              <a:rPr lang="ro-RO" dirty="0"/>
              <a:t>Dimensiunea unui </a:t>
            </a:r>
            <a:r>
              <a:rPr lang="ro-RO" dirty="0" smtClean="0"/>
              <a:t>set: 64 B</a:t>
            </a:r>
            <a:endParaRPr lang="en-US" dirty="0" smtClean="0"/>
          </a:p>
          <a:p>
            <a:pPr lvl="1"/>
            <a:r>
              <a:rPr lang="ro-RO" dirty="0" smtClean="0"/>
              <a:t>Memorie </a:t>
            </a:r>
            <a:r>
              <a:rPr lang="ro-RO" i="1" dirty="0" err="1" smtClean="0"/>
              <a:t>cache</a:t>
            </a:r>
            <a:r>
              <a:rPr lang="ro-RO" dirty="0" smtClean="0"/>
              <a:t> cu seturi asociative cu două căi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0EFE23-ECC5-4130-929A-41C862D496A4}" type="slidenum">
              <a:rPr lang="ro-RO"/>
              <a:pPr/>
              <a:t>46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Maparea cu seturi asociative </a:t>
            </a:r>
            <a:r>
              <a:rPr lang="ro-RO" dirty="0" smtClean="0"/>
              <a:t>(6)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896445"/>
          </a:xfrm>
        </p:spPr>
        <p:txBody>
          <a:bodyPr>
            <a:normAutofit fontScale="92500"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Nr. de seturi</a:t>
            </a:r>
            <a:r>
              <a:rPr lang="ro-RO" dirty="0" smtClean="0"/>
              <a:t>: 2</a:t>
            </a:r>
            <a:r>
              <a:rPr lang="ro-RO" dirty="0" smtClean="0">
                <a:cs typeface="Times New Roman" charset="0"/>
              </a:rPr>
              <a:t> MB / </a:t>
            </a:r>
            <a:r>
              <a:rPr lang="ro-RO" dirty="0" smtClean="0"/>
              <a:t>2x64</a:t>
            </a:r>
            <a:r>
              <a:rPr lang="ro-RO" dirty="0" smtClean="0">
                <a:cs typeface="Times New Roman" charset="0"/>
              </a:rPr>
              <a:t> B = </a:t>
            </a:r>
            <a:r>
              <a:rPr lang="ro-RO" dirty="0" smtClean="0"/>
              <a:t>2</a:t>
            </a:r>
            <a:r>
              <a:rPr lang="ro-RO" baseline="30000" dirty="0" smtClean="0"/>
              <a:t>21</a:t>
            </a:r>
            <a:r>
              <a:rPr lang="ro-RO" dirty="0" smtClean="0"/>
              <a:t> B / 2</a:t>
            </a:r>
            <a:r>
              <a:rPr lang="ro-RO" baseline="30000" dirty="0" smtClean="0"/>
              <a:t>7</a:t>
            </a:r>
            <a:r>
              <a:rPr lang="ro-RO" dirty="0" smtClean="0"/>
              <a:t> B</a:t>
            </a:r>
            <a:r>
              <a:rPr lang="ro-RO" dirty="0" smtClean="0">
                <a:cs typeface="Times New Roman" charset="0"/>
              </a:rPr>
              <a:t> = 2</a:t>
            </a:r>
            <a:r>
              <a:rPr lang="ro-RO" baseline="30000" dirty="0" smtClean="0"/>
              <a:t>14 </a:t>
            </a:r>
            <a:r>
              <a:rPr lang="ro-RO" dirty="0" smtClean="0">
                <a:cs typeface="Times New Roman" charset="0"/>
              </a:rPr>
              <a:t> </a:t>
            </a:r>
            <a:endParaRPr lang="ro-RO" dirty="0" smtClean="0"/>
          </a:p>
          <a:p>
            <a:r>
              <a:rPr lang="ro-RO" dirty="0" smtClean="0">
                <a:cs typeface="Times New Roman" charset="0"/>
              </a:rPr>
              <a:t>Selectarea </a:t>
            </a:r>
            <a:r>
              <a:rPr lang="ro-RO" dirty="0" smtClean="0"/>
              <a:t>seturilor</a:t>
            </a:r>
            <a:r>
              <a:rPr lang="ro-RO" dirty="0" smtClean="0">
                <a:cs typeface="Times New Roman" charset="0"/>
              </a:rPr>
              <a:t> din memoria de date</a:t>
            </a:r>
            <a:r>
              <a:rPr lang="ro-RO" dirty="0" smtClean="0"/>
              <a:t>:         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= 14 (biți pentru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adresa setului</a:t>
            </a:r>
            <a:r>
              <a:rPr lang="ro-RO" dirty="0" smtClean="0"/>
              <a:t>)</a:t>
            </a:r>
          </a:p>
          <a:p>
            <a:r>
              <a:rPr lang="ro-RO" dirty="0" smtClean="0">
                <a:cs typeface="Times New Roman" charset="0"/>
              </a:rPr>
              <a:t>Adresarea </a:t>
            </a:r>
            <a:r>
              <a:rPr lang="ro-RO" dirty="0">
                <a:cs typeface="Times New Roman" charset="0"/>
              </a:rPr>
              <a:t>unui </a:t>
            </a:r>
            <a:r>
              <a:rPr lang="ro-RO" dirty="0" smtClean="0">
                <a:cs typeface="Times New Roman" charset="0"/>
              </a:rPr>
              <a:t>B din </a:t>
            </a:r>
            <a:r>
              <a:rPr lang="ro-RO" dirty="0" smtClean="0"/>
              <a:t>setul de 64 B: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= </a:t>
            </a:r>
            <a:r>
              <a:rPr lang="ro-RO" dirty="0" smtClean="0"/>
              <a:t>6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Marcajul</a:t>
            </a:r>
            <a:r>
              <a:rPr lang="ro-RO" dirty="0" smtClean="0"/>
              <a:t>: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charset="0"/>
              </a:rPr>
              <a:t> </a:t>
            </a:r>
            <a:r>
              <a:rPr lang="ro-RO" dirty="0" smtClean="0">
                <a:cs typeface="Times New Roman" charset="0"/>
              </a:rPr>
              <a:t>= 32 – (</a:t>
            </a:r>
            <a:r>
              <a:rPr lang="ro-RO" dirty="0" smtClean="0"/>
              <a:t>14</a:t>
            </a:r>
            <a:r>
              <a:rPr lang="ro-RO" dirty="0" smtClean="0">
                <a:cs typeface="Times New Roman" charset="0"/>
              </a:rPr>
              <a:t> + </a:t>
            </a:r>
            <a:r>
              <a:rPr lang="ro-RO" dirty="0" smtClean="0"/>
              <a:t>6</a:t>
            </a:r>
            <a:r>
              <a:rPr lang="ro-RO" dirty="0" smtClean="0">
                <a:cs typeface="Times New Roman" charset="0"/>
              </a:rPr>
              <a:t>) = </a:t>
            </a:r>
            <a:r>
              <a:rPr lang="ro-RO" dirty="0" smtClean="0"/>
              <a:t>12</a:t>
            </a:r>
          </a:p>
          <a:p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Dimens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. memoriei de marcaje</a:t>
            </a:r>
            <a:r>
              <a:rPr lang="ro-RO" dirty="0" smtClean="0"/>
              <a:t>: 2 x (2</a:t>
            </a:r>
            <a:r>
              <a:rPr lang="ro-RO" baseline="30000" dirty="0" smtClean="0"/>
              <a:t>14</a:t>
            </a:r>
            <a:r>
              <a:rPr lang="ro-RO" dirty="0" smtClean="0"/>
              <a:t> x 12 biți)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Nr. de cuvinte din blocurile memoriei de date</a:t>
            </a:r>
            <a:r>
              <a:rPr lang="ro-RO" dirty="0" smtClean="0"/>
              <a:t>:   2 MB / 2x8 B </a:t>
            </a:r>
            <a:r>
              <a:rPr lang="ro-RO" dirty="0" smtClean="0">
                <a:cs typeface="Times New Roman" charset="0"/>
              </a:rPr>
              <a:t>= 1 MB / 8 B = </a:t>
            </a:r>
            <a:r>
              <a:rPr lang="ro-RO" dirty="0" smtClean="0"/>
              <a:t>2</a:t>
            </a:r>
            <a:r>
              <a:rPr lang="ro-RO" baseline="30000" dirty="0" smtClean="0"/>
              <a:t>20</a:t>
            </a:r>
            <a:r>
              <a:rPr lang="ro-RO" dirty="0" smtClean="0"/>
              <a:t> </a:t>
            </a:r>
            <a:r>
              <a:rPr lang="ro-RO" dirty="0"/>
              <a:t>B / </a:t>
            </a:r>
            <a:r>
              <a:rPr lang="ro-RO" dirty="0" smtClean="0"/>
              <a:t>2</a:t>
            </a:r>
            <a:r>
              <a:rPr lang="ro-RO" baseline="30000" dirty="0" smtClean="0"/>
              <a:t>3</a:t>
            </a:r>
            <a:r>
              <a:rPr lang="ro-RO" dirty="0" smtClean="0"/>
              <a:t> </a:t>
            </a:r>
            <a:r>
              <a:rPr lang="ro-RO" dirty="0"/>
              <a:t>B</a:t>
            </a:r>
            <a:r>
              <a:rPr lang="ro-RO" dirty="0">
                <a:cs typeface="Times New Roman" charset="0"/>
              </a:rPr>
              <a:t> </a:t>
            </a:r>
            <a:r>
              <a:rPr lang="ro-RO" dirty="0" smtClean="0">
                <a:cs typeface="Times New Roman" charset="0"/>
              </a:rPr>
              <a:t>= 2</a:t>
            </a:r>
            <a:r>
              <a:rPr lang="ro-RO" baseline="30000" dirty="0" smtClean="0">
                <a:cs typeface="Times New Roman" charset="0"/>
              </a:rPr>
              <a:t>17</a:t>
            </a:r>
            <a:endParaRPr lang="ro-RO" baseline="30000" dirty="0" smtClean="0"/>
          </a:p>
          <a:p>
            <a:r>
              <a:rPr lang="ro-RO" dirty="0" smtClean="0"/>
              <a:t>Memoria de date: 2 x (2</a:t>
            </a:r>
            <a:r>
              <a:rPr lang="ro-RO" baseline="30000" dirty="0" smtClean="0"/>
              <a:t>17</a:t>
            </a:r>
            <a:r>
              <a:rPr lang="ro-RO" dirty="0" smtClean="0"/>
              <a:t> x 64 biți)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Maparea cu seturi asociative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48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74" y="1196752"/>
            <a:ext cx="5179412" cy="5012649"/>
          </a:xfrm>
        </p:spPr>
      </p:pic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</a:t>
            </a:r>
            <a:r>
              <a:rPr lang="ro-RO" i="1" dirty="0"/>
              <a:t>cache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28960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Principiul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/>
              <a:t>Organizarea memoriei </a:t>
            </a:r>
            <a:r>
              <a:rPr lang="ro-RO" i="1" dirty="0" err="1"/>
              <a:t>cache</a:t>
            </a:r>
            <a:endParaRPr lang="ro-RO" i="1" dirty="0"/>
          </a:p>
          <a:p>
            <a:pPr lvl="1"/>
            <a:r>
              <a:rPr lang="ro-RO" dirty="0" smtClean="0"/>
              <a:t>Funcționarea </a:t>
            </a:r>
            <a:r>
              <a:rPr lang="ro-RO" dirty="0"/>
              <a:t>memoriei </a:t>
            </a:r>
            <a:r>
              <a:rPr lang="ro-RO" i="1" dirty="0"/>
              <a:t>cache</a:t>
            </a:r>
          </a:p>
          <a:p>
            <a:pPr lvl="1"/>
            <a:r>
              <a:rPr lang="ro-RO" dirty="0"/>
              <a:t>Maparea adreselor</a:t>
            </a:r>
          </a:p>
          <a:p>
            <a:pPr lvl="2"/>
            <a:r>
              <a:rPr lang="ro-RO" dirty="0">
                <a:cs typeface="Tahoma" pitchFamily="34" charset="0"/>
              </a:rPr>
              <a:t>Maparea asociativă</a:t>
            </a:r>
          </a:p>
          <a:p>
            <a:pPr lvl="2"/>
            <a:r>
              <a:rPr lang="ro-RO" dirty="0">
                <a:cs typeface="Tahoma" pitchFamily="34" charset="0"/>
              </a:rPr>
              <a:t>Maparea directă</a:t>
            </a:r>
          </a:p>
          <a:p>
            <a:pPr lvl="2"/>
            <a:r>
              <a:rPr lang="ro-RO" dirty="0">
                <a:cs typeface="Tahoma" pitchFamily="34" charset="0"/>
              </a:rPr>
              <a:t>Maparea cu seturi asociative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BAE92A-D9D4-4652-8C74-C753515E979A}" type="slidenum">
              <a:rPr lang="ro-RO"/>
              <a:pPr/>
              <a:t>49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Strategii de înlocuire (1)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67464" cy="5040560"/>
          </a:xfrm>
        </p:spPr>
        <p:txBody>
          <a:bodyPr>
            <a:normAutofit/>
          </a:bodyPr>
          <a:lstStyle/>
          <a:p>
            <a:r>
              <a:rPr lang="ro-RO" dirty="0"/>
              <a:t>Dacă</a:t>
            </a:r>
            <a:r>
              <a:rPr lang="ro-RO" dirty="0">
                <a:cs typeface="Times New Roman" pitchFamily="18" charset="0"/>
              </a:rPr>
              <a:t> nu mai exist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spațiu </a:t>
            </a:r>
            <a:r>
              <a:rPr lang="ro-RO" dirty="0">
                <a:cs typeface="Times New Roman" pitchFamily="18" charset="0"/>
              </a:rPr>
              <a:t>în memoria </a:t>
            </a:r>
            <a:r>
              <a:rPr lang="ro-RO" i="1" dirty="0">
                <a:cs typeface="Times New Roman" pitchFamily="18" charset="0"/>
              </a:rPr>
              <a:t>cache</a:t>
            </a:r>
            <a:r>
              <a:rPr lang="ro-RO" dirty="0">
                <a:cs typeface="Times New Roman" pitchFamily="18" charset="0"/>
              </a:rPr>
              <a:t>,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înlocuiască un </a:t>
            </a:r>
            <a:r>
              <a:rPr lang="ro-RO" dirty="0" smtClean="0">
                <a:cs typeface="Times New Roman" pitchFamily="18" charset="0"/>
              </a:rPr>
              <a:t>set</a:t>
            </a:r>
            <a:endParaRPr lang="ro-RO" dirty="0"/>
          </a:p>
          <a:p>
            <a:pPr>
              <a:spcBef>
                <a:spcPts val="10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Înlocuire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aleatorie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spcBef>
                <a:spcPts val="800"/>
              </a:spcBef>
            </a:pP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lege un </a:t>
            </a:r>
            <a:r>
              <a:rPr lang="ro-RO" dirty="0" smtClean="0">
                <a:cs typeface="Times New Roman" pitchFamily="18" charset="0"/>
              </a:rPr>
              <a:t>set în </a:t>
            </a:r>
            <a:r>
              <a:rPr lang="ro-RO" dirty="0">
                <a:cs typeface="Times New Roman" pitchFamily="18" charset="0"/>
              </a:rPr>
              <a:t>mod </a:t>
            </a:r>
            <a:r>
              <a:rPr lang="ro-RO" dirty="0" smtClean="0">
                <a:cs typeface="Times New Roman" pitchFamily="18" charset="0"/>
              </a:rPr>
              <a:t>aleatoriu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îl înlocuiește cu blocul care conține data </a:t>
            </a:r>
            <a:r>
              <a:rPr lang="ro-RO" dirty="0">
                <a:cs typeface="Times New Roman" pitchFamily="18" charset="0"/>
              </a:rPr>
              <a:t>nou accesat</a:t>
            </a:r>
            <a:r>
              <a:rPr lang="ro-RO" dirty="0"/>
              <a:t>ă</a:t>
            </a:r>
          </a:p>
          <a:p>
            <a:pPr lvl="1">
              <a:spcBef>
                <a:spcPts val="8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/>
              <a:t>: implementare simplă</a:t>
            </a:r>
          </a:p>
          <a:p>
            <a:pPr lvl="1">
              <a:spcBef>
                <a:spcPts val="8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seturile </a:t>
            </a:r>
            <a:r>
              <a:rPr lang="ro-RO" dirty="0" smtClean="0"/>
              <a:t>cu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probabil</a:t>
            </a:r>
            <a:r>
              <a:rPr lang="ro-RO" dirty="0"/>
              <a:t>itatea maximă</a:t>
            </a:r>
            <a:r>
              <a:rPr lang="ro-RO" dirty="0">
                <a:cs typeface="Times New Roman" pitchFamily="18" charset="0"/>
              </a:rPr>
              <a:t> de a fi utilizate din nou au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ans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a fi eliminate ca </a:t>
            </a:r>
            <a:r>
              <a:rPr lang="ro-RO" dirty="0" smtClean="0"/>
              <a:t>și</a:t>
            </a:r>
            <a:r>
              <a:rPr lang="ro-RO" dirty="0" smtClean="0">
                <a:cs typeface="Times New Roman" pitchFamily="18" charset="0"/>
              </a:rPr>
              <a:t> cele care </a:t>
            </a:r>
            <a:r>
              <a:rPr lang="ro-RO" dirty="0">
                <a:cs typeface="Times New Roman" pitchFamily="18" charset="0"/>
              </a:rPr>
              <a:t>nu vor fi utilizate</a:t>
            </a:r>
            <a:r>
              <a:rPr lang="ro-RO" dirty="0"/>
              <a:t> din nou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24041E-F220-4E30-8688-1D044C19BF2B}" type="slidenum">
              <a:rPr lang="ro-RO"/>
              <a:pPr/>
              <a:t>50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Strategii de înlocuire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Cel mai pu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 frecvent utilizat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(LFU – </a:t>
            </a:r>
            <a:r>
              <a:rPr lang="ro-RO" i="1" dirty="0" err="1" smtClean="0">
                <a:cs typeface="Times New Roman" pitchFamily="18" charset="0"/>
              </a:rPr>
              <a:t>Least</a:t>
            </a:r>
            <a:r>
              <a:rPr lang="ro-RO" i="1" dirty="0" smtClean="0">
                <a:cs typeface="Times New Roman" pitchFamily="18" charset="0"/>
              </a:rPr>
              <a:t> </a:t>
            </a:r>
            <a:r>
              <a:rPr lang="ro-RO" i="1" dirty="0" err="1" smtClean="0">
                <a:cs typeface="Times New Roman" pitchFamily="18" charset="0"/>
              </a:rPr>
              <a:t>Frequently</a:t>
            </a:r>
            <a:r>
              <a:rPr lang="ro-RO" i="1" dirty="0" smtClean="0">
                <a:cs typeface="Times New Roman" pitchFamily="18" charset="0"/>
              </a:rPr>
              <a:t> </a:t>
            </a:r>
            <a:r>
              <a:rPr lang="ro-RO" i="1" dirty="0" err="1" smtClean="0">
                <a:cs typeface="Times New Roman" pitchFamily="18" charset="0"/>
              </a:rPr>
              <a:t>Used</a:t>
            </a:r>
            <a:r>
              <a:rPr lang="ro-RO" dirty="0" smtClean="0">
                <a:cs typeface="Times New Roman" pitchFamily="18" charset="0"/>
              </a:rPr>
              <a:t>)</a:t>
            </a:r>
            <a:endParaRPr lang="ro-RO" dirty="0" smtClean="0"/>
          </a:p>
          <a:p>
            <a:pPr lvl="1"/>
            <a:r>
              <a:rPr lang="ro-RO" dirty="0" smtClean="0">
                <a:cs typeface="Times New Roman" pitchFamily="18" charset="0"/>
              </a:rPr>
              <a:t>Pentru fiecare set, se 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streaz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un contor al num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rului total de utiliz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ri</a:t>
            </a:r>
            <a:endParaRPr lang="ro-RO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 smtClean="0"/>
              <a:t>: </a:t>
            </a:r>
            <a:r>
              <a:rPr lang="ro-RO" dirty="0" smtClean="0">
                <a:cs typeface="Times New Roman" pitchFamily="18" charset="0"/>
              </a:rPr>
              <a:t>un set utilizat frecvent are o probabilitate mai mare de a 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mâne în memoria </a:t>
            </a:r>
            <a:r>
              <a:rPr lang="ro-RO" i="1" dirty="0" smtClean="0">
                <a:cs typeface="Times New Roman" pitchFamily="18" charset="0"/>
              </a:rPr>
              <a:t>cache </a:t>
            </a:r>
            <a:endParaRPr lang="ro-RO" i="1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</a:t>
            </a:r>
            <a:r>
              <a:rPr lang="ro-RO" dirty="0" smtClean="0"/>
              <a:t>: </a:t>
            </a:r>
            <a:r>
              <a:rPr lang="ro-RO" dirty="0" smtClean="0">
                <a:cs typeface="Times New Roman" pitchFamily="18" charset="0"/>
              </a:rPr>
              <a:t>seturile care au fost înc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rcate recent au o valoare mic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a contorului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Strategii de înlocuire (3)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Cel mai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pu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recent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utilizat</a:t>
            </a:r>
            <a:r>
              <a:rPr lang="ro-RO" b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(L</a:t>
            </a:r>
            <a:r>
              <a:rPr lang="ro-RO" dirty="0"/>
              <a:t>R</a:t>
            </a:r>
            <a:r>
              <a:rPr lang="ro-RO" dirty="0">
                <a:cs typeface="Times New Roman" pitchFamily="18" charset="0"/>
              </a:rPr>
              <a:t>U – </a:t>
            </a:r>
            <a:r>
              <a:rPr lang="ro-RO" i="1" dirty="0" err="1">
                <a:cs typeface="Times New Roman" pitchFamily="18" charset="0"/>
              </a:rPr>
              <a:t>Least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/>
              <a:t>Recently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Used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</a:t>
            </a:r>
            <a:r>
              <a:rPr lang="ro-RO" dirty="0" smtClean="0">
                <a:cs typeface="Times New Roman" pitchFamily="18" charset="0"/>
              </a:rPr>
              <a:t>set care </a:t>
            </a:r>
            <a:r>
              <a:rPr lang="ro-RO" dirty="0">
                <a:cs typeface="Times New Roman" pitchFamily="18" charset="0"/>
              </a:rPr>
              <a:t>nu a fost utilizat pentru o perioad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lung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timp are o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ans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mai redus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a fi utilizat în viitorul apropiat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</a:t>
            </a:r>
            <a:r>
              <a:rPr lang="ro-RO" dirty="0"/>
              <a:t>ează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eviden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 </a:t>
            </a:r>
            <a:r>
              <a:rPr lang="ro-RO" dirty="0">
                <a:cs typeface="Times New Roman" pitchFamily="18" charset="0"/>
              </a:rPr>
              <a:t>acelor </a:t>
            </a:r>
            <a:r>
              <a:rPr lang="ro-RO" dirty="0" smtClean="0">
                <a:cs typeface="Times New Roman" pitchFamily="18" charset="0"/>
              </a:rPr>
              <a:t>seturi care </a:t>
            </a:r>
            <a:r>
              <a:rPr lang="ro-RO" dirty="0">
                <a:cs typeface="Times New Roman" pitchFamily="18" charset="0"/>
              </a:rPr>
              <a:t>au fost accesate cel mai recent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contor</a:t>
            </a:r>
          </a:p>
          <a:p>
            <a:pPr lvl="1"/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performan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cea mai bun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raportat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cost comparativ cu celelalte </a:t>
            </a:r>
            <a:r>
              <a:rPr lang="ro-RO" dirty="0"/>
              <a:t>metode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85A8CE-35A7-42C8-8F7A-7A09207F222A}" type="slidenum">
              <a:rPr lang="ro-RO"/>
              <a:pPr/>
              <a:t>52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6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asociativă </a:t>
            </a:r>
            <a:r>
              <a:rPr lang="ro-RO" sz="3300" dirty="0" smtClean="0"/>
              <a:t>permite determinarea rapidă a prezenței unui cuvânt în memorie</a:t>
            </a:r>
          </a:p>
          <a:p>
            <a:pPr lvl="1"/>
            <a:r>
              <a:rPr lang="ro-RO" sz="2900" dirty="0" smtClean="0"/>
              <a:t>Conține o logică suplimentară pentru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compararea în paralel </a:t>
            </a:r>
            <a:r>
              <a:rPr lang="ro-RO" sz="2900" dirty="0" smtClean="0"/>
              <a:t>a tuturor cuvintelor cu cuvântul căutat</a:t>
            </a:r>
          </a:p>
          <a:p>
            <a:pPr lvl="1"/>
            <a:r>
              <a:rPr lang="ro-RO" sz="2900" dirty="0" smtClean="0"/>
              <a:t>Poate fi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 potrivire exactă </a:t>
            </a:r>
            <a:r>
              <a:rPr lang="ro-RO" sz="2900" dirty="0" smtClean="0"/>
              <a:t>sau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 comparație</a:t>
            </a:r>
            <a:r>
              <a:rPr lang="ro-RO" sz="2900" dirty="0" smtClean="0"/>
              <a:t>,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 organizare fixă </a:t>
            </a:r>
            <a:r>
              <a:rPr lang="ro-RO" sz="2900" dirty="0" smtClean="0"/>
              <a:t>sau 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organizare variabilă </a:t>
            </a:r>
          </a:p>
          <a:p>
            <a:r>
              <a:rPr lang="ro-RO" sz="3300" dirty="0" smtClean="0"/>
              <a:t>Un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procesor asociativ </a:t>
            </a:r>
            <a:r>
              <a:rPr lang="ro-RO" sz="3300" dirty="0" smtClean="0"/>
              <a:t>conține o memorie asociativă și poate executa în paralel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instrucțiuni primitive</a:t>
            </a:r>
          </a:p>
          <a:p>
            <a:pPr lvl="1"/>
            <a:r>
              <a:rPr lang="ro-RO" sz="2900" dirty="0" smtClean="0"/>
              <a:t>Este avantajos pentru anumite probleme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5449542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382000" cy="5040559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cache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este o memorie rapidă care păstrează o parte a instrucțiunilor și a datelor</a:t>
            </a:r>
          </a:p>
          <a:p>
            <a:pPr lvl="1"/>
            <a:r>
              <a:rPr lang="ro-RO" sz="2900" dirty="0" smtClean="0"/>
              <a:t>Permite reducerea numărului de accese la memoria principală</a:t>
            </a:r>
          </a:p>
          <a:p>
            <a:pPr lvl="1"/>
            <a:r>
              <a:rPr lang="ro-RO" sz="2900" dirty="0" smtClean="0"/>
              <a:t>Este formată dintr-o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de date </a:t>
            </a:r>
            <a:r>
              <a:rPr lang="ro-RO" sz="2900" dirty="0" smtClean="0"/>
              <a:t>și o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de marcaje</a:t>
            </a:r>
          </a:p>
          <a:p>
            <a:pPr lvl="1"/>
            <a:r>
              <a:rPr lang="ro-RO" sz="2900" dirty="0" smtClean="0"/>
              <a:t>Se pot utiliza două strategii de scriere: </a:t>
            </a:r>
            <a:r>
              <a:rPr lang="ro-RO" sz="2900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write</a:t>
            </a:r>
            <a:r>
              <a:rPr lang="ro-RO" sz="2900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-back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2900" dirty="0" smtClean="0"/>
              <a:t>și </a:t>
            </a:r>
            <a:r>
              <a:rPr lang="ro-RO" sz="2900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write-through</a:t>
            </a:r>
            <a:endParaRPr lang="ro-RO" sz="2900" i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Maparea asociativă </a:t>
            </a:r>
            <a:r>
              <a:rPr lang="ro-RO" sz="3300" dirty="0" smtClean="0"/>
              <a:t>a adreselor asigură flexibilitatea maximă, dar necesită o memorie asociativă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64726262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773614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Maparea directă </a:t>
            </a:r>
            <a:r>
              <a:rPr lang="ro-RO" sz="3300" dirty="0" smtClean="0"/>
              <a:t>a adreselor permite utilizarea unei memorii RAM, dar reduce flexibilitatea prin amplasarea unui bloc într-un anumit set fix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Maparea cu seturi asociative </a:t>
            </a:r>
            <a:r>
              <a:rPr lang="ro-RO" sz="3300" dirty="0" smtClean="0"/>
              <a:t>este cea mai utilizată; permite memorarea într-un set a mai multor blocuri cu același index</a:t>
            </a:r>
          </a:p>
          <a:p>
            <a:r>
              <a:rPr lang="ro-RO" sz="3300" dirty="0" smtClean="0"/>
              <a:t>Există diferite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strategii de </a:t>
            </a:r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nlocuire </a:t>
            </a:r>
            <a:r>
              <a:rPr lang="ro-RO" sz="3300" dirty="0" smtClean="0"/>
              <a:t>a unui set din memoria </a:t>
            </a:r>
            <a:r>
              <a:rPr lang="ro-RO" sz="3300" i="1" dirty="0" smtClean="0"/>
              <a:t>cache</a:t>
            </a:r>
            <a:r>
              <a:rPr lang="ro-RO" sz="3300" dirty="0" smtClean="0"/>
              <a:t>: înlocuire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aleatorie</a:t>
            </a:r>
            <a:r>
              <a:rPr lang="ro-RO" sz="3300" dirty="0" smtClean="0"/>
              <a:t>;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cel mai puțin frecvent utilizat</a:t>
            </a:r>
            <a:r>
              <a:rPr lang="ro-RO" sz="3300" dirty="0" smtClean="0"/>
              <a:t>;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cel mai puțin recent utilizat</a:t>
            </a:r>
            <a:endParaRPr lang="ro-RO" sz="33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314636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78204"/>
          </a:xfrm>
        </p:spPr>
        <p:txBody>
          <a:bodyPr/>
          <a:lstStyle/>
          <a:p>
            <a:pPr marL="576000" lvl="1"/>
            <a:r>
              <a:rPr lang="ro-RO" dirty="0" smtClean="0"/>
              <a:t>Principiul memoriei asociative</a:t>
            </a:r>
          </a:p>
          <a:p>
            <a:pPr marL="576000" lvl="1"/>
            <a:r>
              <a:rPr lang="ro-RO" dirty="0" smtClean="0"/>
              <a:t>Tipuri de memorii asociative</a:t>
            </a:r>
          </a:p>
          <a:p>
            <a:pPr marL="576000" lvl="1"/>
            <a:r>
              <a:rPr lang="ro-RO" dirty="0" smtClean="0"/>
              <a:t>Schema bloc a unei memorii asociative</a:t>
            </a:r>
          </a:p>
          <a:p>
            <a:pPr marL="576000" lvl="1"/>
            <a:r>
              <a:rPr lang="ro-RO" dirty="0" smtClean="0"/>
              <a:t>Schema unei celule de memorie asociativă</a:t>
            </a:r>
          </a:p>
          <a:p>
            <a:pPr marL="576000" lvl="1"/>
            <a:r>
              <a:rPr lang="ro-RO" dirty="0" smtClean="0"/>
              <a:t>Prelucrarea asociativă</a:t>
            </a:r>
          </a:p>
          <a:p>
            <a:pPr marL="576000" lvl="1"/>
            <a:r>
              <a:rPr lang="ro-RO" dirty="0" smtClean="0"/>
              <a:t>Principiul memoriei </a:t>
            </a:r>
            <a:r>
              <a:rPr lang="ro-RO" i="1" dirty="0" smtClean="0"/>
              <a:t>cache</a:t>
            </a:r>
          </a:p>
          <a:p>
            <a:pPr marL="576000" lvl="1"/>
            <a:r>
              <a:rPr lang="ro-RO" dirty="0" smtClean="0"/>
              <a:t>Organizarea memoriei </a:t>
            </a:r>
            <a:r>
              <a:rPr lang="ro-RO" i="1" dirty="0" smtClean="0"/>
              <a:t>cache</a:t>
            </a:r>
          </a:p>
          <a:p>
            <a:pPr marL="576000" lvl="1"/>
            <a:r>
              <a:rPr lang="ro-RO" dirty="0" smtClean="0"/>
              <a:t>Execuția unei operații de citire și de scriere într-un sistem cu memorie </a:t>
            </a:r>
            <a:r>
              <a:rPr lang="ro-RO" i="1" dirty="0" smtClean="0"/>
              <a:t>cache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494637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038029"/>
          </a:xfrm>
        </p:spPr>
        <p:txBody>
          <a:bodyPr/>
          <a:lstStyle/>
          <a:p>
            <a:pPr marL="576000" lvl="1"/>
            <a:r>
              <a:rPr lang="ro-RO" dirty="0" smtClean="0"/>
              <a:t>Problema coerenței memoriilor </a:t>
            </a:r>
            <a:r>
              <a:rPr lang="ro-RO" i="1" dirty="0" smtClean="0"/>
              <a:t>cache</a:t>
            </a:r>
          </a:p>
          <a:p>
            <a:pPr marL="576000" lvl="1"/>
            <a:r>
              <a:rPr lang="ro-RO" dirty="0" smtClean="0"/>
              <a:t>Strategii de scriere pentru memoria </a:t>
            </a:r>
            <a:r>
              <a:rPr lang="ro-RO" i="1" dirty="0" smtClean="0"/>
              <a:t>cache</a:t>
            </a:r>
          </a:p>
          <a:p>
            <a:pPr marL="576000" lvl="1"/>
            <a:r>
              <a:rPr lang="ro-RO" dirty="0" smtClean="0"/>
              <a:t>Principiul memoriei </a:t>
            </a:r>
            <a:r>
              <a:rPr lang="ro-RO" i="1" dirty="0" smtClean="0"/>
              <a:t>cache</a:t>
            </a:r>
            <a:r>
              <a:rPr lang="ro-RO" dirty="0" smtClean="0"/>
              <a:t> cu maparea asociativă a adreselor</a:t>
            </a:r>
          </a:p>
          <a:p>
            <a:pPr marL="576000" lvl="1"/>
            <a:r>
              <a:rPr lang="ro-RO" dirty="0" smtClean="0"/>
              <a:t>Principiul memoriei </a:t>
            </a:r>
            <a:r>
              <a:rPr lang="ro-RO" i="1" dirty="0"/>
              <a:t>cache</a:t>
            </a:r>
            <a:r>
              <a:rPr lang="ro-RO" dirty="0"/>
              <a:t> cu </a:t>
            </a:r>
            <a:r>
              <a:rPr lang="ro-RO" dirty="0" smtClean="0"/>
              <a:t>mapare directă a adreselor</a:t>
            </a:r>
          </a:p>
          <a:p>
            <a:pPr marL="576000" lvl="1"/>
            <a:r>
              <a:rPr lang="ro-RO" dirty="0" smtClean="0"/>
              <a:t>Principiul memoriei </a:t>
            </a:r>
            <a:r>
              <a:rPr lang="ro-RO" i="1" dirty="0"/>
              <a:t>cache</a:t>
            </a:r>
            <a:r>
              <a:rPr lang="ro-RO" dirty="0"/>
              <a:t> cu </a:t>
            </a:r>
            <a:r>
              <a:rPr lang="ro-RO" dirty="0" smtClean="0"/>
              <a:t>seturi asociative</a:t>
            </a:r>
            <a:endParaRPr lang="ro-RO" dirty="0"/>
          </a:p>
          <a:p>
            <a:pPr marL="576000" lvl="1"/>
            <a:r>
              <a:rPr lang="ro-RO" dirty="0" smtClean="0"/>
              <a:t>Strategii de înlocuire pentru memoria </a:t>
            </a:r>
            <a:r>
              <a:rPr lang="ro-RO" i="1" dirty="0" smtClean="0"/>
              <a:t>cache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443844-F871-4766-8053-8DB196E5ADD3}" type="slidenum">
              <a:rPr lang="ro-RO" smtClean="0"/>
              <a:pPr/>
              <a:t>57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538743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511480" cy="4824437"/>
          </a:xfrm>
        </p:spPr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avantajele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prelucrării asociative</a:t>
            </a:r>
            <a:r>
              <a:rPr lang="ro-RO" dirty="0" smtClean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</a:t>
            </a:r>
            <a:r>
              <a:rPr lang="ro-RO" dirty="0"/>
              <a:t>este deosebirea dintre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de scriere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write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-back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write-through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la memoria </a:t>
            </a:r>
            <a:r>
              <a:rPr lang="ro-RO" i="1" dirty="0"/>
              <a:t>cache</a:t>
            </a:r>
            <a:r>
              <a:rPr lang="ro-RO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avantajele </a:t>
            </a:r>
            <a:r>
              <a:rPr lang="ro-RO" dirty="0" smtClean="0"/>
              <a:t>și </a:t>
            </a:r>
            <a:r>
              <a:rPr lang="ro-RO" dirty="0"/>
              <a:t>dezavantajele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mapării directe </a:t>
            </a:r>
            <a:r>
              <a:rPr lang="ro-RO" dirty="0"/>
              <a:t>la memoria </a:t>
            </a:r>
            <a:r>
              <a:rPr lang="ro-RO" i="1" dirty="0"/>
              <a:t>cache</a:t>
            </a:r>
            <a:r>
              <a:rPr lang="ro-RO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Cum se realizează înlocuirea unui </a:t>
            </a:r>
            <a:r>
              <a:rPr lang="ro-RO" dirty="0" smtClean="0"/>
              <a:t>set din </a:t>
            </a:r>
            <a:r>
              <a:rPr lang="ro-RO" dirty="0"/>
              <a:t>memoria </a:t>
            </a:r>
            <a:r>
              <a:rPr lang="ro-RO" i="1" dirty="0"/>
              <a:t>cache</a:t>
            </a:r>
            <a:r>
              <a:rPr lang="ro-RO" dirty="0"/>
              <a:t> dacă se utilizează strategia </a:t>
            </a:r>
            <a:r>
              <a:rPr lang="en-US" dirty="0"/>
              <a:t>“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cel mai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puțin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frecvent utilizat</a:t>
            </a:r>
            <a:r>
              <a:rPr lang="en-US" dirty="0"/>
              <a:t>”</a:t>
            </a:r>
            <a:r>
              <a:rPr lang="ro-RO" dirty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07.05.2018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105CF0-A438-4A4E-858C-4DEA6578C7DB}" type="slidenum">
              <a:rPr lang="ro-RO"/>
              <a:pPr/>
              <a:t>58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4198</TotalTime>
  <Words>3054</Words>
  <Application>Microsoft Office PowerPoint</Application>
  <PresentationFormat>On-screen Show (4:3)</PresentationFormat>
  <Paragraphs>575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Calibri</vt:lpstr>
      <vt:lpstr>Symbol</vt:lpstr>
      <vt:lpstr>Tahoma</vt:lpstr>
      <vt:lpstr>Times New Roman</vt:lpstr>
      <vt:lpstr>Dark Blue Swoosh-modified</vt:lpstr>
      <vt:lpstr>1_Dark Blue Swoosh-modified</vt:lpstr>
      <vt:lpstr>Sisteme de memorie</vt:lpstr>
      <vt:lpstr>Memoria asociativă (1)</vt:lpstr>
      <vt:lpstr>Memoria asociativă (2)</vt:lpstr>
      <vt:lpstr>Memoria asociativă (3)</vt:lpstr>
      <vt:lpstr>Memoria asociativă (4)</vt:lpstr>
      <vt:lpstr>Memoria asociativă (5)</vt:lpstr>
      <vt:lpstr>Memoria asociativă (6)</vt:lpstr>
      <vt:lpstr>Memoria asociativă (7)</vt:lpstr>
      <vt:lpstr>Memoria asociativă (8)</vt:lpstr>
      <vt:lpstr>Sisteme de memorie</vt:lpstr>
      <vt:lpstr>Memoria cache</vt:lpstr>
      <vt:lpstr>Principiul memoriei cache (1)</vt:lpstr>
      <vt:lpstr>Principiul memoriei cache (2)</vt:lpstr>
      <vt:lpstr>Memoria cache</vt:lpstr>
      <vt:lpstr>Organizarea memoriei cache (1)</vt:lpstr>
      <vt:lpstr>Organizarea memoriei cache (2)</vt:lpstr>
      <vt:lpstr>Memoria cache</vt:lpstr>
      <vt:lpstr>Funcționarea memoriei cache (1)</vt:lpstr>
      <vt:lpstr>Funcționarea memoriei cache (2)</vt:lpstr>
      <vt:lpstr>Funcționarea memoriei cache (3)</vt:lpstr>
      <vt:lpstr>Funcționarea memoriei cache (4)</vt:lpstr>
      <vt:lpstr>Funcționarea memoriei cache (5)</vt:lpstr>
      <vt:lpstr>Funcționarea memoriei cache (6)</vt:lpstr>
      <vt:lpstr>Funcționarea memoriei cache (7)</vt:lpstr>
      <vt:lpstr>Funcționarea memoriei cache (8)</vt:lpstr>
      <vt:lpstr>Memoria cache</vt:lpstr>
      <vt:lpstr>Maparea adreselor</vt:lpstr>
      <vt:lpstr>Memoria cache</vt:lpstr>
      <vt:lpstr>Maparea asociativă (1)</vt:lpstr>
      <vt:lpstr>Maparea asociativă (2)</vt:lpstr>
      <vt:lpstr>Memoria cache</vt:lpstr>
      <vt:lpstr>Maparea directă (1)</vt:lpstr>
      <vt:lpstr>Maparea directă (2)</vt:lpstr>
      <vt:lpstr>Maparea directă (3)</vt:lpstr>
      <vt:lpstr>Maparea directă (4)</vt:lpstr>
      <vt:lpstr>Maparea directă (5)</vt:lpstr>
      <vt:lpstr>Maparea directă (6)</vt:lpstr>
      <vt:lpstr>Maparea directă (7)</vt:lpstr>
      <vt:lpstr>Maparea directă (8)</vt:lpstr>
      <vt:lpstr>Maparea directă (9)</vt:lpstr>
      <vt:lpstr>Memoria cache</vt:lpstr>
      <vt:lpstr>Maparea cu seturi asociative (1)</vt:lpstr>
      <vt:lpstr>Maparea cu seturi asociative (2)</vt:lpstr>
      <vt:lpstr>Maparea cu seturi asociative (3)</vt:lpstr>
      <vt:lpstr>Maparea cu seturi asociative (4)</vt:lpstr>
      <vt:lpstr>Maparea cu seturi asociative (5)</vt:lpstr>
      <vt:lpstr>Maparea cu seturi asociative (6)</vt:lpstr>
      <vt:lpstr>Maparea cu seturi asociative (7)</vt:lpstr>
      <vt:lpstr>Memoria cache</vt:lpstr>
      <vt:lpstr>Strategii de înlocuire (1)</vt:lpstr>
      <vt:lpstr>Strategii de înlocuire (2)</vt:lpstr>
      <vt:lpstr>Strategii de înlocuire (3)</vt:lpstr>
      <vt:lpstr>Rezumat (1)</vt:lpstr>
      <vt:lpstr>Rezumat (2)</vt:lpstr>
      <vt:lpstr>Rezumat (3)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SSC-Memorii-4</dc:title>
  <dc:creator>Baruch Zoltan</dc:creator>
  <cp:lastModifiedBy>Baruch Zoltan</cp:lastModifiedBy>
  <cp:revision>290</cp:revision>
  <cp:lastPrinted>1601-01-01T00:00:00Z</cp:lastPrinted>
  <dcterms:created xsi:type="dcterms:W3CDTF">2002-05-22T18:25:20Z</dcterms:created>
  <dcterms:modified xsi:type="dcterms:W3CDTF">2018-05-05T10:18:28Z</dcterms:modified>
</cp:coreProperties>
</file>