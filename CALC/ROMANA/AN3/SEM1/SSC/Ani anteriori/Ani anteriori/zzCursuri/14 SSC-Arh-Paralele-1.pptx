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5" r:id="rId1"/>
    <p:sldMasterId id="2147483688" r:id="rId2"/>
  </p:sldMasterIdLst>
  <p:notesMasterIdLst>
    <p:notesMasterId r:id="rId65"/>
  </p:notesMasterIdLst>
  <p:handoutMasterIdLst>
    <p:handoutMasterId r:id="rId66"/>
  </p:handoutMasterIdLst>
  <p:sldIdLst>
    <p:sldId id="333" r:id="rId3"/>
    <p:sldId id="357" r:id="rId4"/>
    <p:sldId id="421" r:id="rId5"/>
    <p:sldId id="423" r:id="rId6"/>
    <p:sldId id="424" r:id="rId7"/>
    <p:sldId id="425" r:id="rId8"/>
    <p:sldId id="422" r:id="rId9"/>
    <p:sldId id="402" r:id="rId10"/>
    <p:sldId id="335" r:id="rId11"/>
    <p:sldId id="426" r:id="rId12"/>
    <p:sldId id="336" r:id="rId13"/>
    <p:sldId id="337" r:id="rId14"/>
    <p:sldId id="338" r:id="rId15"/>
    <p:sldId id="339" r:id="rId16"/>
    <p:sldId id="340" r:id="rId17"/>
    <p:sldId id="341" r:id="rId18"/>
    <p:sldId id="403" r:id="rId19"/>
    <p:sldId id="404" r:id="rId20"/>
    <p:sldId id="427" r:id="rId21"/>
    <p:sldId id="428" r:id="rId22"/>
    <p:sldId id="358" r:id="rId23"/>
    <p:sldId id="359" r:id="rId24"/>
    <p:sldId id="360" r:id="rId25"/>
    <p:sldId id="361" r:id="rId26"/>
    <p:sldId id="362" r:id="rId27"/>
    <p:sldId id="363" r:id="rId28"/>
    <p:sldId id="364" r:id="rId29"/>
    <p:sldId id="397" r:id="rId30"/>
    <p:sldId id="398" r:id="rId31"/>
    <p:sldId id="365" r:id="rId32"/>
    <p:sldId id="366" r:id="rId33"/>
    <p:sldId id="367" r:id="rId34"/>
    <p:sldId id="368" r:id="rId35"/>
    <p:sldId id="369" r:id="rId36"/>
    <p:sldId id="370" r:id="rId37"/>
    <p:sldId id="371" r:id="rId38"/>
    <p:sldId id="372" r:id="rId39"/>
    <p:sldId id="373" r:id="rId40"/>
    <p:sldId id="374" r:id="rId41"/>
    <p:sldId id="400" r:id="rId42"/>
    <p:sldId id="401" r:id="rId43"/>
    <p:sldId id="375" r:id="rId44"/>
    <p:sldId id="396" r:id="rId45"/>
    <p:sldId id="376" r:id="rId46"/>
    <p:sldId id="409" r:id="rId47"/>
    <p:sldId id="410" r:id="rId48"/>
    <p:sldId id="411" r:id="rId49"/>
    <p:sldId id="412" r:id="rId50"/>
    <p:sldId id="413" r:id="rId51"/>
    <p:sldId id="414" r:id="rId52"/>
    <p:sldId id="415" r:id="rId53"/>
    <p:sldId id="416" r:id="rId54"/>
    <p:sldId id="417" r:id="rId55"/>
    <p:sldId id="418" r:id="rId56"/>
    <p:sldId id="419" r:id="rId57"/>
    <p:sldId id="420" r:id="rId58"/>
    <p:sldId id="429" r:id="rId59"/>
    <p:sldId id="430" r:id="rId60"/>
    <p:sldId id="433" r:id="rId61"/>
    <p:sldId id="431" r:id="rId62"/>
    <p:sldId id="432" r:id="rId63"/>
    <p:sldId id="332" r:id="rId6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911" autoAdjust="0"/>
    <p:restoredTop sz="85430" autoAdjust="0"/>
  </p:normalViewPr>
  <p:slideViewPr>
    <p:cSldViewPr>
      <p:cViewPr varScale="1">
        <p:scale>
          <a:sx n="143" d="100"/>
          <a:sy n="143" d="100"/>
        </p:scale>
        <p:origin x="3284" y="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7" d="100"/>
          <a:sy n="127" d="100"/>
        </p:scale>
        <p:origin x="4900" y="8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o-RO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ro-RO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o-RO"/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2CA741A-114E-4A97-BCCB-D2DBCAE682CD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16558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3B1E3106-18D5-4E03-B316-F4A1FFD1C7FA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6522479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736C6B4-B85E-4576-94DB-782584CCC0BB}" type="slidenum">
              <a:rPr lang="ro-RO"/>
              <a:pPr/>
              <a:t>1</a:t>
            </a:fld>
            <a:endParaRPr lang="ro-RO"/>
          </a:p>
        </p:txBody>
      </p:sp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28946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21470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2944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13537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86867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122758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952969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831105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235326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10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785732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11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589509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12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407397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13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908227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14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378606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15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586989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16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499047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17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62910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18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068115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19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683875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20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485845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21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116483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22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684416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23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530997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24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656614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25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925991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26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950087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27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133061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28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4550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29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3041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30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841098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31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990644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32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889993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33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7257052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34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3855680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35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967495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36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737533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37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633048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38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0818606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39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4932118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40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8041004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41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3567722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42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9283245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43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1588714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44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0016361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45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7503988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46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2434530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47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984006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48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332099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49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3083206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50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9733290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51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7821106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52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3368186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53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9651797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54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2260211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55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806321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56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1411303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57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1641482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58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1412740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59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7910984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60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9460395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61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64411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1E3106-18D5-4E03-B316-F4A1FFD1C7FA}" type="slidenum">
              <a:rPr lang="ro-RO" smtClean="0"/>
              <a:pPr/>
              <a:t>62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94434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gif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475375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0A7E7227-863E-4A59-A940-DD330594A7A8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gradFill flip="none" rotWithShape="1"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24437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14F4AD95-6045-4C6E-B1A0-62AABA8621DF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2"/>
            <a:ext cx="4114800" cy="4753751"/>
          </a:xfrm>
        </p:spPr>
        <p:txBody>
          <a:bodyPr/>
          <a:lstStyle>
            <a:lvl1pPr marL="339976" indent="-339976">
              <a:lnSpc>
                <a:spcPct val="90000"/>
              </a:lnSpc>
              <a:defRPr sz="3200"/>
            </a:lvl1pPr>
            <a:lvl2pPr marL="673338" indent="-325424">
              <a:lnSpc>
                <a:spcPct val="90000"/>
              </a:lnSpc>
              <a:defRPr sz="2800"/>
            </a:lvl2pPr>
            <a:lvl3pPr marL="953785" indent="-288384">
              <a:lnSpc>
                <a:spcPct val="90000"/>
              </a:lnSpc>
              <a:defRPr sz="2400"/>
            </a:lvl3pPr>
            <a:lvl4pPr marL="1227618" indent="-273833">
              <a:lnSpc>
                <a:spcPct val="90000"/>
              </a:lnSpc>
              <a:defRPr sz="2000"/>
            </a:lvl4pPr>
            <a:lvl5pPr marL="1516002" indent="-280447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2"/>
            <a:ext cx="4114800" cy="4753751"/>
          </a:xfrm>
        </p:spPr>
        <p:txBody>
          <a:bodyPr/>
          <a:lstStyle>
            <a:lvl1pPr marL="347914" indent="-347914">
              <a:lnSpc>
                <a:spcPct val="90000"/>
              </a:lnSpc>
              <a:defRPr sz="3200"/>
            </a:lvl1pPr>
            <a:lvl2pPr marL="673338" indent="-339976">
              <a:lnSpc>
                <a:spcPct val="90000"/>
              </a:lnSpc>
              <a:defRPr sz="2800"/>
            </a:lvl2pPr>
            <a:lvl3pPr marL="961722" indent="-302936">
              <a:lnSpc>
                <a:spcPct val="90000"/>
              </a:lnSpc>
              <a:defRPr sz="2400"/>
            </a:lvl3pPr>
            <a:lvl4pPr marL="1227618" indent="-265896">
              <a:lnSpc>
                <a:spcPct val="90000"/>
              </a:lnSpc>
              <a:defRPr sz="2000"/>
            </a:lvl4pPr>
            <a:lvl5pPr marL="1516002" indent="-273833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658DB5-0946-4707-AFBD-7C0520101412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28454"/>
            <a:ext cx="4114800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4"/>
            <a:ext cx="4114800" cy="3990429"/>
          </a:xfrm>
        </p:spPr>
        <p:txBody>
          <a:bodyPr/>
          <a:lstStyle>
            <a:lvl1pPr marL="281770" indent="-281770">
              <a:defRPr sz="2400"/>
            </a:lvl1pPr>
            <a:lvl2pPr marL="562218" indent="-265896">
              <a:defRPr sz="2200"/>
            </a:lvl2pPr>
            <a:lvl3pPr marL="813562" indent="-243407">
              <a:defRPr sz="2000"/>
            </a:lvl3pPr>
            <a:lvl4pPr marL="1050354" indent="-228856">
              <a:defRPr sz="1800"/>
            </a:lvl4pPr>
            <a:lvl5pPr marL="1279210" indent="-206367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328454"/>
            <a:ext cx="4117019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4"/>
            <a:ext cx="4117974" cy="3990429"/>
          </a:xfrm>
        </p:spPr>
        <p:txBody>
          <a:bodyPr/>
          <a:lstStyle>
            <a:lvl1pPr marL="296321" indent="-296321">
              <a:defRPr sz="2400"/>
            </a:lvl1pPr>
            <a:lvl2pPr marL="570155" indent="-273833">
              <a:defRPr sz="2200"/>
            </a:lvl2pPr>
            <a:lvl3pPr marL="821499" indent="-244730">
              <a:defRPr sz="2000"/>
            </a:lvl3pPr>
            <a:lvl4pPr marL="1050354" indent="-236793">
              <a:defRPr sz="1800"/>
            </a:lvl4pPr>
            <a:lvl5pPr marL="1279210" indent="-220919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2BC26B1-4078-4EED-853C-81E87C983B38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E32962-D765-448F-81C6-ACA7EB9F5448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2971E1-7675-4C82-AE8D-51AA69D944CA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A7E7227-863E-4A59-A940-DD330594A7A8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352928" cy="648072"/>
          </a:xfrm>
        </p:spPr>
        <p:txBody>
          <a:bodyPr/>
          <a:lstStyle>
            <a:lvl1pPr algn="ctr">
              <a:defRPr sz="44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6" y="1524000"/>
            <a:ext cx="8352928" cy="2123658"/>
          </a:xfrm>
        </p:spPr>
        <p:txBody>
          <a:bodyPr/>
          <a:lstStyle>
            <a:lvl1pPr marL="396875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100000"/>
              <a:defRPr sz="3200">
                <a:latin typeface="+mn-lt"/>
              </a:defRPr>
            </a:lvl2pPr>
            <a:lvl3pPr>
              <a:buSzPct val="100000"/>
              <a:buFontTx/>
              <a:buBlip>
                <a:blip r:embed="rId3"/>
              </a:buBlip>
              <a:defRPr>
                <a:latin typeface="+mn-lt"/>
              </a:defRPr>
            </a:lvl3pPr>
            <a:lvl4pPr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5536" y="3861048"/>
            <a:ext cx="8352928" cy="2123658"/>
          </a:xfrm>
        </p:spPr>
        <p:txBody>
          <a:bodyPr/>
          <a:lstStyle>
            <a:lvl1pPr>
              <a:buSzPct val="70000"/>
              <a:buFontTx/>
              <a:buBlip>
                <a:blip r:embed="rId4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55000"/>
              <a:defRPr lang="en-US" sz="3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buSzPct val="70000"/>
              <a:buFontTx/>
              <a:buBlip>
                <a:blip r:embed="rId3"/>
              </a:buBlip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marL="396875" lvl="0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Click to edit Master text styles</a:t>
            </a:r>
          </a:p>
          <a:p>
            <a:pPr marL="396875" lvl="1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Second level</a:t>
            </a:r>
          </a:p>
          <a:p>
            <a:pPr marL="396875" lvl="2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Third level</a:t>
            </a:r>
          </a:p>
          <a:p>
            <a:pPr marL="396875" lvl="3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Fourth level</a:t>
            </a:r>
          </a:p>
          <a:p>
            <a:pPr marL="396875" lvl="4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o-RO" smtClean="0"/>
              <a:t>Structura sistemelor de calcul (05-1)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A7E7227-863E-4A59-A940-DD330594A7A8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4897768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A1A8A2-B654-4CFC-85EC-A016050C91AE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2"/>
            <a:ext cx="4114800" cy="4897767"/>
          </a:xfrm>
        </p:spPr>
        <p:txBody>
          <a:bodyPr/>
          <a:lstStyle>
            <a:lvl1pPr marL="339976" indent="-339976">
              <a:lnSpc>
                <a:spcPct val="90000"/>
              </a:lnSpc>
              <a:defRPr sz="3200"/>
            </a:lvl1pPr>
            <a:lvl2pPr marL="673338" indent="-325424">
              <a:lnSpc>
                <a:spcPct val="90000"/>
              </a:lnSpc>
              <a:defRPr sz="2800"/>
            </a:lvl2pPr>
            <a:lvl3pPr marL="953785" indent="-288384">
              <a:lnSpc>
                <a:spcPct val="90000"/>
              </a:lnSpc>
              <a:defRPr sz="2400"/>
            </a:lvl3pPr>
            <a:lvl4pPr marL="1227618" indent="-273833">
              <a:lnSpc>
                <a:spcPct val="90000"/>
              </a:lnSpc>
              <a:defRPr sz="2000"/>
            </a:lvl4pPr>
            <a:lvl5pPr marL="1516002" indent="-280447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2"/>
            <a:ext cx="4114800" cy="4897767"/>
          </a:xfrm>
        </p:spPr>
        <p:txBody>
          <a:bodyPr/>
          <a:lstStyle>
            <a:lvl1pPr marL="347914" indent="-347914">
              <a:lnSpc>
                <a:spcPct val="90000"/>
              </a:lnSpc>
              <a:defRPr sz="3200"/>
            </a:lvl1pPr>
            <a:lvl2pPr marL="673338" indent="-339976">
              <a:lnSpc>
                <a:spcPct val="90000"/>
              </a:lnSpc>
              <a:defRPr sz="2800"/>
            </a:lvl2pPr>
            <a:lvl3pPr marL="961722" indent="-302936">
              <a:lnSpc>
                <a:spcPct val="90000"/>
              </a:lnSpc>
              <a:defRPr sz="2400"/>
            </a:lvl3pPr>
            <a:lvl4pPr marL="1227618" indent="-265896">
              <a:lnSpc>
                <a:spcPct val="90000"/>
              </a:lnSpc>
              <a:defRPr sz="2000"/>
            </a:lvl4pPr>
            <a:lvl5pPr marL="1516002" indent="-273833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54AF97-6E84-46A2-B98D-D31059C06419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28454"/>
            <a:ext cx="4114800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4"/>
            <a:ext cx="4114800" cy="4134445"/>
          </a:xfrm>
        </p:spPr>
        <p:txBody>
          <a:bodyPr/>
          <a:lstStyle>
            <a:lvl1pPr marL="281770" indent="-281770">
              <a:defRPr sz="2800"/>
            </a:lvl1pPr>
            <a:lvl2pPr marL="562218" indent="-265896">
              <a:defRPr sz="2400"/>
            </a:lvl2pPr>
            <a:lvl3pPr marL="813562" indent="-243407">
              <a:defRPr sz="2000"/>
            </a:lvl3pPr>
            <a:lvl4pPr marL="1050354" indent="-228856">
              <a:defRPr sz="1800"/>
            </a:lvl4pPr>
            <a:lvl5pPr marL="1279210" indent="-206367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328454"/>
            <a:ext cx="4117019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4"/>
            <a:ext cx="4117974" cy="4134445"/>
          </a:xfrm>
        </p:spPr>
        <p:txBody>
          <a:bodyPr/>
          <a:lstStyle>
            <a:lvl1pPr marL="296321" indent="-296321">
              <a:defRPr sz="2800"/>
            </a:lvl1pPr>
            <a:lvl2pPr marL="570155" indent="-273833">
              <a:defRPr sz="2400"/>
            </a:lvl2pPr>
            <a:lvl3pPr marL="821499" indent="-244730">
              <a:defRPr sz="2000"/>
            </a:lvl3pPr>
            <a:lvl4pPr marL="1050354" indent="-236793">
              <a:defRPr sz="1800"/>
            </a:lvl4pPr>
            <a:lvl5pPr marL="1279210" indent="-220919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B781DE-7E8D-40A1-84D4-25F25E8079DB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EC91A5-F5CB-4ED5-B8DB-DC4BB8D1C78C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336754-5158-443C-B27D-03E06682E8E8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352928" cy="609398"/>
          </a:xfrm>
        </p:spPr>
        <p:txBody>
          <a:bodyPr/>
          <a:lstStyle>
            <a:lvl1pPr algn="ctr">
              <a:defRPr sz="44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6" y="1524000"/>
            <a:ext cx="8352928" cy="2123658"/>
          </a:xfrm>
        </p:spPr>
        <p:txBody>
          <a:bodyPr/>
          <a:lstStyle>
            <a:lvl1pPr marL="396875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100000"/>
              <a:defRPr sz="3200">
                <a:latin typeface="+mn-lt"/>
              </a:defRPr>
            </a:lvl2pPr>
            <a:lvl3pPr>
              <a:buSzPct val="100000"/>
              <a:buFontTx/>
              <a:buBlip>
                <a:blip r:embed="rId3"/>
              </a:buBlip>
              <a:defRPr>
                <a:latin typeface="+mn-lt"/>
              </a:defRPr>
            </a:lvl3pPr>
            <a:lvl4pPr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5536" y="3886200"/>
            <a:ext cx="8352928" cy="2123658"/>
          </a:xfrm>
        </p:spPr>
        <p:txBody>
          <a:bodyPr/>
          <a:lstStyle>
            <a:lvl1pPr>
              <a:buSzPct val="70000"/>
              <a:buFontTx/>
              <a:buBlip>
                <a:blip r:embed="rId4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55000"/>
              <a:defRPr lang="en-US" sz="3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buSzPct val="70000"/>
              <a:buFontTx/>
              <a:buBlip>
                <a:blip r:embed="rId3"/>
              </a:buBlip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marL="396875" lvl="0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Click to edit Master text styles</a:t>
            </a:r>
          </a:p>
          <a:p>
            <a:pPr marL="396875" lvl="1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Second level</a:t>
            </a:r>
          </a:p>
          <a:p>
            <a:pPr marL="396875" lvl="2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Third level</a:t>
            </a:r>
          </a:p>
          <a:p>
            <a:pPr marL="396875" lvl="3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Fourth level</a:t>
            </a:r>
          </a:p>
          <a:p>
            <a:pPr marL="396875" lvl="4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21.05.2018</a:t>
            </a:r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o-RO" smtClean="0"/>
              <a:t>Structura sistemelor de calcul (05-1)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166936-3B85-4C03-AB82-F1A9CD13B768}" type="slidenum">
              <a:rPr lang="ro-RO" smtClean="0"/>
              <a:pPr/>
              <a:t>‹#›</a:t>
            </a:fld>
            <a:endParaRPr lang="ro-RO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875"/>
            <a:ext cx="8382000" cy="2135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520" y="6356350"/>
            <a:ext cx="216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879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smtClean="0"/>
              <a:t>Structura sistemelor de calcul (05-1)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32240" y="6356350"/>
            <a:ext cx="216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0A7E7227-863E-4A59-A940-DD330594A7A8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ransition>
    <p:fade/>
  </p:transition>
  <p:hf hdr="0"/>
  <p:txStyles>
    <p:titleStyle>
      <a:lvl1pPr algn="ctr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36000">
                <a:schemeClr val="accent3">
                  <a:lumMod val="40000"/>
                  <a:lumOff val="60000"/>
                </a:schemeClr>
              </a:gs>
              <a:gs pos="86000">
                <a:schemeClr val="accent3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4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875"/>
            <a:ext cx="8382000" cy="2135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520" y="6309320"/>
            <a:ext cx="2160240" cy="432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21.05.2018</a:t>
            </a:r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09320"/>
            <a:ext cx="2895600" cy="432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o-RO" smtClean="0"/>
              <a:t>Structura sistemelor de calcul (05-1)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32240" y="6309320"/>
            <a:ext cx="2160240" cy="4121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ransition>
    <p:fade/>
  </p:transition>
  <p:hf hdr="0"/>
  <p:txStyles>
    <p:titleStyle>
      <a:lvl1pPr algn="ctr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 flip="none" rotWithShape="1">
            <a:gsLst>
              <a:gs pos="0">
                <a:srgbClr val="FFFFB9"/>
              </a:gs>
              <a:gs pos="36000">
                <a:srgbClr val="FFFF99"/>
              </a:gs>
              <a:gs pos="86000">
                <a:srgbClr val="F6AE1E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4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Cuprins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154984"/>
          </a:xfrm>
        </p:spPr>
        <p:txBody>
          <a:bodyPr/>
          <a:lstStyle/>
          <a:p>
            <a:endParaRPr lang="ro-RO" dirty="0" smtClean="0"/>
          </a:p>
          <a:p>
            <a:endParaRPr lang="en-US" dirty="0"/>
          </a:p>
          <a:p>
            <a:r>
              <a:rPr lang="ro-RO" dirty="0"/>
              <a:t>1. Introducere</a:t>
            </a:r>
          </a:p>
          <a:p>
            <a:r>
              <a:rPr lang="ro-RO" dirty="0"/>
              <a:t>2. Unitatea aritmetică și logică</a:t>
            </a:r>
          </a:p>
          <a:p>
            <a:r>
              <a:rPr lang="ro-RO" dirty="0"/>
              <a:t>3. Sisteme de memorie</a:t>
            </a:r>
            <a:endParaRPr lang="en-US" dirty="0"/>
          </a:p>
          <a:p>
            <a:r>
              <a:rPr lang="ro-RO" dirty="0"/>
              <a:t>4. Arhitecturi RISC</a:t>
            </a:r>
            <a:endParaRPr lang="en-US" i="1" dirty="0"/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Introducere în arhitecturi </a:t>
            </a:r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paralele</a:t>
            </a:r>
            <a:endParaRPr lang="ro-RO" dirty="0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36000">
                    <a:schemeClr val="accent3">
                      <a:lumMod val="40000"/>
                      <a:lumOff val="60000"/>
                    </a:schemeClr>
                  </a:gs>
                  <a:gs pos="86000">
                    <a:schemeClr val="accent3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40262B-161E-4AB0-B4AB-2629231273A5}" type="slidenum">
              <a:rPr lang="ro-RO"/>
              <a:pPr/>
              <a:t>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5. Introducere în arhitecturi paralele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653582"/>
          </a:xfrm>
        </p:spPr>
        <p:txBody>
          <a:bodyPr/>
          <a:lstStyle/>
          <a:p>
            <a:endParaRPr lang="ro-RO" sz="2800" dirty="0" smtClean="0"/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Tipuri și nivele de paralelism</a:t>
            </a:r>
          </a:p>
          <a:p>
            <a:r>
              <a:rPr lang="ro-RO" dirty="0"/>
              <a:t>Clasificarea arhitecturilor paralele</a:t>
            </a:r>
          </a:p>
          <a:p>
            <a:r>
              <a:rPr lang="ro-RO" dirty="0" smtClean="0"/>
              <a:t>Arhitecturi vectoriale</a:t>
            </a:r>
          </a:p>
          <a:p>
            <a:r>
              <a:rPr lang="ro-RO" dirty="0" smtClean="0"/>
              <a:t>Arhitecturi SIMD</a:t>
            </a:r>
          </a:p>
          <a:p>
            <a:r>
              <a:rPr lang="ro-RO" dirty="0" smtClean="0"/>
              <a:t>Arhitecturi sistolice</a:t>
            </a:r>
          </a:p>
          <a:p>
            <a:r>
              <a:rPr lang="ro-RO" dirty="0"/>
              <a:t>Arhitecturi MIMD</a:t>
            </a:r>
          </a:p>
          <a:p>
            <a:r>
              <a:rPr lang="ro-RO" dirty="0" smtClean="0"/>
              <a:t>Arhitecturi cu fire de execuție multiple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2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Tipuri și nivele de paralelism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776692"/>
          </a:xfrm>
        </p:spPr>
        <p:txBody>
          <a:bodyPr/>
          <a:lstStyle/>
          <a:p>
            <a:r>
              <a:rPr lang="ro-RO" dirty="0" smtClean="0"/>
              <a:t>Soluțiile unor probleme pot conține două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tipuri de paralelism</a:t>
            </a:r>
            <a:r>
              <a:rPr lang="ro-RO" dirty="0" smtClean="0"/>
              <a:t>: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Paralelism funcțional</a:t>
            </a:r>
            <a:r>
              <a:rPr lang="ro-RO" dirty="0" smtClean="0"/>
              <a:t>: derivă din logica unei soluții a problemei; apare în toate descrierile formale ale soluției 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Paralelism de date</a:t>
            </a:r>
            <a:r>
              <a:rPr lang="ro-RO" dirty="0" smtClean="0"/>
              <a:t>: derivă din utilizarea structurilor de date care permit operații în paralel asupra elementelor de date</a:t>
            </a:r>
            <a:endParaRPr lang="ro-RO" dirty="0"/>
          </a:p>
          <a:p>
            <a:pPr lvl="2"/>
            <a:r>
              <a:rPr lang="ro-RO" sz="3000" dirty="0" smtClean="0"/>
              <a:t>Este inerent numai într-un set restrâns de probleme; exemplu: prelucrarea imaginilor</a:t>
            </a:r>
            <a:endParaRPr lang="ro-RO" sz="3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3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1495054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Tipuri și nivele de paralelism </a:t>
            </a:r>
            <a:r>
              <a:rPr lang="ro-RO" dirty="0" smtClean="0"/>
              <a:t>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659737"/>
          </a:xfrm>
        </p:spPr>
        <p:txBody>
          <a:bodyPr/>
          <a:lstStyle/>
          <a:p>
            <a:r>
              <a:rPr lang="ro-RO" dirty="0" smtClean="0"/>
              <a:t>Paralelismul funcțional se poate utiliza la patru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nivele de granularitate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Paralelism la nivelul instrucțiunilor</a:t>
            </a:r>
          </a:p>
          <a:p>
            <a:pPr lvl="1"/>
            <a:r>
              <a:rPr lang="ro-RO" dirty="0" smtClean="0"/>
              <a:t>Execuția instrucțiunilor în paralel</a:t>
            </a:r>
          </a:p>
          <a:p>
            <a:pPr lvl="1"/>
            <a:r>
              <a:rPr lang="ro-RO" dirty="0"/>
              <a:t>Granularitate fină</a:t>
            </a:r>
          </a:p>
          <a:p>
            <a:pPr lvl="1"/>
            <a:r>
              <a:rPr lang="ro-RO" dirty="0" smtClean="0"/>
              <a:t>Arhitecturi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ILP </a:t>
            </a:r>
            <a:r>
              <a:rPr lang="ro-RO" dirty="0" smtClean="0"/>
              <a:t>(</a:t>
            </a:r>
            <a:r>
              <a:rPr lang="ro-RO" i="1" dirty="0" err="1" smtClean="0"/>
              <a:t>Instruction-Level</a:t>
            </a:r>
            <a:r>
              <a:rPr lang="ro-RO" i="1" dirty="0" smtClean="0"/>
              <a:t> </a:t>
            </a:r>
            <a:r>
              <a:rPr lang="ro-RO" i="1" dirty="0" err="1" smtClean="0"/>
              <a:t>Parallelism</a:t>
            </a:r>
            <a:r>
              <a:rPr lang="ro-RO" dirty="0" smtClean="0"/>
              <a:t>)</a:t>
            </a:r>
          </a:p>
          <a:p>
            <a:pPr lvl="1"/>
            <a:r>
              <a:rPr lang="ro-RO" dirty="0" smtClean="0"/>
              <a:t>Înainte de execuție, acest paralelism trebuie detectat fie de către un compilator dedicat, fie de către arhitectură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1843416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Tipuri și nivele de paralelism </a:t>
            </a:r>
            <a:r>
              <a:rPr lang="ro-RO" dirty="0" smtClean="0"/>
              <a:t>(3)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81336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Paralelism la nivelul firelor de execuție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Fir de execuție </a:t>
            </a:r>
            <a:r>
              <a:rPr lang="ro-RO" dirty="0" smtClean="0"/>
              <a:t>(</a:t>
            </a:r>
            <a:r>
              <a:rPr lang="ro-RO" i="1" dirty="0" err="1" smtClean="0"/>
              <a:t>thread</a:t>
            </a:r>
            <a:r>
              <a:rPr lang="ro-RO" dirty="0" smtClean="0"/>
              <a:t>): fragment de cod; se poate executa în paralel cu alte fragmente</a:t>
            </a:r>
          </a:p>
          <a:p>
            <a:pPr lvl="1"/>
            <a:r>
              <a:rPr lang="ro-RO" dirty="0" smtClean="0"/>
              <a:t>Firele de execuție sunt create în cadrul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proceselor </a:t>
            </a:r>
            <a:r>
              <a:rPr lang="ro-RO" dirty="0" smtClean="0"/>
              <a:t>(programelor); partajează resursele procesului în care sunt create</a:t>
            </a:r>
          </a:p>
          <a:p>
            <a:pPr lvl="1"/>
            <a:r>
              <a:rPr lang="ro-RO" dirty="0" smtClean="0"/>
              <a:t>Pot fi create de programator sau SO, sau pot fi generate de un compilator paralel</a:t>
            </a:r>
          </a:p>
          <a:p>
            <a:pPr lvl="1"/>
            <a:r>
              <a:rPr lang="ro-RO" dirty="0" smtClean="0"/>
              <a:t>Pot fi executate în paralel de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arhitecturi cu fire de execuție multiple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2413833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Tipuri și nivele de paralelism </a:t>
            </a:r>
            <a:r>
              <a:rPr lang="ro-RO" dirty="0" smtClean="0"/>
              <a:t>(4)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604337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Paralelism la nivelul proceselor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Proces</a:t>
            </a:r>
            <a:r>
              <a:rPr lang="ro-RO" dirty="0" smtClean="0"/>
              <a:t>: fragment de cod; are o granularitate mai mare comparativ cu un fir de execuție</a:t>
            </a:r>
          </a:p>
          <a:p>
            <a:pPr lvl="1"/>
            <a:r>
              <a:rPr lang="ro-RO" dirty="0" smtClean="0"/>
              <a:t>Procesele pot fi create și executate în mod similar cu firele de execuție 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Paralelism la nivelul utilizatorilor</a:t>
            </a:r>
          </a:p>
          <a:p>
            <a:pPr lvl="1"/>
            <a:r>
              <a:rPr lang="ro-RO" dirty="0" smtClean="0"/>
              <a:t>Utilizatorii multipli sunt independenți unii față de alții </a:t>
            </a:r>
          </a:p>
          <a:p>
            <a:pPr lvl="1"/>
            <a:r>
              <a:rPr lang="ro-RO" dirty="0" smtClean="0"/>
              <a:t>Granularitate mare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0925478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5. Introducere în arhitecturi paralele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653582"/>
          </a:xfrm>
        </p:spPr>
        <p:txBody>
          <a:bodyPr/>
          <a:lstStyle/>
          <a:p>
            <a:endParaRPr lang="ro-RO" sz="2800" dirty="0"/>
          </a:p>
          <a:p>
            <a:r>
              <a:rPr lang="ro-RO" dirty="0"/>
              <a:t>Tipuri și nivele de paralelism</a:t>
            </a:r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Clasificarea arhitecturilor paralele</a:t>
            </a:r>
          </a:p>
          <a:p>
            <a:r>
              <a:rPr lang="ro-RO" dirty="0"/>
              <a:t>Arhitecturi vectoriale</a:t>
            </a:r>
          </a:p>
          <a:p>
            <a:r>
              <a:rPr lang="ro-RO" dirty="0"/>
              <a:t>Arhitecturi SIMD</a:t>
            </a:r>
          </a:p>
          <a:p>
            <a:r>
              <a:rPr lang="ro-RO" dirty="0"/>
              <a:t>Arhitecturi sistolice</a:t>
            </a:r>
          </a:p>
          <a:p>
            <a:r>
              <a:rPr lang="ro-RO" dirty="0"/>
              <a:t>Arhitecturi MIMD</a:t>
            </a:r>
          </a:p>
          <a:p>
            <a:r>
              <a:rPr lang="ro-RO" dirty="0" smtClean="0"/>
              <a:t>Arhitecturi </a:t>
            </a:r>
            <a:r>
              <a:rPr lang="ro-RO" dirty="0"/>
              <a:t>cu fire de execuție </a:t>
            </a:r>
            <a:r>
              <a:rPr lang="ro-RO" dirty="0" smtClean="0"/>
              <a:t>multiple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7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8409933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Clasificarea arhitecturilor paralele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2800767"/>
          </a:xfrm>
        </p:spPr>
        <p:txBody>
          <a:bodyPr/>
          <a:lstStyle/>
          <a:p>
            <a:endParaRPr lang="ro-RO" dirty="0" smtClean="0"/>
          </a:p>
          <a:p>
            <a:endParaRPr lang="ro-RO" dirty="0"/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Clasificarea arhitecturilor paralele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Taxonomia </a:t>
            </a:r>
            <a:r>
              <a:rPr lang="ro-RO" dirty="0" err="1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Flynn</a:t>
            </a:r>
            <a:endParaRPr lang="ro-RO" dirty="0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36000">
                    <a:schemeClr val="accent3">
                      <a:lumMod val="40000"/>
                      <a:lumOff val="60000"/>
                    </a:schemeClr>
                  </a:gs>
                  <a:gs pos="86000">
                    <a:schemeClr val="accent3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ro-RO" dirty="0" smtClean="0"/>
              <a:t>Taxonomie extinsă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8709497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695995"/>
          </a:xfrm>
        </p:spPr>
        <p:txBody>
          <a:bodyPr>
            <a:normAutofit/>
          </a:bodyPr>
          <a:lstStyle/>
          <a:p>
            <a:r>
              <a:rPr lang="ro-RO" dirty="0"/>
              <a:t>Taxonomia </a:t>
            </a:r>
            <a:r>
              <a:rPr lang="ro-RO" dirty="0" err="1" smtClean="0"/>
              <a:t>Flynn</a:t>
            </a:r>
            <a:r>
              <a:rPr lang="ro-RO" dirty="0" smtClean="0"/>
              <a:t> (1</a:t>
            </a:r>
            <a:r>
              <a:rPr lang="ro-RO" dirty="0"/>
              <a:t>)</a:t>
            </a:r>
          </a:p>
        </p:txBody>
      </p:sp>
      <p:sp>
        <p:nvSpPr>
          <p:cNvPr id="18125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321183"/>
          </a:xfrm>
        </p:spPr>
        <p:txBody>
          <a:bodyPr/>
          <a:lstStyle/>
          <a:p>
            <a:r>
              <a:rPr lang="ro-RO" dirty="0" smtClean="0">
                <a:cs typeface="Times New Roman" pitchFamily="18" charset="0"/>
              </a:rPr>
              <a:t>Prof.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Michael </a:t>
            </a:r>
            <a:r>
              <a:rPr lang="ro-RO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Flynn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a clasificat arhitecturile de calculatoare în patru categorii</a:t>
            </a:r>
            <a:r>
              <a:rPr lang="ro-RO" dirty="0"/>
              <a:t> </a:t>
            </a:r>
          </a:p>
          <a:p>
            <a:r>
              <a:rPr lang="ro-RO" dirty="0"/>
              <a:t>Criteriul: </a:t>
            </a:r>
            <a:r>
              <a:rPr lang="ro-RO" dirty="0" smtClean="0">
                <a:cs typeface="Times New Roman" pitchFamily="18" charset="0"/>
              </a:rPr>
              <a:t>prezența </a:t>
            </a:r>
            <a:r>
              <a:rPr lang="ro-RO" dirty="0">
                <a:cs typeface="Times New Roman" pitchFamily="18" charset="0"/>
              </a:rPr>
              <a:t>unui singur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ir </a:t>
            </a:r>
            <a:r>
              <a:rPr lang="ro-RO" dirty="0">
                <a:cs typeface="Times New Roman" pitchFamily="18" charset="0"/>
              </a:rPr>
              <a:t>sau a mai multor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iruri </a:t>
            </a:r>
            <a:r>
              <a:rPr lang="ro-RO" dirty="0">
                <a:cs typeface="Times New Roman" pitchFamily="18" charset="0"/>
              </a:rPr>
              <a:t>de </a:t>
            </a:r>
            <a:r>
              <a:rPr lang="ro-RO" dirty="0" smtClean="0">
                <a:cs typeface="Times New Roman" pitchFamily="18" charset="0"/>
              </a:rPr>
              <a:t>instrucțiuni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de date</a:t>
            </a:r>
            <a:endParaRPr lang="ro-RO" dirty="0"/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Ș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ir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instrucțiuni</a:t>
            </a:r>
            <a:r>
              <a:rPr lang="ro-RO" dirty="0"/>
              <a:t>: </a:t>
            </a:r>
            <a:r>
              <a:rPr lang="ro-RO" dirty="0">
                <a:cs typeface="Times New Roman" pitchFamily="18" charset="0"/>
              </a:rPr>
              <a:t>set de </a:t>
            </a:r>
            <a:r>
              <a:rPr lang="ro-RO" dirty="0" smtClean="0">
                <a:cs typeface="Times New Roman" pitchFamily="18" charset="0"/>
              </a:rPr>
              <a:t>instrucțiuni secvențiale </a:t>
            </a:r>
            <a:r>
              <a:rPr lang="ro-RO" dirty="0">
                <a:cs typeface="Times New Roman" pitchFamily="18" charset="0"/>
              </a:rPr>
              <a:t>executate de un procesor</a:t>
            </a:r>
            <a:r>
              <a:rPr lang="ro-RO" dirty="0"/>
              <a:t> 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Șir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de date</a:t>
            </a:r>
            <a:r>
              <a:rPr lang="ro-RO" dirty="0"/>
              <a:t>: </a:t>
            </a:r>
            <a:r>
              <a:rPr lang="ro-RO" dirty="0">
                <a:cs typeface="Times New Roman" pitchFamily="18" charset="0"/>
              </a:rPr>
              <a:t>fluxul </a:t>
            </a:r>
            <a:r>
              <a:rPr lang="ro-RO" dirty="0" smtClean="0">
                <a:cs typeface="Times New Roman" pitchFamily="18" charset="0"/>
              </a:rPr>
              <a:t>secvențial </a:t>
            </a:r>
            <a:r>
              <a:rPr lang="ro-RO" dirty="0">
                <a:cs typeface="Times New Roman" pitchFamily="18" charset="0"/>
              </a:rPr>
              <a:t>de date necesar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irului </a:t>
            </a:r>
            <a:r>
              <a:rPr lang="ro-RO" dirty="0">
                <a:cs typeface="Times New Roman" pitchFamily="18" charset="0"/>
              </a:rPr>
              <a:t>de </a:t>
            </a:r>
            <a:r>
              <a:rPr lang="ro-RO" dirty="0" smtClean="0">
                <a:cs typeface="Times New Roman" pitchFamily="18" charset="0"/>
              </a:rPr>
              <a:t>instrucțiuni</a:t>
            </a:r>
            <a:r>
              <a:rPr lang="ro-RO" dirty="0" smtClean="0"/>
              <a:t>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83EA7B1-E282-48C2-80A1-8E5A14D6D4AE}" type="slidenum">
              <a:rPr lang="ro-RO"/>
              <a:pPr/>
              <a:t>9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Taxonomia </a:t>
            </a:r>
            <a:r>
              <a:rPr lang="ro-RO" dirty="0" err="1"/>
              <a:t>Flynn</a:t>
            </a:r>
            <a:r>
              <a:rPr lang="ro-RO" dirty="0"/>
              <a:t> </a:t>
            </a:r>
            <a:r>
              <a:rPr lang="ro-RO" dirty="0" smtClean="0"/>
              <a:t>(2)</a:t>
            </a:r>
            <a:endParaRPr lang="ro-RO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53" y="2276872"/>
            <a:ext cx="7544454" cy="2179079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10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1795897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695995"/>
          </a:xfrm>
        </p:spPr>
        <p:txBody>
          <a:bodyPr>
            <a:normAutofit/>
          </a:bodyPr>
          <a:lstStyle/>
          <a:p>
            <a:r>
              <a:rPr lang="ro-RO" dirty="0"/>
              <a:t>Taxonomia </a:t>
            </a:r>
            <a:r>
              <a:rPr lang="ro-RO" dirty="0" err="1" smtClean="0"/>
              <a:t>Flynn</a:t>
            </a:r>
            <a:r>
              <a:rPr lang="ro-RO" dirty="0" smtClean="0"/>
              <a:t> (</a:t>
            </a:r>
            <a:r>
              <a:rPr lang="ro-RO" dirty="0"/>
              <a:t>3</a:t>
            </a:r>
            <a:r>
              <a:rPr lang="ro-RO" dirty="0" smtClean="0"/>
              <a:t>)</a:t>
            </a:r>
            <a:endParaRPr lang="ro-RO" dirty="0"/>
          </a:p>
        </p:txBody>
      </p:sp>
      <p:sp>
        <p:nvSpPr>
          <p:cNvPr id="16793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493538"/>
          </a:xfrm>
        </p:spPr>
        <p:txBody>
          <a:bodyPr/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SISD </a:t>
            </a:r>
            <a:r>
              <a:rPr lang="ro-RO" dirty="0"/>
              <a:t>(</a:t>
            </a:r>
            <a:r>
              <a:rPr lang="ro-RO" i="1" dirty="0"/>
              <a:t>Single </a:t>
            </a:r>
            <a:r>
              <a:rPr lang="ro-RO" i="1" dirty="0" err="1"/>
              <a:t>Instruction</a:t>
            </a:r>
            <a:r>
              <a:rPr lang="ro-RO" i="1" dirty="0"/>
              <a:t> </a:t>
            </a:r>
            <a:r>
              <a:rPr lang="ro-RO" i="1" dirty="0" err="1"/>
              <a:t>stream</a:t>
            </a:r>
            <a:r>
              <a:rPr lang="ro-RO" i="1" dirty="0"/>
              <a:t>, </a:t>
            </a:r>
            <a:r>
              <a:rPr lang="ro-RO" i="1" dirty="0" err="1"/>
              <a:t>Single</a:t>
            </a:r>
            <a:r>
              <a:rPr lang="ro-RO" i="1" dirty="0"/>
              <a:t> Data </a:t>
            </a:r>
            <a:r>
              <a:rPr lang="ro-RO" i="1" dirty="0" err="1"/>
              <a:t>stream</a:t>
            </a:r>
            <a:r>
              <a:rPr lang="ro-RO" dirty="0"/>
              <a:t>)</a:t>
            </a:r>
          </a:p>
          <a:p>
            <a:pPr lvl="1"/>
            <a:r>
              <a:rPr lang="ro-RO" dirty="0"/>
              <a:t>C</a:t>
            </a:r>
            <a:r>
              <a:rPr lang="ro-RO" dirty="0">
                <a:cs typeface="Times New Roman" pitchFamily="18" charset="0"/>
              </a:rPr>
              <a:t>orespunde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arhitecturii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von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Neumann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dirty="0"/>
              <a:t>S</a:t>
            </a:r>
            <a:r>
              <a:rPr lang="ro-RO" dirty="0">
                <a:cs typeface="Times New Roman" pitchFamily="18" charset="0"/>
              </a:rPr>
              <a:t>e execut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în orice moment o singur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instrucțiune</a:t>
            </a:r>
            <a:r>
              <a:rPr lang="ro-RO" dirty="0" smtClean="0"/>
              <a:t> </a:t>
            </a:r>
            <a:r>
              <a:rPr lang="ro-RO" dirty="0">
                <a:sym typeface="Symbol" pitchFamily="18" charset="2"/>
              </a:rPr>
              <a:t> </a:t>
            </a:r>
            <a:r>
              <a:rPr lang="ro-RO" dirty="0">
                <a:cs typeface="Times New Roman" pitchFamily="18" charset="0"/>
              </a:rPr>
              <a:t>calculatoare seriale scalare</a:t>
            </a:r>
            <a:r>
              <a:rPr lang="ro-RO" dirty="0"/>
              <a:t> </a:t>
            </a:r>
          </a:p>
          <a:p>
            <a:pPr lvl="1"/>
            <a:r>
              <a:rPr lang="ro-RO" dirty="0"/>
              <a:t>U</a:t>
            </a:r>
            <a:r>
              <a:rPr lang="ro-RO" dirty="0">
                <a:cs typeface="Times New Roman" pitchFamily="18" charset="0"/>
              </a:rPr>
              <a:t>tilizeaz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un registru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contor de program</a:t>
            </a:r>
          </a:p>
          <a:p>
            <a:pPr lvl="1"/>
            <a:r>
              <a:rPr lang="ro-RO" dirty="0" smtClean="0">
                <a:cs typeface="Times New Roman" pitchFamily="18" charset="0"/>
              </a:rPr>
              <a:t>Actualmente există doar </a:t>
            </a:r>
            <a:r>
              <a:rPr lang="ro-RO" dirty="0">
                <a:cs typeface="Times New Roman" pitchFamily="18" charset="0"/>
              </a:rPr>
              <a:t>un num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 redus de calculatoare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SISD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sym typeface="Symbol" pitchFamily="18" charset="2"/>
              </a:rPr>
              <a:t>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/>
              <a:t>se </a:t>
            </a:r>
            <a:r>
              <a:rPr lang="ro-RO" dirty="0">
                <a:cs typeface="Times New Roman" pitchFamily="18" charset="0"/>
              </a:rPr>
              <a:t>utilizeaz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paralelismul în scopul </a:t>
            </a:r>
            <a:r>
              <a:rPr lang="ro-RO" dirty="0" smtClean="0">
                <a:cs typeface="Times New Roman" pitchFamily="18" charset="0"/>
              </a:rPr>
              <a:t>cre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terii eficienței</a:t>
            </a:r>
            <a:r>
              <a:rPr lang="ro-RO" dirty="0" smtClean="0"/>
              <a:t>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754B0C-EA52-47CE-896B-64A390805BB4}" type="slidenum">
              <a:rPr lang="ro-RO"/>
              <a:pPr/>
              <a:t>11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695995"/>
          </a:xfrm>
        </p:spPr>
        <p:txBody>
          <a:bodyPr>
            <a:normAutofit/>
          </a:bodyPr>
          <a:lstStyle/>
          <a:p>
            <a:r>
              <a:rPr lang="ro-RO" dirty="0"/>
              <a:t>Taxonomia </a:t>
            </a:r>
            <a:r>
              <a:rPr lang="ro-RO" dirty="0" err="1" smtClean="0"/>
              <a:t>Flynn</a:t>
            </a:r>
            <a:r>
              <a:rPr lang="ro-RO" dirty="0" smtClean="0"/>
              <a:t> (4)</a:t>
            </a:r>
            <a:endParaRPr lang="ro-RO" dirty="0"/>
          </a:p>
        </p:txBody>
      </p:sp>
      <p:sp>
        <p:nvSpPr>
          <p:cNvPr id="18227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838248"/>
          </a:xfrm>
        </p:spPr>
        <p:txBody>
          <a:bodyPr/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MISD </a:t>
            </a:r>
            <a:r>
              <a:rPr lang="ro-RO" dirty="0"/>
              <a:t>(</a:t>
            </a:r>
            <a:r>
              <a:rPr lang="ro-RO" i="1" dirty="0"/>
              <a:t>Multiple </a:t>
            </a:r>
            <a:r>
              <a:rPr lang="ro-RO" i="1" dirty="0" err="1"/>
              <a:t>Instruction</a:t>
            </a:r>
            <a:r>
              <a:rPr lang="ro-RO" i="1" dirty="0"/>
              <a:t> </a:t>
            </a:r>
            <a:r>
              <a:rPr lang="ro-RO" i="1" dirty="0" err="1"/>
              <a:t>stream</a:t>
            </a:r>
            <a:r>
              <a:rPr lang="ro-RO" i="1" dirty="0"/>
              <a:t>, Single Data </a:t>
            </a:r>
            <a:r>
              <a:rPr lang="ro-RO" i="1" dirty="0" err="1"/>
              <a:t>stream</a:t>
            </a:r>
            <a:r>
              <a:rPr lang="ro-RO" dirty="0"/>
              <a:t>)</a:t>
            </a:r>
          </a:p>
          <a:p>
            <a:pPr lvl="1"/>
            <a:r>
              <a:rPr lang="ro-RO" dirty="0"/>
              <a:t>M</a:t>
            </a:r>
            <a:r>
              <a:rPr lang="ro-RO" dirty="0">
                <a:cs typeface="Times New Roman" pitchFamily="18" charset="0"/>
              </a:rPr>
              <a:t>ai multe </a:t>
            </a:r>
            <a:r>
              <a:rPr lang="ro-RO" dirty="0" smtClean="0">
                <a:cs typeface="Times New Roman" pitchFamily="18" charset="0"/>
              </a:rPr>
              <a:t>instrucțiuni </a:t>
            </a:r>
            <a:r>
              <a:rPr lang="ro-RO" dirty="0">
                <a:cs typeface="Times New Roman" pitchFamily="18" charset="0"/>
              </a:rPr>
              <a:t>opereaz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asupra unei singure date</a:t>
            </a:r>
            <a:r>
              <a:rPr lang="ro-RO" dirty="0"/>
              <a:t> </a:t>
            </a:r>
          </a:p>
          <a:p>
            <a:pPr lvl="1"/>
            <a:r>
              <a:rPr lang="ro-RO" dirty="0"/>
              <a:t>D</a:t>
            </a:r>
            <a:r>
              <a:rPr lang="ro-RO" dirty="0">
                <a:cs typeface="Times New Roman" pitchFamily="18" charset="0"/>
              </a:rPr>
              <a:t>ou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posibilit</a:t>
            </a:r>
            <a:r>
              <a:rPr lang="ro-RO" dirty="0" smtClean="0"/>
              <a:t>ăț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de interpretare a structurii </a:t>
            </a:r>
            <a:r>
              <a:rPr lang="ro-RO" dirty="0" smtClean="0">
                <a:cs typeface="Times New Roman" pitchFamily="18" charset="0"/>
              </a:rPr>
              <a:t>calculatoarelor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MISD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Prima posibilitate</a:t>
            </a:r>
            <a:r>
              <a:rPr lang="ro-RO" dirty="0"/>
              <a:t>:</a:t>
            </a:r>
            <a:r>
              <a:rPr lang="ro-RO" dirty="0">
                <a:cs typeface="Times New Roman" pitchFamily="18" charset="0"/>
              </a:rPr>
              <a:t> mai multe </a:t>
            </a:r>
            <a:r>
              <a:rPr lang="ro-RO" dirty="0" smtClean="0">
                <a:cs typeface="Times New Roman" pitchFamily="18" charset="0"/>
              </a:rPr>
              <a:t>unit</a:t>
            </a:r>
            <a:r>
              <a:rPr lang="ro-RO" dirty="0" smtClean="0"/>
              <a:t>ăț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de prelucrare primesc </a:t>
            </a:r>
            <a:r>
              <a:rPr lang="ro-RO" dirty="0" smtClean="0">
                <a:cs typeface="Times New Roman" pitchFamily="18" charset="0"/>
              </a:rPr>
              <a:t>instrucțiuni </a:t>
            </a:r>
            <a:r>
              <a:rPr lang="ro-RO" dirty="0">
                <a:cs typeface="Times New Roman" pitchFamily="18" charset="0"/>
              </a:rPr>
              <a:t>distincte care opereaz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asupra </a:t>
            </a:r>
            <a:r>
              <a:rPr lang="ro-RO" dirty="0" smtClean="0">
                <a:cs typeface="Times New Roman" pitchFamily="18" charset="0"/>
              </a:rPr>
              <a:t>acelora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date</a:t>
            </a:r>
            <a:r>
              <a:rPr lang="ro-RO" dirty="0"/>
              <a:t> </a:t>
            </a:r>
            <a:r>
              <a:rPr lang="ro-RO" dirty="0" smtClean="0">
                <a:sym typeface="Symbol"/>
              </a:rPr>
              <a:t> clasă nepractică </a:t>
            </a:r>
            <a:endParaRPr lang="ro-RO" dirty="0"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D9AD41-45E7-434A-BC76-9929B7099678}" type="slidenum">
              <a:rPr lang="ro-RO"/>
              <a:pPr/>
              <a:t>12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695995"/>
          </a:xfrm>
        </p:spPr>
        <p:txBody>
          <a:bodyPr>
            <a:normAutofit/>
          </a:bodyPr>
          <a:lstStyle/>
          <a:p>
            <a:r>
              <a:rPr lang="ro-RO" dirty="0"/>
              <a:t>Taxonomia </a:t>
            </a:r>
            <a:r>
              <a:rPr lang="ro-RO" dirty="0" err="1" smtClean="0"/>
              <a:t>Flynn</a:t>
            </a:r>
            <a:r>
              <a:rPr lang="ro-RO" dirty="0" smtClean="0"/>
              <a:t> (</a:t>
            </a:r>
            <a:r>
              <a:rPr lang="ro-RO" dirty="0"/>
              <a:t>5</a:t>
            </a:r>
            <a:r>
              <a:rPr lang="ro-RO" dirty="0" smtClean="0"/>
              <a:t>)</a:t>
            </a:r>
            <a:endParaRPr lang="ro-RO" dirty="0"/>
          </a:p>
        </p:txBody>
      </p:sp>
      <p:sp>
        <p:nvSpPr>
          <p:cNvPr id="18534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/>
          <a:lstStyle/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 doua posibilitate</a:t>
            </a:r>
            <a:r>
              <a:rPr lang="ro-RO" dirty="0"/>
              <a:t>:</a:t>
            </a:r>
            <a:r>
              <a:rPr lang="ro-RO" dirty="0">
                <a:cs typeface="Times New Roman" pitchFamily="18" charset="0"/>
              </a:rPr>
              <a:t> o clas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de calculatoare în care </a:t>
            </a:r>
            <a:r>
              <a:rPr lang="ro-RO" dirty="0" smtClean="0">
                <a:cs typeface="Times New Roman" pitchFamily="18" charset="0"/>
              </a:rPr>
              <a:t>șirul de date este trecut </a:t>
            </a:r>
            <a:r>
              <a:rPr lang="ro-RO" dirty="0">
                <a:cs typeface="Times New Roman" pitchFamily="18" charset="0"/>
              </a:rPr>
              <a:t>printr‑o serie de </a:t>
            </a:r>
            <a:r>
              <a:rPr lang="ro-RO" dirty="0" smtClean="0">
                <a:cs typeface="Times New Roman" pitchFamily="18" charset="0"/>
              </a:rPr>
              <a:t>unit</a:t>
            </a:r>
            <a:r>
              <a:rPr lang="ro-RO" dirty="0" smtClean="0"/>
              <a:t>ăț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de prelucrare</a:t>
            </a:r>
            <a:endParaRPr lang="ro-RO" dirty="0"/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Exemple</a:t>
            </a:r>
            <a:r>
              <a:rPr lang="ro-RO" dirty="0" smtClean="0"/>
              <a:t>: arhitecturi vectoriale sau arhitecturi </a:t>
            </a:r>
            <a:r>
              <a:rPr lang="ro-RO" i="1" dirty="0" err="1" smtClean="0"/>
              <a:t>pipeline</a:t>
            </a:r>
            <a:endParaRPr lang="ro-RO" i="1" dirty="0"/>
          </a:p>
          <a:p>
            <a:pPr lvl="2"/>
            <a:r>
              <a:rPr lang="ro-RO" sz="3000" dirty="0"/>
              <a:t>E</a:t>
            </a:r>
            <a:r>
              <a:rPr lang="ro-RO" sz="3000" dirty="0">
                <a:cs typeface="Times New Roman" pitchFamily="18" charset="0"/>
              </a:rPr>
              <a:t>xecut</a:t>
            </a:r>
            <a:r>
              <a:rPr lang="ro-RO" sz="3000" dirty="0"/>
              <a:t>ă</a:t>
            </a:r>
            <a:r>
              <a:rPr lang="ro-RO" sz="3000" dirty="0">
                <a:cs typeface="Times New Roman" pitchFamily="18" charset="0"/>
              </a:rPr>
              <a:t> o prelucrare vectorial</a:t>
            </a:r>
            <a:r>
              <a:rPr lang="ro-RO" sz="3000" dirty="0"/>
              <a:t>ă</a:t>
            </a:r>
            <a:r>
              <a:rPr lang="ro-RO" sz="3000" dirty="0">
                <a:cs typeface="Times New Roman" pitchFamily="18" charset="0"/>
              </a:rPr>
              <a:t> utilizând o serie de etaje</a:t>
            </a:r>
            <a:r>
              <a:rPr lang="ro-RO" sz="3000" dirty="0"/>
              <a:t> </a:t>
            </a:r>
          </a:p>
          <a:p>
            <a:pPr lvl="2"/>
            <a:r>
              <a:rPr lang="ro-RO" sz="3000" dirty="0"/>
              <a:t>F</a:t>
            </a:r>
            <a:r>
              <a:rPr lang="ro-RO" sz="3000" dirty="0">
                <a:cs typeface="Times New Roman" pitchFamily="18" charset="0"/>
              </a:rPr>
              <a:t>iecare din acestea execut</a:t>
            </a:r>
            <a:r>
              <a:rPr lang="ro-RO" sz="3000" dirty="0"/>
              <a:t>ă</a:t>
            </a:r>
            <a:r>
              <a:rPr lang="ro-RO" sz="3000" dirty="0">
                <a:cs typeface="Times New Roman" pitchFamily="18" charset="0"/>
              </a:rPr>
              <a:t> o anumit</a:t>
            </a:r>
            <a:r>
              <a:rPr lang="ro-RO" sz="3000" dirty="0"/>
              <a:t>ă</a:t>
            </a:r>
            <a:r>
              <a:rPr lang="ro-RO" sz="3000" dirty="0">
                <a:cs typeface="Times New Roman" pitchFamily="18" charset="0"/>
              </a:rPr>
              <a:t> </a:t>
            </a:r>
            <a:r>
              <a:rPr lang="ro-RO" sz="3000" dirty="0" smtClean="0">
                <a:cs typeface="Times New Roman" pitchFamily="18" charset="0"/>
              </a:rPr>
              <a:t>func</a:t>
            </a:r>
            <a:r>
              <a:rPr lang="ro-RO" sz="3000" dirty="0" smtClean="0"/>
              <a:t>ț</a:t>
            </a:r>
            <a:r>
              <a:rPr lang="ro-RO" sz="3000" dirty="0" smtClean="0">
                <a:cs typeface="Times New Roman" pitchFamily="18" charset="0"/>
              </a:rPr>
              <a:t>ie </a:t>
            </a:r>
            <a:r>
              <a:rPr lang="ro-RO" sz="3000" dirty="0" smtClean="0"/>
              <a:t>ș</a:t>
            </a:r>
            <a:r>
              <a:rPr lang="ro-RO" sz="3000" dirty="0" smtClean="0">
                <a:cs typeface="Times New Roman" pitchFamily="18" charset="0"/>
              </a:rPr>
              <a:t>i </a:t>
            </a:r>
            <a:r>
              <a:rPr lang="ro-RO" sz="3000" dirty="0">
                <a:cs typeface="Times New Roman" pitchFamily="18" charset="0"/>
              </a:rPr>
              <a:t>produce un rezultat intermediar</a:t>
            </a:r>
            <a:r>
              <a:rPr lang="ro-RO" sz="3000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A437D15-1ED4-4769-9D0D-11D69289D6FA}" type="slidenum">
              <a:rPr lang="ro-RO"/>
              <a:pPr/>
              <a:t>13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695995"/>
          </a:xfrm>
        </p:spPr>
        <p:txBody>
          <a:bodyPr>
            <a:normAutofit/>
          </a:bodyPr>
          <a:lstStyle/>
          <a:p>
            <a:r>
              <a:rPr lang="ro-RO" dirty="0"/>
              <a:t>Taxonomia </a:t>
            </a:r>
            <a:r>
              <a:rPr lang="ro-RO" dirty="0" err="1" smtClean="0"/>
              <a:t>Flynn</a:t>
            </a:r>
            <a:r>
              <a:rPr lang="ro-RO" dirty="0" smtClean="0"/>
              <a:t> (6)</a:t>
            </a:r>
            <a:endParaRPr lang="ro-RO" dirty="0"/>
          </a:p>
        </p:txBody>
      </p:sp>
      <p:sp>
        <p:nvSpPr>
          <p:cNvPr id="18329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493538"/>
          </a:xfrm>
        </p:spPr>
        <p:txBody>
          <a:bodyPr/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SIMD </a:t>
            </a:r>
            <a:r>
              <a:rPr lang="ro-RO" dirty="0"/>
              <a:t>(</a:t>
            </a:r>
            <a:r>
              <a:rPr lang="ro-RO" i="1" dirty="0"/>
              <a:t>Single </a:t>
            </a:r>
            <a:r>
              <a:rPr lang="ro-RO" i="1" dirty="0" err="1"/>
              <a:t>Instruction</a:t>
            </a:r>
            <a:r>
              <a:rPr lang="ro-RO" i="1" dirty="0"/>
              <a:t> </a:t>
            </a:r>
            <a:r>
              <a:rPr lang="ro-RO" i="1" dirty="0" err="1"/>
              <a:t>stream</a:t>
            </a:r>
            <a:r>
              <a:rPr lang="ro-RO" i="1" dirty="0"/>
              <a:t>, Multiple Data </a:t>
            </a:r>
            <a:r>
              <a:rPr lang="ro-RO" i="1" dirty="0" err="1"/>
              <a:t>stream</a:t>
            </a:r>
            <a:r>
              <a:rPr lang="ro-RO" dirty="0"/>
              <a:t>)</a:t>
            </a:r>
          </a:p>
          <a:p>
            <a:pPr lvl="1"/>
            <a:r>
              <a:rPr lang="ro-RO" dirty="0"/>
              <a:t>O</a:t>
            </a:r>
            <a:r>
              <a:rPr lang="ro-RO" dirty="0">
                <a:cs typeface="Times New Roman" pitchFamily="18" charset="0"/>
              </a:rPr>
              <a:t> singur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instruc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iune </a:t>
            </a:r>
            <a:r>
              <a:rPr lang="ro-RO" dirty="0">
                <a:cs typeface="Times New Roman" pitchFamily="18" charset="0"/>
              </a:rPr>
              <a:t>prelucreaz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simultan date diferite</a:t>
            </a:r>
            <a:r>
              <a:rPr lang="ro-RO" dirty="0"/>
              <a:t> </a:t>
            </a:r>
          </a:p>
          <a:p>
            <a:pPr lvl="1"/>
            <a:r>
              <a:rPr lang="ro-RO" dirty="0"/>
              <a:t>E</a:t>
            </a:r>
            <a:r>
              <a:rPr lang="ro-RO" dirty="0">
                <a:cs typeface="Times New Roman" pitchFamily="18" charset="0"/>
              </a:rPr>
              <a:t>xist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mai multe </a:t>
            </a:r>
            <a:r>
              <a:rPr lang="ro-RO" dirty="0" smtClean="0">
                <a:cs typeface="Times New Roman" pitchFamily="18" charset="0"/>
              </a:rPr>
              <a:t>procesoare de </a:t>
            </a:r>
            <a:r>
              <a:rPr lang="ro-RO" dirty="0">
                <a:cs typeface="Times New Roman" pitchFamily="18" charset="0"/>
              </a:rPr>
              <a:t>prelucrare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 un singur procesor de control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Exemplu</a:t>
            </a:r>
            <a:r>
              <a:rPr lang="ro-RO" dirty="0" smtClean="0">
                <a:cs typeface="Times New Roman" pitchFamily="18" charset="0"/>
              </a:rPr>
              <a:t>: procesoare matriceale </a:t>
            </a:r>
            <a:endParaRPr lang="ro-RO" dirty="0"/>
          </a:p>
          <a:p>
            <a:pPr lvl="1"/>
            <a:r>
              <a:rPr lang="ro-RO" dirty="0" smtClean="0"/>
              <a:t>Calculatoarele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SIMD </a:t>
            </a:r>
            <a:r>
              <a:rPr lang="ro-RO" dirty="0"/>
              <a:t>p</a:t>
            </a:r>
            <a:r>
              <a:rPr lang="ro-RO" dirty="0">
                <a:cs typeface="Times New Roman" pitchFamily="18" charset="0"/>
              </a:rPr>
              <a:t>ot executa </a:t>
            </a:r>
            <a:r>
              <a:rPr lang="ro-RO" dirty="0" smtClean="0">
                <a:cs typeface="Times New Roman" pitchFamily="18" charset="0"/>
              </a:rPr>
              <a:t>și ele prelucr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ri </a:t>
            </a:r>
            <a:r>
              <a:rPr lang="ro-RO" dirty="0">
                <a:cs typeface="Times New Roman" pitchFamily="18" charset="0"/>
              </a:rPr>
              <a:t>vectoriale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5BC3B3-E489-48E4-A319-6A301AD1E93A}" type="slidenum">
              <a:rPr lang="ro-RO"/>
              <a:pPr/>
              <a:t>14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695995"/>
          </a:xfrm>
        </p:spPr>
        <p:txBody>
          <a:bodyPr>
            <a:normAutofit/>
          </a:bodyPr>
          <a:lstStyle/>
          <a:p>
            <a:r>
              <a:rPr lang="ro-RO" dirty="0"/>
              <a:t>Taxonomia </a:t>
            </a:r>
            <a:r>
              <a:rPr lang="ro-RO" dirty="0" err="1" smtClean="0"/>
              <a:t>Flynn</a:t>
            </a:r>
            <a:r>
              <a:rPr lang="ro-RO" dirty="0" smtClean="0"/>
              <a:t> (</a:t>
            </a:r>
            <a:r>
              <a:rPr lang="ro-RO" dirty="0"/>
              <a:t>7</a:t>
            </a:r>
            <a:r>
              <a:rPr lang="ro-RO" dirty="0" smtClean="0"/>
              <a:t>)</a:t>
            </a:r>
            <a:endParaRPr lang="ro-RO" dirty="0"/>
          </a:p>
        </p:txBody>
      </p:sp>
      <p:sp>
        <p:nvSpPr>
          <p:cNvPr id="18432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425827"/>
          </a:xfrm>
        </p:spPr>
        <p:txBody>
          <a:bodyPr/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MIMD </a:t>
            </a:r>
            <a:r>
              <a:rPr lang="ro-RO" dirty="0"/>
              <a:t>(</a:t>
            </a:r>
            <a:r>
              <a:rPr lang="ro-RO" i="1" dirty="0"/>
              <a:t>Multiple </a:t>
            </a:r>
            <a:r>
              <a:rPr lang="ro-RO" i="1" dirty="0" err="1"/>
              <a:t>Instruction</a:t>
            </a:r>
            <a:r>
              <a:rPr lang="ro-RO" i="1" dirty="0"/>
              <a:t> </a:t>
            </a:r>
            <a:r>
              <a:rPr lang="ro-RO" i="1" dirty="0" err="1"/>
              <a:t>stream</a:t>
            </a:r>
            <a:r>
              <a:rPr lang="ro-RO" i="1" dirty="0"/>
              <a:t>, </a:t>
            </a:r>
            <a:r>
              <a:rPr lang="ro-RO" i="1" dirty="0" err="1"/>
              <a:t>Multiple</a:t>
            </a:r>
            <a:r>
              <a:rPr lang="ro-RO" i="1" dirty="0"/>
              <a:t> Data </a:t>
            </a:r>
            <a:r>
              <a:rPr lang="ro-RO" i="1" dirty="0" err="1"/>
              <a:t>stream</a:t>
            </a:r>
            <a:r>
              <a:rPr lang="ro-RO" dirty="0"/>
              <a:t>)</a:t>
            </a:r>
          </a:p>
          <a:p>
            <a:pPr lvl="1"/>
            <a:r>
              <a:rPr lang="ro-RO" dirty="0" smtClean="0"/>
              <a:t>Arhitecturi </a:t>
            </a:r>
            <a:r>
              <a:rPr lang="ro-RO" dirty="0" smtClean="0">
                <a:cs typeface="Times New Roman" pitchFamily="18" charset="0"/>
              </a:rPr>
              <a:t>cu </a:t>
            </a:r>
            <a:r>
              <a:rPr lang="ro-RO" dirty="0">
                <a:cs typeface="Times New Roman" pitchFamily="18" charset="0"/>
              </a:rPr>
              <a:t>mai multe </a:t>
            </a:r>
            <a:r>
              <a:rPr lang="ro-RO" dirty="0" smtClean="0">
                <a:cs typeface="Times New Roman" pitchFamily="18" charset="0"/>
              </a:rPr>
              <a:t>procesoare de </a:t>
            </a:r>
            <a:r>
              <a:rPr lang="ro-RO" dirty="0">
                <a:cs typeface="Times New Roman" pitchFamily="18" charset="0"/>
              </a:rPr>
              <a:t>prelucrare </a:t>
            </a:r>
            <a:endParaRPr lang="ro-RO" dirty="0"/>
          </a:p>
          <a:p>
            <a:pPr lvl="1"/>
            <a:r>
              <a:rPr lang="ro-RO" dirty="0"/>
              <a:t>M</a:t>
            </a:r>
            <a:r>
              <a:rPr lang="ro-RO" dirty="0">
                <a:cs typeface="Times New Roman" pitchFamily="18" charset="0"/>
              </a:rPr>
              <a:t>ai multe </a:t>
            </a:r>
            <a:r>
              <a:rPr lang="ro-RO" dirty="0" smtClean="0">
                <a:cs typeface="Times New Roman" pitchFamily="18" charset="0"/>
              </a:rPr>
              <a:t>instrucțiuni </a:t>
            </a:r>
            <a:r>
              <a:rPr lang="ro-RO" dirty="0">
                <a:cs typeface="Times New Roman" pitchFamily="18" charset="0"/>
              </a:rPr>
              <a:t>pot opera simultan asupra unor date diferite </a:t>
            </a:r>
            <a:endParaRPr lang="ro-RO" dirty="0"/>
          </a:p>
          <a:p>
            <a:pPr lvl="1"/>
            <a:r>
              <a:rPr lang="ro-RO" dirty="0" smtClean="0"/>
              <a:t>Arhitecturile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MIMD </a:t>
            </a:r>
            <a:r>
              <a:rPr lang="ro-RO" dirty="0" smtClean="0"/>
              <a:t>obțin </a:t>
            </a:r>
            <a:r>
              <a:rPr lang="ro-RO" dirty="0">
                <a:cs typeface="Times New Roman" pitchFamily="18" charset="0"/>
              </a:rPr>
              <a:t>o </a:t>
            </a:r>
            <a:r>
              <a:rPr lang="ro-RO" dirty="0" smtClean="0">
                <a:cs typeface="Times New Roman" pitchFamily="18" charset="0"/>
              </a:rPr>
              <a:t>eficienț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ridicat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prin prelucrare </a:t>
            </a:r>
            <a:r>
              <a:rPr lang="ro-RO" dirty="0" smtClean="0">
                <a:cs typeface="Times New Roman" pitchFamily="18" charset="0"/>
              </a:rPr>
              <a:t>paralel</a:t>
            </a:r>
            <a:r>
              <a:rPr lang="ro-RO" dirty="0" smtClean="0"/>
              <a:t>ă</a:t>
            </a:r>
            <a:endParaRPr lang="ro-RO" dirty="0"/>
          </a:p>
          <a:p>
            <a:pPr lvl="2"/>
            <a:r>
              <a:rPr lang="ro-RO" dirty="0"/>
              <a:t>Procesoare multiple </a:t>
            </a:r>
            <a:r>
              <a:rPr lang="ro-RO" dirty="0" smtClean="0"/>
              <a:t>și </a:t>
            </a:r>
            <a:r>
              <a:rPr lang="ro-RO" dirty="0"/>
              <a:t>procese multiple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1A3EA3-3815-47D5-9D0B-F2B69B077A50}" type="slidenum">
              <a:rPr lang="ro-RO"/>
              <a:pPr/>
              <a:t>15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768003"/>
          </a:xfrm>
        </p:spPr>
        <p:txBody>
          <a:bodyPr>
            <a:normAutofit/>
          </a:bodyPr>
          <a:lstStyle/>
          <a:p>
            <a:r>
              <a:rPr lang="ro-RO" dirty="0"/>
              <a:t>Taxonomia </a:t>
            </a:r>
            <a:r>
              <a:rPr lang="ro-RO" dirty="0" err="1" smtClean="0"/>
              <a:t>Flynn</a:t>
            </a:r>
            <a:r>
              <a:rPr lang="ro-RO" dirty="0" smtClean="0"/>
              <a:t> (8)</a:t>
            </a:r>
            <a:endParaRPr lang="ro-RO" dirty="0"/>
          </a:p>
        </p:txBody>
      </p:sp>
      <p:sp>
        <p:nvSpPr>
          <p:cNvPr id="1863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Taxonomia </a:t>
            </a:r>
            <a:r>
              <a:rPr lang="ro-RO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Flynn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s‑a dovedit </a:t>
            </a:r>
            <a:r>
              <a:rPr lang="ro-RO" dirty="0"/>
              <a:t>utilă</a:t>
            </a:r>
            <a:r>
              <a:rPr lang="ro-RO" dirty="0">
                <a:cs typeface="Times New Roman" pitchFamily="18" charset="0"/>
              </a:rPr>
              <a:t> pentru clasificarea arhitecturilor de calculatoare</a:t>
            </a:r>
            <a:r>
              <a:rPr lang="ro-RO" dirty="0"/>
              <a:t> </a:t>
            </a:r>
          </a:p>
          <a:p>
            <a:pPr lvl="1"/>
            <a:r>
              <a:rPr lang="ro-RO" dirty="0" smtClean="0"/>
              <a:t>Totuși, nu ține cont de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tipul de paralelism </a:t>
            </a:r>
            <a:r>
              <a:rPr lang="ro-RO" dirty="0" smtClean="0"/>
              <a:t>utilizat și de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nivelul de granularitate</a:t>
            </a:r>
          </a:p>
          <a:p>
            <a:pPr lvl="1"/>
            <a:r>
              <a:rPr lang="ro-RO" dirty="0" smtClean="0"/>
              <a:t>Au apărut </a:t>
            </a:r>
            <a:r>
              <a:rPr lang="ro-RO" dirty="0" smtClean="0">
                <a:cs typeface="Times New Roman" pitchFamily="18" charset="0"/>
              </a:rPr>
              <a:t>arhitecturi </a:t>
            </a:r>
            <a:r>
              <a:rPr lang="ro-RO" dirty="0">
                <a:cs typeface="Times New Roman" pitchFamily="18" charset="0"/>
              </a:rPr>
              <a:t>care nu pot fi clasificate în mod clar prin </a:t>
            </a:r>
            <a:r>
              <a:rPr lang="ro-RO" dirty="0"/>
              <a:t>această </a:t>
            </a:r>
            <a:r>
              <a:rPr lang="ro-RO" dirty="0">
                <a:cs typeface="Times New Roman" pitchFamily="18" charset="0"/>
              </a:rPr>
              <a:t>taxonomi</a:t>
            </a:r>
            <a:r>
              <a:rPr lang="ro-RO" dirty="0"/>
              <a:t>e</a:t>
            </a:r>
          </a:p>
          <a:p>
            <a:pPr lvl="1"/>
            <a:r>
              <a:rPr lang="ro-RO" dirty="0"/>
              <a:t>N</a:t>
            </a:r>
            <a:r>
              <a:rPr lang="ro-RO" dirty="0">
                <a:cs typeface="Times New Roman" pitchFamily="18" charset="0"/>
              </a:rPr>
              <a:t>u clasific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în mod adecvat </a:t>
            </a:r>
            <a:r>
              <a:rPr lang="ro-RO" dirty="0" smtClean="0">
                <a:cs typeface="Times New Roman" pitchFamily="18" charset="0"/>
              </a:rPr>
              <a:t>arhitecturile </a:t>
            </a:r>
            <a:r>
              <a:rPr lang="ro-RO" dirty="0">
                <a:cs typeface="Times New Roman" pitchFamily="18" charset="0"/>
              </a:rPr>
              <a:t>hibride</a:t>
            </a:r>
            <a:r>
              <a:rPr lang="ro-RO" dirty="0"/>
              <a:t> </a:t>
            </a:r>
            <a:r>
              <a:rPr lang="ro-RO" dirty="0" smtClean="0"/>
              <a:t>și arhitecturile neconvenționale </a:t>
            </a:r>
            <a:endParaRPr lang="ro-RO" dirty="0"/>
          </a:p>
          <a:p>
            <a:r>
              <a:rPr lang="ro-RO" dirty="0"/>
              <a:t>Au </a:t>
            </a:r>
            <a:r>
              <a:rPr lang="ro-RO" dirty="0">
                <a:cs typeface="Times New Roman" pitchFamily="18" charset="0"/>
              </a:rPr>
              <a:t>fost propuse mai multe taxonomii</a:t>
            </a:r>
            <a:r>
              <a:rPr lang="ro-RO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07F1AD-4517-4474-85BF-68E99613C5F9}" type="slidenum">
              <a:rPr lang="ro-RO"/>
              <a:pPr/>
              <a:t>16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Clasificarea arhitecturilor paralele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2800767"/>
          </a:xfrm>
        </p:spPr>
        <p:txBody>
          <a:bodyPr/>
          <a:lstStyle/>
          <a:p>
            <a:endParaRPr lang="ro-RO" dirty="0"/>
          </a:p>
          <a:p>
            <a:endParaRPr lang="ro-RO" dirty="0"/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Clasificarea arhitecturilor paralele</a:t>
            </a:r>
          </a:p>
          <a:p>
            <a:pPr lvl="1"/>
            <a:r>
              <a:rPr lang="ro-RO" dirty="0"/>
              <a:t>Taxonomia </a:t>
            </a:r>
            <a:r>
              <a:rPr lang="ro-RO" dirty="0" err="1"/>
              <a:t>Flynn</a:t>
            </a:r>
            <a:endParaRPr lang="ro-RO" dirty="0"/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Taxonomie </a:t>
            </a:r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extinsă</a:t>
            </a:r>
            <a:endParaRPr lang="ro-RO" dirty="0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36000">
                    <a:schemeClr val="accent3">
                      <a:lumMod val="40000"/>
                      <a:lumOff val="60000"/>
                    </a:schemeClr>
                  </a:gs>
                  <a:gs pos="86000">
                    <a:schemeClr val="accent3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17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07021576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Taxonomie extinsă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216539"/>
          </a:xfrm>
        </p:spPr>
        <p:txBody>
          <a:bodyPr/>
          <a:lstStyle/>
          <a:p>
            <a:r>
              <a:rPr lang="ro-RO" dirty="0" smtClean="0"/>
              <a:t>Taxonomia prezentată se bazează pe tipul de paralelism: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funcțional </a:t>
            </a:r>
            <a:r>
              <a:rPr lang="ro-RO" dirty="0" smtClean="0"/>
              <a:t>sau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de date</a:t>
            </a:r>
          </a:p>
          <a:p>
            <a:pPr lvl="1"/>
            <a:r>
              <a:rPr lang="ro-RO" dirty="0" smtClean="0"/>
              <a:t>Ține cont de granularitatea paralelismului funcțional utilizat</a:t>
            </a:r>
            <a:endParaRPr lang="ro-RO" dirty="0"/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Arhitecturi cu paralelism de date</a:t>
            </a:r>
          </a:p>
          <a:p>
            <a:pPr lvl="1"/>
            <a:r>
              <a:rPr lang="ro-RO" dirty="0" smtClean="0"/>
              <a:t>Arhitecturi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vectoriale</a:t>
            </a:r>
          </a:p>
          <a:p>
            <a:pPr lvl="1"/>
            <a:r>
              <a:rPr lang="ro-RO" dirty="0" smtClean="0"/>
              <a:t>Arhitecturi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SIMD</a:t>
            </a:r>
          </a:p>
          <a:p>
            <a:pPr lvl="1"/>
            <a:r>
              <a:rPr lang="ro-RO" dirty="0" smtClean="0"/>
              <a:t>Arhitecturi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sistolice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25616296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Taxonomie extinsă </a:t>
            </a:r>
            <a:r>
              <a:rPr lang="ro-RO" dirty="0" smtClean="0"/>
              <a:t>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782848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Arhitecturi cu paralelism funcțional</a:t>
            </a:r>
          </a:p>
          <a:p>
            <a:pPr lvl="1"/>
            <a:r>
              <a:rPr lang="ro-RO" dirty="0" smtClean="0"/>
              <a:t>Cu paralelism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la nivelul instrucțiunilor</a:t>
            </a:r>
            <a:r>
              <a:rPr lang="ro-RO" dirty="0" smtClean="0"/>
              <a:t>: </a:t>
            </a:r>
            <a:r>
              <a:rPr lang="ro-RO" i="1" dirty="0" err="1" smtClean="0"/>
              <a:t>pipeline</a:t>
            </a:r>
            <a:r>
              <a:rPr lang="ro-RO" dirty="0" smtClean="0"/>
              <a:t>; VLIW (</a:t>
            </a:r>
            <a:r>
              <a:rPr lang="ro-RO" i="1" dirty="0" err="1" smtClean="0"/>
              <a:t>Very</a:t>
            </a:r>
            <a:r>
              <a:rPr lang="ro-RO" i="1" dirty="0" smtClean="0"/>
              <a:t> </a:t>
            </a:r>
            <a:r>
              <a:rPr lang="ro-RO" i="1" dirty="0" err="1" smtClean="0"/>
              <a:t>Long</a:t>
            </a:r>
            <a:r>
              <a:rPr lang="ro-RO" i="1" dirty="0" smtClean="0"/>
              <a:t> </a:t>
            </a:r>
            <a:r>
              <a:rPr lang="ro-RO" i="1" dirty="0" err="1" smtClean="0"/>
              <a:t>Instruction</a:t>
            </a:r>
            <a:r>
              <a:rPr lang="ro-RO" i="1" dirty="0" smtClean="0"/>
              <a:t> Word</a:t>
            </a:r>
            <a:r>
              <a:rPr lang="ro-RO" dirty="0" smtClean="0"/>
              <a:t>); superscalare</a:t>
            </a:r>
          </a:p>
          <a:p>
            <a:pPr lvl="1"/>
            <a:r>
              <a:rPr lang="ro-RO" dirty="0" smtClean="0"/>
              <a:t>Cu paralelism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la nivelul firelor de execuție</a:t>
            </a:r>
            <a:r>
              <a:rPr lang="ro-RO" dirty="0" smtClean="0"/>
              <a:t>: arhitecturi cu fire de execuție multiple </a:t>
            </a:r>
            <a:r>
              <a:rPr lang="ro-RO" dirty="0" smtClean="0">
                <a:sym typeface="Symbol" panose="05050102010706020507" pitchFamily="18" charset="2"/>
              </a:rPr>
              <a:t> arhitecturi </a:t>
            </a:r>
            <a:r>
              <a:rPr lang="ro-RO" dirty="0" smtClean="0"/>
              <a:t>cu flux de date </a:t>
            </a:r>
          </a:p>
          <a:p>
            <a:pPr lvl="1"/>
            <a:r>
              <a:rPr lang="ro-RO" dirty="0" smtClean="0"/>
              <a:t>Cu paralelism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la nivelul proceselor</a:t>
            </a:r>
            <a:r>
              <a:rPr lang="ro-RO" dirty="0" smtClean="0"/>
              <a:t>: arhitecturi MIMD </a:t>
            </a:r>
            <a:r>
              <a:rPr lang="ro-RO" dirty="0" smtClean="0">
                <a:sym typeface="Symbol" panose="05050102010706020507" pitchFamily="18" charset="2"/>
              </a:rPr>
              <a:t> cu memorie distribuită; cu memorie partajată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19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98716419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Taxonomie extinsă </a:t>
            </a:r>
            <a:r>
              <a:rPr lang="ro-RO" dirty="0" smtClean="0"/>
              <a:t>(3)</a:t>
            </a:r>
            <a:endParaRPr lang="ro-RO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903" y="1772816"/>
            <a:ext cx="8000554" cy="4030205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53880749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5</a:t>
            </a:r>
            <a:r>
              <a:rPr lang="ro-RO" dirty="0"/>
              <a:t>. Introducere în arhitecturi paralele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653582"/>
          </a:xfrm>
        </p:spPr>
        <p:txBody>
          <a:bodyPr/>
          <a:lstStyle/>
          <a:p>
            <a:endParaRPr lang="ro-RO" sz="2800" dirty="0" smtClean="0"/>
          </a:p>
          <a:p>
            <a:r>
              <a:rPr lang="ro-RO" dirty="0" smtClean="0"/>
              <a:t>Tipuri </a:t>
            </a:r>
            <a:r>
              <a:rPr lang="ro-RO" dirty="0"/>
              <a:t>și nivele de paralelism</a:t>
            </a:r>
          </a:p>
          <a:p>
            <a:r>
              <a:rPr lang="ro-RO" dirty="0"/>
              <a:t>Clasificarea arhitecturilor paralele</a:t>
            </a:r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Arhitecturi vectoriale</a:t>
            </a:r>
          </a:p>
          <a:p>
            <a:r>
              <a:rPr lang="ro-RO" dirty="0"/>
              <a:t>Arhitecturi SIMD</a:t>
            </a:r>
          </a:p>
          <a:p>
            <a:r>
              <a:rPr lang="ro-RO" dirty="0"/>
              <a:t>Arhitecturi sistolice</a:t>
            </a:r>
          </a:p>
          <a:p>
            <a:r>
              <a:rPr lang="ro-RO" dirty="0"/>
              <a:t>Arhitecturi MIMD </a:t>
            </a:r>
          </a:p>
          <a:p>
            <a:r>
              <a:rPr lang="ro-RO" dirty="0" smtClean="0"/>
              <a:t>Arhitecturi </a:t>
            </a:r>
            <a:r>
              <a:rPr lang="ro-RO" dirty="0"/>
              <a:t>cu fire de execuție </a:t>
            </a:r>
            <a:r>
              <a:rPr lang="ro-RO" dirty="0" smtClean="0"/>
              <a:t>multiple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21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Arhitecturi vectoriale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659737"/>
          </a:xfrm>
        </p:spPr>
        <p:txBody>
          <a:bodyPr/>
          <a:lstStyle/>
          <a:p>
            <a:r>
              <a:rPr lang="ro-RO" dirty="0" smtClean="0"/>
              <a:t>Aparțin categoriei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MISD</a:t>
            </a:r>
          </a:p>
          <a:p>
            <a:r>
              <a:rPr lang="ro-RO" dirty="0" smtClean="0"/>
              <a:t>Supercalculatoare optimizate pentru execuția operațiilor cu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vectori </a:t>
            </a:r>
            <a:r>
              <a:rPr lang="ro-RO" dirty="0" smtClean="0"/>
              <a:t>sau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tablouri</a:t>
            </a:r>
          </a:p>
          <a:p>
            <a:pPr lvl="1"/>
            <a:r>
              <a:rPr lang="ro-RO" dirty="0" smtClean="0"/>
              <a:t>Prelucrarea unuia sau a mai multor vectori pentru a obține un rezultat scalar </a:t>
            </a:r>
          </a:p>
          <a:p>
            <a:pPr lvl="1"/>
            <a:r>
              <a:rPr lang="ro-RO" dirty="0" smtClean="0"/>
              <a:t>Combinarea a doi vectori </a:t>
            </a:r>
          </a:p>
          <a:p>
            <a:pPr lvl="1"/>
            <a:r>
              <a:rPr lang="ro-RO" dirty="0" smtClean="0"/>
              <a:t>Combinarea unui scalar cu un vector, rezultând un nou vector </a:t>
            </a:r>
          </a:p>
          <a:p>
            <a:pPr lvl="1"/>
            <a:r>
              <a:rPr lang="ro-RO" dirty="0" smtClean="0"/>
              <a:t>O combinație a operațiilor anterioare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22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vectoriale </a:t>
            </a:r>
            <a:r>
              <a:rPr lang="ro-RO" dirty="0" smtClean="0"/>
              <a:t>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439472" cy="4321183"/>
          </a:xfrm>
        </p:spPr>
        <p:txBody>
          <a:bodyPr/>
          <a:lstStyle/>
          <a:p>
            <a:r>
              <a:rPr lang="ro-RO" dirty="0" smtClean="0"/>
              <a:t>Unitatea centrală utilizează în mod extensiv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tehnica </a:t>
            </a:r>
            <a:r>
              <a:rPr lang="ro-RO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pipeline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ro-RO" dirty="0" smtClean="0"/>
              <a:t>Operațiile asupra vectorilor se execută serial asupra fiecărui element </a:t>
            </a:r>
          </a:p>
          <a:p>
            <a:r>
              <a:rPr lang="ro-RO" dirty="0" smtClean="0"/>
              <a:t>Tehnica </a:t>
            </a:r>
            <a:r>
              <a:rPr lang="ro-RO" i="1" dirty="0" err="1" smtClean="0"/>
              <a:t>pipeline</a:t>
            </a:r>
            <a:r>
              <a:rPr lang="ro-RO" dirty="0" smtClean="0"/>
              <a:t> se utilizează și pentru accesul la memorie </a:t>
            </a:r>
          </a:p>
          <a:p>
            <a:r>
              <a:rPr lang="ro-RO" dirty="0" smtClean="0"/>
              <a:t>Setul de registre poate păstra toate elementele unuia sau a mai multor vectori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23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vectoriale </a:t>
            </a:r>
            <a:r>
              <a:rPr lang="ro-RO" dirty="0" smtClean="0"/>
              <a:t>(3)</a:t>
            </a:r>
            <a:endParaRPr lang="ro-RO" dirty="0"/>
          </a:p>
        </p:txBody>
      </p:sp>
      <p:pic>
        <p:nvPicPr>
          <p:cNvPr id="7" name="Content Placeholder 6" descr="procesor-vectorial-arh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755576" y="1628800"/>
            <a:ext cx="7597460" cy="4271476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24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vectoriale </a:t>
            </a:r>
            <a:r>
              <a:rPr lang="ro-RO" dirty="0" smtClean="0"/>
              <a:t>(4)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672048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Memoria principală </a:t>
            </a:r>
          </a:p>
          <a:p>
            <a:pPr lvl="1"/>
            <a:r>
              <a:rPr lang="ro-RO" dirty="0" smtClean="0"/>
              <a:t>Organizarea memoriei este un factor esențial pentru performanța sistemului </a:t>
            </a:r>
          </a:p>
          <a:p>
            <a:pPr lvl="1"/>
            <a:r>
              <a:rPr lang="ro-RO" dirty="0" smtClean="0"/>
              <a:t>Se utilizează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memorii cu unități multiple </a:t>
            </a:r>
            <a:r>
              <a:rPr lang="ro-RO" dirty="0" smtClean="0"/>
              <a:t>și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intercalarea adreselor </a:t>
            </a:r>
            <a:r>
              <a:rPr lang="ro-RO" dirty="0" smtClean="0"/>
              <a:t>de memorie 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Procesorul scalar </a:t>
            </a:r>
          </a:p>
          <a:p>
            <a:pPr lvl="1"/>
            <a:r>
              <a:rPr lang="ro-RO" dirty="0" smtClean="0"/>
              <a:t>Execută toate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operațiile scalare</a:t>
            </a:r>
            <a:r>
              <a:rPr lang="ro-RO" dirty="0" smtClean="0"/>
              <a:t>: controlul programului, funcțiile SO, operațiile de I/E </a:t>
            </a:r>
          </a:p>
          <a:p>
            <a:pPr lvl="1"/>
            <a:r>
              <a:rPr lang="ro-RO" dirty="0" smtClean="0"/>
              <a:t>Comandă controlerul vectorial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25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vectoriale </a:t>
            </a:r>
            <a:r>
              <a:rPr lang="ro-RO" dirty="0" smtClean="0"/>
              <a:t>(5)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982903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Controlerul vectorial 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Decodifică instrucțiunile vectoriale 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Inițiază operațiile generatorului de adrese și ale sistemului </a:t>
            </a:r>
            <a:r>
              <a:rPr lang="ro-RO" i="1" dirty="0" err="1" smtClean="0"/>
              <a:t>pipeline</a:t>
            </a:r>
            <a:r>
              <a:rPr lang="ro-RO" dirty="0" smtClean="0"/>
              <a:t> aritmetic </a:t>
            </a:r>
          </a:p>
          <a:p>
            <a:pPr>
              <a:spcBef>
                <a:spcPts val="600"/>
              </a:spcBef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Generatorul de adrese și interfața cu memoria 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Asigură transferul rapid al datelor între sistemul </a:t>
            </a:r>
            <a:r>
              <a:rPr lang="ro-RO" i="1" dirty="0" err="1" smtClean="0"/>
              <a:t>pipeline</a:t>
            </a:r>
            <a:r>
              <a:rPr lang="ro-RO" dirty="0" smtClean="0"/>
              <a:t> aritmetic și memorie 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Primește adresele logice ale vectorilor de la controlerul vectorial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vectoriale </a:t>
            </a:r>
            <a:r>
              <a:rPr lang="ro-RO" dirty="0" smtClean="0"/>
              <a:t>(6)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604337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Registrele</a:t>
            </a:r>
          </a:p>
          <a:p>
            <a:pPr lvl="1"/>
            <a:r>
              <a:rPr lang="ro-RO" dirty="0" smtClean="0"/>
              <a:t>Au rolul unor </a:t>
            </a:r>
            <a:r>
              <a:rPr lang="ro-RO" dirty="0" err="1" smtClean="0"/>
              <a:t>buffere</a:t>
            </a:r>
            <a:r>
              <a:rPr lang="ro-RO" dirty="0" smtClean="0"/>
              <a:t> între memoria principală și sistemul </a:t>
            </a:r>
            <a:r>
              <a:rPr lang="ro-RO" i="1" dirty="0" err="1" smtClean="0"/>
              <a:t>pipeline</a:t>
            </a:r>
            <a:r>
              <a:rPr lang="ro-RO" dirty="0" smtClean="0"/>
              <a:t> aritmetic </a:t>
            </a:r>
          </a:p>
          <a:p>
            <a:pPr lvl="1"/>
            <a:r>
              <a:rPr lang="ro-RO" dirty="0" smtClean="0"/>
              <a:t>Permit un acces mai rapid la date </a:t>
            </a:r>
          </a:p>
          <a:p>
            <a:pPr lvl="1"/>
            <a:r>
              <a:rPr lang="ro-RO" dirty="0" smtClean="0"/>
              <a:t>Operanzii vectoriali sunt transferați între memoria principală și registre în blocuri 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Sistemul </a:t>
            </a:r>
            <a:r>
              <a:rPr lang="ro-RO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pipeline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aritmetic </a:t>
            </a:r>
          </a:p>
          <a:p>
            <a:pPr lvl="1"/>
            <a:r>
              <a:rPr lang="ro-RO" dirty="0" smtClean="0"/>
              <a:t>Recepționează operanzii din registre și returnează rezultatele în registre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27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vectoriale </a:t>
            </a:r>
            <a:r>
              <a:rPr lang="ro-RO" dirty="0" smtClean="0"/>
              <a:t>(7)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561249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Exemplu</a:t>
            </a:r>
            <a:r>
              <a:rPr lang="ro-RO" dirty="0" smtClean="0"/>
              <a:t>: Adunarea a doi vectori</a:t>
            </a:r>
          </a:p>
          <a:p>
            <a:pPr lvl="1"/>
            <a:r>
              <a:rPr lang="ro-RO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</a:t>
            </a:r>
            <a:r>
              <a:rPr lang="ro-RO" dirty="0" smtClean="0"/>
              <a:t>, </a:t>
            </a:r>
            <a:r>
              <a:rPr lang="ro-RO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B</a:t>
            </a:r>
            <a:r>
              <a:rPr lang="ro-RO" dirty="0" smtClean="0"/>
              <a:t>: vectori de câte </a:t>
            </a:r>
            <a:r>
              <a:rPr lang="ro-RO" i="1" dirty="0" smtClean="0"/>
              <a:t>N</a:t>
            </a:r>
            <a:r>
              <a:rPr lang="ro-RO" dirty="0" smtClean="0"/>
              <a:t> elemente</a:t>
            </a:r>
          </a:p>
          <a:p>
            <a:pPr lvl="1"/>
            <a:r>
              <a:rPr lang="ro-RO" dirty="0" smtClean="0"/>
              <a:t>Vectorul sumă </a:t>
            </a:r>
            <a:r>
              <a:rPr lang="ro-RO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</a:t>
            </a:r>
            <a:r>
              <a:rPr lang="ro-RO" dirty="0" smtClean="0"/>
              <a:t>: </a:t>
            </a:r>
            <a:r>
              <a:rPr lang="ro-RO" i="1" dirty="0" smtClean="0"/>
              <a:t>C</a:t>
            </a:r>
            <a:r>
              <a:rPr lang="ro-RO" i="1" baseline="-25000" dirty="0" smtClean="0"/>
              <a:t>i</a:t>
            </a:r>
            <a:r>
              <a:rPr lang="ro-RO" dirty="0" smtClean="0"/>
              <a:t> = </a:t>
            </a:r>
            <a:r>
              <a:rPr lang="ro-RO" i="1" dirty="0" smtClean="0"/>
              <a:t>A</a:t>
            </a:r>
            <a:r>
              <a:rPr lang="ro-RO" i="1" baseline="-25000" dirty="0" smtClean="0"/>
              <a:t>i</a:t>
            </a:r>
            <a:r>
              <a:rPr lang="ro-RO" dirty="0" smtClean="0"/>
              <a:t> + </a:t>
            </a:r>
            <a:r>
              <a:rPr lang="ro-RO" i="1" dirty="0" err="1" smtClean="0"/>
              <a:t>B</a:t>
            </a:r>
            <a:r>
              <a:rPr lang="ro-RO" i="1" baseline="-25000" dirty="0" err="1" smtClean="0"/>
              <a:t>i</a:t>
            </a:r>
            <a:r>
              <a:rPr lang="ro-RO" dirty="0" smtClean="0"/>
              <a:t> (</a:t>
            </a:r>
            <a:r>
              <a:rPr lang="ro-RO" i="1" dirty="0" smtClean="0"/>
              <a:t>i</a:t>
            </a:r>
            <a:r>
              <a:rPr lang="ro-RO" dirty="0" smtClean="0"/>
              <a:t> = 1 .. </a:t>
            </a:r>
            <a:r>
              <a:rPr lang="ro-RO" i="1" dirty="0" smtClean="0"/>
              <a:t>N</a:t>
            </a:r>
            <a:r>
              <a:rPr lang="ro-RO" dirty="0" smtClean="0"/>
              <a:t>)</a:t>
            </a:r>
            <a:endParaRPr lang="ro-RO" i="1" dirty="0" smtClean="0"/>
          </a:p>
          <a:p>
            <a:pPr lvl="1"/>
            <a:r>
              <a:rPr lang="ro-RO" dirty="0" smtClean="0"/>
              <a:t>Secvența pentru o arhitectură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SISD</a:t>
            </a:r>
            <a:r>
              <a:rPr lang="en-US" dirty="0" smtClean="0"/>
              <a:t>:</a:t>
            </a:r>
            <a:endParaRPr lang="ro-RO" dirty="0" smtClean="0"/>
          </a:p>
          <a:p>
            <a:pPr lvl="1">
              <a:buNone/>
            </a:pP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8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sz="28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8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=1; </a:t>
            </a:r>
            <a:r>
              <a:rPr lang="en-US" sz="28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8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&lt;=N; </a:t>
            </a:r>
            <a:r>
              <a:rPr lang="en-US" sz="28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8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++) {</a:t>
            </a:r>
          </a:p>
          <a:p>
            <a:pPr lvl="1">
              <a:buNone/>
            </a:pPr>
            <a:r>
              <a:rPr lang="en-US" sz="28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 C[</a:t>
            </a:r>
            <a:r>
              <a:rPr lang="en-US" sz="28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8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] = A[</a:t>
            </a:r>
            <a:r>
              <a:rPr lang="en-US" sz="28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8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] + B[</a:t>
            </a:r>
            <a:r>
              <a:rPr lang="en-US" sz="28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8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pPr lvl="1">
              <a:buNone/>
            </a:pPr>
            <a:r>
              <a:rPr lang="en-US" sz="28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lvl="1"/>
            <a:r>
              <a:rPr lang="ro-RO" dirty="0" smtClean="0"/>
              <a:t>Instrucțiunea vectorială echivalentă:</a:t>
            </a:r>
          </a:p>
          <a:p>
            <a:pPr lvl="1">
              <a:buNone/>
            </a:pPr>
            <a:r>
              <a:rPr lang="ro-RO" sz="28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8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 = </a:t>
            </a:r>
            <a:r>
              <a:rPr lang="ro-RO" sz="28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8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+ B;</a:t>
            </a:r>
            <a:endParaRPr lang="ro-RO" sz="28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28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vectoriale </a:t>
            </a:r>
            <a:r>
              <a:rPr lang="ro-RO" dirty="0" smtClean="0"/>
              <a:t>(8)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29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810" y="1484784"/>
            <a:ext cx="6604740" cy="4455214"/>
          </a:xfrm>
        </p:spPr>
      </p:pic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vectoriale </a:t>
            </a:r>
            <a:r>
              <a:rPr lang="ro-RO" dirty="0" smtClean="0"/>
              <a:t>(9)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567404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Caracteristici </a:t>
            </a:r>
            <a:r>
              <a:rPr lang="ro-RO" dirty="0" smtClean="0"/>
              <a:t>ale arhitecturilor vectoriale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Memorie </a:t>
            </a:r>
            <a:r>
              <a:rPr lang="ro-RO" dirty="0" smtClean="0"/>
              <a:t>de viteză ridicată </a:t>
            </a:r>
          </a:p>
          <a:p>
            <a:pPr lvl="1"/>
            <a:r>
              <a:rPr lang="ro-RO" dirty="0" smtClean="0"/>
              <a:t>Număr mare de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registre</a:t>
            </a:r>
            <a:r>
              <a:rPr lang="ro-RO" dirty="0" smtClean="0"/>
              <a:t>: vectoriale, scalare </a:t>
            </a:r>
          </a:p>
          <a:p>
            <a:pPr lvl="1"/>
            <a:r>
              <a:rPr lang="ro-RO" dirty="0" smtClean="0"/>
              <a:t>Set de instrucțiuni conținând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instrucțiuni vectoriale 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Operații executate în paralel </a:t>
            </a:r>
            <a:r>
              <a:rPr lang="ro-RO" dirty="0" smtClean="0"/>
              <a:t>în diferite module: </a:t>
            </a:r>
          </a:p>
          <a:p>
            <a:pPr lvl="2"/>
            <a:r>
              <a:rPr lang="ro-RO" sz="3000" dirty="0" smtClean="0"/>
              <a:t>Mai multe sisteme </a:t>
            </a:r>
            <a:r>
              <a:rPr lang="ro-RO" sz="3000" i="1" dirty="0" err="1" smtClean="0"/>
              <a:t>pipeline</a:t>
            </a:r>
            <a:r>
              <a:rPr lang="ro-RO" sz="3000" dirty="0" smtClean="0"/>
              <a:t> aritmetice </a:t>
            </a:r>
          </a:p>
          <a:p>
            <a:pPr lvl="2"/>
            <a:r>
              <a:rPr lang="ro-RO" sz="3000" dirty="0" smtClean="0"/>
              <a:t>Procesorul scalar și modulul vectorial </a:t>
            </a:r>
            <a:endParaRPr lang="ro-RO" sz="3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30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vectoriale </a:t>
            </a:r>
            <a:r>
              <a:rPr lang="ro-RO" dirty="0" smtClean="0"/>
              <a:t>(10)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465838"/>
          </a:xfrm>
        </p:spPr>
        <p:txBody>
          <a:bodyPr/>
          <a:lstStyle/>
          <a:p>
            <a:pPr lvl="2"/>
            <a:r>
              <a:rPr lang="ro-RO" sz="3000" dirty="0" smtClean="0"/>
              <a:t>Controlerul vectorial și generatorul de adrese din modulul vectorial </a:t>
            </a:r>
          </a:p>
          <a:p>
            <a:pPr lvl="2"/>
            <a:r>
              <a:rPr lang="ro-RO" sz="3000" dirty="0" smtClean="0"/>
              <a:t>Interfețele între memorie și registre, respectiv între registre și sistemul </a:t>
            </a:r>
            <a:r>
              <a:rPr lang="ro-RO" sz="3000" i="1" dirty="0" err="1" smtClean="0"/>
              <a:t>pipeline</a:t>
            </a:r>
            <a:r>
              <a:rPr lang="ro-RO" sz="3000" i="1" dirty="0" smtClean="0"/>
              <a:t> </a:t>
            </a:r>
            <a:r>
              <a:rPr lang="ro-RO" sz="3000" dirty="0" smtClean="0"/>
              <a:t>aritmetic </a:t>
            </a:r>
            <a:endParaRPr lang="ro-RO" sz="3000" i="1" dirty="0" smtClean="0"/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Exemple </a:t>
            </a:r>
            <a:r>
              <a:rPr lang="ro-RO" dirty="0" smtClean="0"/>
              <a:t>de arhitecturi vectoriale</a:t>
            </a:r>
          </a:p>
          <a:p>
            <a:pPr lvl="1"/>
            <a:r>
              <a:rPr lang="ro-RO" dirty="0" smtClean="0"/>
              <a:t>Supercalculatoare ale firmelor </a:t>
            </a:r>
            <a:r>
              <a:rPr lang="ro-RO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Cray</a:t>
            </a:r>
            <a:r>
              <a:rPr lang="ro-RO" dirty="0" smtClean="0"/>
              <a:t>:          </a:t>
            </a:r>
            <a:r>
              <a:rPr lang="ro-RO" dirty="0" err="1" smtClean="0"/>
              <a:t>Cray</a:t>
            </a:r>
            <a:r>
              <a:rPr lang="ro-RO" dirty="0" smtClean="0"/>
              <a:t> X-MP, </a:t>
            </a:r>
            <a:r>
              <a:rPr lang="ro-RO" dirty="0" err="1" smtClean="0"/>
              <a:t>Cray</a:t>
            </a:r>
            <a:r>
              <a:rPr lang="ro-RO" dirty="0" smtClean="0"/>
              <a:t> Y-MP, </a:t>
            </a:r>
            <a:r>
              <a:rPr lang="ro-RO" dirty="0" err="1" smtClean="0"/>
              <a:t>Cray</a:t>
            </a:r>
            <a:r>
              <a:rPr lang="ro-RO" dirty="0" smtClean="0"/>
              <a:t> X1 </a:t>
            </a:r>
          </a:p>
          <a:p>
            <a:pPr lvl="1">
              <a:spcBef>
                <a:spcPts val="1800"/>
              </a:spcBef>
            </a:pPr>
            <a:r>
              <a:rPr lang="ro-RO" dirty="0" smtClean="0"/>
              <a:t>Seria SX de supercalculatoare ale            firmei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NEC Corp</a:t>
            </a:r>
            <a:r>
              <a:rPr lang="ro-RO" dirty="0" smtClean="0">
                <a:solidFill>
                  <a:schemeClr val="tx2"/>
                </a:solidFill>
              </a:rPr>
              <a:t>.</a:t>
            </a:r>
            <a:r>
              <a:rPr lang="ro-RO" dirty="0" smtClean="0"/>
              <a:t>; modelul curent: SX-ACE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31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  <p:pic>
        <p:nvPicPr>
          <p:cNvPr id="7" name="Picture 6" descr="logo-cray.JPG"/>
          <p:cNvPicPr>
            <a:picLocks noChangeAspect="1"/>
          </p:cNvPicPr>
          <p:nvPr/>
        </p:nvPicPr>
        <p:blipFill>
          <a:blip r:embed="rId3" cstate="print"/>
          <a:srcRect l="7353" t="24384" r="7353"/>
          <a:stretch>
            <a:fillRect/>
          </a:stretch>
        </p:blipFill>
        <p:spPr>
          <a:xfrm>
            <a:off x="7236296" y="3933056"/>
            <a:ext cx="1670357" cy="535860"/>
          </a:xfrm>
          <a:prstGeom prst="rect">
            <a:avLst/>
          </a:prstGeom>
        </p:spPr>
      </p:pic>
      <p:pic>
        <p:nvPicPr>
          <p:cNvPr id="8" name="Picture 7" descr="logo-nec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308304" y="4941168"/>
            <a:ext cx="1562100" cy="42957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5</a:t>
            </a:r>
            <a:r>
              <a:rPr lang="ro-RO" dirty="0"/>
              <a:t>. Introducere în arhitecturi paralele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653582"/>
          </a:xfrm>
        </p:spPr>
        <p:txBody>
          <a:bodyPr/>
          <a:lstStyle/>
          <a:p>
            <a:endParaRPr lang="ro-RO" sz="2800" dirty="0"/>
          </a:p>
          <a:p>
            <a:r>
              <a:rPr lang="ro-RO" dirty="0"/>
              <a:t>Tipuri și nivele de </a:t>
            </a:r>
            <a:r>
              <a:rPr lang="ro-RO" dirty="0" smtClean="0"/>
              <a:t>paralelism</a:t>
            </a:r>
            <a:endParaRPr lang="ro-RO" dirty="0"/>
          </a:p>
          <a:p>
            <a:r>
              <a:rPr lang="ro-RO" dirty="0"/>
              <a:t>Clasificarea arhitecturilor paralele</a:t>
            </a:r>
          </a:p>
          <a:p>
            <a:r>
              <a:rPr lang="ro-RO" dirty="0"/>
              <a:t>Arhitecturi vectoriale</a:t>
            </a:r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Arhitecturi SIMD</a:t>
            </a:r>
          </a:p>
          <a:p>
            <a:r>
              <a:rPr lang="ro-RO" dirty="0"/>
              <a:t>Arhitecturi sistolice</a:t>
            </a:r>
          </a:p>
          <a:p>
            <a:r>
              <a:rPr lang="ro-RO" dirty="0"/>
              <a:t>Arhitecturi MIMD </a:t>
            </a:r>
          </a:p>
          <a:p>
            <a:r>
              <a:rPr lang="ro-RO" dirty="0" smtClean="0"/>
              <a:t>Arhitecturi </a:t>
            </a:r>
            <a:r>
              <a:rPr lang="ro-RO" dirty="0"/>
              <a:t>cu fire de execuție </a:t>
            </a:r>
            <a:r>
              <a:rPr lang="ro-RO" dirty="0" smtClean="0"/>
              <a:t>multiple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32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Arhitecturi SIMD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930581"/>
          </a:xfrm>
        </p:spPr>
        <p:txBody>
          <a:bodyPr/>
          <a:lstStyle/>
          <a:p>
            <a:r>
              <a:rPr lang="ro-RO" dirty="0" smtClean="0"/>
              <a:t>Se numesc și procesoare matriceale</a:t>
            </a:r>
            <a:endParaRPr lang="ro-RO" dirty="0" smtClean="0">
              <a:solidFill>
                <a:schemeClr val="tx2"/>
              </a:solidFill>
            </a:endParaRPr>
          </a:p>
          <a:p>
            <a:r>
              <a:rPr lang="ro-RO" dirty="0" smtClean="0"/>
              <a:t>Un singur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procesor de control </a:t>
            </a:r>
            <a:r>
              <a:rPr lang="ro-RO" dirty="0" smtClean="0"/>
              <a:t>(PC) și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elemente de procesare </a:t>
            </a:r>
            <a:r>
              <a:rPr lang="ro-RO" dirty="0" smtClean="0"/>
              <a:t>(EP) multiple </a:t>
            </a:r>
          </a:p>
          <a:p>
            <a:r>
              <a:rPr lang="ro-RO" dirty="0" smtClean="0"/>
              <a:t>În orice moment, fiecare EP execută aceeași instrucțiune </a:t>
            </a:r>
            <a:r>
              <a:rPr lang="ro-RO" dirty="0" smtClean="0">
                <a:sym typeface="Symbol"/>
              </a:rPr>
              <a:t> sincronizare </a:t>
            </a:r>
          </a:p>
          <a:p>
            <a:r>
              <a:rPr lang="ro-RO" dirty="0" smtClean="0"/>
              <a:t>Fiecare EP prelucrează propriul șir de date </a:t>
            </a:r>
            <a:r>
              <a:rPr lang="ro-RO" dirty="0" smtClean="0">
                <a:sym typeface="Symbol"/>
              </a:rPr>
              <a:t> paralelism de date </a:t>
            </a:r>
            <a:endParaRPr lang="ro-RO" dirty="0" smtClean="0"/>
          </a:p>
          <a:p>
            <a:r>
              <a:rPr lang="ro-RO" dirty="0" smtClean="0"/>
              <a:t>EP sunt interconectate printr-o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rețea de interconectare </a:t>
            </a:r>
            <a:r>
              <a:rPr lang="ro-RO" dirty="0" smtClean="0"/>
              <a:t>(RI)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33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</a:t>
            </a:r>
            <a:r>
              <a:rPr lang="ro-RO" dirty="0" smtClean="0"/>
              <a:t>SIMD (</a:t>
            </a:r>
            <a:r>
              <a:rPr lang="ro-RO" dirty="0"/>
              <a:t>2</a:t>
            </a:r>
            <a:r>
              <a:rPr lang="ro-RO" dirty="0" smtClean="0"/>
              <a:t>)</a:t>
            </a:r>
            <a:endParaRPr lang="ro-RO" dirty="0"/>
          </a:p>
        </p:txBody>
      </p:sp>
      <p:pic>
        <p:nvPicPr>
          <p:cNvPr id="7" name="Content Placeholder 6" descr="simd-arh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187624" y="1412776"/>
            <a:ext cx="6737314" cy="4663449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34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</a:t>
            </a:r>
            <a:r>
              <a:rPr lang="ro-RO" dirty="0" smtClean="0"/>
              <a:t>SIMD (</a:t>
            </a:r>
            <a:r>
              <a:rPr lang="ro-RO" dirty="0"/>
              <a:t>3</a:t>
            </a:r>
            <a:r>
              <a:rPr lang="ro-RO" dirty="0" smtClean="0"/>
              <a:t>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4"/>
            <a:ext cx="8382000" cy="4896445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Memoria </a:t>
            </a:r>
          </a:p>
          <a:p>
            <a:pPr lvl="1"/>
            <a:r>
              <a:rPr lang="ro-RO" dirty="0" smtClean="0"/>
              <a:t>Programele sunt distribuite în mai multe blocuri de memorie </a:t>
            </a:r>
            <a:r>
              <a:rPr lang="ro-RO" dirty="0" smtClean="0">
                <a:sym typeface="Symbol"/>
              </a:rPr>
              <a:t>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intercalarea adreselor</a:t>
            </a:r>
          </a:p>
          <a:p>
            <a:pPr lvl="1"/>
            <a:r>
              <a:rPr lang="ro-RO" dirty="0" smtClean="0"/>
              <a:t>Datele sunt și ele distribuite </a:t>
            </a:r>
            <a:r>
              <a:rPr lang="ro-RO" dirty="0" smtClean="0">
                <a:sym typeface="Symbol"/>
              </a:rPr>
              <a:t> fiecare EP are o memorie locală </a:t>
            </a:r>
          </a:p>
          <a:p>
            <a:pPr lvl="1"/>
            <a:r>
              <a:rPr lang="ro-RO" dirty="0" smtClean="0"/>
              <a:t>Este necesar accesul simultan la memorie de către PC și diferitele EP </a:t>
            </a:r>
            <a:r>
              <a:rPr lang="ro-RO" dirty="0" smtClean="0">
                <a:sym typeface="Symbol"/>
              </a:rPr>
              <a:t> </a:t>
            </a:r>
            <a:r>
              <a:rPr lang="ro-RO" dirty="0" smtClean="0"/>
              <a:t>pot apare conflicte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Organizarea datelor </a:t>
            </a:r>
            <a:r>
              <a:rPr lang="ro-RO" dirty="0" smtClean="0"/>
              <a:t>în memorie este importantă pentru arhitecturile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SIMD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35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SIMD </a:t>
            </a:r>
            <a:r>
              <a:rPr lang="ro-RO" dirty="0" smtClean="0"/>
              <a:t>(4)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702826"/>
          </a:xfrm>
        </p:spPr>
        <p:txBody>
          <a:bodyPr/>
          <a:lstStyle/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O posibilitate</a:t>
            </a:r>
            <a:r>
              <a:rPr lang="ro-RO" dirty="0" smtClean="0"/>
              <a:t>: datele necesare pentru fiecare EP sunt disponibile în memoria sa locală </a:t>
            </a:r>
          </a:p>
          <a:p>
            <a:pPr lvl="1"/>
            <a:r>
              <a:rPr lang="ro-RO" dirty="0" smtClean="0"/>
              <a:t>Poate fi necesară rearanjarea datelor în memorie pe parcursul calculelor 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Exemplu</a:t>
            </a:r>
            <a:r>
              <a:rPr lang="ro-RO" dirty="0" smtClean="0"/>
              <a:t>: Însumarea elementelor din fiecare coloană a unei matrice </a:t>
            </a:r>
          </a:p>
          <a:p>
            <a:pPr lvl="2"/>
            <a:r>
              <a:rPr lang="ro-RO" sz="3000" dirty="0" smtClean="0"/>
              <a:t>Fiecare EP însumează elementele dintr-o coloană </a:t>
            </a:r>
            <a:r>
              <a:rPr lang="ro-RO" sz="3000" dirty="0" smtClean="0">
                <a:sym typeface="Symbol"/>
              </a:rPr>
              <a:t> acces la elementele unei coloane </a:t>
            </a:r>
            <a:endParaRPr lang="ro-RO" sz="3000" dirty="0" smtClean="0"/>
          </a:p>
          <a:p>
            <a:pPr lvl="2"/>
            <a:r>
              <a:rPr lang="ro-RO" sz="3000" dirty="0" smtClean="0"/>
              <a:t>Dacă va fi necesar accesul la elementele unei linii, matricele trebuie rearanjate în memorie</a:t>
            </a:r>
            <a:endParaRPr lang="ro-RO" sz="3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36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</a:t>
            </a:r>
            <a:r>
              <a:rPr lang="ro-RO" dirty="0" smtClean="0"/>
              <a:t>SIMD (</a:t>
            </a:r>
            <a:r>
              <a:rPr lang="ro-RO" dirty="0"/>
              <a:t>5</a:t>
            </a:r>
            <a:r>
              <a:rPr lang="ro-RO" dirty="0" smtClean="0"/>
              <a:t>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5029069"/>
          </a:xfrm>
        </p:spPr>
        <p:txBody>
          <a:bodyPr/>
          <a:lstStyle/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Altă posibilitate</a:t>
            </a:r>
            <a:r>
              <a:rPr lang="ro-RO" dirty="0" smtClean="0"/>
              <a:t>: utilizarea unei rețele de interconectare între memorii și EP </a:t>
            </a:r>
          </a:p>
          <a:p>
            <a:pPr lvl="2"/>
            <a:r>
              <a:rPr lang="ro-RO" sz="30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Comutator</a:t>
            </a:r>
            <a:r>
              <a:rPr lang="ro-RO" sz="3000" dirty="0" smtClean="0"/>
              <a:t>: fiecare memorie de date poate fi accesată de oricare EP </a:t>
            </a:r>
            <a:r>
              <a:rPr lang="ro-RO" sz="3000" dirty="0" smtClean="0">
                <a:sym typeface="Symbol"/>
              </a:rPr>
              <a:t> </a:t>
            </a:r>
            <a:r>
              <a:rPr lang="ro-RO" sz="30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alinierea datelor 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Procesorul de control 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Încarcă instrucțiunile și le decodifică 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Transferă instrucțiunile aritmetice și logice la EP pentru execuție 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Generează semnale de control pentru EP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Execută instrucțiunile de control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37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</a:t>
            </a:r>
            <a:r>
              <a:rPr lang="ro-RO" dirty="0" smtClean="0"/>
              <a:t>SIMD (</a:t>
            </a:r>
            <a:r>
              <a:rPr lang="ro-RO" dirty="0"/>
              <a:t>6</a:t>
            </a:r>
            <a:r>
              <a:rPr lang="ro-RO" dirty="0" smtClean="0"/>
              <a:t>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536627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Elementele de procesare </a:t>
            </a:r>
            <a:r>
              <a:rPr lang="ro-RO" dirty="0" smtClean="0"/>
              <a:t>(EP)</a:t>
            </a:r>
          </a:p>
          <a:p>
            <a:pPr lvl="1"/>
            <a:r>
              <a:rPr lang="ro-RO" dirty="0" smtClean="0"/>
              <a:t>Execută operațiile aritmetice și logice </a:t>
            </a:r>
          </a:p>
          <a:p>
            <a:pPr lvl="1"/>
            <a:r>
              <a:rPr lang="ro-RO" dirty="0" smtClean="0"/>
              <a:t>Sunt sincronizate la nivel de instrucțiune </a:t>
            </a:r>
          </a:p>
          <a:p>
            <a:pPr lvl="1"/>
            <a:r>
              <a:rPr lang="ro-RO" dirty="0" smtClean="0"/>
              <a:t>Fiecare EP corespunde cu calea de date și UAL dintr-un procesor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SISD </a:t>
            </a:r>
          </a:p>
          <a:p>
            <a:pPr lvl="1"/>
            <a:r>
              <a:rPr lang="ro-RO" dirty="0" smtClean="0"/>
              <a:t>Unele EP pot fi dezactivate în timpul execuției anumitor instrucțiuni </a:t>
            </a:r>
          </a:p>
          <a:p>
            <a:pPr lvl="1"/>
            <a:r>
              <a:rPr lang="ro-RO" dirty="0" smtClean="0"/>
              <a:t>Activarea și dezactivarea EP: de către PC sau logica locală din fiecare EP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38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</a:t>
            </a:r>
            <a:r>
              <a:rPr lang="ro-RO" dirty="0" smtClean="0"/>
              <a:t>SIMD (</a:t>
            </a:r>
            <a:r>
              <a:rPr lang="ro-RO" dirty="0"/>
              <a:t>7</a:t>
            </a:r>
            <a:r>
              <a:rPr lang="ro-RO" dirty="0" smtClean="0"/>
              <a:t>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968453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Rețeaua de interconectare </a:t>
            </a:r>
            <a:r>
              <a:rPr lang="ro-RO" dirty="0" smtClean="0"/>
              <a:t>(RI)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Trei tipuri de modele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SIMD </a:t>
            </a:r>
            <a:r>
              <a:rPr lang="ro-RO" dirty="0" smtClean="0"/>
              <a:t>în funcție de RI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Comutator 1 : </a:t>
            </a:r>
            <a:r>
              <a:rPr lang="ro-RO" i="1" dirty="0" smtClean="0"/>
              <a:t>n</a:t>
            </a:r>
            <a:r>
              <a:rPr lang="ro-RO" dirty="0" smtClean="0"/>
              <a:t> între PC și cele </a:t>
            </a:r>
            <a:r>
              <a:rPr lang="ro-RO" i="1" dirty="0" smtClean="0"/>
              <a:t>n</a:t>
            </a:r>
            <a:r>
              <a:rPr lang="ro-RO" dirty="0" smtClean="0"/>
              <a:t> EP 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Comutator 1 : </a:t>
            </a:r>
            <a:r>
              <a:rPr lang="ro-RO" i="1" dirty="0" smtClean="0"/>
              <a:t>n</a:t>
            </a:r>
            <a:r>
              <a:rPr lang="ro-RO" dirty="0" smtClean="0"/>
              <a:t> între PC și blocurile de </a:t>
            </a:r>
            <a:r>
              <a:rPr lang="ro-RO" dirty="0" err="1" smtClean="0"/>
              <a:t>mem</a:t>
            </a:r>
            <a:r>
              <a:rPr lang="ro-RO" dirty="0" smtClean="0"/>
              <a:t>.</a:t>
            </a:r>
          </a:p>
          <a:p>
            <a:pPr lvl="1">
              <a:spcBef>
                <a:spcPts val="600"/>
              </a:spcBef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Tipul 1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și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Tipul 2 </a:t>
            </a:r>
          </a:p>
          <a:p>
            <a:pPr lvl="2">
              <a:spcBef>
                <a:spcPts val="600"/>
              </a:spcBef>
            </a:pPr>
            <a:r>
              <a:rPr lang="ro-RO" dirty="0" smtClean="0"/>
              <a:t>Fiecare EP are acces direct la memoria sa locală </a:t>
            </a:r>
          </a:p>
          <a:p>
            <a:pPr lvl="2">
              <a:spcBef>
                <a:spcPts val="600"/>
              </a:spcBef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Comutator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x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 smtClean="0"/>
              <a:t>între toate EP </a:t>
            </a:r>
          </a:p>
          <a:p>
            <a:pPr lvl="1">
              <a:spcBef>
                <a:spcPts val="600"/>
              </a:spcBef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Tipul 3</a:t>
            </a:r>
          </a:p>
          <a:p>
            <a:pPr lvl="2">
              <a:spcBef>
                <a:spcPts val="600"/>
              </a:spcBef>
            </a:pPr>
            <a:r>
              <a:rPr lang="ro-RO" dirty="0" smtClean="0"/>
              <a:t>Nu există interconexiune directă între EP </a:t>
            </a:r>
          </a:p>
          <a:p>
            <a:pPr lvl="2">
              <a:spcBef>
                <a:spcPts val="600"/>
              </a:spcBef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Comutator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x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 smtClean="0"/>
              <a:t>între EP și blocurile de memorie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39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</a:t>
            </a:r>
            <a:r>
              <a:rPr lang="ro-RO" dirty="0" smtClean="0"/>
              <a:t>SIMD (</a:t>
            </a:r>
            <a:r>
              <a:rPr lang="ro-RO" dirty="0"/>
              <a:t>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635115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Exemplu</a:t>
            </a:r>
            <a:r>
              <a:rPr lang="ro-RO" dirty="0" smtClean="0"/>
              <a:t>: Adunarea a doi vectori</a:t>
            </a:r>
          </a:p>
          <a:p>
            <a:pPr lvl="1"/>
            <a:r>
              <a:rPr lang="ro-RO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</a:t>
            </a:r>
            <a:r>
              <a:rPr lang="ro-RO" dirty="0" smtClean="0"/>
              <a:t>, </a:t>
            </a:r>
            <a:r>
              <a:rPr lang="ro-RO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B</a:t>
            </a:r>
            <a:r>
              <a:rPr lang="ro-RO" dirty="0" smtClean="0"/>
              <a:t>: vectori de câte </a:t>
            </a:r>
            <a:r>
              <a:rPr lang="ro-RO" i="1" dirty="0" smtClean="0"/>
              <a:t>N</a:t>
            </a:r>
            <a:r>
              <a:rPr lang="ro-RO" dirty="0" smtClean="0"/>
              <a:t> elemente</a:t>
            </a:r>
          </a:p>
          <a:p>
            <a:pPr lvl="1"/>
            <a:r>
              <a:rPr lang="ro-RO" dirty="0" smtClean="0"/>
              <a:t>Vectorul sumă </a:t>
            </a:r>
            <a:r>
              <a:rPr lang="ro-RO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</a:t>
            </a:r>
            <a:r>
              <a:rPr lang="ro-RO" dirty="0" smtClean="0"/>
              <a:t>: </a:t>
            </a:r>
            <a:r>
              <a:rPr lang="ro-RO" i="1" dirty="0" smtClean="0"/>
              <a:t>C</a:t>
            </a:r>
            <a:r>
              <a:rPr lang="ro-RO" i="1" baseline="-25000" dirty="0" smtClean="0"/>
              <a:t>i</a:t>
            </a:r>
            <a:r>
              <a:rPr lang="ro-RO" dirty="0" smtClean="0"/>
              <a:t> = </a:t>
            </a:r>
            <a:r>
              <a:rPr lang="ro-RO" i="1" dirty="0" smtClean="0"/>
              <a:t>A</a:t>
            </a:r>
            <a:r>
              <a:rPr lang="ro-RO" i="1" baseline="-25000" dirty="0" smtClean="0"/>
              <a:t>i</a:t>
            </a:r>
            <a:r>
              <a:rPr lang="ro-RO" dirty="0" smtClean="0"/>
              <a:t> + </a:t>
            </a:r>
            <a:r>
              <a:rPr lang="ro-RO" i="1" dirty="0" err="1" smtClean="0"/>
              <a:t>B</a:t>
            </a:r>
            <a:r>
              <a:rPr lang="ro-RO" i="1" baseline="-25000" dirty="0" err="1" smtClean="0"/>
              <a:t>i</a:t>
            </a:r>
            <a:r>
              <a:rPr lang="ro-RO" dirty="0" smtClean="0"/>
              <a:t> (</a:t>
            </a:r>
            <a:r>
              <a:rPr lang="ro-RO" i="1" dirty="0" smtClean="0"/>
              <a:t>i</a:t>
            </a:r>
            <a:r>
              <a:rPr lang="ro-RO" dirty="0" smtClean="0"/>
              <a:t> = 1 .. </a:t>
            </a:r>
            <a:r>
              <a:rPr lang="ro-RO" i="1" dirty="0" smtClean="0"/>
              <a:t>N</a:t>
            </a:r>
            <a:r>
              <a:rPr lang="ro-RO" dirty="0" smtClean="0"/>
              <a:t>)</a:t>
            </a:r>
            <a:endParaRPr lang="ro-RO" i="1" dirty="0" smtClean="0"/>
          </a:p>
          <a:p>
            <a:pPr lvl="1"/>
            <a:r>
              <a:rPr lang="ro-RO" dirty="0" smtClean="0"/>
              <a:t>Se poate implementa printr-o arhitectură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SIMD </a:t>
            </a:r>
            <a:r>
              <a:rPr lang="ro-RO" dirty="0" smtClean="0"/>
              <a:t>cu </a:t>
            </a:r>
            <a:r>
              <a:rPr lang="ro-RO" i="1" dirty="0" smtClean="0"/>
              <a:t>N</a:t>
            </a:r>
            <a:r>
              <a:rPr lang="ro-RO" dirty="0" smtClean="0"/>
              <a:t> elemente de procesare EP</a:t>
            </a:r>
          </a:p>
          <a:p>
            <a:pPr lvl="1"/>
            <a:r>
              <a:rPr lang="ro-RO" dirty="0" smtClean="0"/>
              <a:t>RI nu este necesară </a:t>
            </a:r>
          </a:p>
          <a:p>
            <a:pPr lvl="1"/>
            <a:r>
              <a:rPr lang="ro-RO" dirty="0" smtClean="0"/>
              <a:t>Elementele vectorilor </a:t>
            </a:r>
            <a:r>
              <a:rPr lang="ro-RO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 smtClean="0"/>
              <a:t>și </a:t>
            </a:r>
            <a:r>
              <a:rPr lang="ro-RO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B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 smtClean="0"/>
              <a:t>trebuie distribuite în </a:t>
            </a:r>
            <a:r>
              <a:rPr lang="ro-RO" i="1" dirty="0" smtClean="0"/>
              <a:t>N</a:t>
            </a:r>
            <a:r>
              <a:rPr lang="ro-RO" dirty="0" smtClean="0"/>
              <a:t> blocuri de memorie </a:t>
            </a:r>
          </a:p>
          <a:p>
            <a:pPr lvl="1"/>
            <a:r>
              <a:rPr lang="ro-RO" dirty="0" smtClean="0"/>
              <a:t>Instrucțiunea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SIMD</a:t>
            </a:r>
            <a:r>
              <a:rPr lang="ro-RO" dirty="0" smtClean="0"/>
              <a:t>: </a:t>
            </a:r>
            <a:r>
              <a:rPr lang="ro-RO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 = A + B; </a:t>
            </a:r>
            <a:endParaRPr lang="ro-RO" b="1" dirty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40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</a:t>
            </a:r>
            <a:r>
              <a:rPr lang="ro-RO" dirty="0" smtClean="0"/>
              <a:t>SIMD (</a:t>
            </a:r>
            <a:r>
              <a:rPr lang="ro-RO" dirty="0"/>
              <a:t>9</a:t>
            </a:r>
            <a:r>
              <a:rPr lang="ro-RO" dirty="0" smtClean="0"/>
              <a:t>)</a:t>
            </a:r>
            <a:endParaRPr lang="ro-RO" dirty="0"/>
          </a:p>
        </p:txBody>
      </p:sp>
      <p:pic>
        <p:nvPicPr>
          <p:cNvPr id="7" name="Content Placeholder 6" descr="simd-ex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043608" y="1772816"/>
            <a:ext cx="7066158" cy="4023554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41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</a:t>
            </a:r>
            <a:r>
              <a:rPr lang="ro-RO" dirty="0" smtClean="0"/>
              <a:t>SIMD (</a:t>
            </a:r>
            <a:r>
              <a:rPr lang="ro-RO" dirty="0"/>
              <a:t>10</a:t>
            </a:r>
            <a:r>
              <a:rPr lang="ro-RO" dirty="0" smtClean="0"/>
              <a:t>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511480" cy="4561249"/>
          </a:xfrm>
        </p:spPr>
        <p:txBody>
          <a:bodyPr/>
          <a:lstStyle/>
          <a:p>
            <a:r>
              <a:rPr lang="ro-RO" dirty="0" smtClean="0"/>
              <a:t>Primele arhitecturi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SIMD</a:t>
            </a:r>
            <a:r>
              <a:rPr lang="ro-RO" dirty="0" smtClean="0"/>
              <a:t>: supercalculatoare</a:t>
            </a:r>
          </a:p>
          <a:p>
            <a:pPr lvl="1"/>
            <a:r>
              <a:rPr lang="ro-RO" dirty="0" smtClean="0"/>
              <a:t>Calculatoarele </a:t>
            </a:r>
            <a:r>
              <a:rPr lang="ro-RO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Connection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Machine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 smtClean="0"/>
              <a:t>ale firmei </a:t>
            </a:r>
            <a:r>
              <a:rPr lang="ro-RO" dirty="0" err="1" smtClean="0"/>
              <a:t>Thinking</a:t>
            </a:r>
            <a:r>
              <a:rPr lang="ro-RO" dirty="0" smtClean="0"/>
              <a:t> </a:t>
            </a:r>
            <a:r>
              <a:rPr lang="ro-RO" dirty="0" err="1" smtClean="0"/>
              <a:t>Machines</a:t>
            </a:r>
            <a:r>
              <a:rPr lang="ro-RO" dirty="0" smtClean="0"/>
              <a:t> Corp. (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CM-1</a:t>
            </a:r>
            <a:r>
              <a:rPr lang="ro-RO" dirty="0" smtClean="0"/>
              <a:t>,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CM-2</a:t>
            </a:r>
            <a:r>
              <a:rPr lang="ro-RO" dirty="0" smtClean="0"/>
              <a:t>)</a:t>
            </a:r>
          </a:p>
          <a:p>
            <a:pPr lvl="1"/>
            <a:r>
              <a:rPr lang="ro-RO" dirty="0" smtClean="0"/>
              <a:t>Un număr mare de procesoare simple (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CM-2</a:t>
            </a:r>
            <a:r>
              <a:rPr lang="ro-RO" dirty="0" smtClean="0"/>
              <a:t>: 65.536 de procesoare) </a:t>
            </a:r>
          </a:p>
          <a:p>
            <a:r>
              <a:rPr lang="ro-RO" dirty="0" smtClean="0"/>
              <a:t>Procesoarele actuale conțin seturi de instrucțiuni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SIMD </a:t>
            </a:r>
          </a:p>
          <a:p>
            <a:pPr lvl="1"/>
            <a:r>
              <a:rPr lang="ro-RO" dirty="0" smtClean="0"/>
              <a:t>Permit operații cu vectori de lungime relativ redusă: 16 .. 64 elemente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42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</a:t>
            </a:r>
            <a:r>
              <a:rPr lang="ro-RO" dirty="0" smtClean="0"/>
              <a:t>SIMD (</a:t>
            </a:r>
            <a:r>
              <a:rPr lang="ro-RO" dirty="0"/>
              <a:t>11</a:t>
            </a:r>
            <a:r>
              <a:rPr lang="ro-RO" dirty="0" smtClean="0"/>
              <a:t>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439472" cy="4979825"/>
          </a:xfrm>
        </p:spPr>
        <p:txBody>
          <a:bodyPr/>
          <a:lstStyle/>
          <a:p>
            <a:r>
              <a:rPr lang="ro-RO" dirty="0" smtClean="0"/>
              <a:t>Exemple de seturi de instrucțiuni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SIMD 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VIS </a:t>
            </a:r>
            <a:r>
              <a:rPr lang="ro-RO" dirty="0" smtClean="0"/>
              <a:t>(</a:t>
            </a:r>
            <a:r>
              <a:rPr lang="ro-RO" i="1" dirty="0" smtClean="0"/>
              <a:t>Visual </a:t>
            </a:r>
            <a:r>
              <a:rPr lang="ro-RO" i="1" dirty="0" err="1" smtClean="0"/>
              <a:t>Instruction</a:t>
            </a:r>
            <a:r>
              <a:rPr lang="ro-RO" i="1" dirty="0" smtClean="0"/>
              <a:t> Set</a:t>
            </a:r>
            <a:r>
              <a:rPr lang="ro-RO" dirty="0" smtClean="0"/>
              <a:t>): Sun </a:t>
            </a:r>
            <a:r>
              <a:rPr lang="ro-RO" dirty="0" err="1" smtClean="0"/>
              <a:t>Microsystems</a:t>
            </a:r>
            <a:r>
              <a:rPr lang="ro-RO" dirty="0" smtClean="0"/>
              <a:t> pentru procesoarele </a:t>
            </a:r>
            <a:r>
              <a:rPr lang="ro-RO" dirty="0" err="1" smtClean="0"/>
              <a:t>UltraSPARC</a:t>
            </a:r>
            <a:r>
              <a:rPr lang="ro-RO" dirty="0" smtClean="0"/>
              <a:t> 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MMX</a:t>
            </a:r>
            <a:r>
              <a:rPr lang="ro-RO" dirty="0" smtClean="0"/>
              <a:t>: Intel pentru arhitectura x86 </a:t>
            </a:r>
          </a:p>
          <a:p>
            <a:pPr lvl="1"/>
            <a:r>
              <a:rPr lang="ro-RO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AltiVec</a:t>
            </a:r>
            <a:r>
              <a:rPr lang="ro-RO" dirty="0" smtClean="0"/>
              <a:t>: </a:t>
            </a:r>
            <a:r>
              <a:rPr lang="ro-RO" dirty="0" err="1" smtClean="0"/>
              <a:t>Apple</a:t>
            </a:r>
            <a:r>
              <a:rPr lang="ro-RO" dirty="0" smtClean="0"/>
              <a:t>, IBM, </a:t>
            </a:r>
            <a:r>
              <a:rPr lang="ro-RO" dirty="0" err="1" smtClean="0"/>
              <a:t>Motorola</a:t>
            </a:r>
            <a:r>
              <a:rPr lang="ro-RO" dirty="0" smtClean="0"/>
              <a:t> pentru procesoarele </a:t>
            </a:r>
            <a:r>
              <a:rPr lang="ro-RO" dirty="0" err="1" smtClean="0"/>
              <a:t>PowerPC</a:t>
            </a:r>
            <a:r>
              <a:rPr lang="ro-RO" dirty="0" smtClean="0"/>
              <a:t>, POWER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3DNow!</a:t>
            </a:r>
            <a:r>
              <a:rPr lang="ro-RO" dirty="0" smtClean="0"/>
              <a:t>: AMD pentru arhitectura x86 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SSE </a:t>
            </a:r>
            <a:r>
              <a:rPr lang="ro-RO" dirty="0" smtClean="0"/>
              <a:t>(</a:t>
            </a:r>
            <a:r>
              <a:rPr lang="ro-RO" i="1" dirty="0" err="1" smtClean="0"/>
              <a:t>Streaming</a:t>
            </a:r>
            <a:r>
              <a:rPr lang="ro-RO" i="1" dirty="0" smtClean="0"/>
              <a:t> SIMD </a:t>
            </a:r>
            <a:r>
              <a:rPr lang="ro-RO" i="1" dirty="0" err="1" smtClean="0"/>
              <a:t>Extensions</a:t>
            </a:r>
            <a:r>
              <a:rPr lang="ro-RO" dirty="0" smtClean="0"/>
              <a:t>): Intel pentru arhitectura x86; versiuni ulterioare: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SSE2</a:t>
            </a:r>
            <a:r>
              <a:rPr lang="ro-RO" dirty="0" smtClean="0"/>
              <a:t>,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SSE3</a:t>
            </a:r>
            <a:r>
              <a:rPr lang="ro-RO" dirty="0" smtClean="0"/>
              <a:t>,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SSE4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43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5</a:t>
            </a:r>
            <a:r>
              <a:rPr lang="ro-RO" dirty="0"/>
              <a:t>. Introducere în arhitecturi paralele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653582"/>
          </a:xfrm>
        </p:spPr>
        <p:txBody>
          <a:bodyPr/>
          <a:lstStyle/>
          <a:p>
            <a:endParaRPr lang="ro-RO" sz="2800" dirty="0"/>
          </a:p>
          <a:p>
            <a:r>
              <a:rPr lang="ro-RO" dirty="0"/>
              <a:t>Tipuri și nivele de </a:t>
            </a:r>
            <a:r>
              <a:rPr lang="ro-RO" dirty="0" smtClean="0"/>
              <a:t>paralelism</a:t>
            </a:r>
            <a:endParaRPr lang="ro-RO" dirty="0"/>
          </a:p>
          <a:p>
            <a:r>
              <a:rPr lang="ro-RO" dirty="0"/>
              <a:t>Clasificarea arhitecturilor paralele</a:t>
            </a:r>
          </a:p>
          <a:p>
            <a:r>
              <a:rPr lang="ro-RO" dirty="0"/>
              <a:t>Arhitecturi vectoriale</a:t>
            </a:r>
          </a:p>
          <a:p>
            <a:r>
              <a:rPr lang="ro-RO" dirty="0"/>
              <a:t>Arhitecturi SIMD</a:t>
            </a:r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Arhitecturi sistolice</a:t>
            </a:r>
          </a:p>
          <a:p>
            <a:r>
              <a:rPr lang="ro-RO" dirty="0"/>
              <a:t>Arhitecturi MIMD </a:t>
            </a:r>
          </a:p>
          <a:p>
            <a:r>
              <a:rPr lang="ro-RO" dirty="0" smtClean="0"/>
              <a:t>Arhitecturi </a:t>
            </a:r>
            <a:r>
              <a:rPr lang="ro-RO" dirty="0"/>
              <a:t>cu fire de execuție </a:t>
            </a:r>
            <a:r>
              <a:rPr lang="ro-RO" dirty="0" smtClean="0"/>
              <a:t>multiple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44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Arhitecturi sistolice </a:t>
            </a:r>
            <a:r>
              <a:rPr lang="ro-RO" dirty="0"/>
              <a:t>(1)</a:t>
            </a:r>
          </a:p>
        </p:txBody>
      </p:sp>
      <p:sp>
        <p:nvSpPr>
          <p:cNvPr id="25907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68761"/>
            <a:ext cx="8382000" cy="5040559"/>
          </a:xfrm>
        </p:spPr>
        <p:txBody>
          <a:bodyPr>
            <a:normAutofit/>
          </a:bodyPr>
          <a:lstStyle/>
          <a:p>
            <a:r>
              <a:rPr lang="ro-RO" dirty="0"/>
              <a:t>S</a:t>
            </a:r>
            <a:r>
              <a:rPr lang="ro-RO" dirty="0">
                <a:cs typeface="Times New Roman" pitchFamily="18" charset="0"/>
              </a:rPr>
              <a:t>unt formate prin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interconectarea unui set de celule identice </a:t>
            </a:r>
            <a:r>
              <a:rPr lang="ro-RO" dirty="0">
                <a:cs typeface="Times New Roman" pitchFamily="18" charset="0"/>
              </a:rPr>
              <a:t>de prelucrare a datelor </a:t>
            </a:r>
            <a:endParaRPr lang="ro-RO" dirty="0"/>
          </a:p>
          <a:p>
            <a:pPr lvl="1"/>
            <a:r>
              <a:rPr lang="ro-RO" dirty="0">
                <a:cs typeface="Times New Roman" pitchFamily="18" charset="0"/>
              </a:rPr>
              <a:t>Cuvintele de date circul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în mod sincron de la celul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la celul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endParaRPr lang="ro-RO" dirty="0"/>
          </a:p>
          <a:p>
            <a:pPr lvl="1"/>
            <a:r>
              <a:rPr lang="ro-RO" dirty="0"/>
              <a:t>F</a:t>
            </a:r>
            <a:r>
              <a:rPr lang="ro-RO" dirty="0">
                <a:cs typeface="Times New Roman" pitchFamily="18" charset="0"/>
              </a:rPr>
              <a:t>iecare celul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execut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o etap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de prelucrare</a:t>
            </a:r>
            <a:endParaRPr lang="ro-RO" dirty="0"/>
          </a:p>
          <a:p>
            <a:pPr lvl="1"/>
            <a:r>
              <a:rPr lang="ro-RO" dirty="0"/>
              <a:t>Datele sunt complet prelucrate atunci </a:t>
            </a:r>
            <a:r>
              <a:rPr lang="ro-RO" dirty="0">
                <a:cs typeface="Times New Roman" pitchFamily="18" charset="0"/>
              </a:rPr>
              <a:t>când rezultatele apar de la celulele marginale</a:t>
            </a:r>
            <a:r>
              <a:rPr lang="ro-RO" dirty="0"/>
              <a:t> </a:t>
            </a:r>
          </a:p>
          <a:p>
            <a:pPr>
              <a:spcBef>
                <a:spcPts val="600"/>
              </a:spcBef>
            </a:pPr>
            <a:r>
              <a:rPr lang="ro-RO" dirty="0"/>
              <a:t>O </a:t>
            </a:r>
            <a:r>
              <a:rPr lang="ro-RO" dirty="0" smtClean="0">
                <a:cs typeface="Times New Roman" pitchFamily="18" charset="0"/>
              </a:rPr>
              <a:t>arhitectură sistolic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unidimensional</a:t>
            </a:r>
            <a:r>
              <a:rPr lang="ro-RO" dirty="0" smtClean="0"/>
              <a:t>ă: </a:t>
            </a:r>
            <a:r>
              <a:rPr lang="ro-RO" dirty="0" smtClean="0">
                <a:cs typeface="Times New Roman" pitchFamily="18" charset="0"/>
              </a:rPr>
              <a:t>similar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cu un sistem </a:t>
            </a:r>
            <a:r>
              <a:rPr lang="ro-RO" i="1" dirty="0" err="1">
                <a:cs typeface="Times New Roman" pitchFamily="18" charset="0"/>
              </a:rPr>
              <a:t>pipeline</a:t>
            </a:r>
            <a:r>
              <a:rPr lang="ro-RO" dirty="0">
                <a:cs typeface="Times New Roman" pitchFamily="18" charset="0"/>
              </a:rPr>
              <a:t> cu etaje identice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8E6430-7CC6-4EF7-AC6A-A515C93F61E8}" type="slidenum">
              <a:rPr lang="ro-RO"/>
              <a:pPr/>
              <a:t>45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6947324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sistolice (2)</a:t>
            </a:r>
          </a:p>
        </p:txBody>
      </p:sp>
      <p:sp>
        <p:nvSpPr>
          <p:cNvPr id="260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 smtClean="0">
                <a:cs typeface="Times New Roman" pitchFamily="18" charset="0"/>
              </a:rPr>
              <a:t>Datele pot circula </a:t>
            </a:r>
            <a:r>
              <a:rPr lang="ro-RO" dirty="0">
                <a:cs typeface="Times New Roman" pitchFamily="18" charset="0"/>
              </a:rPr>
              <a:t>între celule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în mai multe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direc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ț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ii </a:t>
            </a:r>
            <a:r>
              <a:rPr lang="ro-RO" dirty="0">
                <a:cs typeface="Times New Roman" pitchFamily="18" charset="0"/>
              </a:rPr>
              <a:t>în acela</a:t>
            </a:r>
            <a:r>
              <a:rPr lang="ro-RO" dirty="0"/>
              <a:t>ş</a:t>
            </a:r>
            <a:r>
              <a:rPr lang="ro-RO" dirty="0">
                <a:cs typeface="Times New Roman" pitchFamily="18" charset="0"/>
              </a:rPr>
              <a:t>i timp</a:t>
            </a:r>
            <a:r>
              <a:rPr lang="ro-RO" dirty="0"/>
              <a:t> </a:t>
            </a:r>
          </a:p>
          <a:p>
            <a:r>
              <a:rPr lang="ro-RO" dirty="0"/>
              <a:t>T</a:t>
            </a:r>
            <a:r>
              <a:rPr lang="ro-RO" dirty="0">
                <a:cs typeface="Times New Roman" pitchFamily="18" charset="0"/>
              </a:rPr>
              <a:t>rebuie incluse </a:t>
            </a:r>
            <a:r>
              <a:rPr lang="ro-RO" dirty="0" err="1">
                <a:cs typeface="Times New Roman" pitchFamily="18" charset="0"/>
              </a:rPr>
              <a:t>buffere</a:t>
            </a:r>
            <a:r>
              <a:rPr lang="ro-RO" dirty="0">
                <a:cs typeface="Times New Roman" pitchFamily="18" charset="0"/>
              </a:rPr>
              <a:t> între celule</a:t>
            </a:r>
            <a:endParaRPr lang="ro-RO" dirty="0"/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Procesoare sistolice </a:t>
            </a:r>
            <a:r>
              <a:rPr lang="ro-RO" dirty="0">
                <a:cs typeface="Times New Roman" pitchFamily="18" charset="0"/>
              </a:rPr>
              <a:t>pentru implementarea </a:t>
            </a:r>
            <a:r>
              <a:rPr lang="ro-RO" dirty="0"/>
              <a:t>unor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opera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ii </a:t>
            </a:r>
            <a:r>
              <a:rPr lang="ro-RO" dirty="0">
                <a:cs typeface="Times New Roman" pitchFamily="18" charset="0"/>
              </a:rPr>
              <a:t>aritmetice complexe</a:t>
            </a:r>
            <a:r>
              <a:rPr lang="ro-RO" dirty="0"/>
              <a:t>:</a:t>
            </a:r>
          </a:p>
          <a:p>
            <a:pPr lvl="1"/>
            <a:r>
              <a:rPr lang="ro-RO" dirty="0" smtClean="0"/>
              <a:t>Î</a:t>
            </a:r>
            <a:r>
              <a:rPr lang="ro-RO" dirty="0" smtClean="0">
                <a:cs typeface="Times New Roman" pitchFamily="18" charset="0"/>
              </a:rPr>
              <a:t>nmul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irea matricelor</a:t>
            </a:r>
            <a:endParaRPr lang="ro-RO" dirty="0"/>
          </a:p>
          <a:p>
            <a:pPr lvl="1"/>
            <a:r>
              <a:rPr lang="ro-RO" dirty="0" smtClean="0"/>
              <a:t>R</a:t>
            </a:r>
            <a:r>
              <a:rPr lang="ro-RO" dirty="0" smtClean="0">
                <a:cs typeface="Times New Roman" pitchFamily="18" charset="0"/>
              </a:rPr>
              <a:t>ezolvarea ecua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iilor </a:t>
            </a:r>
            <a:r>
              <a:rPr lang="ro-RO" dirty="0">
                <a:cs typeface="Times New Roman" pitchFamily="18" charset="0"/>
              </a:rPr>
              <a:t>liniare</a:t>
            </a:r>
            <a:r>
              <a:rPr lang="ro-RO" dirty="0"/>
              <a:t> </a:t>
            </a:r>
            <a:endParaRPr lang="en-US" dirty="0" smtClean="0"/>
          </a:p>
          <a:p>
            <a:pPr lvl="1"/>
            <a:r>
              <a:rPr lang="ro-RO" dirty="0" smtClean="0"/>
              <a:t>Convoluția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0128368-56CC-468D-8A8F-6C7C547939A5}" type="slidenum">
              <a:rPr lang="ro-RO"/>
              <a:pPr/>
              <a:t>46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2332279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sistolice (3)</a:t>
            </a:r>
          </a:p>
        </p:txBody>
      </p:sp>
      <p:sp>
        <p:nvSpPr>
          <p:cNvPr id="26112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561249"/>
          </a:xfrm>
        </p:spPr>
        <p:txBody>
          <a:bodyPr/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xemplu</a:t>
            </a:r>
            <a:r>
              <a:rPr lang="ro-RO" dirty="0"/>
              <a:t>: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/>
              <a:t>Arhitectură </a:t>
            </a:r>
            <a:r>
              <a:rPr lang="ro-RO" dirty="0" smtClean="0">
                <a:cs typeface="Times New Roman" pitchFamily="18" charset="0"/>
              </a:rPr>
              <a:t>bidimensional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/>
              <a:t>pentru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înmul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irea </a:t>
            </a:r>
            <a:r>
              <a:rPr lang="ro-RO" dirty="0">
                <a:cs typeface="Times New Roman" pitchFamily="18" charset="0"/>
              </a:rPr>
              <a:t>a dou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matrice</a:t>
            </a:r>
            <a:r>
              <a:rPr lang="ro-RO" dirty="0" smtClean="0"/>
              <a:t> </a:t>
            </a:r>
            <a:endParaRPr lang="ro-RO" dirty="0"/>
          </a:p>
          <a:p>
            <a:pPr lvl="1"/>
            <a:r>
              <a:rPr lang="ro-RO" b="1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= [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i="1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,</a:t>
            </a:r>
            <a:r>
              <a:rPr lang="ro-RO" i="1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j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] </a:t>
            </a:r>
            <a:r>
              <a:rPr lang="ro-RO" dirty="0">
                <a:cs typeface="Times New Roman" pitchFamily="18" charset="0"/>
              </a:rPr>
              <a:t>o matrice </a:t>
            </a:r>
            <a:r>
              <a:rPr lang="ro-RO" i="1" dirty="0">
                <a:cs typeface="Times New Roman" pitchFamily="18" charset="0"/>
              </a:rPr>
              <a:t>n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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cs typeface="Times New Roman" pitchFamily="18" charset="0"/>
              </a:rPr>
              <a:t>n</a:t>
            </a:r>
            <a:r>
              <a:rPr lang="ro-RO" dirty="0">
                <a:cs typeface="Times New Roman" pitchFamily="18" charset="0"/>
              </a:rPr>
              <a:t> de numere </a:t>
            </a:r>
            <a:r>
              <a:rPr lang="ro-RO" dirty="0" smtClean="0">
                <a:cs typeface="Times New Roman" pitchFamily="18" charset="0"/>
              </a:rPr>
              <a:t>întregi </a:t>
            </a:r>
            <a:r>
              <a:rPr lang="ro-RO" dirty="0">
                <a:cs typeface="Times New Roman" pitchFamily="18" charset="0"/>
              </a:rPr>
              <a:t>sau </a:t>
            </a:r>
            <a:r>
              <a:rPr lang="ro-RO" dirty="0" smtClean="0">
                <a:cs typeface="Times New Roman" pitchFamily="18" charset="0"/>
              </a:rPr>
              <a:t>în </a:t>
            </a:r>
            <a:r>
              <a:rPr lang="ro-RO" dirty="0" smtClean="0"/>
              <a:t>VM</a:t>
            </a:r>
            <a:endParaRPr lang="ro-RO" dirty="0"/>
          </a:p>
          <a:p>
            <a:pPr lvl="1"/>
            <a:r>
              <a:rPr lang="ro-RO" dirty="0">
                <a:cs typeface="Times New Roman" pitchFamily="18" charset="0"/>
              </a:rPr>
              <a:t>Produsul </a:t>
            </a:r>
            <a:r>
              <a:rPr lang="ro-RO" dirty="0" smtClean="0">
                <a:cs typeface="Times New Roman" pitchFamily="18" charset="0"/>
              </a:rPr>
              <a:t>matricei </a:t>
            </a:r>
            <a:r>
              <a:rPr lang="ro-RO" b="1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cu matrice</a:t>
            </a:r>
            <a:r>
              <a:rPr lang="ro-RO" dirty="0"/>
              <a:t>a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b="1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= [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i="1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,</a:t>
            </a:r>
            <a:r>
              <a:rPr lang="ro-RO" i="1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j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] </a:t>
            </a:r>
            <a:r>
              <a:rPr lang="ro-RO" dirty="0">
                <a:cs typeface="Times New Roman" pitchFamily="18" charset="0"/>
              </a:rPr>
              <a:t>este matricea </a:t>
            </a:r>
            <a:r>
              <a:rPr lang="ro-RO" b="1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Z</a:t>
            </a:r>
            <a:r>
              <a:rPr lang="ro-RO" b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 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= [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z</a:t>
            </a:r>
            <a:r>
              <a:rPr lang="ro-RO" i="1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,</a:t>
            </a:r>
            <a:r>
              <a:rPr lang="ro-RO" i="1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j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]</a:t>
            </a:r>
            <a:r>
              <a:rPr lang="ro-RO" dirty="0"/>
              <a:t>:</a:t>
            </a:r>
          </a:p>
          <a:p>
            <a:pPr lvl="1">
              <a:buFont typeface="Wingdings" pitchFamily="2" charset="2"/>
              <a:buNone/>
            </a:pPr>
            <a:r>
              <a:rPr lang="ro-RO" sz="3600" i="1" dirty="0">
                <a:sym typeface="Symbol" pitchFamily="18" charset="2"/>
              </a:rPr>
              <a:t>	</a:t>
            </a:r>
            <a:endParaRPr lang="ro-RO" sz="3600" baseline="-25000" dirty="0">
              <a:solidFill>
                <a:schemeClr val="tx2"/>
              </a:solidFill>
              <a:sym typeface="Symbol" pitchFamily="18" charset="2"/>
            </a:endParaRPr>
          </a:p>
          <a:p>
            <a:pPr lvl="1"/>
            <a:r>
              <a:rPr lang="ro-RO" dirty="0">
                <a:sym typeface="Symbol" pitchFamily="18" charset="2"/>
              </a:rPr>
              <a:t>C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elul</a:t>
            </a:r>
            <a:r>
              <a:rPr lang="ro-RO" dirty="0">
                <a:sym typeface="Symbol" pitchFamily="18" charset="2"/>
              </a:rPr>
              <a:t>a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 </a:t>
            </a:r>
            <a:r>
              <a:rPr lang="ro-RO" dirty="0">
                <a:sym typeface="Symbol" pitchFamily="18" charset="2"/>
              </a:rPr>
              <a:t>de bază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execut</a:t>
            </a:r>
            <a:r>
              <a:rPr lang="ro-RO" dirty="0">
                <a:sym typeface="Symbol" pitchFamily="18" charset="2"/>
              </a:rPr>
              <a:t>ă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 </a:t>
            </a:r>
            <a:r>
              <a:rPr lang="ro-RO" dirty="0" smtClean="0">
                <a:cs typeface="Times New Roman" pitchFamily="18" charset="0"/>
                <a:sym typeface="Symbol" pitchFamily="18" charset="2"/>
              </a:rPr>
              <a:t>opera</a:t>
            </a:r>
            <a:r>
              <a:rPr lang="ro-RO" dirty="0" smtClean="0">
                <a:sym typeface="Symbol" pitchFamily="18" charset="2"/>
              </a:rPr>
              <a:t>ț</a:t>
            </a:r>
            <a:r>
              <a:rPr lang="ro-RO" dirty="0" smtClean="0">
                <a:cs typeface="Times New Roman" pitchFamily="18" charset="0"/>
                <a:sym typeface="Symbol" pitchFamily="18" charset="2"/>
              </a:rPr>
              <a:t>ia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de </a:t>
            </a:r>
            <a:r>
              <a:rPr lang="ro-RO" dirty="0" smtClean="0">
                <a:cs typeface="Times New Roman" pitchFamily="18" charset="0"/>
                <a:sym typeface="Symbol" pitchFamily="18" charset="2"/>
              </a:rPr>
              <a:t>înmul</a:t>
            </a:r>
            <a:r>
              <a:rPr lang="ro-RO" dirty="0" smtClean="0">
                <a:sym typeface="Symbol" pitchFamily="18" charset="2"/>
              </a:rPr>
              <a:t>ț</a:t>
            </a:r>
            <a:r>
              <a:rPr lang="ro-RO" dirty="0" smtClean="0">
                <a:cs typeface="Times New Roman" pitchFamily="18" charset="0"/>
                <a:sym typeface="Symbol" pitchFamily="18" charset="2"/>
              </a:rPr>
              <a:t>ire </a:t>
            </a:r>
            <a:r>
              <a:rPr lang="ro-RO" dirty="0" smtClean="0">
                <a:sym typeface="Symbol" pitchFamily="18" charset="2"/>
              </a:rPr>
              <a:t>ș</a:t>
            </a:r>
            <a:r>
              <a:rPr lang="ro-RO" dirty="0" smtClean="0">
                <a:cs typeface="Times New Roman" pitchFamily="18" charset="0"/>
                <a:sym typeface="Symbol" pitchFamily="18" charset="2"/>
              </a:rPr>
              <a:t>i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adunare:</a:t>
            </a:r>
            <a:r>
              <a:rPr lang="ro-RO" dirty="0">
                <a:sym typeface="Symbol" pitchFamily="18" charset="2"/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  <a:sym typeface="Symbol" pitchFamily="18" charset="2"/>
              </a:rPr>
              <a:t>z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  <a:sym typeface="Symbol" pitchFamily="18" charset="2"/>
              </a:rPr>
              <a:t> :=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  <a:sym typeface="Symbol" pitchFamily="18" charset="2"/>
              </a:rPr>
              <a:t>z'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sym typeface="Symbol" pitchFamily="18" charset="2"/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  <a:sym typeface="Symbol" pitchFamily="18" charset="2"/>
              </a:rPr>
              <a:t>+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sym typeface="Symbol" pitchFamily="18" charset="2"/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  <a:sym typeface="Symbol" pitchFamily="18" charset="2"/>
              </a:rPr>
              <a:t>x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ro-RO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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  <a:sym typeface="Symbol" pitchFamily="18" charset="2"/>
              </a:rPr>
              <a:t>y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2F162D-26DF-4064-BFE1-013C072EE700}" type="slidenum">
              <a:rPr lang="ro-RO"/>
              <a:pPr/>
              <a:t>47</a:t>
            </a:fld>
            <a:endParaRPr lang="ro-RO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  <p:graphicFrame>
        <p:nvGraphicFramePr>
          <p:cNvPr id="261125" name="Object 5"/>
          <p:cNvGraphicFramePr>
            <a:graphicFrameLocks noChangeAspect="1"/>
          </p:cNvGraphicFramePr>
          <p:nvPr/>
        </p:nvGraphicFramePr>
        <p:xfrm>
          <a:off x="1331913" y="4365625"/>
          <a:ext cx="1655762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" name="Equation" r:id="rId4" imgW="1104840" imgH="431640" progId="Equation.3">
                  <p:embed/>
                </p:oleObj>
              </mc:Choice>
              <mc:Fallback>
                <p:oleObj name="Equation" r:id="rId4" imgW="11048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365625"/>
                        <a:ext cx="1655762" cy="6477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1189491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sistolice (4)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8D8D2-A5C2-4F91-843A-84933A0E6DFA}" type="slidenum">
              <a:rPr lang="ro-RO"/>
              <a:pPr/>
              <a:t>48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  <p:pic>
        <p:nvPicPr>
          <p:cNvPr id="8" name="Content Placeholder 7" descr="ssc5-sistolic-a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403648" y="1988840"/>
            <a:ext cx="6295048" cy="2941935"/>
          </a:xfrm>
        </p:spPr>
      </p:pic>
    </p:spTree>
    <p:extLst>
      <p:ext uri="{BB962C8B-B14F-4D97-AF65-F5344CB8AC3E}">
        <p14:creationId xmlns:p14="http://schemas.microsoft.com/office/powerpoint/2010/main" val="284347142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sistolice (5)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14D636-63B0-4A9B-A44C-CA39BC6AC045}" type="slidenum">
              <a:rPr lang="ro-RO"/>
              <a:pPr/>
              <a:t>49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  <p:pic>
        <p:nvPicPr>
          <p:cNvPr id="8" name="Content Placeholder 7" descr="ssc5-sistolic-b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259632" y="1484784"/>
            <a:ext cx="6627584" cy="4608586"/>
          </a:xfrm>
        </p:spPr>
      </p:pic>
    </p:spTree>
    <p:extLst>
      <p:ext uri="{BB962C8B-B14F-4D97-AF65-F5344CB8AC3E}">
        <p14:creationId xmlns:p14="http://schemas.microsoft.com/office/powerpoint/2010/main" val="20670335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sistolice (6)</a:t>
            </a:r>
          </a:p>
        </p:txBody>
      </p:sp>
      <p:sp>
        <p:nvSpPr>
          <p:cNvPr id="264195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412776"/>
            <a:ext cx="8352928" cy="468322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ro-RO" dirty="0">
                <a:cs typeface="Times New Roman" pitchFamily="18" charset="0"/>
              </a:rPr>
              <a:t>Calculul termenului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z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1,1</a:t>
            </a:r>
            <a:r>
              <a:rPr lang="ro-RO" dirty="0"/>
              <a:t>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o-RO" dirty="0"/>
              <a:t>	   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z</a:t>
            </a:r>
            <a:r>
              <a:rPr lang="ro-RO" baseline="-25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1,1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=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x</a:t>
            </a:r>
            <a:r>
              <a:rPr lang="ro-RO" baseline="-25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1,1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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y</a:t>
            </a:r>
            <a:r>
              <a:rPr lang="ro-RO" baseline="-250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1,1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+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x</a:t>
            </a:r>
            <a:r>
              <a:rPr lang="ro-RO" baseline="-25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1,2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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y</a:t>
            </a:r>
            <a:r>
              <a:rPr lang="ro-RO" baseline="-250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2,1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+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x</a:t>
            </a:r>
            <a:r>
              <a:rPr lang="ro-RO" baseline="-25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1,3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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y</a:t>
            </a:r>
            <a:r>
              <a:rPr lang="ro-RO" baseline="-250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3,1</a:t>
            </a:r>
            <a:endParaRPr lang="ro-RO" baseline="-250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90000"/>
              </a:lnSpc>
            </a:pP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= 1..2</a:t>
            </a:r>
          </a:p>
          <a:p>
            <a:pPr lvl="1">
              <a:lnSpc>
                <a:spcPct val="90000"/>
              </a:lnSpc>
            </a:pPr>
            <a:r>
              <a:rPr lang="ro-RO" dirty="0">
                <a:cs typeface="Times New Roman" pitchFamily="18" charset="0"/>
              </a:rPr>
              <a:t>Operandul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1,1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circul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spre dreapta, întâlnind numai valori zero ale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z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90000"/>
              </a:lnSpc>
            </a:pP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= 3</a:t>
            </a:r>
          </a:p>
          <a:p>
            <a:pPr lvl="1">
              <a:lnSpc>
                <a:spcPct val="90000"/>
              </a:lnSpc>
            </a:pPr>
            <a:r>
              <a:rPr lang="ro-RO" dirty="0">
                <a:cs typeface="Times New Roman" pitchFamily="18" charset="0"/>
              </a:rPr>
              <a:t>Operandul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1,1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întâlne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te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1,1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la celula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1,3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>
              <a:lnSpc>
                <a:spcPct val="90000"/>
              </a:lnSpc>
            </a:pPr>
            <a:r>
              <a:rPr lang="ro-RO" dirty="0"/>
              <a:t>Aceasta</a:t>
            </a:r>
            <a:r>
              <a:rPr lang="ro-RO" dirty="0">
                <a:cs typeface="Times New Roman" pitchFamily="18" charset="0"/>
              </a:rPr>
              <a:t> calculeaz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valoarea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z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= 0 +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baseline="-30000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1,1</a:t>
            </a:r>
            <a:r>
              <a:rPr lang="ro-RO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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baseline="-30000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1,1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>
                <a:cs typeface="Times New Roman" pitchFamily="18" charset="0"/>
              </a:rPr>
              <a:t>pe care o trimite la celula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1,2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>
              <a:lnSpc>
                <a:spcPct val="90000"/>
              </a:lnSpc>
            </a:pPr>
            <a:r>
              <a:rPr lang="ro-RO" dirty="0"/>
              <a:t>Celula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1,3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expediaz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1,1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/>
              <a:t>la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2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,3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 smtClean="0"/>
              <a:t>și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1,1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/>
              <a:t>la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1,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4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B033B5-23B8-400B-BAAE-9A2487BEBC35}" type="slidenum">
              <a:rPr lang="ro-RO"/>
              <a:pPr/>
              <a:t>50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3946695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sistolice (7)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0A88C2-8CC3-4BCC-A63E-1430E9F11C6B}" type="slidenum">
              <a:rPr lang="ro-RO"/>
              <a:pPr/>
              <a:t>51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  <p:pic>
        <p:nvPicPr>
          <p:cNvPr id="8" name="Content Placeholder 7" descr="ssc5-sistolic-c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259632" y="1484784"/>
            <a:ext cx="6627584" cy="4608586"/>
          </a:xfrm>
        </p:spPr>
      </p:pic>
    </p:spTree>
    <p:extLst>
      <p:ext uri="{BB962C8B-B14F-4D97-AF65-F5344CB8AC3E}">
        <p14:creationId xmlns:p14="http://schemas.microsoft.com/office/powerpoint/2010/main" val="233010277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sistolice (8)</a:t>
            </a:r>
          </a:p>
        </p:txBody>
      </p:sp>
      <p:sp>
        <p:nvSpPr>
          <p:cNvPr id="266243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412776"/>
            <a:ext cx="8352928" cy="4683224"/>
          </a:xfrm>
        </p:spPr>
        <p:txBody>
          <a:bodyPr/>
          <a:lstStyle/>
          <a:p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= 4</a:t>
            </a:r>
          </a:p>
          <a:p>
            <a:pPr lvl="1"/>
            <a:r>
              <a:rPr lang="ro-RO" dirty="0"/>
              <a:t>Operanzii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1,2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2,1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se aplic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la intr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rile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1,2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dirty="0"/>
              <a:t>Această celulă</a:t>
            </a:r>
            <a:r>
              <a:rPr lang="ro-RO" dirty="0">
                <a:cs typeface="Times New Roman" pitchFamily="18" charset="0"/>
              </a:rPr>
              <a:t> calculeaz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valoarea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z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=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z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'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+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baseline="-30000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1,2</a:t>
            </a:r>
            <a:r>
              <a:rPr lang="ro-RO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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baseline="-30000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2,1</a:t>
            </a:r>
            <a:r>
              <a:rPr lang="ro-RO" dirty="0">
                <a:cs typeface="Times New Roman" pitchFamily="18" charset="0"/>
              </a:rPr>
              <a:t>, unde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z'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=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baseline="-30000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1,1</a:t>
            </a:r>
            <a:r>
              <a:rPr lang="ro-RO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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baseline="-30000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1,1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= 5</a:t>
            </a:r>
          </a:p>
          <a:p>
            <a:pPr lvl="1"/>
            <a:r>
              <a:rPr lang="ro-RO" dirty="0"/>
              <a:t>U</a:t>
            </a:r>
            <a:r>
              <a:rPr lang="ro-RO" dirty="0">
                <a:cs typeface="Times New Roman" pitchFamily="18" charset="0"/>
              </a:rPr>
              <a:t>ltima pereche de operanzi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1,3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3,1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converge la celula marginal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1,1</a:t>
            </a:r>
            <a:endParaRPr lang="ro-RO" baseline="-300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dirty="0"/>
              <a:t>Aceasta </a:t>
            </a:r>
            <a:r>
              <a:rPr lang="ro-RO" dirty="0">
                <a:cs typeface="Times New Roman" pitchFamily="18" charset="0"/>
              </a:rPr>
              <a:t>calculeaz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valoarea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z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=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z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'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+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baseline="-30000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1,3</a:t>
            </a:r>
            <a:r>
              <a:rPr lang="ro-RO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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baseline="-30000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3,1</a:t>
            </a:r>
            <a:r>
              <a:rPr lang="ro-RO" dirty="0">
                <a:cs typeface="Times New Roman" pitchFamily="18" charset="0"/>
              </a:rPr>
              <a:t>, </a:t>
            </a:r>
            <a:r>
              <a:rPr lang="ro-RO" dirty="0"/>
              <a:t>utilizând valoarea </a:t>
            </a:r>
            <a:r>
              <a:rPr lang="ro-RO" dirty="0">
                <a:cs typeface="Times New Roman" pitchFamily="18" charset="0"/>
              </a:rPr>
              <a:t>furnizat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de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1,2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</a:t>
            </a:r>
            <a:r>
              <a:rPr lang="ro-RO" dirty="0">
                <a:sym typeface="Symbol" pitchFamily="18" charset="2"/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  <a:sym typeface="Symbol" pitchFamily="18" charset="2"/>
              </a:rPr>
              <a:t>z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  <a:sym typeface="Symbol" pitchFamily="18" charset="2"/>
              </a:rPr>
              <a:t>1,1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  <a:sym typeface="Symbol" pitchFamily="18" charset="2"/>
              </a:rPr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279DA8-C151-42EF-8704-7950F507B5D8}" type="slidenum">
              <a:rPr lang="ro-RO"/>
              <a:pPr/>
              <a:t>52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4049536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sistolice (9)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C2D2A09-56F1-4B0E-A2C3-756A419FF47D}" type="slidenum">
              <a:rPr lang="ro-RO"/>
              <a:pPr/>
              <a:t>53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  <p:pic>
        <p:nvPicPr>
          <p:cNvPr id="8" name="Content Placeholder 7" descr="ssc5-sistolic-d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259632" y="1484784"/>
            <a:ext cx="6627584" cy="4608586"/>
          </a:xfrm>
        </p:spPr>
      </p:pic>
    </p:spTree>
    <p:extLst>
      <p:ext uri="{BB962C8B-B14F-4D97-AF65-F5344CB8AC3E}">
        <p14:creationId xmlns:p14="http://schemas.microsoft.com/office/powerpoint/2010/main" val="128285363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sistolice (10)</a:t>
            </a:r>
          </a:p>
        </p:txBody>
      </p:sp>
      <p:sp>
        <p:nvSpPr>
          <p:cNvPr id="2682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= 6</a:t>
            </a:r>
          </a:p>
          <a:p>
            <a:pPr lvl="1"/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1,1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furnizeaz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valoarea zero</a:t>
            </a:r>
            <a:r>
              <a:rPr lang="ro-RO" dirty="0"/>
              <a:t> </a:t>
            </a:r>
          </a:p>
          <a:p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= 7</a:t>
            </a:r>
          </a:p>
          <a:p>
            <a:pPr lvl="1"/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1,1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furnizeaz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urm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torul element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z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1,2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ro-RO" dirty="0"/>
              <a:t>P</a:t>
            </a:r>
            <a:r>
              <a:rPr lang="ro-RO" dirty="0">
                <a:cs typeface="Times New Roman" pitchFamily="18" charset="0"/>
              </a:rPr>
              <a:t>roces</a:t>
            </a:r>
            <a:r>
              <a:rPr lang="ro-RO" dirty="0"/>
              <a:t>ul</a:t>
            </a:r>
            <a:r>
              <a:rPr lang="ro-RO" dirty="0">
                <a:cs typeface="Times New Roman" pitchFamily="18" charset="0"/>
              </a:rPr>
              <a:t> continu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pân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când se genereaz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toate elementele primei linii a </a:t>
            </a:r>
            <a:r>
              <a:rPr lang="ro-RO" dirty="0" smtClean="0">
                <a:cs typeface="Times New Roman" pitchFamily="18" charset="0"/>
              </a:rPr>
              <a:t>matricei </a:t>
            </a:r>
            <a:r>
              <a:rPr lang="ro-RO" b="1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Z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ro-RO" dirty="0">
                <a:cs typeface="Times New Roman" pitchFamily="18" charset="0"/>
              </a:rPr>
              <a:t>În paralel,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celelalte rânduri de celule calculeaz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liniile r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mase </a:t>
            </a:r>
            <a:r>
              <a:rPr lang="ro-RO" dirty="0">
                <a:cs typeface="Times New Roman" pitchFamily="18" charset="0"/>
              </a:rPr>
              <a:t>ale </a:t>
            </a:r>
            <a:r>
              <a:rPr lang="ro-RO" dirty="0" smtClean="0">
                <a:cs typeface="Times New Roman" pitchFamily="18" charset="0"/>
              </a:rPr>
              <a:t>matricei </a:t>
            </a:r>
            <a:r>
              <a:rPr lang="ro-RO" b="1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Z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0AD6658-FED6-4185-A883-445EEF7A90CE}" type="slidenum">
              <a:rPr lang="ro-RO"/>
              <a:pPr/>
              <a:t>54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3016749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sistolice (11)</a:t>
            </a:r>
          </a:p>
        </p:txBody>
      </p:sp>
      <p:sp>
        <p:nvSpPr>
          <p:cNvPr id="26931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536627"/>
          </a:xfrm>
        </p:spPr>
        <p:txBody>
          <a:bodyPr/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Caracteristici </a:t>
            </a:r>
            <a:r>
              <a:rPr lang="ro-RO" dirty="0"/>
              <a:t>ale </a:t>
            </a:r>
            <a:r>
              <a:rPr lang="ro-RO" dirty="0" smtClean="0"/>
              <a:t>arhitecturilor sistolice</a:t>
            </a:r>
            <a:r>
              <a:rPr lang="ro-RO" dirty="0"/>
              <a:t>:</a:t>
            </a:r>
          </a:p>
          <a:p>
            <a:pPr lvl="1"/>
            <a:r>
              <a:rPr lang="ro-RO" dirty="0">
                <a:cs typeface="Times New Roman" pitchFamily="18" charset="0"/>
              </a:rPr>
              <a:t>Asigur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un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grad ridicat de paralelism </a:t>
            </a:r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Seturile de date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prelucrate </a:t>
            </a:r>
            <a:r>
              <a:rPr lang="ro-RO" dirty="0" smtClean="0">
                <a:cs typeface="Times New Roman" pitchFamily="18" charset="0"/>
              </a:rPr>
              <a:t>par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ial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circul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în mod sincron</a:t>
            </a:r>
            <a:r>
              <a:rPr lang="ro-RO" dirty="0">
                <a:cs typeface="Times New Roman" pitchFamily="18" charset="0"/>
              </a:rPr>
              <a:t> prin </a:t>
            </a:r>
            <a:r>
              <a:rPr lang="ro-RO" dirty="0" smtClean="0">
                <a:cs typeface="Times New Roman" pitchFamily="18" charset="0"/>
              </a:rPr>
              <a:t>arhitectura sistolic</a:t>
            </a:r>
            <a:r>
              <a:rPr lang="ro-RO" dirty="0" smtClean="0"/>
              <a:t>ă</a:t>
            </a:r>
            <a:r>
              <a:rPr lang="ro-RO" dirty="0">
                <a:cs typeface="Times New Roman" pitchFamily="18" charset="0"/>
              </a:rPr>
              <a:t>, eventual în mai multe </a:t>
            </a:r>
            <a:r>
              <a:rPr lang="ro-RO" dirty="0" smtClean="0">
                <a:cs typeface="Times New Roman" pitchFamily="18" charset="0"/>
              </a:rPr>
              <a:t>direc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ii</a:t>
            </a:r>
            <a:endParaRPr lang="ro-RO" dirty="0"/>
          </a:p>
          <a:p>
            <a:pPr lvl="1"/>
            <a:r>
              <a:rPr lang="ro-RO" dirty="0"/>
              <a:t>Se </a:t>
            </a:r>
            <a:r>
              <a:rPr lang="ro-RO" dirty="0">
                <a:cs typeface="Times New Roman" pitchFamily="18" charset="0"/>
              </a:rPr>
              <a:t>simplific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implementarea într‑o singur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capsul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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/>
              <a:t>celule </a:t>
            </a:r>
            <a:r>
              <a:rPr lang="ro-RO" dirty="0" smtClean="0"/>
              <a:t>și </a:t>
            </a:r>
            <a:r>
              <a:rPr lang="ro-RO" dirty="0"/>
              <a:t>interconexiuni uniforme</a:t>
            </a:r>
          </a:p>
          <a:p>
            <a:pPr lvl="1"/>
            <a:r>
              <a:rPr lang="ro-RO" dirty="0">
                <a:cs typeface="Times New Roman" pitchFamily="18" charset="0"/>
              </a:rPr>
              <a:t>Controlul </a:t>
            </a:r>
            <a:r>
              <a:rPr lang="ro-RO" dirty="0" smtClean="0">
                <a:cs typeface="Times New Roman" pitchFamily="18" charset="0"/>
              </a:rPr>
              <a:t>arhitecturii este </a:t>
            </a:r>
            <a:r>
              <a:rPr lang="ro-RO" dirty="0">
                <a:cs typeface="Times New Roman" pitchFamily="18" charset="0"/>
              </a:rPr>
              <a:t>simplu</a:t>
            </a:r>
            <a:r>
              <a:rPr lang="en-US" dirty="0"/>
              <a:t> </a:t>
            </a:r>
            <a:endParaRPr lang="ro-RO" dirty="0"/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atele trebuie furnizate în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secven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ț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corect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1D465B8-718E-41A4-BFC2-14FBCDEB361F}" type="slidenum">
              <a:rPr lang="ro-RO"/>
              <a:pPr/>
              <a:t>55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5476564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sistolice (12)</a:t>
            </a:r>
          </a:p>
        </p:txBody>
      </p:sp>
      <p:sp>
        <p:nvSpPr>
          <p:cNvPr id="27033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351961"/>
          </a:xfrm>
        </p:spPr>
        <p:txBody>
          <a:bodyPr/>
          <a:lstStyle/>
          <a:p>
            <a:pPr lvl="1"/>
            <a:r>
              <a:rPr lang="ro-RO" dirty="0">
                <a:cs typeface="Times New Roman" pitchFamily="18" charset="0"/>
              </a:rPr>
              <a:t>Dac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matricele </a:t>
            </a:r>
            <a:r>
              <a:rPr lang="ro-RO" b="1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b="1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sunt generate în timp real,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nu este necesar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memorarea lor </a:t>
            </a:r>
            <a:r>
              <a:rPr lang="ro-RO" dirty="0">
                <a:cs typeface="Times New Roman" pitchFamily="18" charset="0"/>
              </a:rPr>
              <a:t>înainte de a calcula </a:t>
            </a:r>
            <a:r>
              <a:rPr lang="ro-RO" b="1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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b="1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</a:p>
          <a:p>
            <a:pPr lvl="1"/>
            <a:r>
              <a:rPr lang="ro-RO" dirty="0">
                <a:cs typeface="Times New Roman" pitchFamily="18" charset="0"/>
              </a:rPr>
              <a:t>Necesarul de circuite pentru implementare este relativ ridicat</a:t>
            </a:r>
            <a:r>
              <a:rPr lang="ro-RO" dirty="0"/>
              <a:t> 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plica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ț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ii</a:t>
            </a:r>
            <a:r>
              <a:rPr lang="ro-RO" dirty="0"/>
              <a:t>:</a:t>
            </a:r>
          </a:p>
          <a:p>
            <a:pPr lvl="1"/>
            <a:r>
              <a:rPr lang="ro-RO" dirty="0"/>
              <a:t>P</a:t>
            </a:r>
            <a:r>
              <a:rPr lang="ro-RO" dirty="0">
                <a:cs typeface="Times New Roman" pitchFamily="18" charset="0"/>
              </a:rPr>
              <a:t>roiectarea circuitelor aritmetice speciale pentru prelucrarea digital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a semnalelor</a:t>
            </a:r>
            <a:r>
              <a:rPr lang="ro-RO" dirty="0"/>
              <a:t>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</a:t>
            </a:r>
            <a:r>
              <a:rPr lang="ro-RO" dirty="0"/>
              <a:t> </a:t>
            </a:r>
            <a:r>
              <a:rPr lang="ro-RO" dirty="0">
                <a:cs typeface="Times New Roman" pitchFamily="18" charset="0"/>
              </a:rPr>
              <a:t>prelucra</a:t>
            </a:r>
            <a:r>
              <a:rPr lang="ro-RO" dirty="0"/>
              <a:t>r</a:t>
            </a:r>
            <a:r>
              <a:rPr lang="ro-RO" dirty="0">
                <a:cs typeface="Times New Roman" pitchFamily="18" charset="0"/>
              </a:rPr>
              <a:t>e în timp real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D3912F-8971-4908-AAD0-9D0229FE1EB8}" type="slidenum">
              <a:rPr lang="ro-RO"/>
              <a:pPr/>
              <a:t>56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039782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Rezumat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07470"/>
          </a:xfrm>
        </p:spPr>
        <p:txBody>
          <a:bodyPr/>
          <a:lstStyle/>
          <a:p>
            <a:r>
              <a:rPr lang="ro-RO" sz="3300" dirty="0" smtClean="0"/>
              <a:t>Există două tipuri de paralelism care se pot utiliza: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paralelism funcțional </a:t>
            </a:r>
            <a:r>
              <a:rPr lang="ro-RO" sz="3300" dirty="0" smtClean="0"/>
              <a:t>și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paralelism de date </a:t>
            </a:r>
          </a:p>
          <a:p>
            <a:r>
              <a:rPr lang="ro-RO" sz="3300" dirty="0" smtClean="0"/>
              <a:t>Paralelismul funcțional se poate utiliza la diferite nivele de granularitate: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instrucțiuni</a:t>
            </a:r>
            <a:r>
              <a:rPr lang="ro-RO" sz="3300" dirty="0" smtClean="0"/>
              <a:t>,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fire de execuție</a:t>
            </a:r>
            <a:r>
              <a:rPr lang="ro-RO" sz="3300" dirty="0" smtClean="0"/>
              <a:t>,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procese </a:t>
            </a:r>
            <a:r>
              <a:rPr lang="ro-RO" sz="3300" dirty="0" smtClean="0"/>
              <a:t>și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utilizatori</a:t>
            </a:r>
          </a:p>
          <a:p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Taxonomia </a:t>
            </a:r>
            <a:r>
              <a:rPr lang="ro-RO" sz="3300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Flynn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sz="3300" dirty="0" smtClean="0"/>
              <a:t>clasifică arhitecturile de calculatoare în funcție de numărul șirurilor de instrucțiuni și de date</a:t>
            </a:r>
          </a:p>
          <a:p>
            <a:pPr lvl="1"/>
            <a:r>
              <a:rPr lang="ro-RO" sz="2900" dirty="0" smtClean="0"/>
              <a:t>Nu ține cont de tipul de paralelism utilizat</a:t>
            </a:r>
            <a:endParaRPr lang="ro-RO" sz="29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57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83230187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Rezumat 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785926"/>
          </a:xfrm>
        </p:spPr>
        <p:txBody>
          <a:bodyPr/>
          <a:lstStyle/>
          <a:p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Taxonomia extinsă </a:t>
            </a:r>
            <a:r>
              <a:rPr lang="ro-RO" sz="3300" dirty="0" smtClean="0"/>
              <a:t>realizează distincția între arhitecturi cu paralelism funcțional și cele cu paralelism de date</a:t>
            </a:r>
          </a:p>
          <a:p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Arhitecturile vectoriale </a:t>
            </a:r>
            <a:r>
              <a:rPr lang="ro-RO" sz="3300" dirty="0" smtClean="0"/>
              <a:t>sunt optimizate pentru execuția operațiilor cu vectori sau tablouri</a:t>
            </a:r>
          </a:p>
          <a:p>
            <a:pPr lvl="1"/>
            <a:r>
              <a:rPr lang="ro-RO" sz="2900" dirty="0" smtClean="0"/>
              <a:t>Operațiile asupra vectorilor se execută serial</a:t>
            </a:r>
          </a:p>
          <a:p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Arhitecturile SIMD </a:t>
            </a:r>
            <a:r>
              <a:rPr lang="ro-RO" sz="3300" dirty="0" smtClean="0"/>
              <a:t>conțin EP multiple care sunt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sincronizate la nivel de instrucțiune</a:t>
            </a:r>
          </a:p>
          <a:p>
            <a:pPr lvl="1"/>
            <a:r>
              <a:rPr lang="ro-RO" sz="2900" dirty="0" smtClean="0"/>
              <a:t>Organizarea datelor în memorie influențează semnificativ performanța</a:t>
            </a:r>
            <a:endParaRPr lang="ro-RO" sz="29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58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57785344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Rezumat (3)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943475"/>
          </a:xfrm>
        </p:spPr>
        <p:txBody>
          <a:bodyPr/>
          <a:lstStyle/>
          <a:p>
            <a:pPr lvl="1"/>
            <a:r>
              <a:rPr lang="ro-RO" sz="2900" dirty="0" smtClean="0"/>
              <a:t>Elementele unor vectori sau tablouri sunt prelucrate simultan</a:t>
            </a:r>
          </a:p>
          <a:p>
            <a:pPr lvl="1"/>
            <a:r>
              <a:rPr lang="ro-RO" sz="2900" dirty="0" smtClean="0"/>
              <a:t>Procesoarele actuale conțin instrucțiuni SIMD</a:t>
            </a:r>
          </a:p>
          <a:p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Arhitecturile sistolice </a:t>
            </a:r>
            <a:r>
              <a:rPr lang="ro-RO" sz="3300" dirty="0" smtClean="0"/>
              <a:t>sunt avantajoase pentru prelucrarea digitală a semnalelor</a:t>
            </a:r>
          </a:p>
          <a:p>
            <a:pPr lvl="1">
              <a:spcBef>
                <a:spcPts val="600"/>
              </a:spcBef>
            </a:pPr>
            <a:r>
              <a:rPr lang="ro-RO" sz="2900" dirty="0" smtClean="0"/>
              <a:t>Conțin un număr mare de celule de prelucrare interconectate într-un mod simplu</a:t>
            </a:r>
          </a:p>
          <a:p>
            <a:pPr lvl="1">
              <a:spcBef>
                <a:spcPts val="600"/>
              </a:spcBef>
            </a:pPr>
            <a:r>
              <a:rPr lang="ro-RO" sz="2900" dirty="0" smtClean="0"/>
              <a:t>Datele prelucrate parțial circulă între celule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în mod sincron</a:t>
            </a:r>
            <a:r>
              <a:rPr lang="ro-RO" sz="2900" dirty="0" smtClean="0"/>
              <a:t>, în mai multe direcții</a:t>
            </a:r>
          </a:p>
          <a:p>
            <a:pPr lvl="1">
              <a:spcBef>
                <a:spcPts val="600"/>
              </a:spcBef>
            </a:pPr>
            <a:r>
              <a:rPr lang="ro-RO" sz="2900" dirty="0" smtClean="0"/>
              <a:t>Rezultatele finale apar la marginile matricei de celule</a:t>
            </a:r>
            <a:endParaRPr lang="ro-RO" sz="29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59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75571678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Noțiuni, cunoștințe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678204"/>
          </a:xfrm>
        </p:spPr>
        <p:txBody>
          <a:bodyPr/>
          <a:lstStyle/>
          <a:p>
            <a:pPr marL="576000" lvl="1"/>
            <a:r>
              <a:rPr lang="ro-RO" dirty="0" smtClean="0"/>
              <a:t>Paralelismul funcțional și paralelismul de date</a:t>
            </a:r>
          </a:p>
          <a:p>
            <a:pPr marL="576000" lvl="1"/>
            <a:r>
              <a:rPr lang="ro-RO" dirty="0" smtClean="0"/>
              <a:t>Nivele de granularitate ale paralelismului funcțional</a:t>
            </a:r>
          </a:p>
          <a:p>
            <a:pPr marL="576000" lvl="1"/>
            <a:r>
              <a:rPr lang="ro-RO" dirty="0" smtClean="0"/>
              <a:t>Taxonomia </a:t>
            </a:r>
            <a:r>
              <a:rPr lang="ro-RO" dirty="0" err="1" smtClean="0"/>
              <a:t>Flynn</a:t>
            </a:r>
            <a:endParaRPr lang="ro-RO" dirty="0" smtClean="0"/>
          </a:p>
          <a:p>
            <a:pPr marL="576000" lvl="1"/>
            <a:r>
              <a:rPr lang="ro-RO" dirty="0" smtClean="0"/>
              <a:t>Taxonomie extinsă</a:t>
            </a:r>
          </a:p>
          <a:p>
            <a:pPr marL="576000" lvl="1"/>
            <a:r>
              <a:rPr lang="ro-RO" dirty="0" smtClean="0"/>
              <a:t>Principiul arhitecturilor vectoriale</a:t>
            </a:r>
          </a:p>
          <a:p>
            <a:pPr marL="576000" lvl="1"/>
            <a:r>
              <a:rPr lang="ro-RO" dirty="0" smtClean="0"/>
              <a:t>Schema bloc a unei arhitecturi vectoriale</a:t>
            </a:r>
          </a:p>
          <a:p>
            <a:pPr marL="576000" lvl="1"/>
            <a:r>
              <a:rPr lang="ro-RO" dirty="0"/>
              <a:t>Componentele unei arhitecturi </a:t>
            </a:r>
            <a:r>
              <a:rPr lang="ro-RO" dirty="0" smtClean="0"/>
              <a:t>vectoriale</a:t>
            </a:r>
          </a:p>
          <a:p>
            <a:pPr marL="576000" lvl="1"/>
            <a:r>
              <a:rPr lang="ro-RO" dirty="0"/>
              <a:t>Caracteristici ale </a:t>
            </a:r>
            <a:r>
              <a:rPr lang="ro-RO" dirty="0" smtClean="0"/>
              <a:t>arhitecturilor </a:t>
            </a:r>
            <a:r>
              <a:rPr lang="ro-RO" dirty="0"/>
              <a:t>vectoriale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60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29738423"/>
      </p:ext>
    </p:extLst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Noțiuni, cunoștințe </a:t>
            </a:r>
            <a:r>
              <a:rPr lang="ro-RO" dirty="0" smtClean="0"/>
              <a:t>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136517"/>
          </a:xfrm>
        </p:spPr>
        <p:txBody>
          <a:bodyPr/>
          <a:lstStyle/>
          <a:p>
            <a:pPr marL="576000" lvl="1"/>
            <a:r>
              <a:rPr lang="ro-RO" dirty="0" smtClean="0"/>
              <a:t>Principiul arhitecturilor SIMD</a:t>
            </a:r>
          </a:p>
          <a:p>
            <a:pPr marL="576000" lvl="1"/>
            <a:r>
              <a:rPr lang="ro-RO" dirty="0" smtClean="0"/>
              <a:t>Schema bloc a unei arhitecturi SIMD</a:t>
            </a:r>
          </a:p>
          <a:p>
            <a:pPr marL="576000" lvl="1"/>
            <a:r>
              <a:rPr lang="ro-RO" dirty="0" smtClean="0"/>
              <a:t>Componentele unei arhitecturi SIMD</a:t>
            </a:r>
          </a:p>
          <a:p>
            <a:pPr marL="576000" lvl="1"/>
            <a:r>
              <a:rPr lang="ro-RO" dirty="0" smtClean="0"/>
              <a:t>Exemple de seturi de instrucțiuni SIMD</a:t>
            </a:r>
          </a:p>
          <a:p>
            <a:pPr marL="576000" lvl="1"/>
            <a:r>
              <a:rPr lang="ro-RO" dirty="0" smtClean="0"/>
              <a:t>Principiul arhitecturilor sistolice</a:t>
            </a:r>
          </a:p>
          <a:p>
            <a:pPr marL="576000" lvl="1"/>
            <a:r>
              <a:rPr lang="ro-RO" dirty="0" smtClean="0"/>
              <a:t>Exemplu de arhitectură sistolică pentru înmulțirea a două matrice</a:t>
            </a:r>
          </a:p>
          <a:p>
            <a:pPr marL="576000" lvl="1"/>
            <a:r>
              <a:rPr lang="ro-RO" dirty="0" smtClean="0"/>
              <a:t>Caracteristici ale arhitecturilor sistolice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4AD95-6045-4C6E-B1A0-62AABA8621DF}" type="slidenum">
              <a:rPr lang="ro-RO" smtClean="0"/>
              <a:pPr/>
              <a:t>61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81356545"/>
      </p:ext>
    </p:extLst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Întrebări</a:t>
            </a:r>
            <a:endParaRPr lang="en-US" dirty="0"/>
          </a:p>
        </p:txBody>
      </p:sp>
      <p:sp>
        <p:nvSpPr>
          <p:cNvPr id="238595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412776"/>
            <a:ext cx="8352928" cy="4683224"/>
          </a:xfrm>
        </p:spPr>
        <p:txBody>
          <a:bodyPr>
            <a:normAutofit/>
          </a:bodyPr>
          <a:lstStyle/>
          <a:p>
            <a:pPr marL="533400" indent="-533400">
              <a:buClr>
                <a:schemeClr val="tx2"/>
              </a:buClr>
              <a:buFontTx/>
              <a:buAutoNum type="arabicPeriod"/>
            </a:pPr>
            <a:endParaRPr lang="ro-RO" dirty="0" smtClean="0"/>
          </a:p>
          <a:p>
            <a:pPr marL="533400" indent="-533400"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 smtClean="0"/>
              <a:t>Care sunt avantajele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taxonomiei extinse </a:t>
            </a:r>
            <a:r>
              <a:rPr lang="ro-RO" dirty="0" smtClean="0"/>
              <a:t>prezentate?</a:t>
            </a:r>
          </a:p>
          <a:p>
            <a:pPr marL="533400" indent="-533400"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 smtClean="0"/>
              <a:t>Care este deosebirea dintre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arhitecturile vectoriale</a:t>
            </a:r>
            <a:r>
              <a:rPr lang="ro-RO" dirty="0" smtClean="0"/>
              <a:t> și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arhitecturile SIMD </a:t>
            </a:r>
            <a:r>
              <a:rPr lang="ro-RO" dirty="0" smtClean="0"/>
              <a:t>la execuția operațiilor vectoriale?</a:t>
            </a:r>
          </a:p>
          <a:p>
            <a:pPr marL="533400" indent="-533400"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 smtClean="0"/>
              <a:t>Care sunt principalele caracteristici ale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arhitecturilor sistolice</a:t>
            </a:r>
            <a:r>
              <a:rPr lang="ro-RO" dirty="0" smtClean="0"/>
              <a:t>?</a:t>
            </a:r>
          </a:p>
          <a:p>
            <a:pPr marL="533400" indent="-533400">
              <a:buFontTx/>
              <a:buAutoNum type="arabicPeriod"/>
            </a:pP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21.05.2018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7074DA6-1B4B-44F3-9323-C5494197F20F}" type="slidenum">
              <a:rPr lang="ro-RO"/>
              <a:pPr/>
              <a:t>62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(05-1)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ark Blue Swoosh-modified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Dark Blue Swoosh-modif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Blue Swoosh-modified</Template>
  <TotalTime>4030</TotalTime>
  <Words>3221</Words>
  <Application>Microsoft Office PowerPoint</Application>
  <PresentationFormat>On-screen Show (4:3)</PresentationFormat>
  <Paragraphs>615</Paragraphs>
  <Slides>62</Slides>
  <Notes>62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1" baseType="lpstr">
      <vt:lpstr>Arial</vt:lpstr>
      <vt:lpstr>Calibri</vt:lpstr>
      <vt:lpstr>Courier New</vt:lpstr>
      <vt:lpstr>Symbol</vt:lpstr>
      <vt:lpstr>Times New Roman</vt:lpstr>
      <vt:lpstr>Wingdings</vt:lpstr>
      <vt:lpstr>Dark Blue Swoosh-modified</vt:lpstr>
      <vt:lpstr>Dark Blue Swoosh-modif</vt:lpstr>
      <vt:lpstr>Equation</vt:lpstr>
      <vt:lpstr>Cuprins</vt:lpstr>
      <vt:lpstr>5. Introducere în arhitecturi paralele</vt:lpstr>
      <vt:lpstr>Tipuri și nivele de paralelism (1)</vt:lpstr>
      <vt:lpstr>Tipuri și nivele de paralelism (2)</vt:lpstr>
      <vt:lpstr>Tipuri și nivele de paralelism (3)</vt:lpstr>
      <vt:lpstr>Tipuri și nivele de paralelism (4)</vt:lpstr>
      <vt:lpstr>5. Introducere în arhitecturi paralele</vt:lpstr>
      <vt:lpstr>Clasificarea arhitecturilor paralele</vt:lpstr>
      <vt:lpstr>Taxonomia Flynn (1)</vt:lpstr>
      <vt:lpstr>Taxonomia Flynn (2)</vt:lpstr>
      <vt:lpstr>Taxonomia Flynn (3)</vt:lpstr>
      <vt:lpstr>Taxonomia Flynn (4)</vt:lpstr>
      <vt:lpstr>Taxonomia Flynn (5)</vt:lpstr>
      <vt:lpstr>Taxonomia Flynn (6)</vt:lpstr>
      <vt:lpstr>Taxonomia Flynn (7)</vt:lpstr>
      <vt:lpstr>Taxonomia Flynn (8)</vt:lpstr>
      <vt:lpstr>Clasificarea arhitecturilor paralele</vt:lpstr>
      <vt:lpstr>Taxonomie extinsă (1)</vt:lpstr>
      <vt:lpstr>Taxonomie extinsă (2)</vt:lpstr>
      <vt:lpstr>Taxonomie extinsă (3)</vt:lpstr>
      <vt:lpstr>5. Introducere în arhitecturi paralele</vt:lpstr>
      <vt:lpstr>Arhitecturi vectoriale (1)</vt:lpstr>
      <vt:lpstr>Arhitecturi vectoriale (2)</vt:lpstr>
      <vt:lpstr>Arhitecturi vectoriale (3)</vt:lpstr>
      <vt:lpstr>Arhitecturi vectoriale (4)</vt:lpstr>
      <vt:lpstr>Arhitecturi vectoriale (5)</vt:lpstr>
      <vt:lpstr>Arhitecturi vectoriale (6)</vt:lpstr>
      <vt:lpstr>Arhitecturi vectoriale (7)</vt:lpstr>
      <vt:lpstr>Arhitecturi vectoriale (8)</vt:lpstr>
      <vt:lpstr>Arhitecturi vectoriale (9)</vt:lpstr>
      <vt:lpstr>Arhitecturi vectoriale (10)</vt:lpstr>
      <vt:lpstr>5. Introducere în arhitecturi paralele</vt:lpstr>
      <vt:lpstr>Arhitecturi SIMD (1)</vt:lpstr>
      <vt:lpstr>Arhitecturi SIMD (2)</vt:lpstr>
      <vt:lpstr>Arhitecturi SIMD (3)</vt:lpstr>
      <vt:lpstr>Arhitecturi SIMD (4)</vt:lpstr>
      <vt:lpstr>Arhitecturi SIMD (5)</vt:lpstr>
      <vt:lpstr>Arhitecturi SIMD (6)</vt:lpstr>
      <vt:lpstr>Arhitecturi SIMD (7)</vt:lpstr>
      <vt:lpstr>Arhitecturi SIMD (8)</vt:lpstr>
      <vt:lpstr>Arhitecturi SIMD (9)</vt:lpstr>
      <vt:lpstr>Arhitecturi SIMD (10)</vt:lpstr>
      <vt:lpstr>Arhitecturi SIMD (11)</vt:lpstr>
      <vt:lpstr>5. Introducere în arhitecturi paralele</vt:lpstr>
      <vt:lpstr>Arhitecturi sistolice (1)</vt:lpstr>
      <vt:lpstr>Arhitecturi sistolice (2)</vt:lpstr>
      <vt:lpstr>Arhitecturi sistolice (3)</vt:lpstr>
      <vt:lpstr>Arhitecturi sistolice (4)</vt:lpstr>
      <vt:lpstr>Arhitecturi sistolice (5)</vt:lpstr>
      <vt:lpstr>Arhitecturi sistolice (6)</vt:lpstr>
      <vt:lpstr>Arhitecturi sistolice (7)</vt:lpstr>
      <vt:lpstr>Arhitecturi sistolice (8)</vt:lpstr>
      <vt:lpstr>Arhitecturi sistolice (9)</vt:lpstr>
      <vt:lpstr>Arhitecturi sistolice (10)</vt:lpstr>
      <vt:lpstr>Arhitecturi sistolice (11)</vt:lpstr>
      <vt:lpstr>Arhitecturi sistolice (12)</vt:lpstr>
      <vt:lpstr>Rezumat (1)</vt:lpstr>
      <vt:lpstr>Rezumat (2)</vt:lpstr>
      <vt:lpstr>Rezumat (3)</vt:lpstr>
      <vt:lpstr>Noțiuni, cunoștințe (1)</vt:lpstr>
      <vt:lpstr>Noțiuni, cunoștințe (2)</vt:lpstr>
      <vt:lpstr>Întrebări</vt:lpstr>
    </vt:vector>
  </TitlesOfParts>
  <Company>Technical University of Cluj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SSC-Arh-Paralele-1</dc:title>
  <dc:creator>Baruch Zoltan</dc:creator>
  <cp:lastModifiedBy>Baruch Zoltan</cp:lastModifiedBy>
  <cp:revision>282</cp:revision>
  <cp:lastPrinted>1601-01-01T00:00:00Z</cp:lastPrinted>
  <dcterms:created xsi:type="dcterms:W3CDTF">2002-05-22T18:25:20Z</dcterms:created>
  <dcterms:modified xsi:type="dcterms:W3CDTF">2018-05-12T14:55:30Z</dcterms:modified>
</cp:coreProperties>
</file>