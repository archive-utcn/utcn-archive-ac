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  <p:sldMasterId id="2147483691" r:id="rId2"/>
  </p:sldMasterIdLst>
  <p:notesMasterIdLst>
    <p:notesMasterId r:id="rId26"/>
  </p:notesMasterIdLst>
  <p:handoutMasterIdLst>
    <p:handoutMasterId r:id="rId27"/>
  </p:handoutMasterIdLst>
  <p:sldIdLst>
    <p:sldId id="269" r:id="rId3"/>
    <p:sldId id="270" r:id="rId4"/>
    <p:sldId id="294" r:id="rId5"/>
    <p:sldId id="295" r:id="rId6"/>
    <p:sldId id="296" r:id="rId7"/>
    <p:sldId id="297" r:id="rId8"/>
    <p:sldId id="271" r:id="rId9"/>
    <p:sldId id="298" r:id="rId10"/>
    <p:sldId id="299" r:id="rId11"/>
    <p:sldId id="300" r:id="rId12"/>
    <p:sldId id="288" r:id="rId13"/>
    <p:sldId id="289" r:id="rId14"/>
    <p:sldId id="311" r:id="rId15"/>
    <p:sldId id="302" r:id="rId16"/>
    <p:sldId id="303" r:id="rId17"/>
    <p:sldId id="304" r:id="rId18"/>
    <p:sldId id="305" r:id="rId19"/>
    <p:sldId id="309" r:id="rId20"/>
    <p:sldId id="307" r:id="rId21"/>
    <p:sldId id="310" r:id="rId22"/>
    <p:sldId id="313" r:id="rId23"/>
    <p:sldId id="314" r:id="rId24"/>
    <p:sldId id="315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2060"/>
    <a:srgbClr val="7CC6D8"/>
    <a:srgbClr val="E8E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054" autoAdjust="0"/>
  </p:normalViewPr>
  <p:slideViewPr>
    <p:cSldViewPr>
      <p:cViewPr varScale="1">
        <p:scale>
          <a:sx n="143" d="100"/>
          <a:sy n="143" d="100"/>
        </p:scale>
        <p:origin x="3336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E29AB96-57A3-4A9B-B93F-C269BB10FF5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17578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807E3B3A-60FC-4F48-B07B-54995EEE6502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6732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13690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96611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96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4535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25535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4666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6390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97928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3440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8544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11682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90038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3155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6420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35525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66382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6513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43191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37755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981139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973581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7733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E3B3A-60FC-4F48-B07B-54995EEE6502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1055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635FCF64-609F-4640-A5C5-56DF07F2B1B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52429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17DF4A8D-C7C4-4094-8F42-D0409E1070F5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CF2A97-FCA3-4DBD-B8DA-BE55B1157B1A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062437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062437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EDD697-F38F-40BA-A877-3FDB9C47DD0C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ED4CBD-CE79-41C0-8F45-D5E84D7B61DE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3C5253-DC81-4888-B2D0-2A9C4B418201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5FCF64-609F-4640-A5C5-56DF07F2B1BB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(02-2)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5FCF64-609F-4640-A5C5-56DF07F2B1BB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87363"/>
            <a:ext cx="8352928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4100264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524000"/>
            <a:ext cx="4100264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13488"/>
            <a:ext cx="1728539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dirty="0"/>
              <a:t>Structura sistemelor de calcul (02-2)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296739" cy="457200"/>
          </a:xfrm>
        </p:spPr>
        <p:txBody>
          <a:bodyPr/>
          <a:lstStyle>
            <a:lvl1pPr>
              <a:defRPr/>
            </a:lvl1pPr>
          </a:lstStyle>
          <a:p>
            <a:fld id="{D2F5ED72-531B-410B-87BC-D9A50AB7C02D}" type="slidenum">
              <a:rPr lang="ro-RO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52429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4753752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4753752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3990430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3990430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87363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(02-2)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(02-2)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35FCF64-609F-4640-A5C5-56DF07F2B1BB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9" r:id="rId11"/>
    <p:sldLayoutId id="2147483690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6000">
                <a:schemeClr val="accent3">
                  <a:lumMod val="60000"/>
                  <a:lumOff val="40000"/>
                </a:schemeClr>
              </a:gs>
              <a:gs pos="86000">
                <a:schemeClr val="accent3">
                  <a:lumMod val="75000"/>
                </a:schemeClr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(02-2)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2. Unitatea aritmetică </a:t>
            </a:r>
            <a:r>
              <a:rPr lang="ro-RO" dirty="0" smtClean="0"/>
              <a:t>și </a:t>
            </a:r>
            <a:r>
              <a:rPr lang="ro-RO" dirty="0"/>
              <a:t>logică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pPr>
              <a:buFontTx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buFontTx/>
              <a:buNone/>
            </a:pPr>
            <a:endParaRPr lang="ro-RO" dirty="0">
              <a:solidFill>
                <a:schemeClr val="tx2"/>
              </a:solidFill>
            </a:endParaRPr>
          </a:p>
          <a:p>
            <a:r>
              <a:rPr lang="ro-RO" dirty="0"/>
              <a:t>Adunarea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r>
              <a:rPr lang="ro-RO" dirty="0" smtClean="0"/>
              <a:t>Împărțirea</a:t>
            </a:r>
            <a:endParaRPr lang="ro-RO" dirty="0"/>
          </a:p>
          <a:p>
            <a:r>
              <a:rPr lang="ro-RO" dirty="0"/>
              <a:t>Numere </a:t>
            </a:r>
            <a:r>
              <a:rPr lang="ro-RO" dirty="0" smtClean="0"/>
              <a:t>și operații </a:t>
            </a:r>
            <a:r>
              <a:rPr lang="ro-RO" dirty="0"/>
              <a:t>în virgulă mobilă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893C03-26E0-4AAE-A18A-D53BFE026305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ro-RO" dirty="0"/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en-US" dirty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prin deplasare </a:t>
            </a:r>
            <a:r>
              <a:rPr lang="ro-RO" dirty="0" smtClean="0"/>
              <a:t>și </a:t>
            </a:r>
            <a:r>
              <a:rPr lang="ro-RO" dirty="0"/>
              <a:t>adunare</a:t>
            </a:r>
          </a:p>
          <a:p>
            <a:pPr lvl="1"/>
            <a:r>
              <a:rPr lang="ro-RO" dirty="0"/>
              <a:t>Tehnica </a:t>
            </a:r>
            <a:r>
              <a:rPr lang="ro-RO" dirty="0" err="1"/>
              <a:t>Booth</a:t>
            </a:r>
            <a:endParaRPr lang="ro-RO" dirty="0"/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</a:p>
          <a:p>
            <a:pPr lvl="1"/>
            <a:r>
              <a:rPr lang="ro-RO" dirty="0" smtClean="0"/>
              <a:t>Înmulțirea matriceală</a:t>
            </a:r>
            <a:endParaRPr lang="ro-RO" dirty="0"/>
          </a:p>
          <a:p>
            <a:pPr lvl="1"/>
            <a:r>
              <a:rPr lang="ro-RO" dirty="0"/>
              <a:t>Arborele </a:t>
            </a:r>
            <a:r>
              <a:rPr lang="ro-RO" dirty="0" smtClean="0"/>
              <a:t>Wallace</a:t>
            </a:r>
          </a:p>
          <a:p>
            <a:pPr lvl="1"/>
            <a:r>
              <a:rPr lang="ro-RO" dirty="0" smtClean="0"/>
              <a:t>Circuite de înmulțire </a:t>
            </a:r>
            <a:r>
              <a:rPr lang="ro-RO" i="1" dirty="0" err="1" smtClean="0"/>
              <a:t>pipeline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98DA2-D5D7-4071-ACC7-6D0DE22B9073}" type="slidenum">
              <a:rPr lang="ro-RO"/>
              <a:pPr/>
              <a:t>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en-US" dirty="0"/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dirty="0" smtClean="0">
                <a:cs typeface="Times New Roman" pitchFamily="18" charset="0"/>
              </a:rPr>
              <a:t>Înmulțirea </a:t>
            </a:r>
            <a:r>
              <a:rPr lang="ro-RO" dirty="0">
                <a:cs typeface="Times New Roman" pitchFamily="18" charset="0"/>
              </a:rPr>
              <a:t>numerelor binare: similar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cu cea a numerelor zecimale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Primul operand: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deînmulțit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Al doilea operand: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înmulțitor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Rezultatul: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produs</a:t>
            </a:r>
          </a:p>
          <a:p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ignor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biții </a:t>
            </a:r>
            <a:r>
              <a:rPr lang="ro-RO" dirty="0">
                <a:cs typeface="Times New Roman" pitchFamily="18" charset="0"/>
              </a:rPr>
              <a:t>de semn, prin </a:t>
            </a:r>
            <a:r>
              <a:rPr lang="ro-RO" dirty="0" smtClean="0">
                <a:cs typeface="Times New Roman" pitchFamily="18" charset="0"/>
              </a:rPr>
              <a:t>înmulțirea </a:t>
            </a:r>
            <a:r>
              <a:rPr lang="ro-RO" dirty="0">
                <a:cs typeface="Times New Roman" pitchFamily="18" charset="0"/>
              </a:rPr>
              <a:t>a doi operanzi de câte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>
                <a:cs typeface="Times New Roman" pitchFamily="18" charset="0"/>
              </a:rPr>
              <a:t>se </a:t>
            </a:r>
            <a:r>
              <a:rPr lang="ro-RO" dirty="0" smtClean="0">
                <a:cs typeface="Times New Roman" pitchFamily="18" charset="0"/>
              </a:rPr>
              <a:t>obține </a:t>
            </a:r>
            <a:r>
              <a:rPr lang="ro-RO" dirty="0">
                <a:cs typeface="Times New Roman" pitchFamily="18" charset="0"/>
              </a:rPr>
              <a:t>un produs de 2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en-US" dirty="0" smtClean="0">
                <a:cs typeface="Times New Roman" pitchFamily="18" charset="0"/>
              </a:rPr>
              <a:t> </a:t>
            </a:r>
            <a:endParaRPr lang="en-US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3B94B5-7953-4B60-8506-2DC9B316ED13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en-US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en-US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 prin deplasare și adunare</a:t>
            </a:r>
          </a:p>
          <a:p>
            <a:pPr lvl="1"/>
            <a:r>
              <a:rPr lang="ro-RO" dirty="0"/>
              <a:t>Tehnica </a:t>
            </a:r>
            <a:r>
              <a:rPr lang="ro-RO" dirty="0" err="1"/>
              <a:t>Booth</a:t>
            </a:r>
            <a:endParaRPr lang="ro-RO" dirty="0"/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</a:p>
          <a:p>
            <a:pPr lvl="1"/>
            <a:r>
              <a:rPr lang="ro-RO" dirty="0" smtClean="0"/>
              <a:t>Înmulțirea matriceală</a:t>
            </a:r>
            <a:endParaRPr lang="ro-RO" dirty="0"/>
          </a:p>
          <a:p>
            <a:pPr lvl="1"/>
            <a:r>
              <a:rPr lang="ro-RO" dirty="0"/>
              <a:t>Arborele </a:t>
            </a:r>
            <a:r>
              <a:rPr lang="ro-RO" dirty="0" smtClean="0"/>
              <a:t>Wallace</a:t>
            </a:r>
          </a:p>
          <a:p>
            <a:pPr lvl="1"/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 smtClean="0"/>
              <a:t>pipeline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DD1943-41BD-4673-865F-C19B461A4798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(1)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062651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deînmulțitul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cu el </a:t>
            </a:r>
            <a:r>
              <a:rPr lang="ro-RO" dirty="0" smtClean="0">
                <a:cs typeface="Times New Roman" pitchFamily="18" charset="0"/>
              </a:rPr>
              <a:t>însuși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ori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Algoritmul</a:t>
            </a:r>
            <a:r>
              <a:rPr lang="ro-RO" dirty="0">
                <a:cs typeface="Times New Roman" pitchFamily="18" charset="0"/>
              </a:rPr>
              <a:t>:</a:t>
            </a:r>
          </a:p>
          <a:p>
            <a:pPr lvl="1"/>
            <a:r>
              <a:rPr lang="ro-RO" dirty="0">
                <a:cs typeface="Times New Roman" pitchFamily="18" charset="0"/>
              </a:rPr>
              <a:t>Se </a:t>
            </a:r>
            <a:r>
              <a:rPr lang="ro-RO" dirty="0" smtClean="0">
                <a:cs typeface="Times New Roman" pitchFamily="18" charset="0"/>
              </a:rPr>
              <a:t>selectează cifrele </a:t>
            </a:r>
            <a:r>
              <a:rPr lang="ro-RO" dirty="0" smtClean="0">
                <a:cs typeface="Times New Roman" pitchFamily="18" charset="0"/>
              </a:rPr>
              <a:t>înmulțitorului </a:t>
            </a:r>
            <a:r>
              <a:rPr lang="ro-RO" dirty="0">
                <a:cs typeface="Times New Roman" pitchFamily="18" charset="0"/>
              </a:rPr>
              <a:t>una câte una de la dreapta la stânga </a:t>
            </a:r>
          </a:p>
          <a:p>
            <a:pPr lvl="1"/>
            <a:r>
              <a:rPr lang="ro-RO" dirty="0">
                <a:cs typeface="Times New Roman" pitchFamily="18" charset="0"/>
              </a:rPr>
              <a:t>Se </a:t>
            </a:r>
            <a:r>
              <a:rPr lang="ro-RO" dirty="0" smtClean="0">
                <a:cs typeface="Times New Roman" pitchFamily="18" charset="0"/>
              </a:rPr>
              <a:t>înmulțește deînmulțitul </a:t>
            </a:r>
            <a:r>
              <a:rPr lang="ro-RO" dirty="0">
                <a:cs typeface="Times New Roman" pitchFamily="18" charset="0"/>
              </a:rPr>
              <a:t>cu </a:t>
            </a:r>
            <a:r>
              <a:rPr lang="ro-RO" dirty="0" smtClean="0">
                <a:cs typeface="Times New Roman" pitchFamily="18" charset="0"/>
              </a:rPr>
              <a:t>cifr</a:t>
            </a:r>
            <a:r>
              <a:rPr lang="ro-RO" dirty="0" smtClean="0"/>
              <a:t>a selectată </a:t>
            </a:r>
            <a:r>
              <a:rPr lang="ro-RO" dirty="0" smtClean="0">
                <a:cs typeface="Times New Roman" pitchFamily="18" charset="0"/>
              </a:rPr>
              <a:t>a </a:t>
            </a:r>
            <a:r>
              <a:rPr lang="ro-RO" dirty="0" smtClean="0">
                <a:cs typeface="Times New Roman" pitchFamily="18" charset="0"/>
              </a:rPr>
              <a:t>înmulțitorului 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Se plaseaz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produsul intermediar la stânga rezultatelor precedente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343825-5E9B-46F7-8BE4-5FBC781378CE}" type="slidenum">
              <a:rPr lang="ro-RO"/>
              <a:pPr/>
              <a:t>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(2)</a:t>
            </a:r>
          </a:p>
        </p:txBody>
      </p:sp>
      <p:sp>
        <p:nvSpPr>
          <p:cNvPr id="210947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58204" cy="4525963"/>
          </a:xfrm>
        </p:spPr>
        <p:txBody>
          <a:bodyPr>
            <a:normAutofit lnSpcReduction="10000"/>
          </a:bodyPr>
          <a:lstStyle/>
          <a:p>
            <a:r>
              <a:rPr lang="ro-RO" dirty="0">
                <a:cs typeface="Times New Roman" pitchFamily="18" charset="0"/>
              </a:rPr>
              <a:t>În cazul </a:t>
            </a:r>
            <a:r>
              <a:rPr lang="ro-RO" dirty="0" smtClean="0">
                <a:cs typeface="Times New Roman" pitchFamily="18" charset="0"/>
              </a:rPr>
              <a:t>înmulțirii </a:t>
            </a:r>
            <a:r>
              <a:rPr lang="ro-RO" dirty="0">
                <a:cs typeface="Times New Roman" pitchFamily="18" charset="0"/>
              </a:rPr>
              <a:t>binare, cifrele sunt 0 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sau </a:t>
            </a:r>
            <a:r>
              <a:rPr lang="ro-RO" dirty="0">
                <a:cs typeface="Times New Roman" pitchFamily="18" charset="0"/>
              </a:rPr>
              <a:t>1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dirty="0">
                <a:cs typeface="Times New Roman" pitchFamily="18" charset="0"/>
              </a:rPr>
              <a:t>: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dirty="0">
                <a:cs typeface="Times New Roman" pitchFamily="18" charset="0"/>
              </a:rPr>
              <a:t> = 9 (</a:t>
            </a:r>
            <a:r>
              <a:rPr lang="ro-RO" dirty="0" smtClean="0">
                <a:cs typeface="Times New Roman" pitchFamily="18" charset="0"/>
              </a:rPr>
              <a:t>1001</a:t>
            </a:r>
            <a:r>
              <a:rPr lang="en-US" baseline="-25000" dirty="0" smtClean="0">
                <a:cs typeface="Times New Roman" pitchFamily="18" charset="0"/>
              </a:rPr>
              <a:t>2</a:t>
            </a:r>
            <a:r>
              <a:rPr lang="ro-RO" dirty="0" smtClean="0">
                <a:cs typeface="Times New Roman" pitchFamily="18" charset="0"/>
              </a:rPr>
              <a:t>),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dirty="0">
                <a:cs typeface="Times New Roman" pitchFamily="18" charset="0"/>
              </a:rPr>
              <a:t> = 10 (</a:t>
            </a:r>
            <a:r>
              <a:rPr lang="ro-RO" dirty="0" smtClean="0">
                <a:cs typeface="Times New Roman" pitchFamily="18" charset="0"/>
              </a:rPr>
              <a:t>1010</a:t>
            </a:r>
            <a:r>
              <a:rPr lang="en-US" baseline="-25000" dirty="0" smtClean="0">
                <a:cs typeface="Times New Roman" pitchFamily="18" charset="0"/>
              </a:rPr>
              <a:t>2</a:t>
            </a:r>
            <a:r>
              <a:rPr lang="ro-RO" dirty="0" smtClean="0">
                <a:cs typeface="Times New Roman" pitchFamily="18" charset="0"/>
              </a:rPr>
              <a:t>) </a:t>
            </a:r>
            <a:endParaRPr lang="ro-RO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o-RO" sz="2400" dirty="0" smtClean="0">
                <a:cs typeface="Courier New" pitchFamily="49" charset="0"/>
              </a:rPr>
              <a:t>Deînmulțit             </a:t>
            </a:r>
            <a:r>
              <a:rPr lang="en-US" sz="2400" dirty="0" smtClean="0">
                <a:cs typeface="Courier New" pitchFamily="49" charset="0"/>
              </a:rPr>
              <a:t>  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</a:rPr>
              <a:t>  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ro-RO" sz="2400" dirty="0">
                <a:cs typeface="Courier New" pitchFamily="49" charset="0"/>
              </a:rPr>
              <a:t>1 0 0 1 </a:t>
            </a:r>
            <a:r>
              <a:rPr lang="ro-RO" sz="2400" b="1" dirty="0">
                <a:cs typeface="Times New Roman" pitchFamily="18" charset="0"/>
                <a:sym typeface="Symbol" pitchFamily="18" charset="2"/>
              </a:rPr>
              <a:t></a:t>
            </a:r>
            <a:endParaRPr lang="ro-RO" sz="2400" b="1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</a:t>
            </a:r>
            <a:r>
              <a:rPr lang="ro-RO" sz="2400" dirty="0" smtClean="0">
                <a:cs typeface="Courier New" pitchFamily="49" charset="0"/>
              </a:rPr>
              <a:t>Înmulțitor            </a:t>
            </a:r>
            <a:r>
              <a:rPr lang="ro-RO" sz="1800" dirty="0" smtClean="0">
                <a:cs typeface="Courier New" pitchFamily="49" charset="0"/>
              </a:rPr>
              <a:t>  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</a:rPr>
              <a:t>    </a:t>
            </a:r>
            <a:r>
              <a:rPr lang="ro-RO" sz="2400" dirty="0" smtClean="0"/>
              <a:t> </a:t>
            </a:r>
            <a:r>
              <a:rPr lang="ro-RO" sz="2400" u="sng" dirty="0">
                <a:cs typeface="Courier New" pitchFamily="49" charset="0"/>
              </a:rPr>
              <a:t>1 0 1 0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1800" dirty="0"/>
              <a:t>	</a:t>
            </a:r>
            <a:r>
              <a:rPr lang="ro-RO" sz="2400" dirty="0"/>
              <a:t>	</a:t>
            </a:r>
            <a:r>
              <a:rPr lang="ro-RO" sz="2400" dirty="0">
                <a:cs typeface="Courier New" pitchFamily="49" charset="0"/>
              </a:rPr>
              <a:t>              </a:t>
            </a:r>
            <a:r>
              <a:rPr lang="en-US" sz="2400" dirty="0" smtClean="0">
                <a:cs typeface="Courier New" pitchFamily="49" charset="0"/>
              </a:rPr>
              <a:t> </a:t>
            </a:r>
            <a:r>
              <a:rPr lang="en-US" sz="2000" dirty="0" smtClean="0">
                <a:cs typeface="Courier New" pitchFamily="49" charset="0"/>
              </a:rPr>
              <a:t>   </a:t>
            </a:r>
            <a:r>
              <a:rPr lang="en-US" sz="2400" dirty="0" smtClean="0">
                <a:cs typeface="Courier New" pitchFamily="49" charset="0"/>
              </a:rPr>
              <a:t>      </a:t>
            </a:r>
            <a:r>
              <a:rPr lang="ro-RO" sz="1800" dirty="0" smtClean="0"/>
              <a:t> </a:t>
            </a:r>
            <a:r>
              <a:rPr lang="ro-RO" sz="2400" dirty="0">
                <a:cs typeface="Courier New" pitchFamily="49" charset="0"/>
              </a:rPr>
              <a:t>0 </a:t>
            </a:r>
            <a:r>
              <a:rPr lang="ro-RO" sz="2400" dirty="0" err="1">
                <a:cs typeface="Courier New" pitchFamily="49" charset="0"/>
              </a:rPr>
              <a:t>0</a:t>
            </a:r>
            <a:r>
              <a:rPr lang="ro-RO" sz="2400" dirty="0">
                <a:cs typeface="Courier New" pitchFamily="49" charset="0"/>
              </a:rPr>
              <a:t> </a:t>
            </a:r>
            <a:r>
              <a:rPr lang="ro-RO" sz="2400" dirty="0" err="1">
                <a:cs typeface="Courier New" pitchFamily="49" charset="0"/>
              </a:rPr>
              <a:t>0</a:t>
            </a:r>
            <a:r>
              <a:rPr lang="ro-RO" sz="2400" dirty="0">
                <a:cs typeface="Courier New" pitchFamily="49" charset="0"/>
              </a:rPr>
              <a:t> </a:t>
            </a:r>
            <a:r>
              <a:rPr lang="ro-RO" sz="2400" dirty="0" err="1">
                <a:cs typeface="Courier New" pitchFamily="49" charset="0"/>
              </a:rPr>
              <a:t>0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Produse </a:t>
            </a:r>
            <a:r>
              <a:rPr lang="ro-RO" sz="2400" dirty="0" smtClean="0">
                <a:cs typeface="Courier New" pitchFamily="49" charset="0"/>
              </a:rPr>
              <a:t>parțiale </a:t>
            </a:r>
            <a:r>
              <a:rPr lang="ro-RO" sz="20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</a:rPr>
              <a:t> </a:t>
            </a:r>
            <a:r>
              <a:rPr lang="en-US" sz="2000" dirty="0" smtClean="0">
                <a:cs typeface="Courier New" pitchFamily="49" charset="0"/>
              </a:rPr>
              <a:t> </a:t>
            </a:r>
            <a:r>
              <a:rPr lang="ro-RO" sz="1800" dirty="0" smtClean="0"/>
              <a:t> </a:t>
            </a:r>
            <a:r>
              <a:rPr lang="ro-RO" sz="2400" dirty="0">
                <a:cs typeface="Courier New" pitchFamily="49" charset="0"/>
              </a:rPr>
              <a:t>1 0 0 1  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                	</a:t>
            </a:r>
            <a:r>
              <a:rPr lang="en-US" sz="18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</a:rPr>
              <a:t> 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ro-RO" sz="1800" dirty="0" smtClean="0"/>
              <a:t> </a:t>
            </a:r>
            <a:r>
              <a:rPr lang="en-US" sz="1800" dirty="0" smtClean="0"/>
              <a:t> </a:t>
            </a:r>
            <a:r>
              <a:rPr lang="ro-RO" sz="2400" dirty="0" smtClean="0">
                <a:cs typeface="Courier New" pitchFamily="49" charset="0"/>
              </a:rPr>
              <a:t>0 </a:t>
            </a:r>
            <a:r>
              <a:rPr lang="ro-RO" sz="2400" dirty="0" err="1">
                <a:cs typeface="Courier New" pitchFamily="49" charset="0"/>
              </a:rPr>
              <a:t>0</a:t>
            </a:r>
            <a:r>
              <a:rPr lang="ro-RO" sz="2400" dirty="0">
                <a:cs typeface="Courier New" pitchFamily="49" charset="0"/>
              </a:rPr>
              <a:t> </a:t>
            </a:r>
            <a:r>
              <a:rPr lang="ro-RO" sz="2400" dirty="0" err="1">
                <a:cs typeface="Courier New" pitchFamily="49" charset="0"/>
              </a:rPr>
              <a:t>0</a:t>
            </a:r>
            <a:r>
              <a:rPr lang="ro-RO" sz="2400" dirty="0">
                <a:cs typeface="Courier New" pitchFamily="49" charset="0"/>
              </a:rPr>
              <a:t> </a:t>
            </a:r>
            <a:r>
              <a:rPr lang="ro-RO" sz="2400" dirty="0" err="1">
                <a:cs typeface="Courier New" pitchFamily="49" charset="0"/>
              </a:rPr>
              <a:t>0</a:t>
            </a:r>
            <a:r>
              <a:rPr lang="ro-RO" sz="2400" dirty="0">
                <a:cs typeface="Courier New" pitchFamily="49" charset="0"/>
              </a:rPr>
              <a:t>    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                 </a:t>
            </a:r>
            <a:r>
              <a:rPr lang="en-US" sz="2400" dirty="0" smtClean="0">
                <a:cs typeface="Courier New" pitchFamily="49" charset="0"/>
              </a:rPr>
              <a:t>       </a:t>
            </a:r>
            <a:r>
              <a:rPr lang="en-US" sz="2000" dirty="0" smtClean="0">
                <a:cs typeface="Courier New" pitchFamily="49" charset="0"/>
              </a:rPr>
              <a:t>  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</a:rPr>
              <a:t> </a:t>
            </a:r>
            <a:r>
              <a:rPr lang="ro-RO" sz="2400" u="sng" dirty="0" smtClean="0">
                <a:cs typeface="Courier New" pitchFamily="49" charset="0"/>
              </a:rPr>
              <a:t>1 </a:t>
            </a:r>
            <a:r>
              <a:rPr lang="ro-RO" sz="2400" u="sng" dirty="0">
                <a:cs typeface="Courier New" pitchFamily="49" charset="0"/>
              </a:rPr>
              <a:t>0 </a:t>
            </a:r>
            <a:r>
              <a:rPr lang="ro-RO" sz="2400" u="sng" dirty="0" err="1">
                <a:cs typeface="Courier New" pitchFamily="49" charset="0"/>
              </a:rPr>
              <a:t>0</a:t>
            </a:r>
            <a:r>
              <a:rPr lang="ro-RO" sz="2400" u="sng" dirty="0">
                <a:cs typeface="Courier New" pitchFamily="49" charset="0"/>
              </a:rPr>
              <a:t> 1     </a:t>
            </a:r>
            <a:r>
              <a:rPr lang="en-US" sz="2400" u="sng" dirty="0" smtClean="0">
                <a:cs typeface="Courier New" pitchFamily="49" charset="0"/>
              </a:rPr>
              <a:t>  </a:t>
            </a:r>
            <a:r>
              <a:rPr lang="ro-RO" sz="2400" u="sng" dirty="0" smtClean="0">
                <a:cs typeface="Courier New" pitchFamily="49" charset="0"/>
              </a:rPr>
              <a:t> </a:t>
            </a:r>
            <a:r>
              <a:rPr lang="ro-RO" sz="2400" dirty="0" smtClean="0">
                <a:cs typeface="Courier New" pitchFamily="49" charset="0"/>
              </a:rPr>
              <a:t>_</a:t>
            </a:r>
            <a:endParaRPr lang="ro-RO" sz="2400" dirty="0">
              <a:cs typeface="Times New Roman" pitchFamily="18" charset="0"/>
            </a:endParaRPr>
          </a:p>
          <a:p>
            <a:pPr lvl="1" algn="just">
              <a:buFont typeface="Wingdings" pitchFamily="2" charset="2"/>
              <a:buNone/>
            </a:pPr>
            <a:r>
              <a:rPr lang="ro-RO" sz="2400" dirty="0">
                <a:cs typeface="Courier New" pitchFamily="49" charset="0"/>
              </a:rPr>
              <a:t>	Produs       </a:t>
            </a:r>
            <a:r>
              <a:rPr lang="en-US" sz="20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</a:rPr>
              <a:t>    </a:t>
            </a:r>
            <a:r>
              <a:rPr lang="ro-RO" sz="2400" dirty="0" smtClean="0">
                <a:cs typeface="Courier New" pitchFamily="49" charset="0"/>
              </a:rPr>
              <a:t>  </a:t>
            </a:r>
            <a:r>
              <a:rPr lang="ro-RO" sz="2400" dirty="0" smtClean="0"/>
              <a:t> </a:t>
            </a:r>
            <a:r>
              <a:rPr lang="ro-RO" sz="2400" dirty="0">
                <a:cs typeface="Courier New" pitchFamily="49" charset="0"/>
              </a:rPr>
              <a:t>1 0 1 1 0 1 0  (</a:t>
            </a:r>
            <a:r>
              <a:rPr lang="ro-RO" sz="2400" dirty="0" smtClean="0">
                <a:cs typeface="Courier New" pitchFamily="49" charset="0"/>
              </a:rPr>
              <a:t>5A</a:t>
            </a:r>
            <a:r>
              <a:rPr lang="en-US" sz="2400" baseline="-25000" dirty="0" smtClean="0">
                <a:cs typeface="Courier New" pitchFamily="49" charset="0"/>
              </a:rPr>
              <a:t>16</a:t>
            </a:r>
            <a:r>
              <a:rPr lang="ro-RO" sz="2400" dirty="0" smtClean="0">
                <a:cs typeface="Courier New" pitchFamily="49" charset="0"/>
              </a:rPr>
              <a:t> </a:t>
            </a:r>
            <a:r>
              <a:rPr lang="ro-RO" sz="2400" dirty="0">
                <a:cs typeface="Courier New" pitchFamily="49" charset="0"/>
              </a:rPr>
              <a:t>= 90)</a:t>
            </a:r>
            <a:endParaRPr lang="ro-RO" sz="2400" dirty="0">
              <a:cs typeface="Times New Roman" pitchFamily="18" charset="0"/>
            </a:endParaRPr>
          </a:p>
          <a:p>
            <a:endParaRPr lang="ro-RO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E5B15A-6B8D-47CD-97E3-811FC293DEFD}" type="slidenum">
              <a:rPr lang="ro-RO"/>
              <a:pPr/>
              <a:t>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(3)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B9887-413A-4388-B857-270050460C06}" type="slidenum">
              <a:rPr lang="ro-RO"/>
              <a:pPr/>
              <a:t>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12" y="1772816"/>
            <a:ext cx="7487135" cy="396835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(4)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6AFBED-5D43-4420-BAD6-2D8F6915820E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  <p:pic>
        <p:nvPicPr>
          <p:cNvPr id="8" name="Content Placeholder 7" descr="ssc3-inm-depl2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275856" y="1340768"/>
            <a:ext cx="2588976" cy="4690394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(5)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smtClean="0">
                <a:cs typeface="Times New Roman" pitchFamily="18" charset="0"/>
              </a:rPr>
              <a:t>Algoritmul </a:t>
            </a:r>
            <a:r>
              <a:rPr lang="ro-RO" dirty="0">
                <a:cs typeface="Times New Roman" pitchFamily="18" charset="0"/>
              </a:rPr>
              <a:t>original deplaseaz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deînmulțitul </a:t>
            </a:r>
            <a:r>
              <a:rPr lang="ro-RO" dirty="0">
                <a:cs typeface="Times New Roman" pitchFamily="18" charset="0"/>
              </a:rPr>
              <a:t>la stânga cu inserarea zerourilor în noile </a:t>
            </a:r>
            <a:r>
              <a:rPr lang="ro-RO" dirty="0" smtClean="0">
                <a:cs typeface="Times New Roman" pitchFamily="18" charset="0"/>
              </a:rPr>
              <a:t>poziții</a:t>
            </a:r>
            <a:r>
              <a:rPr lang="ro-RO" dirty="0" smtClean="0"/>
              <a:t> 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În locul deplas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</a:t>
            </a:r>
            <a:r>
              <a:rPr lang="ro-RO" dirty="0" smtClean="0">
                <a:cs typeface="Times New Roman" pitchFamily="18" charset="0"/>
              </a:rPr>
              <a:t>deînmulțitului </a:t>
            </a:r>
            <a:r>
              <a:rPr lang="ro-RO" dirty="0">
                <a:cs typeface="Times New Roman" pitchFamily="18" charset="0"/>
              </a:rPr>
              <a:t>la stânga,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 poate deplasa produsul la dreapta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Deînmulțitul </a:t>
            </a:r>
            <a:r>
              <a:rPr lang="ro-RO" dirty="0">
                <a:cs typeface="Times New Roman" pitchFamily="18" charset="0"/>
              </a:rPr>
              <a:t>este fix relativ la produs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Sumatorul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fie </a:t>
            </a:r>
            <a:r>
              <a:rPr lang="ro-RO" dirty="0"/>
              <a:t>de </a:t>
            </a:r>
            <a:r>
              <a:rPr lang="ro-RO" dirty="0">
                <a:cs typeface="Times New Roman" pitchFamily="18" charset="0"/>
              </a:rPr>
              <a:t>numai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 smtClean="0"/>
              <a:t> </a:t>
            </a:r>
            <a:r>
              <a:rPr lang="ro-RO" dirty="0">
                <a:sym typeface="Symbol" pitchFamily="18" charset="2"/>
              </a:rPr>
              <a:t> d</a:t>
            </a:r>
            <a:r>
              <a:rPr lang="ro-RO" dirty="0">
                <a:cs typeface="Times New Roman" pitchFamily="18" charset="0"/>
              </a:rPr>
              <a:t>oar jum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tatea din stânga a registrului produs este modificat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timpul 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74EA4-09A8-4290-BCE3-18E66391DD24}" type="slidenum">
              <a:rPr lang="ro-RO"/>
              <a:pPr/>
              <a:t>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(6)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561249"/>
          </a:xfrm>
        </p:spPr>
        <p:txBody>
          <a:bodyPr/>
          <a:lstStyle/>
          <a:p>
            <a:pPr lvl="1"/>
            <a:r>
              <a:rPr lang="ro-RO" dirty="0">
                <a:cs typeface="Times New Roman" pitchFamily="18" charset="0"/>
              </a:rPr>
              <a:t>Registrul produs are un </a:t>
            </a:r>
            <a:r>
              <a:rPr lang="ro-RO" dirty="0" smtClean="0">
                <a:cs typeface="Times New Roman" pitchFamily="18" charset="0"/>
              </a:rPr>
              <a:t>spațiu </a:t>
            </a:r>
            <a:r>
              <a:rPr lang="ro-RO" dirty="0">
                <a:cs typeface="Times New Roman" pitchFamily="18" charset="0"/>
              </a:rPr>
              <a:t>liber cu dimensiunea egal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cu cea a </a:t>
            </a:r>
            <a:r>
              <a:rPr lang="ro-RO" dirty="0" smtClean="0">
                <a:cs typeface="Times New Roman" pitchFamily="18" charset="0"/>
              </a:rPr>
              <a:t>înmulțitorului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Pe 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ce acest </a:t>
            </a:r>
            <a:r>
              <a:rPr lang="ro-RO" dirty="0" smtClean="0">
                <a:cs typeface="Times New Roman" pitchFamily="18" charset="0"/>
              </a:rPr>
              <a:t>spațiu </a:t>
            </a:r>
            <a:r>
              <a:rPr lang="ro-RO" dirty="0">
                <a:cs typeface="Times New Roman" pitchFamily="18" charset="0"/>
              </a:rPr>
              <a:t>liber </a:t>
            </a:r>
            <a:r>
              <a:rPr lang="ro-RO" dirty="0" smtClean="0">
                <a:cs typeface="Times New Roman" pitchFamily="18" charset="0"/>
              </a:rPr>
              <a:t>se reduce, </a:t>
            </a:r>
            <a:r>
              <a:rPr lang="ro-RO" dirty="0">
                <a:cs typeface="Times New Roman" pitchFamily="18" charset="0"/>
              </a:rPr>
              <a:t>se elimin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biții înmulțitorului</a:t>
            </a:r>
            <a:r>
              <a:rPr lang="ro-RO" dirty="0" smtClean="0"/>
              <a:t>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Versiunea final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circuitului de </a:t>
            </a:r>
            <a:r>
              <a:rPr lang="ro-RO" dirty="0" smtClean="0">
                <a:cs typeface="Times New Roman" pitchFamily="18" charset="0"/>
              </a:rPr>
              <a:t>înmulțire </a:t>
            </a:r>
            <a:r>
              <a:rPr lang="ro-RO" dirty="0">
                <a:cs typeface="Times New Roman" pitchFamily="18" charset="0"/>
              </a:rPr>
              <a:t>combin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produsul (registrul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cs typeface="Times New Roman" pitchFamily="18" charset="0"/>
              </a:rPr>
              <a:t>) cu </a:t>
            </a:r>
            <a:r>
              <a:rPr lang="ro-RO" dirty="0" smtClean="0">
                <a:cs typeface="Times New Roman" pitchFamily="18" charset="0"/>
              </a:rPr>
              <a:t>înmulțitorul </a:t>
            </a:r>
            <a:r>
              <a:rPr lang="ro-RO" dirty="0">
                <a:cs typeface="Times New Roman" pitchFamily="18" charset="0"/>
              </a:rPr>
              <a:t>(registrul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Q</a:t>
            </a:r>
            <a:r>
              <a:rPr lang="ro-RO" dirty="0">
                <a:cs typeface="Times New Roman" pitchFamily="18" charset="0"/>
              </a:rPr>
              <a:t>) </a:t>
            </a:r>
          </a:p>
          <a:p>
            <a:pPr lvl="1"/>
            <a:r>
              <a:rPr lang="ro-RO" dirty="0">
                <a:cs typeface="Times New Roman" pitchFamily="18" charset="0"/>
              </a:rPr>
              <a:t>Registrul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este de numai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Produsul este format în registrele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Q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A83D00-6AE9-465A-8629-AB026AF2AB29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(7)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ADFD23-E3E2-4F47-B99E-19958AF90097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660" y="1772816"/>
            <a:ext cx="6361039" cy="400509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prin </a:t>
            </a:r>
            <a:r>
              <a:rPr lang="ro-RO" dirty="0" smtClean="0"/>
              <a:t>deplasare</a:t>
            </a:r>
            <a:r>
              <a:rPr lang="en-US" dirty="0"/>
              <a:t> </a:t>
            </a:r>
            <a:r>
              <a:rPr lang="ro-RO" dirty="0" smtClean="0"/>
              <a:t>și </a:t>
            </a:r>
            <a:r>
              <a:rPr lang="ro-RO" dirty="0"/>
              <a:t>adunare</a:t>
            </a:r>
            <a:r>
              <a:rPr lang="en-US" dirty="0"/>
              <a:t> (8)</a:t>
            </a:r>
            <a:endParaRPr lang="ro-RO" dirty="0"/>
          </a:p>
        </p:txBody>
      </p:sp>
      <p:pic>
        <p:nvPicPr>
          <p:cNvPr id="9" name="Content Placeholder 8" descr="ssc3-inm-depl4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148377" y="1457530"/>
            <a:ext cx="2847246" cy="4663665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705FDD-4570-451E-8DED-9F2E8E2FA827}" type="slidenum">
              <a:rPr lang="ro-RO"/>
              <a:pPr/>
              <a:t>12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(02-2)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595548"/>
          </a:xfrm>
        </p:spPr>
        <p:txBody>
          <a:bodyPr/>
          <a:lstStyle/>
          <a:p>
            <a:r>
              <a:rPr lang="ro-RO" sz="4300" dirty="0"/>
              <a:t>Înmulțirea prin deplasare</a:t>
            </a:r>
            <a:r>
              <a:rPr lang="en-US" sz="4300" dirty="0"/>
              <a:t> </a:t>
            </a:r>
            <a:r>
              <a:rPr lang="ro-RO" sz="4300" dirty="0"/>
              <a:t>și adunare</a:t>
            </a:r>
            <a:r>
              <a:rPr lang="en-US" sz="4300" dirty="0"/>
              <a:t> </a:t>
            </a:r>
            <a:r>
              <a:rPr lang="en-US" sz="4300" dirty="0" smtClean="0"/>
              <a:t>(</a:t>
            </a:r>
            <a:r>
              <a:rPr lang="ro-RO" sz="4300" dirty="0" smtClean="0"/>
              <a:t>9</a:t>
            </a:r>
            <a:r>
              <a:rPr lang="en-US" sz="4300" dirty="0" smtClean="0"/>
              <a:t>)</a:t>
            </a:r>
            <a:endParaRPr lang="en-US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Exemplul 2.1</a:t>
            </a:r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9 (1001</a:t>
            </a:r>
            <a:r>
              <a:rPr lang="ro-RO" baseline="-25000" dirty="0" smtClean="0"/>
              <a:t>2</a:t>
            </a:r>
            <a:r>
              <a:rPr lang="ro-RO" dirty="0" smtClean="0"/>
              <a:t>),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12 (1100</a:t>
            </a:r>
            <a:r>
              <a:rPr lang="ro-RO" baseline="-25000" dirty="0" smtClean="0"/>
              <a:t>2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Versiunea finală a algoritmului de înmulțire</a:t>
            </a:r>
          </a:p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sz="3600" dirty="0" smtClean="0"/>
          </a:p>
          <a:p>
            <a:pPr lvl="1"/>
            <a:r>
              <a:rPr lang="ro-RO" dirty="0" smtClean="0"/>
              <a:t>Rezultatul: 0110 1100</a:t>
            </a:r>
            <a:r>
              <a:rPr lang="ro-RO" baseline="-25000" dirty="0" smtClean="0"/>
              <a:t>2</a:t>
            </a:r>
            <a:r>
              <a:rPr lang="ro-RO" dirty="0" smtClean="0"/>
              <a:t> = 6C</a:t>
            </a:r>
            <a:r>
              <a:rPr lang="ro-RO" baseline="-25000" dirty="0" smtClean="0"/>
              <a:t>16</a:t>
            </a:r>
            <a:r>
              <a:rPr lang="ro-RO" dirty="0" smtClean="0"/>
              <a:t> = 96 + 12 = 108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F4A8D-C7C4-4094-8F42-D0409E1070F5}" type="slidenum">
              <a:rPr lang="ro-RO" smtClean="0"/>
              <a:pPr/>
              <a:t>13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07552"/>
              </p:ext>
            </p:extLst>
          </p:nvPr>
        </p:nvGraphicFramePr>
        <p:xfrm>
          <a:off x="2262013" y="3140968"/>
          <a:ext cx="4612333" cy="2540000"/>
        </p:xfrm>
        <a:graphic>
          <a:graphicData uri="http://schemas.openxmlformats.org/drawingml/2006/table">
            <a:tbl>
              <a:tblPr firstRow="1" firstCol="1" bandRow="1" bandCol="1">
                <a:tableStyleId>{8A107856-5554-42FB-B03E-39F5DBC370BA}</a:tableStyleId>
              </a:tblPr>
              <a:tblGrid>
                <a:gridCol w="598269"/>
                <a:gridCol w="884266"/>
                <a:gridCol w="903154"/>
                <a:gridCol w="874753"/>
                <a:gridCol w="1351891"/>
              </a:tblGrid>
              <a:tr h="127645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</a:t>
                      </a:r>
                      <a:endParaRPr lang="en-US" sz="2000" b="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000" b="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 (Y)</a:t>
                      </a:r>
                      <a:endParaRPr lang="en-US" sz="2000" b="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(X)</a:t>
                      </a:r>
                      <a:endParaRPr lang="en-US" sz="2000" b="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Operații</a:t>
                      </a:r>
                      <a:endParaRPr lang="en-US" sz="2000" b="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7CC6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dirty="0">
                          <a:solidFill>
                            <a:srgbClr val="0070C0"/>
                          </a:solidFill>
                          <a:effectLst/>
                        </a:rPr>
                        <a:t>0</a:t>
                      </a:r>
                      <a:endParaRPr lang="en-US" sz="2000" b="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r>
                        <a:rPr lang="ro-RO" sz="2000" b="0" u="sng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2000" b="0" u="sng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Inițializare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011</a:t>
                      </a:r>
                      <a:r>
                        <a:rPr lang="ro-RO" sz="2000" b="0" u="sng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2000" b="0" u="sng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shr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(A_Q)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ro-RO" sz="2000" b="0" u="sng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000" b="0" u="sng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shr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(A_Q)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0100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</a:t>
                      </a:r>
                      <a:r>
                        <a:rPr lang="ro-RO" sz="2000" b="0" u="sng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000" b="0" u="sng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ro-RO" sz="2000" b="0" u="sng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000" b="0" u="sng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+ B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shr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(A_Q)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0110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ro-RO" sz="2000" b="0" u="sng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000" b="0" u="sng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r>
                        <a:rPr lang="ro-RO" sz="2000" b="0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2000" b="0" u="non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+ B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shr</a:t>
                      </a:r>
                      <a:r>
                        <a:rPr lang="ro-RO" sz="20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(A_Q)</a:t>
                      </a:r>
                      <a:endParaRPr lang="en-US" sz="2000" b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945" marR="6794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7284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ro-RO" dirty="0"/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en-US" dirty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prin deplasare </a:t>
            </a:r>
            <a:r>
              <a:rPr lang="ro-RO" dirty="0" smtClean="0"/>
              <a:t>și </a:t>
            </a:r>
            <a:r>
              <a:rPr lang="ro-RO" dirty="0"/>
              <a:t>adunare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Tehnica </a:t>
            </a:r>
            <a:r>
              <a:rPr lang="ro-RO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Booth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</a:p>
          <a:p>
            <a:pPr lvl="1"/>
            <a:r>
              <a:rPr lang="ro-RO" dirty="0" smtClean="0"/>
              <a:t>Înmulțirea matriceală</a:t>
            </a:r>
            <a:endParaRPr lang="ro-RO" dirty="0"/>
          </a:p>
          <a:p>
            <a:pPr lvl="1"/>
            <a:r>
              <a:rPr lang="ro-RO" dirty="0"/>
              <a:t>Arborele </a:t>
            </a:r>
            <a:r>
              <a:rPr lang="ro-RO" dirty="0" smtClean="0"/>
              <a:t>Wallace</a:t>
            </a:r>
          </a:p>
          <a:p>
            <a:pPr lvl="1"/>
            <a:r>
              <a:rPr lang="ro-RO" dirty="0"/>
              <a:t>Circuite de înmulțire </a:t>
            </a:r>
            <a:r>
              <a:rPr lang="ro-RO" i="1" dirty="0" err="1" smtClean="0"/>
              <a:t>pipeline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B619AF-10F5-4A2B-9833-16AB5629AAD2}" type="slidenum">
              <a:rPr lang="ro-RO"/>
              <a:pPr/>
              <a:t>14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Tehnica </a:t>
            </a:r>
            <a:r>
              <a:rPr lang="ro-RO" dirty="0" err="1"/>
              <a:t>Booth</a:t>
            </a:r>
            <a:r>
              <a:rPr lang="en-US" dirty="0"/>
              <a:t> (1)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352928" cy="5040560"/>
          </a:xfrm>
        </p:spPr>
        <p:txBody>
          <a:bodyPr>
            <a:normAutofit lnSpcReduction="10000"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Aplicarea algoritmului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înmulțire pentru numere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cu semn</a:t>
            </a:r>
            <a:r>
              <a:rPr lang="ro-RO" dirty="0">
                <a:cs typeface="Times New Roman" pitchFamily="18" charset="0"/>
              </a:rPr>
              <a:t>: </a:t>
            </a:r>
          </a:p>
          <a:p>
            <a:pPr lvl="1"/>
            <a:r>
              <a:rPr lang="ro-RO" dirty="0">
                <a:cs typeface="Times New Roman" pitchFamily="18" charset="0"/>
              </a:rPr>
              <a:t>Conversia </a:t>
            </a:r>
            <a:r>
              <a:rPr lang="ro-RO" dirty="0" smtClean="0">
                <a:cs typeface="Times New Roman" pitchFamily="18" charset="0"/>
              </a:rPr>
              <a:t>deînmulțitului și înmulțitorului </a:t>
            </a:r>
            <a:r>
              <a:rPr lang="ro-RO" dirty="0">
                <a:cs typeface="Times New Roman" pitchFamily="18" charset="0"/>
              </a:rPr>
              <a:t>la numere pozitive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memorarea semnelor</a:t>
            </a:r>
          </a:p>
          <a:p>
            <a:pPr lvl="1"/>
            <a:r>
              <a:rPr lang="ro-RO" dirty="0">
                <a:cs typeface="Times New Roman" pitchFamily="18" charset="0"/>
              </a:rPr>
              <a:t>Produsul va fi înlocuit prin complementul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u </a:t>
            </a:r>
            <a:r>
              <a:rPr lang="ro-RO" dirty="0" smtClean="0">
                <a:cs typeface="Times New Roman" pitchFamily="18" charset="0"/>
              </a:rPr>
              <a:t>faț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2 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semnele originale sunt diferite </a:t>
            </a:r>
          </a:p>
          <a:p>
            <a:r>
              <a:rPr lang="ro-RO" dirty="0" smtClean="0">
                <a:cs typeface="Times New Roman" pitchFamily="18" charset="0"/>
              </a:rPr>
              <a:t>Tehnica </a:t>
            </a:r>
            <a:r>
              <a:rPr lang="ro-RO" dirty="0" err="1" smtClean="0">
                <a:cs typeface="Times New Roman" pitchFamily="18" charset="0"/>
              </a:rPr>
              <a:t>Booth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Elimină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necesitatea conversiei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operanzilor</a:t>
            </a:r>
            <a:r>
              <a:rPr lang="ro-RO" dirty="0">
                <a:cs typeface="Times New Roman" pitchFamily="18" charset="0"/>
              </a:rPr>
              <a:t> la forma pozitiv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Poate reduce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num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operațiilor </a:t>
            </a:r>
            <a:r>
              <a:rPr lang="ro-RO" dirty="0">
                <a:cs typeface="Times New Roman" pitchFamily="18" charset="0"/>
              </a:rPr>
              <a:t>necesare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676C16-E77D-4E0B-BE3A-481E7BD40BD8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Tehnica Booth</a:t>
            </a:r>
            <a:r>
              <a:rPr lang="en-US"/>
              <a:t> (2)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Ideea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: 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poate efectua atât adunare, cât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sc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dere, exist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mai multe </a:t>
            </a:r>
            <a:r>
              <a:rPr lang="ro-RO" dirty="0" smtClean="0">
                <a:cs typeface="Times New Roman" pitchFamily="18" charset="0"/>
              </a:rPr>
              <a:t>posibilit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a calcula un produs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cifre de 0 </a:t>
            </a:r>
            <a:r>
              <a:rPr lang="ro-RO" dirty="0">
                <a:cs typeface="Times New Roman" pitchFamily="18" charset="0"/>
              </a:rPr>
              <a:t>din </a:t>
            </a:r>
            <a:r>
              <a:rPr lang="ro-RO" dirty="0" smtClean="0">
                <a:cs typeface="Times New Roman" pitchFamily="18" charset="0"/>
              </a:rPr>
              <a:t>înmulțitor </a:t>
            </a:r>
            <a:r>
              <a:rPr lang="ro-RO" dirty="0">
                <a:cs typeface="Times New Roman" pitchFamily="18" charset="0"/>
              </a:rPr>
              <a:t>necesit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numai deplasare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cifre de 1 </a:t>
            </a:r>
            <a:r>
              <a:rPr lang="ro-RO" dirty="0">
                <a:cs typeface="Times New Roman" pitchFamily="18" charset="0"/>
              </a:rPr>
              <a:t>poate fi tratat ca un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 cu valoarea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</a:t>
            </a:r>
            <a:r>
              <a:rPr lang="ro-RO" dirty="0">
                <a:cs typeface="Times New Roman" pitchFamily="18" charset="0"/>
              </a:rPr>
              <a:t> –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  <a:p>
            <a:pPr lvl="2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</a:t>
            </a:r>
            <a:r>
              <a:rPr lang="ro-RO" dirty="0">
                <a:cs typeface="Times New Roman" pitchFamily="18" charset="0"/>
              </a:rPr>
              <a:t> – ponderea cifrei 0 dinaintea cifrei 1 celei mai din stânga</a:t>
            </a:r>
          </a:p>
          <a:p>
            <a:pPr lvl="2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– ponderea cifrei 1 celei mai din dreapta</a:t>
            </a:r>
            <a:r>
              <a:rPr lang="en-US" dirty="0"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405AE7-FB86-4C85-BEB3-EBA1229265EE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Tehnica </a:t>
            </a:r>
            <a:r>
              <a:rPr lang="ro-RO" dirty="0" err="1"/>
              <a:t>Booth</a:t>
            </a:r>
            <a:r>
              <a:rPr lang="en-US" dirty="0"/>
              <a:t> (3)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dirty="0">
                <a:cs typeface="Times New Roman" pitchFamily="18" charset="0"/>
              </a:rPr>
              <a:t>: Pentru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dirty="0" smtClean="0">
                <a:cs typeface="Times New Roman" pitchFamily="18" charset="0"/>
              </a:rPr>
              <a:t>011</a:t>
            </a:r>
            <a:r>
              <a:rPr lang="en-US" dirty="0" smtClean="0">
                <a:cs typeface="Times New Roman" pitchFamily="18" charset="0"/>
              </a:rPr>
              <a:t>1</a:t>
            </a:r>
            <a:r>
              <a:rPr lang="ro-RO" dirty="0" smtClean="0">
                <a:cs typeface="Times New Roman" pitchFamily="18" charset="0"/>
              </a:rPr>
              <a:t>0</a:t>
            </a:r>
            <a:r>
              <a:rPr lang="en-US" baseline="-25000" dirty="0" smtClean="0">
                <a:cs typeface="Times New Roman" pitchFamily="18" charset="0"/>
              </a:rPr>
              <a:t>2</a:t>
            </a:r>
            <a:r>
              <a:rPr lang="ro-RO" dirty="0" smtClean="0">
                <a:cs typeface="Times New Roman" pitchFamily="18" charset="0"/>
              </a:rPr>
              <a:t>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2</a:t>
            </a:r>
            <a:r>
              <a:rPr lang="ro-RO" baseline="30000" dirty="0">
                <a:cs typeface="Times New Roman" pitchFamily="18" charset="0"/>
              </a:rPr>
              <a:t>4</a:t>
            </a:r>
            <a:r>
              <a:rPr lang="ro-RO" dirty="0">
                <a:cs typeface="Times New Roman" pitchFamily="18" charset="0"/>
              </a:rPr>
              <a:t> = 16, </a:t>
            </a:r>
            <a:r>
              <a:rPr lang="en-US" dirty="0" smtClean="0">
                <a:cs typeface="Times New Roman" pitchFamily="18" charset="0"/>
              </a:rPr>
              <a:t>     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dirty="0" smtClean="0">
                <a:cs typeface="Times New Roman" pitchFamily="18" charset="0"/>
              </a:rPr>
              <a:t>2</a:t>
            </a:r>
            <a:r>
              <a:rPr lang="en-US" baseline="30000" dirty="0" smtClean="0">
                <a:cs typeface="Times New Roman" pitchFamily="18" charset="0"/>
              </a:rPr>
              <a:t>1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en-US" dirty="0" smtClean="0">
                <a:cs typeface="Times New Roman" pitchFamily="18" charset="0"/>
              </a:rPr>
              <a:t>2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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= 16 – 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2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=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1</a:t>
            </a:r>
            <a:r>
              <a:rPr lang="en-US" dirty="0" smtClean="0">
                <a:cs typeface="Times New Roman" pitchFamily="18" charset="0"/>
                <a:sym typeface="Symbol" pitchFamily="18" charset="2"/>
              </a:rPr>
              <a:t>4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Un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 de 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 succesive este înlocuit printr‑o sc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dere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o adunare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La </a:t>
            </a:r>
            <a:r>
              <a:rPr lang="ro-RO" dirty="0" smtClean="0">
                <a:cs typeface="Times New Roman" pitchFamily="18" charset="0"/>
              </a:rPr>
              <a:t>înmulțirea </a:t>
            </a:r>
            <a:r>
              <a:rPr lang="ro-RO" dirty="0">
                <a:cs typeface="Times New Roman" pitchFamily="18" charset="0"/>
              </a:rPr>
              <a:t>prin tehnica </a:t>
            </a:r>
            <a:r>
              <a:rPr lang="ro-RO" dirty="0" err="1">
                <a:cs typeface="Times New Roman" pitchFamily="18" charset="0"/>
              </a:rPr>
              <a:t>Booth</a:t>
            </a:r>
            <a:r>
              <a:rPr lang="ro-RO" dirty="0">
                <a:cs typeface="Times New Roman" pitchFamily="18" charset="0"/>
              </a:rPr>
              <a:t> se consider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câte doi biți adiacenți </a:t>
            </a:r>
            <a:r>
              <a:rPr lang="ro-RO" dirty="0">
                <a:cs typeface="Times New Roman" pitchFamily="18" charset="0"/>
              </a:rPr>
              <a:t>ai </a:t>
            </a:r>
            <a:r>
              <a:rPr lang="ro-RO" dirty="0" smtClean="0">
                <a:cs typeface="Times New Roman" pitchFamily="18" charset="0"/>
              </a:rPr>
              <a:t>înmulțitorului </a:t>
            </a:r>
            <a:r>
              <a:rPr lang="ro-RO" dirty="0">
                <a:cs typeface="Times New Roman" pitchFamily="18" charset="0"/>
              </a:rPr>
              <a:t>pentru a determina </a:t>
            </a:r>
            <a:r>
              <a:rPr lang="ro-RO" dirty="0" smtClean="0">
                <a:cs typeface="Times New Roman" pitchFamily="18" charset="0"/>
              </a:rPr>
              <a:t>operația </a:t>
            </a:r>
            <a:r>
              <a:rPr lang="ro-RO" dirty="0">
                <a:cs typeface="Times New Roman" pitchFamily="18" charset="0"/>
              </a:rPr>
              <a:t>care trebuie efectuat</a:t>
            </a:r>
            <a:r>
              <a:rPr lang="ro-RO" dirty="0"/>
              <a:t>ă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ED66AC-1A52-4FB3-A99F-CFF73F5AEA96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Tehnica </a:t>
            </a:r>
            <a:r>
              <a:rPr lang="ro-RO" dirty="0" err="1"/>
              <a:t>Booth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o-RO" dirty="0" smtClean="0"/>
              <a:t>4</a:t>
            </a:r>
            <a:r>
              <a:rPr lang="en-US" dirty="0" smtClean="0"/>
              <a:t>)</a:t>
            </a:r>
            <a:endParaRPr lang="ro-RO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54043"/>
              </p:ext>
            </p:extLst>
          </p:nvPr>
        </p:nvGraphicFramePr>
        <p:xfrm>
          <a:off x="827583" y="2204864"/>
          <a:ext cx="7488834" cy="31242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24460"/>
                <a:gridCol w="824460"/>
                <a:gridCol w="5839914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kumimoji="0" lang="ro-RO" sz="24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i</a:t>
                      </a:r>
                      <a:endParaRPr kumimoji="0" lang="ro-RO" sz="2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T="38100" marB="3810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kumimoji="0" lang="ro-RO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kumimoji="0" lang="en-US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-1</a:t>
                      </a:r>
                      <a:endParaRPr kumimoji="0" lang="ro-RO" sz="24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T="38100" marB="3810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Operații</a:t>
                      </a:r>
                    </a:p>
                  </a:txBody>
                  <a:tcPr marT="38100" marB="3810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Deplasare la dreapta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Adunare deînmulțit, deplasare la dreapta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Scădere deînmulțit, deplasare la dreapta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Deplasare la dreapta</a:t>
                      </a:r>
                    </a:p>
                  </a:txBody>
                  <a:tcPr marT="38100" marB="38100" anchor="ctr" horzOverflow="overflow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F4A8D-C7C4-4094-8F42-D0409E1070F5}" type="slidenum">
              <a:rPr lang="ro-RO" smtClean="0"/>
              <a:pPr/>
              <a:t>18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Tehnica </a:t>
            </a:r>
            <a:r>
              <a:rPr lang="ro-RO" dirty="0" err="1"/>
              <a:t>Booth</a:t>
            </a:r>
            <a:r>
              <a:rPr lang="en-US" dirty="0"/>
              <a:t> (5)</a:t>
            </a:r>
          </a:p>
        </p:txBody>
      </p:sp>
      <p:sp>
        <p:nvSpPr>
          <p:cNvPr id="220164" name="Rectangle 4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Observații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Se testeaz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doi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>
                <a:cs typeface="Times New Roman" pitchFamily="18" charset="0"/>
              </a:rPr>
              <a:t>ai </a:t>
            </a:r>
            <a:r>
              <a:rPr lang="ro-RO" dirty="0" smtClean="0">
                <a:cs typeface="Times New Roman" pitchFamily="18" charset="0"/>
              </a:rPr>
              <a:t>înmulțitorului </a:t>
            </a:r>
            <a:r>
              <a:rPr lang="ro-RO" dirty="0">
                <a:cs typeface="Times New Roman" pitchFamily="18" charset="0"/>
              </a:rPr>
              <a:t>într‑un pas: bitul curent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bitul din dreapta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-1</a:t>
            </a:r>
            <a:r>
              <a:rPr lang="ro-RO" dirty="0">
                <a:cs typeface="Times New Roman" pitchFamily="18" charset="0"/>
              </a:rPr>
              <a:t> (bitul curent în pasul precedent) 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Registrul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Q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este extins cu o </a:t>
            </a:r>
            <a:r>
              <a:rPr lang="ro-RO" dirty="0" smtClean="0">
                <a:cs typeface="Times New Roman" pitchFamily="18" charset="0"/>
              </a:rPr>
              <a:t>poziție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Q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-1</a:t>
            </a:r>
            <a:r>
              <a:rPr lang="ro-RO" dirty="0">
                <a:cs typeface="Times New Roman" pitchFamily="18" charset="0"/>
              </a:rPr>
              <a:t>, care </a:t>
            </a:r>
            <a:r>
              <a:rPr lang="ro-RO" dirty="0" smtClean="0">
                <a:cs typeface="Times New Roman" pitchFamily="18" charset="0"/>
              </a:rPr>
              <a:t>conține </a:t>
            </a:r>
            <a:r>
              <a:rPr lang="ro-RO" dirty="0">
                <a:cs typeface="Times New Roman" pitchFamily="18" charset="0"/>
              </a:rPr>
              <a:t>bitul din dreapta 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Deplasarea produsului la dreapta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streze semnul rezultatului intermediar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extinderea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semnului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93322E-091B-4226-8E3B-02C918C587E7}" type="slidenum">
              <a:rPr lang="ro-RO"/>
              <a:pPr/>
              <a:t>19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Tehnica </a:t>
            </a:r>
            <a:r>
              <a:rPr lang="ro-RO" dirty="0" err="1"/>
              <a:t>Booth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o-RO" dirty="0" smtClean="0"/>
              <a:t>6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9040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Exemplul 2.2</a:t>
            </a:r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+13,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</a:t>
            </a:r>
            <a:r>
              <a:rPr lang="ro-RO" dirty="0" smtClean="0">
                <a:sym typeface="Symbol" panose="05050102010706020507" pitchFamily="18" charset="2"/>
              </a:rPr>
              <a:t></a:t>
            </a:r>
            <a:r>
              <a:rPr lang="ro-RO" dirty="0" smtClean="0"/>
              <a:t>10</a:t>
            </a:r>
          </a:p>
          <a:p>
            <a:pPr lvl="1"/>
            <a:r>
              <a:rPr lang="ro-RO" dirty="0" smtClean="0"/>
              <a:t>Înmulțirea prin tehnica </a:t>
            </a:r>
            <a:r>
              <a:rPr lang="ro-RO" dirty="0" err="1" smtClean="0"/>
              <a:t>Booth</a:t>
            </a:r>
            <a:endParaRPr lang="ro-RO" dirty="0" smtClean="0"/>
          </a:p>
          <a:p>
            <a:pPr lvl="1"/>
            <a:endParaRPr lang="ro-RO" dirty="0" smtClean="0"/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+13 = +1101</a:t>
            </a:r>
            <a:r>
              <a:rPr lang="ro-RO" baseline="-25000" dirty="0" smtClean="0"/>
              <a:t>2</a:t>
            </a:r>
            <a:r>
              <a:rPr lang="ro-RO" dirty="0" smtClean="0"/>
              <a:t> = 0 1101</a:t>
            </a:r>
            <a:r>
              <a:rPr lang="ro-RO" baseline="-25000" dirty="0" smtClean="0"/>
              <a:t>2</a:t>
            </a:r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</a:t>
            </a:r>
            <a:r>
              <a:rPr lang="ro-RO" dirty="0" smtClean="0">
                <a:sym typeface="Symbol" panose="05050102010706020507" pitchFamily="18" charset="2"/>
              </a:rPr>
              <a:t></a:t>
            </a:r>
            <a:r>
              <a:rPr lang="ro-RO" dirty="0" smtClean="0"/>
              <a:t>10 = </a:t>
            </a:r>
            <a:r>
              <a:rPr lang="ro-RO" dirty="0" smtClean="0">
                <a:sym typeface="Symbol" panose="05050102010706020507" pitchFamily="18" charset="2"/>
              </a:rPr>
              <a:t>1010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  <a:r>
              <a:rPr lang="ro-RO" dirty="0" smtClean="0">
                <a:sym typeface="Symbol" panose="05050102010706020507" pitchFamily="18" charset="2"/>
              </a:rPr>
              <a:t> = 1 0110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</a:p>
          <a:p>
            <a:pPr lvl="1"/>
            <a:r>
              <a:rPr lang="ro-RO" dirty="0" smtClean="0">
                <a:sym typeface="Symbol" panose="05050102010706020507" pitchFamily="18" charset="2"/>
              </a:rPr>
              <a:t>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X</a:t>
            </a:r>
            <a:r>
              <a:rPr lang="ro-RO" dirty="0" smtClean="0">
                <a:sym typeface="Symbol" panose="05050102010706020507" pitchFamily="18" charset="2"/>
              </a:rPr>
              <a:t> = 13 = 1101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  <a:r>
              <a:rPr lang="ro-RO" dirty="0" smtClean="0">
                <a:sym typeface="Symbol" panose="05050102010706020507" pitchFamily="18" charset="2"/>
              </a:rPr>
              <a:t> = 1 0011</a:t>
            </a:r>
            <a:r>
              <a:rPr lang="ro-RO" baseline="-25000" dirty="0" smtClean="0">
                <a:sym typeface="Symbol" panose="05050102010706020507" pitchFamily="18" charset="2"/>
              </a:rPr>
              <a:t>2</a:t>
            </a:r>
            <a:endParaRPr lang="ro-RO" dirty="0" smtClean="0">
              <a:sym typeface="Symbol" panose="05050102010706020507" pitchFamily="18" charset="2"/>
            </a:endParaRPr>
          </a:p>
          <a:p>
            <a:pPr lvl="1"/>
            <a:endParaRPr lang="ro-RO" dirty="0" smtClean="0">
              <a:sym typeface="Symbol" panose="05050102010706020507" pitchFamily="18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F4A8D-C7C4-4094-8F42-D0409E1070F5}" type="slidenum">
              <a:rPr lang="ro-RO" smtClean="0"/>
              <a:pPr/>
              <a:t>20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901194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Tehnica </a:t>
            </a:r>
            <a:r>
              <a:rPr lang="ro-RO" dirty="0" err="1"/>
              <a:t>Booth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o-RO" dirty="0" smtClean="0"/>
              <a:t>7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982903"/>
          </a:xfrm>
        </p:spPr>
        <p:txBody>
          <a:bodyPr/>
          <a:lstStyle/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dirty="0" smtClean="0"/>
          </a:p>
          <a:p>
            <a:pPr lvl="1"/>
            <a:endParaRPr lang="ro-RO" dirty="0"/>
          </a:p>
          <a:p>
            <a:pPr lvl="1"/>
            <a:endParaRPr lang="ro-RO" dirty="0" smtClean="0"/>
          </a:p>
          <a:p>
            <a:pPr lvl="1"/>
            <a:endParaRPr lang="ro-RO" sz="2000" dirty="0"/>
          </a:p>
          <a:p>
            <a:pPr lvl="1"/>
            <a:r>
              <a:rPr lang="ro-RO" sz="3000" dirty="0" smtClean="0"/>
              <a:t>Rezultatul: 1 0111 1110</a:t>
            </a:r>
            <a:r>
              <a:rPr lang="ro-RO" sz="3000" baseline="-25000" dirty="0" smtClean="0"/>
              <a:t>2</a:t>
            </a:r>
            <a:r>
              <a:rPr lang="ro-RO" sz="3000" dirty="0" smtClean="0"/>
              <a:t> = </a:t>
            </a:r>
            <a:r>
              <a:rPr lang="ro-RO" sz="3000" dirty="0" smtClean="0">
                <a:sym typeface="Symbol" panose="05050102010706020507" pitchFamily="18" charset="2"/>
              </a:rPr>
              <a:t></a:t>
            </a:r>
            <a:r>
              <a:rPr lang="ro-RO" sz="3000" dirty="0" smtClean="0"/>
              <a:t>1000 0010</a:t>
            </a:r>
            <a:r>
              <a:rPr lang="ro-RO" sz="3000" baseline="-25000" dirty="0" smtClean="0"/>
              <a:t>2</a:t>
            </a:r>
            <a:r>
              <a:rPr lang="ro-RO" sz="3000" dirty="0" smtClean="0"/>
              <a:t> = </a:t>
            </a:r>
            <a:r>
              <a:rPr lang="ro-RO" sz="2800" dirty="0" smtClean="0">
                <a:sym typeface="Symbol" panose="05050102010706020507" pitchFamily="18" charset="2"/>
              </a:rPr>
              <a:t>82</a:t>
            </a:r>
            <a:r>
              <a:rPr lang="ro-RO" sz="2800" baseline="-25000" dirty="0" smtClean="0">
                <a:sym typeface="Symbol" panose="05050102010706020507" pitchFamily="18" charset="2"/>
              </a:rPr>
              <a:t>16</a:t>
            </a:r>
            <a:r>
              <a:rPr lang="ro-RO" sz="2800" dirty="0" smtClean="0">
                <a:sym typeface="Symbol" panose="05050102010706020507" pitchFamily="18" charset="2"/>
              </a:rPr>
              <a:t> = (8 x 16 + 2) = 130</a:t>
            </a:r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F4A8D-C7C4-4094-8F42-D0409E1070F5}" type="slidenum">
              <a:rPr lang="ro-RO" smtClean="0"/>
              <a:pPr/>
              <a:t>21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133215"/>
              </p:ext>
            </p:extLst>
          </p:nvPr>
        </p:nvGraphicFramePr>
        <p:xfrm>
          <a:off x="1460004" y="1246092"/>
          <a:ext cx="6216351" cy="41757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24202"/>
                <a:gridCol w="1011630"/>
                <a:gridCol w="936104"/>
                <a:gridCol w="504056"/>
                <a:gridCol w="720080"/>
                <a:gridCol w="1008112"/>
                <a:gridCol w="15121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Pas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b="0" dirty="0" smtClean="0">
                          <a:solidFill>
                            <a:srgbClr val="002060"/>
                          </a:solidFill>
                        </a:rPr>
                        <a:t>A</a:t>
                      </a:r>
                      <a:endParaRPr lang="en-US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 (Y)</a:t>
                      </a:r>
                      <a:endParaRPr lang="en-US" sz="2000" b="0" dirty="0">
                        <a:solidFill>
                          <a:srgbClr val="00206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o-RO" sz="2000" b="0" baseline="-25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sz="2000" b="0" dirty="0">
                        <a:solidFill>
                          <a:srgbClr val="00206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o-RO" sz="2000" b="0" baseline="-25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o-RO" sz="20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o-RO" sz="2000" b="0" baseline="-25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sz="2000" b="0" dirty="0">
                        <a:solidFill>
                          <a:srgbClr val="00206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 (X)</a:t>
                      </a:r>
                      <a:endParaRPr lang="en-US" sz="2000" b="0" dirty="0">
                        <a:solidFill>
                          <a:srgbClr val="00206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solidFill>
                      <a:srgbClr val="7CC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b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Operații</a:t>
                      </a:r>
                      <a:endParaRPr lang="en-US" sz="2000" b="0" dirty="0">
                        <a:solidFill>
                          <a:srgbClr val="00206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>
                    <a:solidFill>
                      <a:srgbClr val="7CC6D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1 0110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Inițializare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0 0000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0 1011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1 0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0 1101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shr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1 0011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1001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0 1011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1 0101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ro-RO" sz="200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- B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shr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1100+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1 1010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shr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0 1001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0100+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1 1010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ro-RO" sz="2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+ B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shr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1 0011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1 0111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00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u="sng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1011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marL="36195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marL="36195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1 1110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0 1</a:t>
                      </a:r>
                      <a:endParaRPr lang="en-US" sz="200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ro-RO" sz="2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1101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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 - B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ro-RO" sz="20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shr</a:t>
                      </a:r>
                      <a:r>
                        <a:rPr lang="ro-RO" sz="20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(A_Q)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7945" marR="6794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2788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96670"/>
          </a:xfrm>
        </p:spPr>
        <p:txBody>
          <a:bodyPr/>
          <a:lstStyle/>
          <a:p>
            <a:r>
              <a:rPr lang="ro-RO" sz="3300" dirty="0"/>
              <a:t>Circuitul de înmulțire prin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deplasare și adunare </a:t>
            </a:r>
            <a:r>
              <a:rPr lang="ro-RO" sz="3300" dirty="0"/>
              <a:t>implementează metoda de înmulțire obișnuită</a:t>
            </a:r>
          </a:p>
          <a:p>
            <a:pPr lvl="1"/>
            <a:r>
              <a:rPr lang="ro-RO" sz="2900" dirty="0"/>
              <a:t>Circuitul poate fi optimizat pentru a utiliza registre de </a:t>
            </a:r>
            <a:r>
              <a:rPr lang="ro-RO" sz="2900" i="1" dirty="0"/>
              <a:t>n</a:t>
            </a:r>
            <a:r>
              <a:rPr lang="ro-RO" sz="2900" dirty="0"/>
              <a:t> biți și un sumator de </a:t>
            </a:r>
            <a:r>
              <a:rPr lang="ro-RO" sz="2900" i="1" dirty="0"/>
              <a:t>n</a:t>
            </a:r>
            <a:r>
              <a:rPr lang="ro-RO" sz="2900" dirty="0"/>
              <a:t> biți</a:t>
            </a:r>
          </a:p>
          <a:p>
            <a:r>
              <a:rPr lang="ro-RO" sz="3300" dirty="0"/>
              <a:t>Înmulțirea prin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tehnica </a:t>
            </a:r>
            <a:r>
              <a:rPr lang="ro-RO" sz="33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Booth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/>
              <a:t>testează </a:t>
            </a:r>
            <a:r>
              <a:rPr lang="ro-RO" sz="3300" dirty="0" smtClean="0"/>
              <a:t>doi biți ai înmulțitorului în fiecare pas</a:t>
            </a:r>
          </a:p>
          <a:p>
            <a:pPr lvl="1"/>
            <a:r>
              <a:rPr lang="ro-RO" sz="2900" dirty="0" smtClean="0"/>
              <a:t>Elimină necesitatea conversiei operanzilor la numere pozitive</a:t>
            </a:r>
            <a:endParaRPr lang="ro-RO" sz="2900" dirty="0"/>
          </a:p>
          <a:p>
            <a:pPr lvl="1"/>
            <a:r>
              <a:rPr lang="ro-RO" sz="2900" dirty="0" smtClean="0"/>
              <a:t>Permite </a:t>
            </a:r>
            <a:r>
              <a:rPr lang="ro-RO" sz="2900" dirty="0"/>
              <a:t>operații cu numere cu semn (în C2</a:t>
            </a:r>
            <a:r>
              <a:rPr lang="ro-RO" sz="2900" dirty="0" smtClean="0"/>
              <a:t>)</a:t>
            </a:r>
          </a:p>
          <a:p>
            <a:pPr lvl="1"/>
            <a:r>
              <a:rPr lang="ro-RO" sz="2900" dirty="0" smtClean="0"/>
              <a:t>Poate </a:t>
            </a:r>
            <a:r>
              <a:rPr lang="ro-RO" sz="2900" dirty="0"/>
              <a:t>reduce numărul operațiilor </a:t>
            </a:r>
            <a:r>
              <a:rPr lang="ro-RO" sz="2900" dirty="0" smtClean="0"/>
              <a:t>necesare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F4A8D-C7C4-4094-8F42-D0409E1070F5}" type="slidenum">
              <a:rPr lang="ro-RO" smtClean="0"/>
              <a:pPr/>
              <a:t>22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332562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3410164"/>
          </a:xfrm>
        </p:spPr>
        <p:txBody>
          <a:bodyPr/>
          <a:lstStyle/>
          <a:p>
            <a:pPr marL="576000" lvl="1"/>
            <a:r>
              <a:rPr lang="ro-RO" dirty="0"/>
              <a:t>Versiunea finală a circuitului de înmulțire prin deplasare și adunare</a:t>
            </a:r>
          </a:p>
          <a:p>
            <a:pPr marL="576000" lvl="1">
              <a:spcBef>
                <a:spcPts val="768"/>
              </a:spcBef>
            </a:pPr>
            <a:r>
              <a:rPr lang="ro-RO" dirty="0"/>
              <a:t>Versiunea finală a algoritmului de înmulțire prin deplasare și adunare</a:t>
            </a:r>
          </a:p>
          <a:p>
            <a:pPr marL="576000" lvl="1">
              <a:spcBef>
                <a:spcPts val="768"/>
              </a:spcBef>
            </a:pPr>
            <a:r>
              <a:rPr lang="ro-RO" dirty="0"/>
              <a:t>Execuția operației de înmulțire prin tehnica </a:t>
            </a:r>
            <a:r>
              <a:rPr lang="ro-RO" dirty="0" err="1"/>
              <a:t>Booth</a:t>
            </a:r>
            <a:endParaRPr lang="ro-RO" dirty="0"/>
          </a:p>
          <a:p>
            <a:pPr marL="576000" lvl="1">
              <a:spcBef>
                <a:spcPts val="768"/>
              </a:spcBef>
            </a:pPr>
            <a:r>
              <a:rPr lang="ro-RO" dirty="0"/>
              <a:t>Avantaje ale tehnicii de înmulțire </a:t>
            </a:r>
            <a:r>
              <a:rPr lang="ro-RO" dirty="0" err="1" smtClean="0"/>
              <a:t>Booth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F4A8D-C7C4-4094-8F42-D0409E1070F5}" type="slidenum">
              <a:rPr lang="ro-RO" smtClean="0"/>
              <a:pPr/>
              <a:t>23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(02-2)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3269193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2497</TotalTime>
  <Words>1278</Words>
  <Application>Microsoft Office PowerPoint</Application>
  <PresentationFormat>On-screen Show (4:3)</PresentationFormat>
  <Paragraphs>353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Symbol</vt:lpstr>
      <vt:lpstr>Times New Roman</vt:lpstr>
      <vt:lpstr>Wingdings</vt:lpstr>
      <vt:lpstr>Dark Blue Swoosh-modified</vt:lpstr>
      <vt:lpstr>Dark Blue Swoosh-modif</vt:lpstr>
      <vt:lpstr>2. Unitatea aritmetică și logică</vt:lpstr>
      <vt:lpstr>Înmulțirea</vt:lpstr>
      <vt:lpstr>Înmulțirea</vt:lpstr>
      <vt:lpstr>Înmulțirea</vt:lpstr>
      <vt:lpstr>Înmulțirea prin deplasare și adunare (1)</vt:lpstr>
      <vt:lpstr>Înmulțirea prin deplasare și adunare (2)</vt:lpstr>
      <vt:lpstr>Înmulțirea prin deplasare și adunare (3)</vt:lpstr>
      <vt:lpstr>Înmulțirea prin deplasare și adunare (4)</vt:lpstr>
      <vt:lpstr>Înmulțirea prin deplasare și adunare (5)</vt:lpstr>
      <vt:lpstr>Înmulțirea prin deplasare și adunare (6)</vt:lpstr>
      <vt:lpstr>Înmulțirea prin deplasare și adunare (7)</vt:lpstr>
      <vt:lpstr>Înmulțirea prin deplasare și adunare (8)</vt:lpstr>
      <vt:lpstr>Înmulțirea prin deplasare și adunare (9)</vt:lpstr>
      <vt:lpstr>Înmulțirea</vt:lpstr>
      <vt:lpstr>Tehnica Booth (1)</vt:lpstr>
      <vt:lpstr>Tehnica Booth (2)</vt:lpstr>
      <vt:lpstr>Tehnica Booth (3)</vt:lpstr>
      <vt:lpstr>Tehnica Booth (4)</vt:lpstr>
      <vt:lpstr>Tehnica Booth (5)</vt:lpstr>
      <vt:lpstr>Tehnica Booth (6)</vt:lpstr>
      <vt:lpstr>Tehnica Booth (7)</vt:lpstr>
      <vt:lpstr>Rezumat</vt:lpstr>
      <vt:lpstr>Noțiuni, cunoștințe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SSC-Inmultire-1</dc:title>
  <dc:creator>Baruch Zoltan</dc:creator>
  <cp:lastModifiedBy>Baruch Zoltan</cp:lastModifiedBy>
  <cp:revision>173</cp:revision>
  <cp:lastPrinted>1601-01-01T00:00:00Z</cp:lastPrinted>
  <dcterms:created xsi:type="dcterms:W3CDTF">2002-05-22T18:25:20Z</dcterms:created>
  <dcterms:modified xsi:type="dcterms:W3CDTF">2018-03-10T12:54:42Z</dcterms:modified>
</cp:coreProperties>
</file>