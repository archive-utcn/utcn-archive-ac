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  <p:sldMasterId id="2147483691" r:id="rId2"/>
  </p:sldMasterIdLst>
  <p:notesMasterIdLst>
    <p:notesMasterId r:id="rId39"/>
  </p:notesMasterIdLst>
  <p:handoutMasterIdLst>
    <p:handoutMasterId r:id="rId40"/>
  </p:handoutMasterIdLst>
  <p:sldIdLst>
    <p:sldId id="315" r:id="rId3"/>
    <p:sldId id="294" r:id="rId4"/>
    <p:sldId id="316" r:id="rId5"/>
    <p:sldId id="295" r:id="rId6"/>
    <p:sldId id="279" r:id="rId7"/>
    <p:sldId id="296" r:id="rId8"/>
    <p:sldId id="297" r:id="rId9"/>
    <p:sldId id="298" r:id="rId10"/>
    <p:sldId id="299" r:id="rId11"/>
    <p:sldId id="300" r:id="rId12"/>
    <p:sldId id="280" r:id="rId13"/>
    <p:sldId id="290" r:id="rId14"/>
    <p:sldId id="301" r:id="rId15"/>
    <p:sldId id="302" r:id="rId16"/>
    <p:sldId id="291" r:id="rId17"/>
    <p:sldId id="303" r:id="rId18"/>
    <p:sldId id="292" r:id="rId19"/>
    <p:sldId id="281" r:id="rId20"/>
    <p:sldId id="304" r:id="rId21"/>
    <p:sldId id="305" r:id="rId22"/>
    <p:sldId id="306" r:id="rId23"/>
    <p:sldId id="282" r:id="rId24"/>
    <p:sldId id="307" r:id="rId25"/>
    <p:sldId id="293" r:id="rId26"/>
    <p:sldId id="317" r:id="rId27"/>
    <p:sldId id="323" r:id="rId28"/>
    <p:sldId id="318" r:id="rId29"/>
    <p:sldId id="319" r:id="rId30"/>
    <p:sldId id="320" r:id="rId31"/>
    <p:sldId id="321" r:id="rId32"/>
    <p:sldId id="322" r:id="rId33"/>
    <p:sldId id="324" r:id="rId34"/>
    <p:sldId id="325" r:id="rId35"/>
    <p:sldId id="327" r:id="rId36"/>
    <p:sldId id="328" r:id="rId37"/>
    <p:sldId id="308" r:id="rId3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85269" autoAdjust="0"/>
  </p:normalViewPr>
  <p:slideViewPr>
    <p:cSldViewPr>
      <p:cViewPr varScale="1">
        <p:scale>
          <a:sx n="143" d="100"/>
          <a:sy n="143" d="100"/>
        </p:scale>
        <p:origin x="333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7" d="100"/>
          <a:sy n="127" d="100"/>
        </p:scale>
        <p:origin x="4900" y="8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o-RO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2106195-3527-43F8-A619-B616803C5A37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591545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7BD22775-0BF5-42A8-B0D5-AA127DEAA75B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193334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11371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71093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90828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28743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25814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60361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55138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73045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16180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203809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10533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01360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983721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91962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891853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236608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289982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771046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430742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344462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691400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22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856463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977760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24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46191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942940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393058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27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063375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28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918426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29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207349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830637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31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050694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32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422319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33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39972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006240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969263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22775-0BF5-42A8-B0D5-AA127DEAA75B}" type="slidenum">
              <a:rPr lang="ro-RO" smtClean="0"/>
              <a:pPr/>
              <a:t>36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87972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gi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75375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8276F8B5-C0B4-4486-A20C-5ADB845A49AE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dirty="0" smtClean="0"/>
              <a:t>Structura sistemelor de calcul (02-3)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n w="3175">
                  <a:noFill/>
                </a:ln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36000">
                      <a:schemeClr val="accent3">
                        <a:lumMod val="60000"/>
                        <a:lumOff val="40000"/>
                      </a:schemeClr>
                    </a:gs>
                    <a:gs pos="86000">
                      <a:schemeClr val="accent3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24437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FD2939E8-6D38-4137-8425-3EE1B5C9AE97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dirty="0" smtClean="0"/>
              <a:t>Structura sistemelor de calcul (02-3)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753751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753751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462A66F-AEF4-4F86-B883-64AEFBF04060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3990429"/>
          </a:xfrm>
        </p:spPr>
        <p:txBody>
          <a:bodyPr/>
          <a:lstStyle>
            <a:lvl1pPr marL="281770" indent="-281770">
              <a:defRPr sz="2400"/>
            </a:lvl1pPr>
            <a:lvl2pPr marL="562218" indent="-265896">
              <a:defRPr sz="22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3990429"/>
          </a:xfrm>
        </p:spPr>
        <p:txBody>
          <a:bodyPr/>
          <a:lstStyle>
            <a:lvl1pPr marL="296321" indent="-296321">
              <a:defRPr sz="2400"/>
            </a:lvl1pPr>
            <a:lvl2pPr marL="570155" indent="-273833">
              <a:defRPr sz="22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1D7C87D-A684-403E-8C49-660D84BD1851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0C9B3F0-6B0D-4D8F-87C3-7B3E7EBAA8EE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BAB418-A4F0-4D4A-A5FD-BCF2B35160BB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276F8B5-C0B4-4486-A20C-5ADB845A49AE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48072"/>
          </a:xfrm>
        </p:spPr>
        <p:txBody>
          <a:bodyPr/>
          <a:lstStyle>
            <a:lvl1pPr algn="ctr">
              <a:defRPr sz="4400"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61048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Structura sistemelor de calcul (02-3)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76F8B5-C0B4-4486-A20C-5ADB845A49AE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4135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95536" y="1524000"/>
            <a:ext cx="8352928" cy="22098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536" y="3886200"/>
            <a:ext cx="8352928" cy="22098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/>
            </a:lvl1pPr>
          </a:lstStyle>
          <a:p>
            <a:r>
              <a:rPr lang="ro-RO"/>
              <a:t>Structura sistemelor de calcul (02-3)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/>
            </a:lvl1pPr>
          </a:lstStyle>
          <a:p>
            <a:fld id="{AA5B3FA9-1AD8-474D-A820-16407B3183EE}" type="slidenum">
              <a:rPr lang="ro-RO"/>
              <a:pPr/>
              <a:t>‹#›</a:t>
            </a:fld>
            <a:endParaRPr lang="ro-RO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897768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897767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897767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54AF97-6E84-46A2-B98D-D31059C06419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4134445"/>
          </a:xfrm>
        </p:spPr>
        <p:txBody>
          <a:bodyPr/>
          <a:lstStyle>
            <a:lvl1pPr marL="281770" indent="-281770">
              <a:defRPr sz="2800"/>
            </a:lvl1pPr>
            <a:lvl2pPr marL="562218" indent="-265896">
              <a:defRPr sz="24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4134445"/>
          </a:xfrm>
        </p:spPr>
        <p:txBody>
          <a:bodyPr/>
          <a:lstStyle>
            <a:lvl1pPr marL="296321" indent="-296321">
              <a:defRPr sz="2800"/>
            </a:lvl1pPr>
            <a:lvl2pPr marL="570155" indent="-273833">
              <a:defRPr sz="24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B781DE-7E8D-40A1-84D4-25F25E8079DB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EC91A5-F5CB-4ED5-B8DB-DC4BB8D1C78C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336754-5158-443C-B27D-03E06682E8E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09398"/>
          </a:xfrm>
        </p:spPr>
        <p:txBody>
          <a:bodyPr/>
          <a:lstStyle>
            <a:lvl1pPr algn="ctr">
              <a:defRPr sz="4400"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86200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Structura sistemelor de calcul (02-3)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166936-3B85-4C03-AB82-F1A9CD13B768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879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dirty="0" smtClean="0"/>
              <a:t>Structura sistemelor de calcul (02-3)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276F8B5-C0B4-4486-A20C-5ADB845A49AE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9" r:id="rId11"/>
    <p:sldLayoutId id="2147483690" r:id="rId12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6000">
                <a:schemeClr val="accent3">
                  <a:lumMod val="60000"/>
                  <a:lumOff val="40000"/>
                </a:schemeClr>
              </a:gs>
              <a:gs pos="86000">
                <a:schemeClr val="accent3">
                  <a:lumMod val="75000"/>
                </a:schemeClr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09320"/>
            <a:ext cx="216024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09320"/>
            <a:ext cx="289560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 smtClean="0"/>
              <a:t>Structura sistemelor de calcul (02-3)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09320"/>
            <a:ext cx="2160240" cy="4121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Înmulțirea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358116"/>
          </a:xfrm>
        </p:spPr>
        <p:txBody>
          <a:bodyPr/>
          <a:lstStyle/>
          <a:p>
            <a:endParaRPr lang="en-US" dirty="0" smtClean="0">
              <a:solidFill>
                <a:schemeClr val="tx2"/>
              </a:solidFill>
            </a:endParaRP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Înmulțirea</a:t>
            </a:r>
          </a:p>
          <a:p>
            <a:pPr lvl="1"/>
            <a:r>
              <a:rPr lang="ro-RO" dirty="0" smtClean="0"/>
              <a:t>Înmulțirea prin deplasare și adunare</a:t>
            </a:r>
          </a:p>
          <a:p>
            <a:pPr lvl="1"/>
            <a:r>
              <a:rPr lang="ro-RO" dirty="0" smtClean="0"/>
              <a:t>Tehnica </a:t>
            </a:r>
            <a:r>
              <a:rPr lang="ro-RO" dirty="0" err="1" smtClean="0"/>
              <a:t>Booth</a:t>
            </a:r>
            <a:endParaRPr lang="ro-RO" dirty="0" smtClean="0"/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Înmulțirea într-o bază superioară</a:t>
            </a:r>
          </a:p>
          <a:p>
            <a:pPr lvl="1"/>
            <a:r>
              <a:rPr lang="ro-RO" dirty="0" smtClean="0"/>
              <a:t>Înmulțirea matriceală</a:t>
            </a:r>
          </a:p>
          <a:p>
            <a:pPr lvl="1"/>
            <a:r>
              <a:rPr lang="ro-RO" dirty="0" smtClean="0"/>
              <a:t>Arborele Wallace</a:t>
            </a:r>
            <a:r>
              <a:rPr lang="en-US" dirty="0" smtClean="0"/>
              <a:t> </a:t>
            </a:r>
            <a:endParaRPr lang="ro-RO" dirty="0" smtClean="0"/>
          </a:p>
          <a:p>
            <a:pPr lvl="1"/>
            <a:r>
              <a:rPr lang="ro-RO" dirty="0"/>
              <a:t>Circuite de </a:t>
            </a:r>
            <a:r>
              <a:rPr lang="ro-RO" dirty="0" smtClean="0"/>
              <a:t>înmulțire </a:t>
            </a:r>
            <a:r>
              <a:rPr lang="ro-RO" i="1" dirty="0" err="1" smtClean="0"/>
              <a:t>pipeline</a:t>
            </a:r>
            <a:endParaRPr lang="ro-RO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2939E8-6D38-4137-8425-3EE1B5C9AE97}" type="slidenum">
              <a:rPr lang="ro-RO" smtClean="0"/>
              <a:pPr/>
              <a:t>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74638"/>
            <a:ext cx="8352928" cy="706090"/>
          </a:xfrm>
        </p:spPr>
        <p:txBody>
          <a:bodyPr>
            <a:normAutofit/>
          </a:bodyPr>
          <a:lstStyle/>
          <a:p>
            <a:r>
              <a:rPr lang="ro-RO" dirty="0" smtClean="0"/>
              <a:t>Înmulțirea </a:t>
            </a:r>
            <a:r>
              <a:rPr lang="ro-RO" dirty="0"/>
              <a:t>într-o bază superioară</a:t>
            </a:r>
            <a:r>
              <a:rPr lang="en-US" dirty="0"/>
              <a:t> (1)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67464" cy="4918269"/>
          </a:xfrm>
        </p:spPr>
        <p:txBody>
          <a:bodyPr/>
          <a:lstStyle/>
          <a:p>
            <a:r>
              <a:rPr lang="ro-RO" dirty="0">
                <a:cs typeface="Times New Roman" pitchFamily="18" charset="0"/>
              </a:rPr>
              <a:t>Se examineaz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mai </a:t>
            </a:r>
            <a:r>
              <a:rPr lang="ro-RO" dirty="0" smtClean="0">
                <a:cs typeface="Times New Roman" pitchFamily="18" charset="0"/>
              </a:rPr>
              <a:t>mulți biți </a:t>
            </a:r>
            <a:r>
              <a:rPr lang="ro-RO" dirty="0">
                <a:cs typeface="Times New Roman" pitchFamily="18" charset="0"/>
              </a:rPr>
              <a:t>ai </a:t>
            </a:r>
            <a:r>
              <a:rPr lang="ro-RO" dirty="0" smtClean="0">
                <a:cs typeface="Times New Roman" pitchFamily="18" charset="0"/>
              </a:rPr>
              <a:t>înmulțitorului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dirty="0">
                <a:cs typeface="Times New Roman" pitchFamily="18" charset="0"/>
              </a:rPr>
              <a:t>  în fiecare pas </a:t>
            </a:r>
            <a:r>
              <a:rPr lang="ro-RO" dirty="0" smtClean="0">
                <a:cs typeface="Times New Roman" pitchFamily="18" charset="0"/>
                <a:sym typeface="Symbol"/>
              </a:rPr>
              <a:t> crește viteza operației 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Înmulțire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în baza 4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sunt </a:t>
            </a:r>
            <a:r>
              <a:rPr lang="ro-RO" dirty="0" smtClean="0">
                <a:cs typeface="Times New Roman" pitchFamily="18" charset="0"/>
              </a:rPr>
              <a:t>examinați </a:t>
            </a:r>
            <a:r>
              <a:rPr lang="ro-RO" dirty="0">
                <a:cs typeface="Times New Roman" pitchFamily="18" charset="0"/>
              </a:rPr>
              <a:t>2 </a:t>
            </a:r>
            <a:r>
              <a:rPr lang="ro-RO" dirty="0" smtClean="0">
                <a:cs typeface="Times New Roman" pitchFamily="18" charset="0"/>
              </a:rPr>
              <a:t>biți </a:t>
            </a:r>
            <a:endParaRPr lang="ro-RO" dirty="0"/>
          </a:p>
          <a:p>
            <a:pPr lvl="2"/>
            <a:r>
              <a:rPr lang="ro-RO" dirty="0">
                <a:cs typeface="Times New Roman" pitchFamily="18" charset="0"/>
              </a:rPr>
              <a:t>00: </a:t>
            </a:r>
            <a:r>
              <a:rPr lang="ro-RO" dirty="0" smtClean="0">
                <a:cs typeface="Times New Roman" pitchFamily="18" charset="0"/>
              </a:rPr>
              <a:t>nu se execută </a:t>
            </a:r>
            <a:r>
              <a:rPr lang="ro-RO" dirty="0">
                <a:cs typeface="Times New Roman" pitchFamily="18" charset="0"/>
              </a:rPr>
              <a:t>adunare</a:t>
            </a:r>
            <a:r>
              <a:rPr lang="ro-RO" dirty="0"/>
              <a:t> </a:t>
            </a:r>
          </a:p>
          <a:p>
            <a:pPr lvl="2"/>
            <a:r>
              <a:rPr lang="ro-RO" dirty="0">
                <a:cs typeface="Times New Roman" pitchFamily="18" charset="0"/>
              </a:rPr>
              <a:t>01: se adun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la produsul </a:t>
            </a:r>
            <a:r>
              <a:rPr lang="ro-RO" dirty="0" smtClean="0">
                <a:cs typeface="Times New Roman" pitchFamily="18" charset="0"/>
              </a:rPr>
              <a:t>parțial </a:t>
            </a:r>
            <a:endParaRPr lang="ro-RO" dirty="0">
              <a:cs typeface="Times New Roman" pitchFamily="18" charset="0"/>
            </a:endParaRPr>
          </a:p>
          <a:p>
            <a:pPr lvl="2"/>
            <a:r>
              <a:rPr lang="ro-RO" dirty="0">
                <a:cs typeface="Times New Roman" pitchFamily="18" charset="0"/>
              </a:rPr>
              <a:t>10: se adun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2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cs typeface="Times New Roman" pitchFamily="18" charset="0"/>
              </a:rPr>
              <a:t> la produsul </a:t>
            </a:r>
            <a:r>
              <a:rPr lang="ro-RO" dirty="0" smtClean="0">
                <a:cs typeface="Times New Roman" pitchFamily="18" charset="0"/>
              </a:rPr>
              <a:t>parțial </a:t>
            </a:r>
            <a:endParaRPr lang="ro-RO" dirty="0">
              <a:cs typeface="Times New Roman" pitchFamily="18" charset="0"/>
            </a:endParaRPr>
          </a:p>
          <a:p>
            <a:pPr lvl="2"/>
            <a:r>
              <a:rPr lang="ro-RO" dirty="0">
                <a:cs typeface="Times New Roman" pitchFamily="18" charset="0"/>
              </a:rPr>
              <a:t>11: se adun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+ 2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la produsul </a:t>
            </a:r>
            <a:r>
              <a:rPr lang="ro-RO" dirty="0" smtClean="0">
                <a:cs typeface="Times New Roman" pitchFamily="18" charset="0"/>
              </a:rPr>
              <a:t>parțial </a:t>
            </a:r>
            <a:endParaRPr lang="ro-RO" dirty="0">
              <a:cs typeface="Times New Roman" pitchFamily="18" charset="0"/>
            </a:endParaRPr>
          </a:p>
          <a:p>
            <a:pPr lvl="1"/>
            <a:r>
              <a:rPr lang="ro-RO" dirty="0">
                <a:cs typeface="Times New Roman" pitchFamily="18" charset="0"/>
              </a:rPr>
              <a:t>Calculul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+ 2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poate fi evitat prin utilizarea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tehnicii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Booth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în baza 4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25FD93-87B1-4E35-AB0F-2E39027950B3}" type="slidenum">
              <a:rPr lang="ro-RO"/>
              <a:pPr/>
              <a:t>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Înmulțirea </a:t>
            </a:r>
            <a:r>
              <a:rPr lang="ro-RO" dirty="0"/>
              <a:t>într-o bază superioară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ro-RO" dirty="0" smtClean="0"/>
              <a:t>2</a:t>
            </a:r>
            <a:r>
              <a:rPr lang="en-US" dirty="0" smtClean="0"/>
              <a:t>)</a:t>
            </a:r>
            <a:endParaRPr lang="ro-RO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4595275"/>
              </p:ext>
            </p:extLst>
          </p:nvPr>
        </p:nvGraphicFramePr>
        <p:xfrm>
          <a:off x="611560" y="1772816"/>
          <a:ext cx="7920880" cy="41148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792087"/>
                <a:gridCol w="720080"/>
                <a:gridCol w="792088"/>
                <a:gridCol w="5616625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y</a:t>
                      </a:r>
                      <a:r>
                        <a:rPr kumimoji="0" lang="ro-RO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2i+1</a:t>
                      </a:r>
                    </a:p>
                  </a:txBody>
                  <a:tcPr marT="38100" marB="38100"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y</a:t>
                      </a:r>
                      <a:r>
                        <a:rPr kumimoji="0" lang="ro-RO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2i</a:t>
                      </a:r>
                    </a:p>
                  </a:txBody>
                  <a:tcPr marT="38100" marB="38100"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y</a:t>
                      </a:r>
                      <a:r>
                        <a:rPr kumimoji="0" lang="ro-RO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2i-1</a:t>
                      </a:r>
                    </a:p>
                  </a:txBody>
                  <a:tcPr marT="38100" marB="38100"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Operații</a:t>
                      </a:r>
                    </a:p>
                  </a:txBody>
                  <a:tcPr marT="38100" marB="38100"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charset="0"/>
                        </a:rPr>
                        <a:t>Deplasare la dreapta cu dou</a:t>
                      </a: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ă</a:t>
                      </a: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charset="0"/>
                        </a:rPr>
                        <a:t> poziții</a:t>
                      </a: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T="38100" marB="38100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charset="0"/>
                        </a:rPr>
                        <a:t>Adunare X, deplasare la dreapta cu două poziții</a:t>
                      </a: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T="38100" marB="38100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charset="0"/>
                        </a:rPr>
                        <a:t>Adunare X, deplasare la dreapta cu două poziții</a:t>
                      </a:r>
                    </a:p>
                  </a:txBody>
                  <a:tcPr marT="38100" marB="38100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charset="0"/>
                        </a:rPr>
                        <a:t>Adunare </a:t>
                      </a: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2</a:t>
                      </a: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charset="0"/>
                        </a:rPr>
                        <a:t>X, deplasare la dreapta cu două poziții</a:t>
                      </a:r>
                    </a:p>
                  </a:txBody>
                  <a:tcPr marT="38100" marB="38100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charset="0"/>
                        </a:rPr>
                        <a:t>Adunare </a:t>
                      </a: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-2X</a:t>
                      </a: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charset="0"/>
                        </a:rPr>
                        <a:t>, deplasare la dreapta cu două poziții</a:t>
                      </a:r>
                    </a:p>
                  </a:txBody>
                  <a:tcPr marT="38100" marB="38100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charset="0"/>
                        </a:rPr>
                        <a:t>Adunare </a:t>
                      </a: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-X</a:t>
                      </a: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charset="0"/>
                        </a:rPr>
                        <a:t>, deplasare la dreapta cu două poziții</a:t>
                      </a:r>
                    </a:p>
                  </a:txBody>
                  <a:tcPr marT="38100" marB="38100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charset="0"/>
                        </a:rPr>
                        <a:t>Adunare </a:t>
                      </a: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-X</a:t>
                      </a: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charset="0"/>
                        </a:rPr>
                        <a:t>, deplasare la dreapta cu două poziții</a:t>
                      </a:r>
                    </a:p>
                  </a:txBody>
                  <a:tcPr marT="38100" marB="38100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Arial" charset="0"/>
                        </a:rPr>
                        <a:t>Deplasare la dreapta cu două poziții</a:t>
                      </a:r>
                    </a:p>
                  </a:txBody>
                  <a:tcPr marT="38100" marB="38100" anchor="ctr" horzOverflow="overflow"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2939E8-6D38-4137-8425-3EE1B5C9AE97}" type="slidenum">
              <a:rPr lang="ro-RO" smtClean="0"/>
              <a:pPr/>
              <a:t>3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74638"/>
            <a:ext cx="8352928" cy="706090"/>
          </a:xfrm>
        </p:spPr>
        <p:txBody>
          <a:bodyPr>
            <a:normAutofit/>
          </a:bodyPr>
          <a:lstStyle/>
          <a:p>
            <a:r>
              <a:rPr lang="ro-RO" dirty="0" smtClean="0"/>
              <a:t>Înmulțirea </a:t>
            </a:r>
            <a:r>
              <a:rPr lang="ro-RO" dirty="0"/>
              <a:t>într-o bază superioară</a:t>
            </a:r>
            <a:r>
              <a:rPr lang="en-US" dirty="0"/>
              <a:t> (3)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>
                <a:cs typeface="Times New Roman" pitchFamily="18" charset="0"/>
              </a:rPr>
              <a:t>Un alt nume al </a:t>
            </a:r>
            <a:r>
              <a:rPr lang="ro-RO" dirty="0" smtClean="0">
                <a:cs typeface="Times New Roman" pitchFamily="18" charset="0"/>
              </a:rPr>
              <a:t>tehnicii </a:t>
            </a:r>
            <a:r>
              <a:rPr lang="ro-RO" dirty="0" err="1" smtClean="0">
                <a:cs typeface="Times New Roman" pitchFamily="18" charset="0"/>
              </a:rPr>
              <a:t>Booth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în baza 4: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înmulțirea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cu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tripleți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suprapuși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lvl="1"/>
            <a:r>
              <a:rPr lang="ro-RO" dirty="0">
                <a:cs typeface="Times New Roman" pitchFamily="18" charset="0"/>
              </a:rPr>
              <a:t>Registrul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trebuie 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aib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o </a:t>
            </a:r>
            <a:r>
              <a:rPr lang="ro-RO" dirty="0" smtClean="0">
                <a:cs typeface="Times New Roman" pitchFamily="18" charset="0"/>
              </a:rPr>
              <a:t>poziție </a:t>
            </a:r>
            <a:r>
              <a:rPr lang="ro-RO" dirty="0">
                <a:cs typeface="Times New Roman" pitchFamily="18" charset="0"/>
              </a:rPr>
              <a:t>suplimentar</a:t>
            </a:r>
            <a:r>
              <a:rPr lang="ro-RO" dirty="0"/>
              <a:t>ă</a:t>
            </a:r>
            <a:endParaRPr lang="ro-RO" dirty="0">
              <a:cs typeface="Times New Roman" pitchFamily="18" charset="0"/>
            </a:endParaRP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Avantaj suplimentar</a:t>
            </a:r>
            <a:r>
              <a:rPr lang="ro-RO" dirty="0">
                <a:cs typeface="Times New Roman" pitchFamily="18" charset="0"/>
              </a:rPr>
              <a:t>: metoda poate fi utilizat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pentru numere f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semn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pentru numere cu semn reprezentate în C2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Versiunea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în baza 8 </a:t>
            </a:r>
            <a:r>
              <a:rPr lang="ro-RO" dirty="0">
                <a:cs typeface="Times New Roman" pitchFamily="18" charset="0"/>
              </a:rPr>
              <a:t>a </a:t>
            </a:r>
            <a:r>
              <a:rPr lang="ro-RO" dirty="0" smtClean="0">
                <a:cs typeface="Times New Roman" pitchFamily="18" charset="0"/>
              </a:rPr>
              <a:t>tehnicii </a:t>
            </a:r>
            <a:r>
              <a:rPr lang="ro-RO" dirty="0" err="1" smtClean="0">
                <a:cs typeface="Times New Roman" pitchFamily="18" charset="0"/>
              </a:rPr>
              <a:t>Booth</a:t>
            </a:r>
            <a:r>
              <a:rPr lang="ro-RO" dirty="0" smtClean="0">
                <a:cs typeface="Times New Roman" pitchFamily="18" charset="0"/>
              </a:rPr>
              <a:t>: t</a:t>
            </a:r>
            <a:r>
              <a:rPr lang="ro-RO" dirty="0" smtClean="0"/>
              <a:t>rebuie să se </a:t>
            </a:r>
            <a:r>
              <a:rPr lang="ro-RO" dirty="0" smtClean="0">
                <a:cs typeface="Times New Roman" pitchFamily="18" charset="0"/>
              </a:rPr>
              <a:t>gener</a:t>
            </a:r>
            <a:r>
              <a:rPr lang="ro-RO" dirty="0" smtClean="0"/>
              <a:t>eze valoarea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3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47579B-6E16-4378-852E-D0D6789EED46}" type="slidenum">
              <a:rPr lang="ro-RO"/>
              <a:pPr/>
              <a:t>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Înmulțirea</a:t>
            </a:r>
            <a:endParaRPr lang="ro-RO" dirty="0"/>
          </a:p>
        </p:txBody>
      </p:sp>
      <p:sp>
        <p:nvSpPr>
          <p:cNvPr id="190467" name="Rectangle 1027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358116"/>
          </a:xfrm>
        </p:spPr>
        <p:txBody>
          <a:bodyPr/>
          <a:lstStyle/>
          <a:p>
            <a:endParaRPr lang="en-US" dirty="0">
              <a:solidFill>
                <a:schemeClr val="tx2"/>
              </a:solidFill>
            </a:endParaRP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Înmulțirea</a:t>
            </a:r>
          </a:p>
          <a:p>
            <a:pPr lvl="1"/>
            <a:r>
              <a:rPr lang="ro-RO" dirty="0" smtClean="0"/>
              <a:t>Înmulțirea </a:t>
            </a:r>
            <a:r>
              <a:rPr lang="ro-RO" dirty="0"/>
              <a:t>prin deplasare </a:t>
            </a:r>
            <a:r>
              <a:rPr lang="ro-RO" dirty="0" smtClean="0"/>
              <a:t>și </a:t>
            </a:r>
            <a:r>
              <a:rPr lang="ro-RO" dirty="0"/>
              <a:t>adunare</a:t>
            </a:r>
          </a:p>
          <a:p>
            <a:pPr lvl="1"/>
            <a:r>
              <a:rPr lang="ro-RO" dirty="0"/>
              <a:t>Tehnica </a:t>
            </a:r>
            <a:r>
              <a:rPr lang="ro-RO" dirty="0" err="1"/>
              <a:t>Booth</a:t>
            </a:r>
            <a:endParaRPr lang="ro-RO" dirty="0"/>
          </a:p>
          <a:p>
            <a:pPr lvl="1"/>
            <a:r>
              <a:rPr lang="ro-RO" dirty="0" smtClean="0"/>
              <a:t>Înmulțirea </a:t>
            </a:r>
            <a:r>
              <a:rPr lang="ro-RO" dirty="0"/>
              <a:t>într-o bază superioară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Înmulțirea matriceală</a:t>
            </a:r>
          </a:p>
          <a:p>
            <a:pPr lvl="1"/>
            <a:r>
              <a:rPr lang="ro-RO" dirty="0"/>
              <a:t>Arborele </a:t>
            </a:r>
            <a:r>
              <a:rPr lang="ro-RO" dirty="0" smtClean="0"/>
              <a:t>Wallace</a:t>
            </a:r>
          </a:p>
          <a:p>
            <a:pPr lvl="1"/>
            <a:r>
              <a:rPr lang="ro-RO" dirty="0"/>
              <a:t>Circuite de înmulțire </a:t>
            </a:r>
            <a:r>
              <a:rPr lang="ro-RO" i="1" dirty="0" err="1" smtClean="0"/>
              <a:t>pipeline</a:t>
            </a:r>
            <a:endParaRPr lang="ro-RO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BC0CCA1-1BF6-4EE2-B685-03BC04605C15}" type="slidenum">
              <a:rPr lang="ro-RO"/>
              <a:pPr/>
              <a:t>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Înmulțirea matriceală </a:t>
            </a:r>
            <a:r>
              <a:rPr lang="ro-RO" dirty="0"/>
              <a:t>(1)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340768"/>
            <a:ext cx="8352928" cy="4968552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ro-RO" dirty="0" smtClean="0">
                <a:cs typeface="Times New Roman" pitchFamily="18" charset="0"/>
              </a:rPr>
              <a:t>Pentru creșterea vitezei, se pot utiliza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circuite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combinaționale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înmulțire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Logic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suplimentar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care permite calculul produsului într‑un pas </a:t>
            </a:r>
            <a:endParaRPr lang="ro-RO" dirty="0"/>
          </a:p>
          <a:p>
            <a:pPr lvl="1">
              <a:lnSpc>
                <a:spcPct val="90000"/>
              </a:lnSpc>
            </a:pPr>
            <a:r>
              <a:rPr lang="ro-RO" dirty="0" smtClean="0">
                <a:cs typeface="Times New Roman" pitchFamily="18" charset="0"/>
              </a:rPr>
              <a:t>Matrice </a:t>
            </a:r>
            <a:r>
              <a:rPr lang="ro-RO" dirty="0">
                <a:cs typeface="Times New Roman" pitchFamily="18" charset="0"/>
              </a:rPr>
              <a:t>de elemente </a:t>
            </a:r>
            <a:r>
              <a:rPr lang="ro-RO" dirty="0" err="1" smtClean="0">
                <a:cs typeface="Times New Roman" pitchFamily="18" charset="0"/>
              </a:rPr>
              <a:t>combinaționale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simple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sym typeface="Symbol" pitchFamily="18" charset="2"/>
              </a:rPr>
              <a:t> </a:t>
            </a:r>
            <a:r>
              <a:rPr lang="ro-RO" dirty="0"/>
              <a:t>adunare, deplasare</a:t>
            </a:r>
          </a:p>
          <a:p>
            <a:pPr>
              <a:lnSpc>
                <a:spcPct val="90000"/>
              </a:lnSpc>
            </a:pPr>
            <a:r>
              <a:rPr lang="ro-RO" dirty="0"/>
              <a:t>Considerăm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/>
              <a:t>înmulțirea </a:t>
            </a:r>
            <a:r>
              <a:rPr lang="ro-RO" dirty="0"/>
              <a:t>a </a:t>
            </a:r>
            <a:r>
              <a:rPr lang="ro-RO" dirty="0">
                <a:cs typeface="Times New Roman" pitchFamily="18" charset="0"/>
              </a:rPr>
              <a:t>dou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numere binare </a:t>
            </a:r>
            <a:r>
              <a:rPr lang="ro-RO" dirty="0"/>
              <a:t>întregi fără semn: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ro-RO" i="1" dirty="0">
                <a:solidFill>
                  <a:schemeClr val="tx2"/>
                </a:solidFill>
              </a:rPr>
              <a:t>	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= </a:t>
            </a:r>
            <a:r>
              <a:rPr lang="ro-RO" i="1" dirty="0" err="1">
                <a:cs typeface="Times New Roman" pitchFamily="18" charset="0"/>
              </a:rPr>
              <a:t>x</a:t>
            </a:r>
            <a:r>
              <a:rPr lang="ro-RO" i="1" baseline="-30000" dirty="0" err="1">
                <a:cs typeface="Times New Roman" pitchFamily="18" charset="0"/>
              </a:rPr>
              <a:t>n</a:t>
            </a:r>
            <a:r>
              <a:rPr lang="ro-RO" i="1" baseline="-30000" dirty="0"/>
              <a:t> </a:t>
            </a:r>
            <a:r>
              <a:rPr lang="ro-RO" baseline="-30000" dirty="0">
                <a:cs typeface="Times New Roman" pitchFamily="18" charset="0"/>
              </a:rPr>
              <a:t>-1</a:t>
            </a:r>
            <a:r>
              <a:rPr lang="ro-RO" dirty="0">
                <a:cs typeface="Times New Roman" pitchFamily="18" charset="0"/>
              </a:rPr>
              <a:t>…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</a:t>
            </a:r>
            <a:endParaRPr lang="ro-RO" dirty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ro-RO" i="1" dirty="0">
                <a:solidFill>
                  <a:schemeClr val="tx2"/>
                </a:solidFill>
              </a:rPr>
              <a:t>	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dirty="0">
                <a:cs typeface="Times New Roman" pitchFamily="18" charset="0"/>
              </a:rPr>
              <a:t> = </a:t>
            </a:r>
            <a:r>
              <a:rPr lang="ro-RO" i="1" dirty="0" err="1">
                <a:cs typeface="Times New Roman" pitchFamily="18" charset="0"/>
              </a:rPr>
              <a:t>y</a:t>
            </a:r>
            <a:r>
              <a:rPr lang="ro-RO" i="1" baseline="-30000" dirty="0" err="1">
                <a:cs typeface="Times New Roman" pitchFamily="18" charset="0"/>
              </a:rPr>
              <a:t>n</a:t>
            </a:r>
            <a:r>
              <a:rPr lang="ro-RO" i="1" baseline="-30000" dirty="0"/>
              <a:t> </a:t>
            </a:r>
            <a:r>
              <a:rPr lang="ro-RO" baseline="-30000" dirty="0">
                <a:cs typeface="Times New Roman" pitchFamily="18" charset="0"/>
              </a:rPr>
              <a:t>-1</a:t>
            </a:r>
            <a:r>
              <a:rPr lang="ro-RO" dirty="0">
                <a:cs typeface="Times New Roman" pitchFamily="18" charset="0"/>
              </a:rPr>
              <a:t>…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3B16B7-3AF8-4D74-956C-CFA5839B29E6}" type="slidenum">
              <a:rPr lang="ro-RO"/>
              <a:pPr/>
              <a:t>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Înmulțirea matriceală </a:t>
            </a:r>
            <a:r>
              <a:rPr lang="ro-RO" dirty="0"/>
              <a:t>(2)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511480" cy="4824437"/>
          </a:xfrm>
        </p:spPr>
        <p:txBody>
          <a:bodyPr>
            <a:normAutofit/>
          </a:bodyPr>
          <a:lstStyle/>
          <a:p>
            <a:r>
              <a:rPr lang="ro-RO" dirty="0">
                <a:cs typeface="Times New Roman" pitchFamily="18" charset="0"/>
              </a:rPr>
              <a:t>Produsul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se poate </a:t>
            </a:r>
            <a:r>
              <a:rPr lang="ro-RO" dirty="0" smtClean="0">
                <a:cs typeface="Times New Roman" pitchFamily="18" charset="0"/>
              </a:rPr>
              <a:t>scrie:</a:t>
            </a:r>
            <a:r>
              <a:rPr lang="ro-RO" dirty="0" smtClean="0"/>
              <a:t> </a:t>
            </a:r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dirty="0"/>
              <a:t>sau:</a:t>
            </a:r>
          </a:p>
          <a:p>
            <a:endParaRPr lang="ro-RO" dirty="0"/>
          </a:p>
          <a:p>
            <a:endParaRPr lang="ro-RO" dirty="0"/>
          </a:p>
          <a:p>
            <a:r>
              <a:rPr lang="ro-RO" dirty="0">
                <a:cs typeface="Times New Roman" pitchFamily="18" charset="0"/>
              </a:rPr>
              <a:t>Fiecare </a:t>
            </a:r>
            <a:r>
              <a:rPr lang="ro-RO" dirty="0" smtClean="0">
                <a:cs typeface="Times New Roman" pitchFamily="18" charset="0"/>
              </a:rPr>
              <a:t>termen </a:t>
            </a:r>
            <a:r>
              <a:rPr lang="ro-RO" dirty="0">
                <a:cs typeface="Times New Roman" pitchFamily="18" charset="0"/>
              </a:rPr>
              <a:t>produs de 1 bit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i="1" baseline="-30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anose="05050102010706020507" pitchFamily="18" charset="2"/>
              </a:rPr>
              <a:t> 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i="1" baseline="-300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j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se poate calcula cu ajutorul unei </a:t>
            </a:r>
            <a:r>
              <a:rPr lang="ro-RO" dirty="0" smtClean="0">
                <a:cs typeface="Times New Roman" pitchFamily="18" charset="0"/>
              </a:rPr>
              <a:t>porți ȘI</a:t>
            </a:r>
            <a:endParaRPr lang="ro-RO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96F10C-7DAD-4D0B-ACC7-C9CA0067CB9A}" type="slidenum">
              <a:rPr lang="ro-RO"/>
              <a:pPr/>
              <a:t>7</a:t>
            </a:fld>
            <a:endParaRPr lang="ro-RO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  <p:graphicFrame>
        <p:nvGraphicFramePr>
          <p:cNvPr id="2263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595558"/>
              </p:ext>
            </p:extLst>
          </p:nvPr>
        </p:nvGraphicFramePr>
        <p:xfrm>
          <a:off x="2349500" y="2133600"/>
          <a:ext cx="4389438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00" name="Equation" r:id="rId4" imgW="2311200" imgH="482400" progId="Equation.3">
                  <p:embed/>
                </p:oleObj>
              </mc:Choice>
              <mc:Fallback>
                <p:oleObj name="Equation" r:id="rId4" imgW="2311200" imgH="4824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2133600"/>
                        <a:ext cx="4389438" cy="915988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625469"/>
              </p:ext>
            </p:extLst>
          </p:nvPr>
        </p:nvGraphicFramePr>
        <p:xfrm>
          <a:off x="2951163" y="3789363"/>
          <a:ext cx="3181350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01" name="Equation" r:id="rId6" imgW="1676160" imgH="482400" progId="Equation.3">
                  <p:embed/>
                </p:oleObj>
              </mc:Choice>
              <mc:Fallback>
                <p:oleObj name="Equation" r:id="rId6" imgW="1676160" imgH="4824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163" y="3789363"/>
                        <a:ext cx="3181350" cy="915987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Înmulțirea matriceală </a:t>
            </a:r>
            <a:r>
              <a:rPr lang="ro-RO" dirty="0"/>
              <a:t>(3)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439472" cy="4824437"/>
          </a:xfrm>
        </p:spPr>
        <p:txBody>
          <a:bodyPr>
            <a:normAutofit/>
          </a:bodyPr>
          <a:lstStyle/>
          <a:p>
            <a:r>
              <a:rPr lang="ro-RO" dirty="0"/>
              <a:t>O</a:t>
            </a:r>
            <a:r>
              <a:rPr lang="ro-RO" dirty="0">
                <a:cs typeface="Times New Roman" pitchFamily="18" charset="0"/>
              </a:rPr>
              <a:t> matrice de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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porți ȘI </a:t>
            </a:r>
            <a:r>
              <a:rPr lang="ro-RO" dirty="0">
                <a:cs typeface="Times New Roman" pitchFamily="18" charset="0"/>
              </a:rPr>
              <a:t>poate calcula </a:t>
            </a:r>
            <a:r>
              <a:rPr lang="ro-RO" dirty="0" smtClean="0">
                <a:cs typeface="Times New Roman" pitchFamily="18" charset="0"/>
              </a:rPr>
              <a:t>toți </a:t>
            </a:r>
            <a:r>
              <a:rPr lang="ro-RO" dirty="0">
                <a:cs typeface="Times New Roman" pitchFamily="18" charset="0"/>
              </a:rPr>
              <a:t>termenii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i="1" baseline="-30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anose="05050102010706020507" pitchFamily="18" charset="2"/>
              </a:rPr>
              <a:t> 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i="1" baseline="-300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j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simultan</a:t>
            </a:r>
            <a:r>
              <a:rPr lang="ro-RO" dirty="0"/>
              <a:t> </a:t>
            </a:r>
          </a:p>
          <a:p>
            <a:r>
              <a:rPr lang="ro-RO" dirty="0"/>
              <a:t>T</a:t>
            </a:r>
            <a:r>
              <a:rPr lang="ro-RO" dirty="0">
                <a:cs typeface="Times New Roman" pitchFamily="18" charset="0"/>
              </a:rPr>
              <a:t>ermeni</a:t>
            </a:r>
            <a:r>
              <a:rPr lang="ro-RO" dirty="0"/>
              <a:t>i</a:t>
            </a:r>
            <a:r>
              <a:rPr lang="ro-RO" dirty="0">
                <a:cs typeface="Times New Roman" pitchFamily="18" charset="0"/>
              </a:rPr>
              <a:t> sunt </a:t>
            </a:r>
            <a:r>
              <a:rPr lang="ro-RO" dirty="0" smtClean="0">
                <a:cs typeface="Times New Roman" pitchFamily="18" charset="0"/>
              </a:rPr>
              <a:t>însumați </a:t>
            </a:r>
            <a:r>
              <a:rPr lang="ro-RO" dirty="0">
                <a:cs typeface="Times New Roman" pitchFamily="18" charset="0"/>
              </a:rPr>
              <a:t>cu o matrice </a:t>
            </a:r>
            <a:r>
              <a:rPr lang="ro-RO" dirty="0" smtClean="0">
                <a:cs typeface="Times New Roman" pitchFamily="18" charset="0"/>
              </a:rPr>
              <a:t>de</a:t>
            </a:r>
            <a:r>
              <a:rPr lang="en-US" dirty="0" smtClean="0">
                <a:cs typeface="Times New Roman" pitchFamily="18" charset="0"/>
              </a:rPr>
              <a:t>  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(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-1) sumatoare elementare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ro-RO" dirty="0">
                <a:cs typeface="Times New Roman" pitchFamily="18" charset="0"/>
              </a:rPr>
              <a:t>Circuitul rezultat este similar cu un sumator bidimensional cu transport succesiv </a:t>
            </a:r>
            <a:endParaRPr lang="ro-RO" dirty="0"/>
          </a:p>
          <a:p>
            <a:r>
              <a:rPr lang="ro-RO" dirty="0">
                <a:cs typeface="Times New Roman" pitchFamily="18" charset="0"/>
              </a:rPr>
              <a:t>Deplas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rile implicate de factorii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2</a:t>
            </a:r>
            <a:r>
              <a:rPr lang="ro-RO" i="1" baseline="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2</a:t>
            </a:r>
            <a:r>
              <a:rPr lang="ro-RO" i="1" baseline="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j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sunt implementate prin deplasarea </a:t>
            </a:r>
            <a:r>
              <a:rPr lang="ro-RO" dirty="0" smtClean="0">
                <a:cs typeface="Times New Roman" pitchFamily="18" charset="0"/>
              </a:rPr>
              <a:t>spațial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a sumatoarelor pe </a:t>
            </a:r>
            <a:r>
              <a:rPr lang="ro-RO" dirty="0" smtClean="0">
                <a:cs typeface="Times New Roman" pitchFamily="18" charset="0"/>
              </a:rPr>
              <a:t>direcția 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dirty="0"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F0CDA5F-4D67-427E-9D3C-E0EFA2ECCE8C}" type="slidenum">
              <a:rPr lang="ro-RO"/>
              <a:pPr/>
              <a:t>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Înmulțirea matriceală </a:t>
            </a:r>
            <a:r>
              <a:rPr lang="ro-RO" dirty="0"/>
              <a:t>(4)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1606594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/>
              <a:t>Î</a:t>
            </a:r>
            <a:r>
              <a:rPr lang="ro-RO" dirty="0" smtClean="0">
                <a:cs typeface="Times New Roman" pitchFamily="18" charset="0"/>
              </a:rPr>
              <a:t>nmulțirea </a:t>
            </a:r>
            <a:r>
              <a:rPr lang="ro-RO" dirty="0">
                <a:cs typeface="Times New Roman" pitchFamily="18" charset="0"/>
              </a:rPr>
              <a:t>a dou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numere de câte 4 </a:t>
            </a:r>
            <a:r>
              <a:rPr lang="ro-RO" dirty="0" smtClean="0">
                <a:cs typeface="Times New Roman" pitchFamily="18" charset="0"/>
              </a:rPr>
              <a:t>biți</a:t>
            </a:r>
            <a:r>
              <a:rPr lang="ro-RO" dirty="0">
                <a:cs typeface="Times New Roman" pitchFamily="18" charset="0"/>
              </a:rPr>
              <a:t>,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= 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baseline="-30000" dirty="0">
                <a:cs typeface="Times New Roman" pitchFamily="18" charset="0"/>
              </a:rPr>
              <a:t>3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baseline="-30000" dirty="0">
                <a:cs typeface="Times New Roman" pitchFamily="18" charset="0"/>
              </a:rPr>
              <a:t>2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i="1" dirty="0">
                <a:cs typeface="Times New Roman" pitchFamily="18" charset="0"/>
              </a:rPr>
              <a:t>x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,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dirty="0">
                <a:cs typeface="Times New Roman" pitchFamily="18" charset="0"/>
              </a:rPr>
              <a:t> = 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baseline="-30000" dirty="0">
                <a:cs typeface="Times New Roman" pitchFamily="18" charset="0"/>
              </a:rPr>
              <a:t>3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baseline="-30000" dirty="0">
                <a:cs typeface="Times New Roman" pitchFamily="18" charset="0"/>
              </a:rPr>
              <a:t>2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i="1" dirty="0">
                <a:cs typeface="Times New Roman" pitchFamily="18" charset="0"/>
              </a:rPr>
              <a:t>y</a:t>
            </a:r>
            <a:r>
              <a:rPr lang="ro-RO" baseline="-30000" dirty="0">
                <a:cs typeface="Times New Roman" pitchFamily="18" charset="0"/>
              </a:rPr>
              <a:t>0</a:t>
            </a:r>
            <a:r>
              <a:rPr lang="ro-RO" dirty="0">
                <a:cs typeface="Times New Roman" pitchFamily="18" charset="0"/>
              </a:rPr>
              <a:t> </a:t>
            </a:r>
            <a:endParaRPr lang="ro-RO" dirty="0"/>
          </a:p>
          <a:p>
            <a:endParaRPr lang="ro-RO" dirty="0"/>
          </a:p>
        </p:txBody>
      </p:sp>
      <p:sp>
        <p:nvSpPr>
          <p:cNvPr id="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9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6FF98-F50D-4075-B541-DEFE3FBB348F}" type="slidenum">
              <a:rPr lang="ro-RO"/>
              <a:pPr/>
              <a:t>9</a:t>
            </a:fld>
            <a:endParaRPr lang="ro-RO"/>
          </a:p>
        </p:txBody>
      </p:sp>
      <p:sp>
        <p:nvSpPr>
          <p:cNvPr id="94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  <p:graphicFrame>
        <p:nvGraphicFramePr>
          <p:cNvPr id="228695" name="Group 3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718962"/>
              </p:ext>
            </p:extLst>
          </p:nvPr>
        </p:nvGraphicFramePr>
        <p:xfrm>
          <a:off x="899592" y="2610192"/>
          <a:ext cx="7437825" cy="3627120"/>
        </p:xfrm>
        <a:graphic>
          <a:graphicData uri="http://schemas.openxmlformats.org/drawingml/2006/table">
            <a:tbl>
              <a:tblPr/>
              <a:tblGrid>
                <a:gridCol w="885825"/>
                <a:gridCol w="936000"/>
                <a:gridCol w="936000"/>
                <a:gridCol w="936000"/>
                <a:gridCol w="936000"/>
                <a:gridCol w="936000"/>
                <a:gridCol w="936000"/>
                <a:gridCol w="936000"/>
              </a:tblGrid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o-RO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o-RO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o-RO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o-RO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r>
                        <a:rPr kumimoji="0" lang="ro-RO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</a:t>
                      </a:r>
                      <a:endParaRPr kumimoji="0" lang="ro-RO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o-RO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o-RO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o-RO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ro-RO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r>
                        <a:rPr kumimoji="0" lang="ro-RO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kumimoji="0" lang="ro-RO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</a:t>
                      </a: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0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2</a:t>
                      </a: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0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1</a:t>
                      </a:r>
                      <a:r>
                        <a:rPr kumimoji="0" lang="ro-RO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cs typeface="Times New Roman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0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0</a:t>
                      </a:r>
                      <a:r>
                        <a:rPr kumimoji="0" lang="ro-RO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cs typeface="Times New Roman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0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</a:t>
                      </a:r>
                      <a:r>
                        <a:rPr kumimoji="0" lang="ro-RO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cs typeface="Times New Roman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1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2</a:t>
                      </a:r>
                      <a:r>
                        <a:rPr kumimoji="0" lang="ro-RO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cs typeface="Times New Roman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1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1</a:t>
                      </a:r>
                      <a:r>
                        <a:rPr kumimoji="0" lang="ro-RO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cs typeface="Times New Roman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1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0</a:t>
                      </a:r>
                      <a:r>
                        <a:rPr kumimoji="0" lang="ro-RO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cs typeface="Times New Roman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1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</a:t>
                      </a:r>
                      <a:r>
                        <a:rPr kumimoji="0" lang="ro-RO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cs typeface="Times New Roman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2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2</a:t>
                      </a:r>
                      <a:r>
                        <a:rPr kumimoji="0" lang="ro-RO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cs typeface="Times New Roman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2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1</a:t>
                      </a:r>
                      <a:r>
                        <a:rPr kumimoji="0" lang="ro-RO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cs typeface="Times New Roman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2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0</a:t>
                      </a:r>
                      <a:r>
                        <a:rPr kumimoji="0" lang="ro-RO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cs typeface="Times New Roman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2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</a:t>
                      </a:r>
                      <a:r>
                        <a:rPr kumimoji="0" lang="ro-RO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cs typeface="Times New Roman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2</a:t>
                      </a:r>
                      <a:r>
                        <a:rPr kumimoji="0" lang="ro-RO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cs typeface="Times New Roman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1</a:t>
                      </a:r>
                      <a:r>
                        <a:rPr kumimoji="0" lang="ro-RO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cs typeface="Times New Roman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x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0</a:t>
                      </a:r>
                      <a:r>
                        <a:rPr kumimoji="0" lang="ro-RO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cs typeface="Times New Roman" pitchFamily="18" charset="0"/>
                          <a:sym typeface="Symbol" panose="05050102010706020507" pitchFamily="18" charset="2"/>
                        </a:rPr>
                        <a:t></a:t>
                      </a: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P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7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P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P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P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P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P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P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P</a:t>
                      </a:r>
                      <a:r>
                        <a:rPr kumimoji="0" lang="ro-RO" sz="28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kumimoji="0" lang="ro-RO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Înmulțirea matriceală </a:t>
            </a:r>
            <a:r>
              <a:rPr lang="ro-RO" dirty="0"/>
              <a:t>(</a:t>
            </a:r>
            <a:r>
              <a:rPr lang="en-US" dirty="0"/>
              <a:t>5</a:t>
            </a:r>
            <a:r>
              <a:rPr lang="ro-RO" dirty="0"/>
              <a:t>)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>
                <a:cs typeface="Times New Roman" pitchFamily="18" charset="0"/>
              </a:rPr>
              <a:t>Biții </a:t>
            </a:r>
            <a:r>
              <a:rPr lang="ro-RO" dirty="0">
                <a:cs typeface="Times New Roman" pitchFamily="18" charset="0"/>
              </a:rPr>
              <a:t>produsului final:</a:t>
            </a:r>
            <a:r>
              <a:rPr lang="ro-RO" dirty="0"/>
              <a:t> </a:t>
            </a:r>
            <a:endParaRPr lang="en-US" dirty="0"/>
          </a:p>
          <a:p>
            <a:pPr lvl="1"/>
            <a:r>
              <a:rPr lang="ro-RO" i="1" dirty="0" smtClean="0">
                <a:cs typeface="Times New Roman" pitchFamily="18" charset="0"/>
              </a:rPr>
              <a:t>P</a:t>
            </a:r>
            <a:r>
              <a:rPr lang="en-US" baseline="-30000" dirty="0" smtClean="0">
                <a:cs typeface="Times New Roman" pitchFamily="18" charset="0"/>
              </a:rPr>
              <a:t>0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= </a:t>
            </a:r>
            <a:r>
              <a:rPr lang="en-US" i="1" dirty="0" smtClean="0">
                <a:cs typeface="Times New Roman" pitchFamily="18" charset="0"/>
              </a:rPr>
              <a:t>x</a:t>
            </a:r>
            <a:r>
              <a:rPr lang="en-US" baseline="-30000" dirty="0" smtClean="0">
                <a:cs typeface="Times New Roman" pitchFamily="18" charset="0"/>
              </a:rPr>
              <a:t>0</a:t>
            </a:r>
            <a:r>
              <a:rPr lang="ro-RO" sz="2800" dirty="0">
                <a:solidFill>
                  <a:srgbClr val="FFFFFF"/>
                </a:solidFill>
                <a:cs typeface="Times New Roman" pitchFamily="18" charset="0"/>
                <a:sym typeface="Symbol" panose="05050102010706020507" pitchFamily="18" charset="2"/>
              </a:rPr>
              <a:t></a:t>
            </a:r>
            <a:r>
              <a:rPr lang="en-US" i="1" dirty="0" smtClean="0">
                <a:cs typeface="Times New Roman" pitchFamily="18" charset="0"/>
              </a:rPr>
              <a:t>y</a:t>
            </a:r>
            <a:r>
              <a:rPr lang="en-US" baseline="-30000" dirty="0" smtClean="0">
                <a:cs typeface="Times New Roman" pitchFamily="18" charset="0"/>
              </a:rPr>
              <a:t>0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i="1" dirty="0" smtClean="0">
                <a:cs typeface="Times New Roman" pitchFamily="18" charset="0"/>
              </a:rPr>
              <a:t>P</a:t>
            </a:r>
            <a:r>
              <a:rPr lang="en-US" baseline="-30000" dirty="0" smtClean="0">
                <a:cs typeface="Times New Roman" pitchFamily="18" charset="0"/>
              </a:rPr>
              <a:t>1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= </a:t>
            </a:r>
            <a:r>
              <a:rPr lang="en-US" i="1" dirty="0" smtClean="0">
                <a:cs typeface="Times New Roman" pitchFamily="18" charset="0"/>
              </a:rPr>
              <a:t>x</a:t>
            </a:r>
            <a:r>
              <a:rPr lang="en-US" baseline="-30000" dirty="0" smtClean="0">
                <a:cs typeface="Times New Roman" pitchFamily="18" charset="0"/>
              </a:rPr>
              <a:t>1</a:t>
            </a:r>
            <a:r>
              <a:rPr lang="ro-RO" sz="2800" dirty="0" smtClean="0">
                <a:solidFill>
                  <a:srgbClr val="FFFFFF"/>
                </a:solidFill>
                <a:cs typeface="Times New Roman" pitchFamily="18" charset="0"/>
                <a:sym typeface="Symbol" panose="05050102010706020507" pitchFamily="18" charset="2"/>
              </a:rPr>
              <a:t></a:t>
            </a:r>
            <a:r>
              <a:rPr lang="en-US" i="1" dirty="0" smtClean="0">
                <a:cs typeface="Times New Roman" pitchFamily="18" charset="0"/>
              </a:rPr>
              <a:t>y</a:t>
            </a:r>
            <a:r>
              <a:rPr lang="en-US" baseline="-30000" dirty="0" smtClean="0">
                <a:cs typeface="Times New Roman" pitchFamily="18" charset="0"/>
              </a:rPr>
              <a:t>0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+ </a:t>
            </a:r>
            <a:r>
              <a:rPr lang="en-US" i="1" dirty="0" smtClean="0">
                <a:cs typeface="Times New Roman" pitchFamily="18" charset="0"/>
              </a:rPr>
              <a:t>x</a:t>
            </a:r>
            <a:r>
              <a:rPr lang="en-US" baseline="-30000" dirty="0" smtClean="0">
                <a:cs typeface="Times New Roman" pitchFamily="18" charset="0"/>
              </a:rPr>
              <a:t>0</a:t>
            </a:r>
            <a:r>
              <a:rPr lang="ro-RO" sz="2800" dirty="0" smtClean="0">
                <a:solidFill>
                  <a:srgbClr val="FFFFFF"/>
                </a:solidFill>
                <a:cs typeface="Times New Roman" pitchFamily="18" charset="0"/>
                <a:sym typeface="Symbol" panose="05050102010706020507" pitchFamily="18" charset="2"/>
              </a:rPr>
              <a:t></a:t>
            </a:r>
            <a:r>
              <a:rPr lang="en-US" i="1" dirty="0" smtClean="0">
                <a:cs typeface="Times New Roman" pitchFamily="18" charset="0"/>
              </a:rPr>
              <a:t>y</a:t>
            </a:r>
            <a:r>
              <a:rPr lang="en-US" baseline="-30000" dirty="0" smtClean="0">
                <a:cs typeface="Times New Roman" pitchFamily="18" charset="0"/>
              </a:rPr>
              <a:t>1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i="1" dirty="0" smtClean="0">
                <a:cs typeface="Times New Roman" pitchFamily="18" charset="0"/>
              </a:rPr>
              <a:t>P</a:t>
            </a:r>
            <a:r>
              <a:rPr lang="en-US" baseline="-30000" dirty="0" smtClean="0">
                <a:cs typeface="Times New Roman" pitchFamily="18" charset="0"/>
              </a:rPr>
              <a:t>2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= </a:t>
            </a:r>
            <a:r>
              <a:rPr lang="en-US" i="1" dirty="0" smtClean="0">
                <a:cs typeface="Times New Roman" pitchFamily="18" charset="0"/>
              </a:rPr>
              <a:t>x</a:t>
            </a:r>
            <a:r>
              <a:rPr lang="en-US" baseline="-30000" dirty="0" smtClean="0">
                <a:cs typeface="Times New Roman" pitchFamily="18" charset="0"/>
              </a:rPr>
              <a:t>2</a:t>
            </a:r>
            <a:r>
              <a:rPr lang="ro-RO" sz="2800" dirty="0" smtClean="0">
                <a:solidFill>
                  <a:srgbClr val="FFFFFF"/>
                </a:solidFill>
                <a:cs typeface="Times New Roman" pitchFamily="18" charset="0"/>
                <a:sym typeface="Symbol" panose="05050102010706020507" pitchFamily="18" charset="2"/>
              </a:rPr>
              <a:t></a:t>
            </a:r>
            <a:r>
              <a:rPr lang="en-US" i="1" dirty="0" smtClean="0">
                <a:cs typeface="Times New Roman" pitchFamily="18" charset="0"/>
              </a:rPr>
              <a:t>y</a:t>
            </a:r>
            <a:r>
              <a:rPr lang="en-US" baseline="-30000" dirty="0" smtClean="0">
                <a:cs typeface="Times New Roman" pitchFamily="18" charset="0"/>
              </a:rPr>
              <a:t>0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+ </a:t>
            </a:r>
            <a:r>
              <a:rPr lang="en-US" i="1" dirty="0" smtClean="0">
                <a:cs typeface="Times New Roman" pitchFamily="18" charset="0"/>
              </a:rPr>
              <a:t>x</a:t>
            </a:r>
            <a:r>
              <a:rPr lang="en-US" baseline="-30000" dirty="0" smtClean="0">
                <a:cs typeface="Times New Roman" pitchFamily="18" charset="0"/>
              </a:rPr>
              <a:t>1</a:t>
            </a:r>
            <a:r>
              <a:rPr lang="ro-RO" sz="2800" dirty="0" smtClean="0">
                <a:solidFill>
                  <a:srgbClr val="FFFFFF"/>
                </a:solidFill>
                <a:cs typeface="Times New Roman" pitchFamily="18" charset="0"/>
                <a:sym typeface="Symbol" panose="05050102010706020507" pitchFamily="18" charset="2"/>
              </a:rPr>
              <a:t></a:t>
            </a:r>
            <a:r>
              <a:rPr lang="en-US" i="1" dirty="0" smtClean="0">
                <a:cs typeface="Times New Roman" pitchFamily="18" charset="0"/>
              </a:rPr>
              <a:t>y</a:t>
            </a:r>
            <a:r>
              <a:rPr lang="en-US" baseline="-30000" dirty="0" smtClean="0">
                <a:cs typeface="Times New Roman" pitchFamily="18" charset="0"/>
              </a:rPr>
              <a:t>1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+ </a:t>
            </a:r>
            <a:r>
              <a:rPr lang="en-US" i="1" dirty="0" smtClean="0">
                <a:cs typeface="Times New Roman" pitchFamily="18" charset="0"/>
              </a:rPr>
              <a:t>x</a:t>
            </a:r>
            <a:r>
              <a:rPr lang="en-US" baseline="-30000" dirty="0" smtClean="0">
                <a:cs typeface="Times New Roman" pitchFamily="18" charset="0"/>
              </a:rPr>
              <a:t>0</a:t>
            </a:r>
            <a:r>
              <a:rPr lang="ro-RO" sz="2800" dirty="0" smtClean="0">
                <a:solidFill>
                  <a:srgbClr val="FFFFFF"/>
                </a:solidFill>
                <a:cs typeface="Times New Roman" pitchFamily="18" charset="0"/>
                <a:sym typeface="Symbol" panose="05050102010706020507" pitchFamily="18" charset="2"/>
              </a:rPr>
              <a:t></a:t>
            </a:r>
            <a:r>
              <a:rPr lang="en-US" i="1" dirty="0" smtClean="0">
                <a:cs typeface="Times New Roman" pitchFamily="18" charset="0"/>
              </a:rPr>
              <a:t>y</a:t>
            </a:r>
            <a:r>
              <a:rPr lang="en-US" baseline="-30000" dirty="0" smtClean="0">
                <a:cs typeface="Times New Roman" pitchFamily="18" charset="0"/>
              </a:rPr>
              <a:t>2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i="1" dirty="0" smtClean="0">
                <a:cs typeface="Times New Roman" pitchFamily="18" charset="0"/>
              </a:rPr>
              <a:t>P</a:t>
            </a:r>
            <a:r>
              <a:rPr lang="en-US" baseline="-30000" dirty="0" smtClean="0">
                <a:cs typeface="Times New Roman" pitchFamily="18" charset="0"/>
              </a:rPr>
              <a:t>3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= </a:t>
            </a:r>
            <a:r>
              <a:rPr lang="en-US" i="1" dirty="0" smtClean="0">
                <a:cs typeface="Times New Roman" pitchFamily="18" charset="0"/>
              </a:rPr>
              <a:t>x</a:t>
            </a:r>
            <a:r>
              <a:rPr lang="en-US" baseline="-30000" dirty="0" smtClean="0">
                <a:cs typeface="Times New Roman" pitchFamily="18" charset="0"/>
              </a:rPr>
              <a:t>3</a:t>
            </a:r>
            <a:r>
              <a:rPr lang="ro-RO" sz="2800" dirty="0" smtClean="0">
                <a:solidFill>
                  <a:srgbClr val="FFFFFF"/>
                </a:solidFill>
                <a:cs typeface="Times New Roman" pitchFamily="18" charset="0"/>
                <a:sym typeface="Symbol" panose="05050102010706020507" pitchFamily="18" charset="2"/>
              </a:rPr>
              <a:t></a:t>
            </a:r>
            <a:r>
              <a:rPr lang="en-US" i="1" dirty="0" smtClean="0">
                <a:cs typeface="Times New Roman" pitchFamily="18" charset="0"/>
              </a:rPr>
              <a:t>y</a:t>
            </a:r>
            <a:r>
              <a:rPr lang="en-US" baseline="-30000" dirty="0" smtClean="0">
                <a:cs typeface="Times New Roman" pitchFamily="18" charset="0"/>
              </a:rPr>
              <a:t>0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+ </a:t>
            </a:r>
            <a:r>
              <a:rPr lang="en-US" i="1" dirty="0" smtClean="0">
                <a:cs typeface="Times New Roman" pitchFamily="18" charset="0"/>
              </a:rPr>
              <a:t>x</a:t>
            </a:r>
            <a:r>
              <a:rPr lang="en-US" baseline="-30000" dirty="0" smtClean="0">
                <a:cs typeface="Times New Roman" pitchFamily="18" charset="0"/>
              </a:rPr>
              <a:t>2</a:t>
            </a:r>
            <a:r>
              <a:rPr lang="ro-RO" sz="2800" dirty="0" smtClean="0">
                <a:solidFill>
                  <a:srgbClr val="FFFFFF"/>
                </a:solidFill>
                <a:cs typeface="Times New Roman" pitchFamily="18" charset="0"/>
                <a:sym typeface="Symbol" panose="05050102010706020507" pitchFamily="18" charset="2"/>
              </a:rPr>
              <a:t></a:t>
            </a:r>
            <a:r>
              <a:rPr lang="en-US" i="1" dirty="0" smtClean="0">
                <a:cs typeface="Times New Roman" pitchFamily="18" charset="0"/>
              </a:rPr>
              <a:t>y</a:t>
            </a:r>
            <a:r>
              <a:rPr lang="en-US" baseline="-30000" dirty="0" smtClean="0">
                <a:cs typeface="Times New Roman" pitchFamily="18" charset="0"/>
              </a:rPr>
              <a:t>1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+ </a:t>
            </a:r>
            <a:r>
              <a:rPr lang="en-US" i="1" dirty="0" smtClean="0">
                <a:cs typeface="Times New Roman" pitchFamily="18" charset="0"/>
              </a:rPr>
              <a:t>x</a:t>
            </a:r>
            <a:r>
              <a:rPr lang="en-US" baseline="-30000" dirty="0" smtClean="0">
                <a:cs typeface="Times New Roman" pitchFamily="18" charset="0"/>
              </a:rPr>
              <a:t>1</a:t>
            </a:r>
            <a:r>
              <a:rPr lang="ro-RO" sz="2800" dirty="0" smtClean="0">
                <a:solidFill>
                  <a:srgbClr val="FFFFFF"/>
                </a:solidFill>
                <a:cs typeface="Times New Roman" pitchFamily="18" charset="0"/>
                <a:sym typeface="Symbol" panose="05050102010706020507" pitchFamily="18" charset="2"/>
              </a:rPr>
              <a:t></a:t>
            </a:r>
            <a:r>
              <a:rPr lang="en-US" i="1" dirty="0" smtClean="0">
                <a:cs typeface="Times New Roman" pitchFamily="18" charset="0"/>
              </a:rPr>
              <a:t>y</a:t>
            </a:r>
            <a:r>
              <a:rPr lang="en-US" baseline="-30000" dirty="0" smtClean="0">
                <a:cs typeface="Times New Roman" pitchFamily="18" charset="0"/>
              </a:rPr>
              <a:t>2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+ </a:t>
            </a:r>
            <a:r>
              <a:rPr lang="en-US" i="1" dirty="0" smtClean="0">
                <a:cs typeface="Times New Roman" pitchFamily="18" charset="0"/>
              </a:rPr>
              <a:t>x</a:t>
            </a:r>
            <a:r>
              <a:rPr lang="en-US" baseline="-30000" dirty="0" smtClean="0">
                <a:cs typeface="Times New Roman" pitchFamily="18" charset="0"/>
              </a:rPr>
              <a:t>0</a:t>
            </a:r>
            <a:r>
              <a:rPr lang="ro-RO" sz="2800" dirty="0" smtClean="0">
                <a:solidFill>
                  <a:srgbClr val="FFFFFF"/>
                </a:solidFill>
                <a:cs typeface="Times New Roman" pitchFamily="18" charset="0"/>
                <a:sym typeface="Symbol" panose="05050102010706020507" pitchFamily="18" charset="2"/>
              </a:rPr>
              <a:t></a:t>
            </a:r>
            <a:r>
              <a:rPr lang="en-US" i="1" dirty="0" smtClean="0">
                <a:cs typeface="Times New Roman" pitchFamily="18" charset="0"/>
              </a:rPr>
              <a:t>y</a:t>
            </a:r>
            <a:r>
              <a:rPr lang="en-US" baseline="-30000" dirty="0" smtClean="0">
                <a:cs typeface="Times New Roman" pitchFamily="18" charset="0"/>
              </a:rPr>
              <a:t>3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i="1" dirty="0" smtClean="0">
                <a:cs typeface="Times New Roman" pitchFamily="18" charset="0"/>
              </a:rPr>
              <a:t>P</a:t>
            </a:r>
            <a:r>
              <a:rPr lang="en-US" baseline="-30000" dirty="0" smtClean="0">
                <a:cs typeface="Times New Roman" pitchFamily="18" charset="0"/>
              </a:rPr>
              <a:t>4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= </a:t>
            </a:r>
            <a:r>
              <a:rPr lang="en-US" i="1" dirty="0" smtClean="0">
                <a:cs typeface="Times New Roman" pitchFamily="18" charset="0"/>
              </a:rPr>
              <a:t>x</a:t>
            </a:r>
            <a:r>
              <a:rPr lang="en-US" baseline="-30000" dirty="0" smtClean="0">
                <a:cs typeface="Times New Roman" pitchFamily="18" charset="0"/>
              </a:rPr>
              <a:t>3</a:t>
            </a:r>
            <a:r>
              <a:rPr lang="ro-RO" sz="2800" dirty="0" smtClean="0">
                <a:solidFill>
                  <a:srgbClr val="FFFFFF"/>
                </a:solidFill>
                <a:cs typeface="Times New Roman" pitchFamily="18" charset="0"/>
                <a:sym typeface="Symbol" panose="05050102010706020507" pitchFamily="18" charset="2"/>
              </a:rPr>
              <a:t></a:t>
            </a:r>
            <a:r>
              <a:rPr lang="en-US" i="1" dirty="0" smtClean="0">
                <a:cs typeface="Times New Roman" pitchFamily="18" charset="0"/>
              </a:rPr>
              <a:t>y</a:t>
            </a:r>
            <a:r>
              <a:rPr lang="en-US" baseline="-30000" dirty="0" smtClean="0">
                <a:cs typeface="Times New Roman" pitchFamily="18" charset="0"/>
              </a:rPr>
              <a:t>1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+ </a:t>
            </a:r>
            <a:r>
              <a:rPr lang="en-US" i="1" dirty="0" smtClean="0">
                <a:cs typeface="Times New Roman" pitchFamily="18" charset="0"/>
              </a:rPr>
              <a:t>x</a:t>
            </a:r>
            <a:r>
              <a:rPr lang="en-US" baseline="-30000" dirty="0" smtClean="0">
                <a:cs typeface="Times New Roman" pitchFamily="18" charset="0"/>
              </a:rPr>
              <a:t>2</a:t>
            </a:r>
            <a:r>
              <a:rPr lang="ro-RO" sz="2800" dirty="0" smtClean="0">
                <a:solidFill>
                  <a:srgbClr val="FFFFFF"/>
                </a:solidFill>
                <a:cs typeface="Times New Roman" pitchFamily="18" charset="0"/>
                <a:sym typeface="Symbol" panose="05050102010706020507" pitchFamily="18" charset="2"/>
              </a:rPr>
              <a:t></a:t>
            </a:r>
            <a:r>
              <a:rPr lang="en-US" i="1" dirty="0" smtClean="0">
                <a:cs typeface="Times New Roman" pitchFamily="18" charset="0"/>
              </a:rPr>
              <a:t>y</a:t>
            </a:r>
            <a:r>
              <a:rPr lang="en-US" baseline="-30000" dirty="0" smtClean="0">
                <a:cs typeface="Times New Roman" pitchFamily="18" charset="0"/>
              </a:rPr>
              <a:t>2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+ </a:t>
            </a:r>
            <a:r>
              <a:rPr lang="en-US" i="1" dirty="0" smtClean="0">
                <a:cs typeface="Times New Roman" pitchFamily="18" charset="0"/>
              </a:rPr>
              <a:t>x</a:t>
            </a:r>
            <a:r>
              <a:rPr lang="en-US" baseline="-30000" dirty="0" smtClean="0">
                <a:cs typeface="Times New Roman" pitchFamily="18" charset="0"/>
              </a:rPr>
              <a:t>1</a:t>
            </a:r>
            <a:r>
              <a:rPr lang="ro-RO" sz="2800" dirty="0" smtClean="0">
                <a:solidFill>
                  <a:srgbClr val="FFFFFF"/>
                </a:solidFill>
                <a:cs typeface="Times New Roman" pitchFamily="18" charset="0"/>
                <a:sym typeface="Symbol" panose="05050102010706020507" pitchFamily="18" charset="2"/>
              </a:rPr>
              <a:t></a:t>
            </a:r>
            <a:r>
              <a:rPr lang="en-US" i="1" dirty="0" smtClean="0">
                <a:cs typeface="Times New Roman" pitchFamily="18" charset="0"/>
              </a:rPr>
              <a:t>y</a:t>
            </a:r>
            <a:r>
              <a:rPr lang="en-US" baseline="-30000" dirty="0" smtClean="0">
                <a:cs typeface="Times New Roman" pitchFamily="18" charset="0"/>
              </a:rPr>
              <a:t>3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i="1" dirty="0" smtClean="0">
                <a:cs typeface="Times New Roman" pitchFamily="18" charset="0"/>
              </a:rPr>
              <a:t>P</a:t>
            </a:r>
            <a:r>
              <a:rPr lang="en-US" baseline="-30000" dirty="0" smtClean="0">
                <a:cs typeface="Times New Roman" pitchFamily="18" charset="0"/>
              </a:rPr>
              <a:t>5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= </a:t>
            </a:r>
            <a:r>
              <a:rPr lang="en-US" i="1" dirty="0" smtClean="0">
                <a:cs typeface="Times New Roman" pitchFamily="18" charset="0"/>
              </a:rPr>
              <a:t>x</a:t>
            </a:r>
            <a:r>
              <a:rPr lang="en-US" baseline="-30000" dirty="0" smtClean="0">
                <a:cs typeface="Times New Roman" pitchFamily="18" charset="0"/>
              </a:rPr>
              <a:t>3</a:t>
            </a:r>
            <a:r>
              <a:rPr lang="ro-RO" sz="2800" dirty="0" smtClean="0">
                <a:solidFill>
                  <a:srgbClr val="FFFFFF"/>
                </a:solidFill>
                <a:cs typeface="Times New Roman" pitchFamily="18" charset="0"/>
                <a:sym typeface="Symbol" panose="05050102010706020507" pitchFamily="18" charset="2"/>
              </a:rPr>
              <a:t></a:t>
            </a:r>
            <a:r>
              <a:rPr lang="en-US" i="1" dirty="0" smtClean="0">
                <a:cs typeface="Times New Roman" pitchFamily="18" charset="0"/>
              </a:rPr>
              <a:t>y</a:t>
            </a:r>
            <a:r>
              <a:rPr lang="en-US" baseline="-30000" dirty="0" smtClean="0">
                <a:cs typeface="Times New Roman" pitchFamily="18" charset="0"/>
              </a:rPr>
              <a:t>2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+ </a:t>
            </a:r>
            <a:r>
              <a:rPr lang="en-US" i="1" dirty="0" smtClean="0">
                <a:cs typeface="Times New Roman" pitchFamily="18" charset="0"/>
              </a:rPr>
              <a:t>x</a:t>
            </a:r>
            <a:r>
              <a:rPr lang="en-US" baseline="-30000" dirty="0" smtClean="0">
                <a:cs typeface="Times New Roman" pitchFamily="18" charset="0"/>
              </a:rPr>
              <a:t>2</a:t>
            </a:r>
            <a:r>
              <a:rPr lang="ro-RO" sz="2800" dirty="0" smtClean="0">
                <a:solidFill>
                  <a:srgbClr val="FFFFFF"/>
                </a:solidFill>
                <a:cs typeface="Times New Roman" pitchFamily="18" charset="0"/>
                <a:sym typeface="Symbol" panose="05050102010706020507" pitchFamily="18" charset="2"/>
              </a:rPr>
              <a:t></a:t>
            </a:r>
            <a:r>
              <a:rPr lang="en-US" i="1" dirty="0" smtClean="0">
                <a:cs typeface="Times New Roman" pitchFamily="18" charset="0"/>
              </a:rPr>
              <a:t>y</a:t>
            </a:r>
            <a:r>
              <a:rPr lang="en-US" baseline="-30000" dirty="0" smtClean="0">
                <a:cs typeface="Times New Roman" pitchFamily="18" charset="0"/>
              </a:rPr>
              <a:t>3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i="1" dirty="0" smtClean="0">
                <a:cs typeface="Times New Roman" pitchFamily="18" charset="0"/>
              </a:rPr>
              <a:t>P</a:t>
            </a:r>
            <a:r>
              <a:rPr lang="en-US" baseline="-30000" dirty="0" smtClean="0">
                <a:cs typeface="Times New Roman" pitchFamily="18" charset="0"/>
              </a:rPr>
              <a:t>6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= </a:t>
            </a:r>
            <a:r>
              <a:rPr lang="en-US" i="1" dirty="0" smtClean="0">
                <a:cs typeface="Times New Roman" pitchFamily="18" charset="0"/>
              </a:rPr>
              <a:t>x</a:t>
            </a:r>
            <a:r>
              <a:rPr lang="en-US" baseline="-30000" dirty="0" smtClean="0">
                <a:cs typeface="Times New Roman" pitchFamily="18" charset="0"/>
              </a:rPr>
              <a:t>3</a:t>
            </a:r>
            <a:r>
              <a:rPr lang="ro-RO" sz="2800" dirty="0" smtClean="0">
                <a:solidFill>
                  <a:srgbClr val="FFFFFF"/>
                </a:solidFill>
                <a:cs typeface="Times New Roman" pitchFamily="18" charset="0"/>
                <a:sym typeface="Symbol" panose="05050102010706020507" pitchFamily="18" charset="2"/>
              </a:rPr>
              <a:t></a:t>
            </a:r>
            <a:r>
              <a:rPr lang="en-US" i="1" dirty="0" smtClean="0">
                <a:cs typeface="Times New Roman" pitchFamily="18" charset="0"/>
              </a:rPr>
              <a:t>y</a:t>
            </a:r>
            <a:r>
              <a:rPr lang="en-US" baseline="-30000" dirty="0" smtClean="0">
                <a:cs typeface="Times New Roman" pitchFamily="18" charset="0"/>
              </a:rPr>
              <a:t>3</a:t>
            </a:r>
            <a:r>
              <a:rPr lang="ro-RO" dirty="0" smtClean="0"/>
              <a:t> </a:t>
            </a:r>
            <a:endParaRPr lang="ro-RO" dirty="0"/>
          </a:p>
          <a:p>
            <a:pPr lvl="1"/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3107B1-6B71-4AC1-9DF5-DE0377C3C6DA}" type="slidenum">
              <a:rPr lang="ro-RO"/>
              <a:pPr/>
              <a:t>10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Înmulțirea matriceală </a:t>
            </a:r>
            <a:r>
              <a:rPr lang="ro-RO" dirty="0"/>
              <a:t>(6)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35403D-D7A7-4BD2-B4C0-F41E6A874E15}" type="slidenum">
              <a:rPr lang="ro-RO"/>
              <a:pPr/>
              <a:t>11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886" y="1340768"/>
            <a:ext cx="6546587" cy="4795844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9"/>
            <a:ext cx="8352928" cy="720080"/>
          </a:xfrm>
        </p:spPr>
        <p:txBody>
          <a:bodyPr>
            <a:normAutofit/>
          </a:bodyPr>
          <a:lstStyle/>
          <a:p>
            <a:r>
              <a:rPr lang="ro-RO" dirty="0" smtClean="0"/>
              <a:t>Înmulțirea matriceală </a:t>
            </a:r>
            <a:r>
              <a:rPr lang="ro-RO" dirty="0"/>
              <a:t>(7)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395536" y="1524000"/>
            <a:ext cx="8352928" cy="990600"/>
          </a:xfrm>
        </p:spPr>
        <p:txBody>
          <a:bodyPr>
            <a:normAutofit/>
          </a:bodyPr>
          <a:lstStyle/>
          <a:p>
            <a:r>
              <a:rPr lang="ro-RO" dirty="0" smtClean="0">
                <a:cs typeface="Times New Roman" pitchFamily="18" charset="0"/>
              </a:rPr>
              <a:t>Funcția </a:t>
            </a:r>
            <a:r>
              <a:rPr lang="ro-RO" dirty="0">
                <a:cs typeface="Times New Roman" pitchFamily="18" charset="0"/>
              </a:rPr>
              <a:t>de adunare </a:t>
            </a:r>
            <a:r>
              <a:rPr lang="ro-RO" dirty="0" smtClean="0">
                <a:cs typeface="Times New Roman" pitchFamily="18" charset="0"/>
              </a:rPr>
              <a:t>și funcția ȘI </a:t>
            </a:r>
            <a:r>
              <a:rPr lang="ro-RO" dirty="0">
                <a:cs typeface="Times New Roman" pitchFamily="18" charset="0"/>
              </a:rPr>
              <a:t>logic pot fi combinate într‑o singur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celul</a:t>
            </a:r>
            <a:r>
              <a:rPr lang="ro-RO" dirty="0" smtClean="0"/>
              <a:t>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</a:t>
            </a:r>
            <a:endParaRPr lang="ro-RO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dirty="0"/>
              <a:t>Structura sistemelor de calcul (02-3)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D525B-BB21-42F4-9CF4-49F364E9633B}" type="slidenum">
              <a:rPr lang="ro-RO"/>
              <a:pPr/>
              <a:t>12</a:t>
            </a:fld>
            <a:endParaRPr lang="ro-RO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991" y="2696967"/>
            <a:ext cx="3696017" cy="343415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Înmulțirea matriceală </a:t>
            </a:r>
            <a:r>
              <a:rPr lang="ro-RO" dirty="0"/>
              <a:t>(8)</a:t>
            </a:r>
          </a:p>
        </p:txBody>
      </p:sp>
      <p:sp>
        <p:nvSpPr>
          <p:cNvPr id="23142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>
            <a:normAutofit/>
          </a:bodyPr>
          <a:lstStyle/>
          <a:p>
            <a:r>
              <a:rPr lang="ro-RO" dirty="0"/>
              <a:t>C</a:t>
            </a:r>
            <a:r>
              <a:rPr lang="ro-RO" dirty="0">
                <a:cs typeface="Times New Roman" pitchFamily="18" charset="0"/>
              </a:rPr>
              <a:t>elul</a:t>
            </a:r>
            <a:r>
              <a:rPr lang="ro-RO" dirty="0"/>
              <a:t>a</a:t>
            </a:r>
            <a:r>
              <a:rPr lang="ro-RO" dirty="0">
                <a:cs typeface="Times New Roman" pitchFamily="18" charset="0"/>
              </a:rPr>
              <a:t> implementeaz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expresi</a:t>
            </a:r>
            <a:r>
              <a:rPr lang="ro-RO" dirty="0"/>
              <a:t>a</a:t>
            </a:r>
            <a:r>
              <a:rPr lang="ro-RO" dirty="0">
                <a:cs typeface="Times New Roman" pitchFamily="18" charset="0"/>
              </a:rPr>
              <a:t> aritmetic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:</a:t>
            </a:r>
            <a:endParaRPr lang="ro-RO" dirty="0"/>
          </a:p>
          <a:p>
            <a:pPr lvl="1">
              <a:buFont typeface="Wingdings" pitchFamily="2" charset="2"/>
              <a:buNone/>
            </a:pPr>
            <a:r>
              <a:rPr lang="ro-RO" i="1" dirty="0"/>
              <a:t>	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out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=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b="1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plus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anose="05050102010706020507" pitchFamily="18" charset="2"/>
              </a:rPr>
              <a:t>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b="1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plus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in</a:t>
            </a:r>
            <a:r>
              <a:rPr lang="ro-RO" dirty="0">
                <a:cs typeface="Times New Roman" pitchFamily="18" charset="0"/>
              </a:rPr>
              <a:t>	</a:t>
            </a:r>
            <a:r>
              <a:rPr lang="ro-RO" dirty="0"/>
              <a:t> </a:t>
            </a:r>
          </a:p>
          <a:p>
            <a:r>
              <a:rPr lang="ro-RO" dirty="0">
                <a:cs typeface="Times New Roman" pitchFamily="18" charset="0"/>
              </a:rPr>
              <a:t>La intrarea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se conecteaz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un bit al produsului </a:t>
            </a:r>
            <a:r>
              <a:rPr lang="ro-RO" dirty="0" smtClean="0">
                <a:cs typeface="Times New Roman" pitchFamily="18" charset="0"/>
              </a:rPr>
              <a:t>parțial </a:t>
            </a:r>
            <a:r>
              <a:rPr lang="ro-RO" dirty="0">
                <a:cs typeface="Times New Roman" pitchFamily="18" charset="0"/>
              </a:rPr>
              <a:t>din linia precedent</a:t>
            </a:r>
            <a:r>
              <a:rPr lang="ro-RO" dirty="0"/>
              <a:t>ă</a:t>
            </a:r>
          </a:p>
          <a:p>
            <a:r>
              <a:rPr lang="ro-RO" dirty="0">
                <a:cs typeface="Times New Roman" pitchFamily="18" charset="0"/>
              </a:rPr>
              <a:t>Un circuit de </a:t>
            </a:r>
            <a:r>
              <a:rPr lang="ro-RO" dirty="0" smtClean="0">
                <a:cs typeface="Times New Roman" pitchFamily="18" charset="0"/>
              </a:rPr>
              <a:t>înmulțire </a:t>
            </a:r>
            <a:r>
              <a:rPr lang="ro-RO" dirty="0"/>
              <a:t>de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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biți </a:t>
            </a:r>
            <a:r>
              <a:rPr lang="ro-RO" dirty="0">
                <a:cs typeface="Times New Roman" pitchFamily="18" charset="0"/>
              </a:rPr>
              <a:t>poate fi realizat </a:t>
            </a:r>
            <a:r>
              <a:rPr lang="ro-RO" dirty="0" smtClean="0">
                <a:cs typeface="Times New Roman" pitchFamily="18" charset="0"/>
              </a:rPr>
              <a:t>utilizând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baseline="30000" dirty="0">
                <a:cs typeface="Times New Roman" pitchFamily="18" charset="0"/>
              </a:rPr>
              <a:t>2</a:t>
            </a:r>
            <a:r>
              <a:rPr lang="ro-RO" dirty="0">
                <a:cs typeface="Times New Roman" pitchFamily="18" charset="0"/>
              </a:rPr>
              <a:t> celule de acest tip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Unele celule vor avea intrările setate la </a:t>
            </a:r>
            <a:r>
              <a:rPr lang="en-US" dirty="0" smtClean="0"/>
              <a:t>‘</a:t>
            </a:r>
            <a:r>
              <a:rPr lang="ro-RO" dirty="0" smtClean="0"/>
              <a:t>0</a:t>
            </a:r>
            <a:r>
              <a:rPr lang="en-US" dirty="0"/>
              <a:t>’</a:t>
            </a:r>
            <a:endParaRPr lang="ro-RO" dirty="0"/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</a:t>
            </a:r>
            <a:r>
              <a:rPr lang="ro-RO" dirty="0"/>
              <a:t>: structură uniformă </a:t>
            </a:r>
            <a:r>
              <a:rPr lang="ro-RO" dirty="0">
                <a:sym typeface="Symbol" pitchFamily="18" charset="2"/>
              </a:rPr>
              <a:t> </a:t>
            </a:r>
            <a:r>
              <a:rPr lang="ro-RO" dirty="0" smtClean="0">
                <a:sym typeface="Symbol" pitchFamily="18" charset="2"/>
              </a:rPr>
              <a:t>permite </a:t>
            </a:r>
            <a:r>
              <a:rPr lang="ro-RO" dirty="0" smtClean="0"/>
              <a:t>implementarea într-un circuit VLSI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B792EB-CD5E-40CA-8AB5-8D2BA9C2387E}" type="slidenum">
              <a:rPr lang="ro-RO"/>
              <a:pPr/>
              <a:t>13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Înmulțirea matriceală </a:t>
            </a:r>
            <a:r>
              <a:rPr lang="ro-RO" dirty="0"/>
              <a:t>(9)</a:t>
            </a:r>
          </a:p>
        </p:txBody>
      </p:sp>
      <p:sp>
        <p:nvSpPr>
          <p:cNvPr id="23245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4"/>
            <a:ext cx="8382000" cy="4896445"/>
          </a:xfrm>
        </p:spPr>
        <p:txBody>
          <a:bodyPr/>
          <a:lstStyle/>
          <a:p>
            <a:r>
              <a:rPr lang="ro-RO" dirty="0">
                <a:cs typeface="Times New Roman" pitchFamily="18" charset="0"/>
              </a:rPr>
              <a:t>Pentru </a:t>
            </a:r>
            <a:r>
              <a:rPr lang="ro-RO" dirty="0" smtClean="0">
                <a:cs typeface="Times New Roman" pitchFamily="18" charset="0"/>
              </a:rPr>
              <a:t>creșterea </a:t>
            </a:r>
            <a:r>
              <a:rPr lang="ro-RO" dirty="0">
                <a:cs typeface="Times New Roman" pitchFamily="18" charset="0"/>
              </a:rPr>
              <a:t>vitezei </a:t>
            </a:r>
            <a:r>
              <a:rPr lang="ro-RO" dirty="0"/>
              <a:t>se </a:t>
            </a:r>
            <a:r>
              <a:rPr lang="ro-RO" dirty="0">
                <a:cs typeface="Times New Roman" pitchFamily="18" charset="0"/>
              </a:rPr>
              <a:t>pot utiliza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sumatoare cu salvarea transportului </a:t>
            </a:r>
            <a:r>
              <a:rPr lang="ro-RO" dirty="0"/>
              <a:t>(SST)</a:t>
            </a:r>
          </a:p>
          <a:p>
            <a:pPr lvl="1"/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ropagarea transportului între sumatoarele elementare din a</a:t>
            </a:r>
            <a:r>
              <a:rPr lang="ro-RO" dirty="0" smtClean="0">
                <a:cs typeface="Times New Roman" pitchFamily="18" charset="0"/>
              </a:rPr>
              <a:t>celași </a:t>
            </a:r>
            <a:r>
              <a:rPr lang="ro-RO" dirty="0">
                <a:cs typeface="Times New Roman" pitchFamily="18" charset="0"/>
              </a:rPr>
              <a:t>rând </a:t>
            </a:r>
            <a:r>
              <a:rPr lang="ro-RO" dirty="0"/>
              <a:t>este </a:t>
            </a:r>
            <a:r>
              <a:rPr lang="ro-RO" dirty="0">
                <a:cs typeface="Times New Roman" pitchFamily="18" charset="0"/>
              </a:rPr>
              <a:t>eliminat</a:t>
            </a:r>
            <a:r>
              <a:rPr lang="ro-RO" dirty="0"/>
              <a:t>ă </a:t>
            </a:r>
          </a:p>
          <a:p>
            <a:pPr lvl="1"/>
            <a:r>
              <a:rPr lang="ro-RO" dirty="0">
                <a:cs typeface="Times New Roman" pitchFamily="18" charset="0"/>
              </a:rPr>
              <a:t>Propagarea transportului este amânat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pân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la ultimul etaj al circuitului</a:t>
            </a:r>
            <a:endParaRPr lang="ro-RO" dirty="0"/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</a:t>
            </a:r>
            <a:r>
              <a:rPr lang="ro-RO" dirty="0"/>
              <a:t>: C</a:t>
            </a:r>
            <a:r>
              <a:rPr lang="ro-RO" dirty="0">
                <a:cs typeface="Times New Roman" pitchFamily="18" charset="0"/>
              </a:rPr>
              <a:t>ircuit de </a:t>
            </a:r>
            <a:r>
              <a:rPr lang="ro-RO" dirty="0" smtClean="0">
                <a:cs typeface="Times New Roman" pitchFamily="18" charset="0"/>
              </a:rPr>
              <a:t>înmulțire matriceal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pentru numere de câte 8 </a:t>
            </a:r>
            <a:r>
              <a:rPr lang="ro-RO" dirty="0" smtClean="0">
                <a:cs typeface="Times New Roman" pitchFamily="18" charset="0"/>
              </a:rPr>
              <a:t>biți </a:t>
            </a:r>
            <a:r>
              <a:rPr lang="ro-RO" dirty="0"/>
              <a:t>care </a:t>
            </a:r>
            <a:r>
              <a:rPr lang="ro-RO" dirty="0">
                <a:cs typeface="Times New Roman" pitchFamily="18" charset="0"/>
              </a:rPr>
              <a:t>utiliz</a:t>
            </a:r>
            <a:r>
              <a:rPr lang="ro-RO" dirty="0"/>
              <a:t>ează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SST    </a:t>
            </a:r>
            <a:endParaRPr lang="ro-RO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73C5C4-BAED-4CE0-9C65-F676CD653921}" type="slidenum">
              <a:rPr lang="ro-RO"/>
              <a:pPr/>
              <a:t>14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8"/>
            <a:ext cx="8352928" cy="720080"/>
          </a:xfrm>
        </p:spPr>
        <p:txBody>
          <a:bodyPr>
            <a:normAutofit/>
          </a:bodyPr>
          <a:lstStyle/>
          <a:p>
            <a:r>
              <a:rPr lang="ro-RO" dirty="0" smtClean="0"/>
              <a:t>Înmulțirea matriceală </a:t>
            </a:r>
            <a:r>
              <a:rPr lang="ro-RO" dirty="0"/>
              <a:t>(10)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6E95B7-A9BD-4471-9801-8E25185B6CF3}" type="slidenum">
              <a:rPr lang="ro-RO"/>
              <a:pPr/>
              <a:t>15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  <p:pic>
        <p:nvPicPr>
          <p:cNvPr id="8" name="Content Placeholder 7" descr="ssc3-inm-matr3-new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059832" y="1196752"/>
            <a:ext cx="2974244" cy="4941427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Înmulțirea matriceală </a:t>
            </a:r>
            <a:r>
              <a:rPr lang="ro-RO" dirty="0"/>
              <a:t>(11)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Circuitul </a:t>
            </a:r>
            <a:r>
              <a:rPr lang="ro-RO" dirty="0"/>
              <a:t>anterior </a:t>
            </a:r>
            <a:r>
              <a:rPr lang="ro-RO" dirty="0">
                <a:cs typeface="Times New Roman" pitchFamily="18" charset="0"/>
              </a:rPr>
              <a:t>este practic pentru valori moderate ale lui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</a:t>
            </a:r>
            <a:endParaRPr lang="ro-RO" dirty="0"/>
          </a:p>
          <a:p>
            <a:pPr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Pentru valori mari ale lui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, </a:t>
            </a:r>
            <a:r>
              <a:rPr lang="ro-RO" dirty="0"/>
              <a:t>este necesar un </a:t>
            </a:r>
            <a:r>
              <a:rPr lang="ro-RO" dirty="0">
                <a:cs typeface="Times New Roman" pitchFamily="18" charset="0"/>
              </a:rPr>
              <a:t>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</a:t>
            </a:r>
            <a:r>
              <a:rPr lang="ro-RO" dirty="0"/>
              <a:t> mare de </a:t>
            </a:r>
            <a:r>
              <a:rPr lang="ro-RO" dirty="0">
                <a:cs typeface="Times New Roman" pitchFamily="18" charset="0"/>
              </a:rPr>
              <a:t>sumatoare </a:t>
            </a:r>
            <a:r>
              <a:rPr lang="ro-RO" dirty="0" smtClean="0">
                <a:cs typeface="Times New Roman" pitchFamily="18" charset="0"/>
              </a:rPr>
              <a:t>SST </a:t>
            </a:r>
            <a:r>
              <a:rPr lang="ro-RO" dirty="0" smtClean="0"/>
              <a:t> </a:t>
            </a:r>
            <a:endParaRPr lang="ro-RO" dirty="0"/>
          </a:p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umatorul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poate fi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partiționat </a:t>
            </a:r>
            <a:r>
              <a:rPr lang="ro-RO" dirty="0">
                <a:cs typeface="Times New Roman" pitchFamily="18" charset="0"/>
              </a:rPr>
              <a:t>în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k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segmente de câte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biți </a:t>
            </a:r>
            <a:r>
              <a:rPr lang="ro-RO" dirty="0">
                <a:cs typeface="Times New Roman" pitchFamily="18" charset="0"/>
              </a:rPr>
              <a:t>fiecare</a:t>
            </a:r>
            <a:r>
              <a:rPr lang="ro-RO" dirty="0"/>
              <a:t> </a:t>
            </a:r>
          </a:p>
          <a:p>
            <a:pPr lvl="1"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Sunt generate doar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produse </a:t>
            </a:r>
            <a:r>
              <a:rPr lang="ro-RO" dirty="0" smtClean="0">
                <a:cs typeface="Times New Roman" pitchFamily="18" charset="0"/>
              </a:rPr>
              <a:t>parțiale </a:t>
            </a:r>
            <a:endParaRPr lang="ro-RO" dirty="0"/>
          </a:p>
          <a:p>
            <a:pPr lvl="1"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Procesul este repetat de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k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ori </a:t>
            </a:r>
            <a:endParaRPr lang="ro-RO" dirty="0"/>
          </a:p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Exemplu</a:t>
            </a:r>
            <a:r>
              <a:rPr lang="ro-RO" dirty="0"/>
              <a:t>: Structură cu două treceri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52947C-BCCA-4B48-8747-CB56A73548CC}" type="slidenum">
              <a:rPr lang="ro-RO"/>
              <a:pPr/>
              <a:t>16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Înmulțirea matriceală </a:t>
            </a:r>
            <a:r>
              <a:rPr lang="ro-RO" dirty="0"/>
              <a:t>(12)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E42F9E-0BE4-47A3-A9BD-4FBA376C24FF}" type="slidenum">
              <a:rPr lang="ro-RO"/>
              <a:pPr/>
              <a:t>17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  <p:pic>
        <p:nvPicPr>
          <p:cNvPr id="8" name="Content Placeholder 7" descr="ssc3-inm-matr4-new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915816" y="1268760"/>
            <a:ext cx="3275509" cy="4802439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Înmulțirea</a:t>
            </a:r>
            <a:endParaRPr lang="ro-RO" dirty="0"/>
          </a:p>
        </p:txBody>
      </p:sp>
      <p:sp>
        <p:nvSpPr>
          <p:cNvPr id="192515" name="Rectangle 2051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358116"/>
          </a:xfrm>
        </p:spPr>
        <p:txBody>
          <a:bodyPr/>
          <a:lstStyle/>
          <a:p>
            <a:endParaRPr lang="ro-RO" dirty="0">
              <a:solidFill>
                <a:schemeClr val="tx2"/>
              </a:solidFill>
            </a:endParaRP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Înmulțirea</a:t>
            </a:r>
          </a:p>
          <a:p>
            <a:pPr lvl="1"/>
            <a:r>
              <a:rPr lang="ro-RO" dirty="0" smtClean="0"/>
              <a:t>Înmulțirea </a:t>
            </a:r>
            <a:r>
              <a:rPr lang="ro-RO" dirty="0"/>
              <a:t>prin deplasare </a:t>
            </a:r>
            <a:r>
              <a:rPr lang="ro-RO" dirty="0" smtClean="0"/>
              <a:t>și </a:t>
            </a:r>
            <a:r>
              <a:rPr lang="ro-RO" dirty="0"/>
              <a:t>adunare</a:t>
            </a:r>
          </a:p>
          <a:p>
            <a:pPr lvl="1"/>
            <a:r>
              <a:rPr lang="ro-RO" dirty="0"/>
              <a:t>Tehnica </a:t>
            </a:r>
            <a:r>
              <a:rPr lang="ro-RO" dirty="0" err="1"/>
              <a:t>Booth</a:t>
            </a:r>
            <a:endParaRPr lang="ro-RO" dirty="0"/>
          </a:p>
          <a:p>
            <a:pPr lvl="1"/>
            <a:r>
              <a:rPr lang="ro-RO" dirty="0" smtClean="0"/>
              <a:t>Înmulțirea </a:t>
            </a:r>
            <a:r>
              <a:rPr lang="ro-RO" dirty="0"/>
              <a:t>într-o bază superioară</a:t>
            </a:r>
          </a:p>
          <a:p>
            <a:pPr lvl="1"/>
            <a:r>
              <a:rPr lang="ro-RO" dirty="0" smtClean="0"/>
              <a:t>Înmulțirea matriceală</a:t>
            </a:r>
            <a:endParaRPr lang="ro-RO" dirty="0"/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Arborele Wallace</a:t>
            </a:r>
          </a:p>
          <a:p>
            <a:pPr lvl="1"/>
            <a:r>
              <a:rPr lang="ro-RO" dirty="0"/>
              <a:t>Circuite de înmulțire </a:t>
            </a:r>
            <a:r>
              <a:rPr lang="ro-RO" i="1" dirty="0" err="1" smtClean="0"/>
              <a:t>pipeline</a:t>
            </a:r>
            <a:endParaRPr lang="ro-RO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3821EB-D93E-415C-9D9C-EB0A17917080}" type="slidenum">
              <a:rPr lang="ro-RO"/>
              <a:pPr/>
              <a:t>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Arborele Wallace (1)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Î</a:t>
            </a:r>
            <a:r>
              <a:rPr lang="ro-RO" dirty="0" smtClean="0">
                <a:cs typeface="Times New Roman" pitchFamily="18" charset="0"/>
              </a:rPr>
              <a:t>nmulțirea </a:t>
            </a:r>
            <a:r>
              <a:rPr lang="ro-RO" dirty="0">
                <a:cs typeface="Times New Roman" pitchFamily="18" charset="0"/>
              </a:rPr>
              <a:t>a dou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numere de câte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biți </a:t>
            </a:r>
            <a:r>
              <a:rPr lang="ro-RO" dirty="0">
                <a:cs typeface="Times New Roman" pitchFamily="18" charset="0"/>
              </a:rPr>
              <a:t>necesită adunarea a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produse </a:t>
            </a:r>
            <a:r>
              <a:rPr lang="ro-RO" dirty="0" smtClean="0">
                <a:cs typeface="Times New Roman" pitchFamily="18" charset="0"/>
              </a:rPr>
              <a:t>parțiale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dirty="0">
                <a:cs typeface="Times New Roman" pitchFamily="18" charset="0"/>
              </a:rPr>
              <a:t>Circuitele de </a:t>
            </a:r>
            <a:r>
              <a:rPr lang="ro-RO" dirty="0" smtClean="0">
                <a:cs typeface="Times New Roman" pitchFamily="18" charset="0"/>
              </a:rPr>
              <a:t>înmulțire </a:t>
            </a:r>
            <a:r>
              <a:rPr lang="ro-RO" dirty="0"/>
              <a:t>anterioare</a:t>
            </a:r>
            <a:r>
              <a:rPr lang="ro-RO" dirty="0">
                <a:cs typeface="Times New Roman" pitchFamily="18" charset="0"/>
              </a:rPr>
              <a:t> execut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înmulțirea </a:t>
            </a:r>
            <a:r>
              <a:rPr lang="ro-RO" dirty="0">
                <a:cs typeface="Times New Roman" pitchFamily="18" charset="0"/>
              </a:rPr>
              <a:t>într‑un timp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O</a:t>
            </a:r>
            <a:r>
              <a:rPr lang="en-US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(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)</a:t>
            </a:r>
            <a:r>
              <a:rPr lang="ro-RO" dirty="0">
                <a:cs typeface="Times New Roman" pitchFamily="18" charset="0"/>
              </a:rPr>
              <a:t> </a:t>
            </a:r>
            <a:endParaRPr lang="ro-RO" dirty="0"/>
          </a:p>
          <a:p>
            <a:r>
              <a:rPr lang="ro-RO" dirty="0"/>
              <a:t>T</a:t>
            </a:r>
            <a:r>
              <a:rPr lang="ro-RO" dirty="0">
                <a:cs typeface="Times New Roman" pitchFamily="18" charset="0"/>
              </a:rPr>
              <a:t>imp</a:t>
            </a:r>
            <a:r>
              <a:rPr lang="ro-RO" dirty="0"/>
              <a:t>ul</a:t>
            </a:r>
            <a:r>
              <a:rPr lang="ro-RO" dirty="0">
                <a:cs typeface="Times New Roman" pitchFamily="18" charset="0"/>
              </a:rPr>
              <a:t> poate fi redus la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O</a:t>
            </a:r>
            <a:r>
              <a:rPr lang="en-US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(log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)</a:t>
            </a:r>
            <a:r>
              <a:rPr lang="ro-RO" dirty="0">
                <a:cs typeface="Times New Roman" pitchFamily="18" charset="0"/>
              </a:rPr>
              <a:t> prin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utilizarea unui arbore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ro-RO" dirty="0">
                <a:cs typeface="Times New Roman" pitchFamily="18" charset="0"/>
              </a:rPr>
              <a:t>Arborele cel mai </a:t>
            </a:r>
            <a:r>
              <a:rPr lang="ro-RO" dirty="0" smtClean="0">
                <a:cs typeface="Times New Roman" pitchFamily="18" charset="0"/>
              </a:rPr>
              <a:t>simplu: combină </a:t>
            </a:r>
            <a:r>
              <a:rPr lang="ro-RO" dirty="0">
                <a:cs typeface="Times New Roman" pitchFamily="18" charset="0"/>
              </a:rPr>
              <a:t>perechi de produse </a:t>
            </a:r>
            <a:r>
              <a:rPr lang="ro-RO" dirty="0" smtClean="0">
                <a:cs typeface="Times New Roman" pitchFamily="18" charset="0"/>
              </a:rPr>
              <a:t>parțiale </a:t>
            </a:r>
            <a:r>
              <a:rPr lang="ro-RO" dirty="0"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n</a:t>
            </a:r>
            <a:r>
              <a:rPr lang="ro-RO" dirty="0">
                <a:cs typeface="Times New Roman" pitchFamily="18" charset="0"/>
              </a:rPr>
              <a:t>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produselor </a:t>
            </a:r>
            <a:r>
              <a:rPr lang="ro-RO" dirty="0" smtClean="0">
                <a:cs typeface="Times New Roman" pitchFamily="18" charset="0"/>
              </a:rPr>
              <a:t>parțiale </a:t>
            </a:r>
            <a:r>
              <a:rPr lang="ro-RO" dirty="0"/>
              <a:t>ar fi redus </a:t>
            </a:r>
            <a:r>
              <a:rPr lang="ro-RO" dirty="0">
                <a:cs typeface="Times New Roman" pitchFamily="18" charset="0"/>
              </a:rPr>
              <a:t>de la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la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/2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AE2636-4F22-47C3-A932-2CC33403123A}" type="slidenum">
              <a:rPr lang="ro-RO"/>
              <a:pPr/>
              <a:t>19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Arborele Wallace (2)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573560"/>
          </a:xfrm>
        </p:spPr>
        <p:txBody>
          <a:bodyPr/>
          <a:lstStyle/>
          <a:p>
            <a:r>
              <a:rPr lang="ro-RO" dirty="0"/>
              <a:t>A</a:t>
            </a:r>
            <a:r>
              <a:rPr lang="ro-RO" dirty="0">
                <a:cs typeface="Times New Roman" pitchFamily="18" charset="0"/>
              </a:rPr>
              <a:t>rbore</a:t>
            </a:r>
            <a:r>
              <a:rPr lang="ro-RO" dirty="0"/>
              <a:t>le</a:t>
            </a:r>
            <a:r>
              <a:rPr lang="ro-RO" dirty="0">
                <a:cs typeface="Times New Roman" pitchFamily="18" charset="0"/>
              </a:rPr>
              <a:t> binar nu poate fi implementat  utilizând sumatoare elementare</a:t>
            </a:r>
            <a:endParaRPr lang="ro-RO" dirty="0"/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C. S. Wallace </a:t>
            </a:r>
            <a:r>
              <a:rPr lang="ro-RO" dirty="0">
                <a:cs typeface="Times New Roman" pitchFamily="18" charset="0"/>
              </a:rPr>
              <a:t>a ar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tat 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produsele </a:t>
            </a:r>
            <a:r>
              <a:rPr lang="ro-RO" dirty="0" smtClean="0">
                <a:cs typeface="Times New Roman" pitchFamily="18" charset="0"/>
              </a:rPr>
              <a:t>parțiale </a:t>
            </a:r>
            <a:r>
              <a:rPr lang="ro-RO" dirty="0">
                <a:cs typeface="Times New Roman" pitchFamily="18" charset="0"/>
              </a:rPr>
              <a:t>pot fi adunate </a:t>
            </a:r>
            <a:r>
              <a:rPr lang="ro-RO" dirty="0"/>
              <a:t>mai </a:t>
            </a:r>
            <a:r>
              <a:rPr lang="ro-RO" dirty="0">
                <a:cs typeface="Times New Roman" pitchFamily="18" charset="0"/>
              </a:rPr>
              <a:t>rapid utilizând nivele multiple de </a:t>
            </a:r>
            <a:r>
              <a:rPr lang="ro-RO" dirty="0"/>
              <a:t>SST </a:t>
            </a:r>
            <a:r>
              <a:rPr lang="ro-RO" dirty="0">
                <a:sym typeface="Symbol" pitchFamily="18" charset="2"/>
              </a:rPr>
              <a:t></a:t>
            </a:r>
            <a:r>
              <a:rPr lang="ro-RO" dirty="0"/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arbore Wallace</a:t>
            </a:r>
          </a:p>
          <a:p>
            <a:pPr lvl="1"/>
            <a:r>
              <a:rPr lang="ro-RO" dirty="0"/>
              <a:t>Î</a:t>
            </a:r>
            <a:r>
              <a:rPr lang="ro-RO" dirty="0">
                <a:cs typeface="Times New Roman" pitchFamily="18" charset="0"/>
              </a:rPr>
              <a:t>n </a:t>
            </a:r>
            <a:r>
              <a:rPr lang="ro-RO" dirty="0"/>
              <a:t>fiecare </a:t>
            </a:r>
            <a:r>
              <a:rPr lang="ro-RO" dirty="0">
                <a:cs typeface="Times New Roman" pitchFamily="18" charset="0"/>
              </a:rPr>
              <a:t>nivel al arborelui</a:t>
            </a:r>
            <a:r>
              <a:rPr lang="ro-RO" dirty="0"/>
              <a:t>,</a:t>
            </a:r>
            <a:r>
              <a:rPr lang="ro-RO" dirty="0">
                <a:cs typeface="Times New Roman" pitchFamily="18" charset="0"/>
              </a:rPr>
              <a:t> numerele sunt grupate câte trei </a:t>
            </a:r>
            <a:endParaRPr lang="ro-RO" dirty="0"/>
          </a:p>
          <a:p>
            <a:pPr lvl="1"/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e utilizeaz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câte un </a:t>
            </a:r>
            <a:r>
              <a:rPr lang="ro-RO" dirty="0"/>
              <a:t>SST</a:t>
            </a:r>
            <a:r>
              <a:rPr lang="ro-RO" dirty="0">
                <a:cs typeface="Times New Roman" pitchFamily="18" charset="0"/>
              </a:rPr>
              <a:t> pentru adunarea numerelor din fiecare grup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86A37E5-6436-45CD-91C7-97C242127D8C}" type="slidenum">
              <a:rPr lang="ro-RO"/>
              <a:pPr/>
              <a:t>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Arborele Wallace (3)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58204" cy="3964162"/>
          </a:xfrm>
        </p:spPr>
        <p:txBody>
          <a:bodyPr/>
          <a:lstStyle/>
          <a:p>
            <a:pPr lvl="1"/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roces</a:t>
            </a:r>
            <a:r>
              <a:rPr lang="ro-RO" dirty="0"/>
              <a:t>ul</a:t>
            </a:r>
            <a:r>
              <a:rPr lang="ro-RO" dirty="0">
                <a:cs typeface="Times New Roman" pitchFamily="18" charset="0"/>
              </a:rPr>
              <a:t> continu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pân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când 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mân numai dou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numere de adunat</a:t>
            </a:r>
            <a:r>
              <a:rPr lang="ro-RO" dirty="0"/>
              <a:t> </a:t>
            </a:r>
          </a:p>
          <a:p>
            <a:pPr lvl="1"/>
            <a:r>
              <a:rPr lang="ro-RO" dirty="0">
                <a:cs typeface="Times New Roman" pitchFamily="18" charset="0"/>
              </a:rPr>
              <a:t>Pentru adunarea lor se utilizeaz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un </a:t>
            </a:r>
            <a:r>
              <a:rPr lang="ro-RO" dirty="0"/>
              <a:t>SPT</a:t>
            </a:r>
          </a:p>
          <a:p>
            <a:pPr lvl="1"/>
            <a:r>
              <a:rPr lang="ro-RO" dirty="0"/>
              <a:t>F</a:t>
            </a:r>
            <a:r>
              <a:rPr lang="ro-RO" dirty="0">
                <a:cs typeface="Times New Roman" pitchFamily="18" charset="0"/>
              </a:rPr>
              <a:t>iecare nivel reduce 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termenilor care trebuie </a:t>
            </a:r>
            <a:r>
              <a:rPr lang="ro-RO" dirty="0" smtClean="0">
                <a:cs typeface="Times New Roman" pitchFamily="18" charset="0"/>
              </a:rPr>
              <a:t>adunați </a:t>
            </a:r>
            <a:r>
              <a:rPr lang="ro-RO" dirty="0">
                <a:cs typeface="Times New Roman" pitchFamily="18" charset="0"/>
              </a:rPr>
              <a:t>cu un factor de 1,5 </a:t>
            </a:r>
            <a:r>
              <a:rPr lang="ro-RO" dirty="0"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O</a:t>
            </a:r>
            <a:r>
              <a:rPr lang="en-US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(log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1,5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) </a:t>
            </a:r>
            <a:r>
              <a:rPr lang="ro-RO" dirty="0"/>
              <a:t> 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</a:t>
            </a:r>
            <a:r>
              <a:rPr lang="ro-RO" dirty="0"/>
              <a:t>: </a:t>
            </a:r>
            <a:r>
              <a:rPr lang="en-US" dirty="0"/>
              <a:t>S</a:t>
            </a:r>
            <a:r>
              <a:rPr lang="ro-RO" dirty="0">
                <a:cs typeface="Times New Roman" pitchFamily="18" charset="0"/>
              </a:rPr>
              <a:t>chema bloc pentru </a:t>
            </a:r>
            <a:r>
              <a:rPr lang="ro-RO" dirty="0" smtClean="0">
                <a:cs typeface="Times New Roman" pitchFamily="18" charset="0"/>
              </a:rPr>
              <a:t>înmulțirea </a:t>
            </a:r>
            <a:r>
              <a:rPr lang="ro-RO" dirty="0">
                <a:cs typeface="Times New Roman" pitchFamily="18" charset="0"/>
              </a:rPr>
              <a:t>a dou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numere de câte 8 </a:t>
            </a:r>
            <a:r>
              <a:rPr lang="ro-RO" dirty="0" smtClean="0">
                <a:cs typeface="Times New Roman" pitchFamily="18" charset="0"/>
              </a:rPr>
              <a:t>biți</a:t>
            </a:r>
            <a:r>
              <a:rPr lang="ro-RO" dirty="0" smtClean="0"/>
              <a:t>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A41FA4-9391-4703-B601-89C312EDF9AF}" type="slidenum">
              <a:rPr lang="ro-RO"/>
              <a:pPr/>
              <a:t>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Arborele </a:t>
            </a:r>
            <a:r>
              <a:rPr lang="ro-RO" dirty="0" err="1"/>
              <a:t>Wallace</a:t>
            </a:r>
            <a:r>
              <a:rPr lang="ro-RO" dirty="0"/>
              <a:t> (4)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31EBFF-5204-4534-8FA9-168B534B5042}" type="slidenum">
              <a:rPr lang="ro-RO"/>
              <a:pPr/>
              <a:t>22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  <p:pic>
        <p:nvPicPr>
          <p:cNvPr id="8" name="Content Placeholder 7" descr="ssc3-inm-wallace1-new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907704" y="1268760"/>
            <a:ext cx="5327549" cy="4849378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Arborele Wallace (5)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511480" cy="4896445"/>
          </a:xfrm>
        </p:spPr>
        <p:txBody>
          <a:bodyPr>
            <a:normAutofit lnSpcReduction="10000"/>
          </a:bodyPr>
          <a:lstStyle/>
          <a:p>
            <a:r>
              <a:rPr lang="ro-RO" dirty="0">
                <a:cs typeface="Times New Roman" pitchFamily="18" charset="0"/>
              </a:rPr>
              <a:t>Metoda arborelui Wallace poate fi combinat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cu alte metode</a:t>
            </a:r>
            <a:r>
              <a:rPr lang="ro-RO" dirty="0"/>
              <a:t> pentru </a:t>
            </a:r>
            <a:r>
              <a:rPr lang="ro-RO" dirty="0" smtClean="0"/>
              <a:t>creșterea </a:t>
            </a:r>
            <a:r>
              <a:rPr lang="ro-RO" dirty="0"/>
              <a:t>vitezei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Arbore Wallace combinat cu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tehnica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Booth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 smtClean="0">
                <a:cs typeface="Times New Roman" pitchFamily="18" charset="0"/>
              </a:rPr>
              <a:t>Tehnica </a:t>
            </a:r>
            <a:r>
              <a:rPr lang="ro-RO" dirty="0" err="1" smtClean="0">
                <a:cs typeface="Times New Roman" pitchFamily="18" charset="0"/>
              </a:rPr>
              <a:t>Booth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este utilizat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pentru a genera produsele </a:t>
            </a:r>
            <a:r>
              <a:rPr lang="ro-RO" dirty="0" smtClean="0">
                <a:cs typeface="Times New Roman" pitchFamily="18" charset="0"/>
              </a:rPr>
              <a:t>parțiale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dirty="0"/>
              <a:t>Se </a:t>
            </a:r>
            <a:r>
              <a:rPr lang="ro-RO" dirty="0">
                <a:cs typeface="Times New Roman" pitchFamily="18" charset="0"/>
              </a:rPr>
              <a:t>utiliz</a:t>
            </a:r>
            <a:r>
              <a:rPr lang="ro-RO" dirty="0"/>
              <a:t>ează</a:t>
            </a:r>
            <a:r>
              <a:rPr lang="ro-RO" dirty="0">
                <a:cs typeface="Times New Roman" pitchFamily="18" charset="0"/>
              </a:rPr>
              <a:t> un arbore Wallace pentru adunarea </a:t>
            </a:r>
            <a:r>
              <a:rPr lang="ro-RO" dirty="0"/>
              <a:t>produselor </a:t>
            </a:r>
            <a:r>
              <a:rPr lang="ro-RO" dirty="0" smtClean="0"/>
              <a:t>parțiale </a:t>
            </a:r>
            <a:endParaRPr lang="ro-RO" dirty="0"/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/>
              <a:t>Î</a:t>
            </a:r>
            <a:r>
              <a:rPr lang="ro-RO" dirty="0" smtClean="0">
                <a:cs typeface="Times New Roman" pitchFamily="18" charset="0"/>
              </a:rPr>
              <a:t>nmulțirea </a:t>
            </a:r>
            <a:r>
              <a:rPr lang="ro-RO" dirty="0">
                <a:cs typeface="Times New Roman" pitchFamily="18" charset="0"/>
              </a:rPr>
              <a:t>a dou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numere de câte 8 </a:t>
            </a:r>
            <a:r>
              <a:rPr lang="ro-RO" dirty="0" smtClean="0">
                <a:cs typeface="Times New Roman" pitchFamily="18" charset="0"/>
              </a:rPr>
              <a:t>biți</a:t>
            </a:r>
            <a:r>
              <a:rPr lang="ro-RO" dirty="0" smtClean="0"/>
              <a:t> </a:t>
            </a:r>
            <a:r>
              <a:rPr lang="ro-RO" dirty="0"/>
              <a:t>(arbore Wallace </a:t>
            </a:r>
            <a:r>
              <a:rPr lang="en-US" dirty="0"/>
              <a:t>+</a:t>
            </a:r>
            <a:r>
              <a:rPr lang="ro-RO" dirty="0"/>
              <a:t> </a:t>
            </a:r>
            <a:r>
              <a:rPr lang="ro-RO" dirty="0" smtClean="0"/>
              <a:t>tehnica </a:t>
            </a:r>
            <a:r>
              <a:rPr lang="ro-RO" dirty="0" err="1" smtClean="0"/>
              <a:t>Booth</a:t>
            </a:r>
            <a:r>
              <a:rPr lang="ro-RO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7242FE-A308-46D7-9C1D-922734978720}" type="slidenum">
              <a:rPr lang="ro-RO"/>
              <a:pPr/>
              <a:t>23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Arborele </a:t>
            </a:r>
            <a:r>
              <a:rPr lang="ro-RO" dirty="0" err="1"/>
              <a:t>Wallace</a:t>
            </a:r>
            <a:r>
              <a:rPr lang="ro-RO" dirty="0"/>
              <a:t> (6)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1606D3-5884-4B80-ADAC-3F81AAAE30F5}" type="slidenum">
              <a:rPr lang="ro-RO"/>
              <a:pPr/>
              <a:t>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  <p:pic>
        <p:nvPicPr>
          <p:cNvPr id="8" name="Content Placeholder 7" descr="ssc3-inm-wallace2-new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195736" y="1268760"/>
            <a:ext cx="4731969" cy="4913386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Înmulțirea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358116"/>
          </a:xfrm>
        </p:spPr>
        <p:txBody>
          <a:bodyPr/>
          <a:lstStyle/>
          <a:p>
            <a:endParaRPr lang="ro-RO" dirty="0">
              <a:solidFill>
                <a:schemeClr val="tx2"/>
              </a:solidFill>
            </a:endParaRP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Înmulțirea</a:t>
            </a:r>
          </a:p>
          <a:p>
            <a:pPr lvl="1"/>
            <a:r>
              <a:rPr lang="ro-RO" dirty="0" smtClean="0"/>
              <a:t>Înmulțirea </a:t>
            </a:r>
            <a:r>
              <a:rPr lang="ro-RO" dirty="0"/>
              <a:t>prin deplasare </a:t>
            </a:r>
            <a:r>
              <a:rPr lang="ro-RO" dirty="0" smtClean="0"/>
              <a:t>și </a:t>
            </a:r>
            <a:r>
              <a:rPr lang="ro-RO" dirty="0"/>
              <a:t>adunare</a:t>
            </a:r>
          </a:p>
          <a:p>
            <a:pPr lvl="1"/>
            <a:r>
              <a:rPr lang="ro-RO" dirty="0"/>
              <a:t>Tehnica </a:t>
            </a:r>
            <a:r>
              <a:rPr lang="ro-RO" dirty="0" err="1"/>
              <a:t>Booth</a:t>
            </a:r>
            <a:endParaRPr lang="ro-RO" dirty="0"/>
          </a:p>
          <a:p>
            <a:pPr lvl="1"/>
            <a:r>
              <a:rPr lang="ro-RO" dirty="0" smtClean="0"/>
              <a:t>Înmulțirea </a:t>
            </a:r>
            <a:r>
              <a:rPr lang="ro-RO" dirty="0"/>
              <a:t>într-o bază superioară</a:t>
            </a:r>
          </a:p>
          <a:p>
            <a:pPr lvl="1"/>
            <a:r>
              <a:rPr lang="ro-RO" dirty="0" smtClean="0"/>
              <a:t>Înmulțirea matriceală</a:t>
            </a:r>
            <a:endParaRPr lang="ro-RO" dirty="0"/>
          </a:p>
          <a:p>
            <a:pPr lvl="1"/>
            <a:r>
              <a:rPr lang="ro-RO" dirty="0"/>
              <a:t>Arborele Wallace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Circuite de înmulțire </a:t>
            </a:r>
            <a:r>
              <a:rPr lang="ro-RO" i="1" dirty="0" err="1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pipeline</a:t>
            </a:r>
            <a:endParaRPr lang="ro-RO" i="1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2939E8-6D38-4137-8425-3EE1B5C9AE97}" type="slidenum">
              <a:rPr lang="ro-RO" smtClean="0"/>
              <a:pPr/>
              <a:t>25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040332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Circuite de </a:t>
            </a:r>
            <a:r>
              <a:rPr lang="ro-RO" dirty="0" smtClean="0"/>
              <a:t>înmulțire </a:t>
            </a:r>
            <a:r>
              <a:rPr lang="ro-RO" i="1" dirty="0" err="1"/>
              <a:t>pipeline</a:t>
            </a:r>
            <a:r>
              <a:rPr lang="ro-RO" dirty="0"/>
              <a:t>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59737"/>
          </a:xfrm>
        </p:spPr>
        <p:txBody>
          <a:bodyPr/>
          <a:lstStyle/>
          <a:p>
            <a:r>
              <a:rPr lang="ro-RO" dirty="0" smtClean="0"/>
              <a:t>Operațiile aritmetice pot fi implementate printr-un sistem </a:t>
            </a:r>
            <a:r>
              <a:rPr lang="ro-RO" i="1" dirty="0" err="1" smtClean="0"/>
              <a:t>pipeline</a:t>
            </a:r>
            <a:endParaRPr lang="ro-RO" i="1" dirty="0" smtClean="0"/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Tehnica 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pipeline</a:t>
            </a:r>
            <a:endParaRPr lang="ro-RO" i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 smtClean="0"/>
              <a:t>Utilizează paralelismul</a:t>
            </a:r>
          </a:p>
          <a:p>
            <a:pPr lvl="1"/>
            <a:r>
              <a:rPr lang="ro-RO" dirty="0" smtClean="0"/>
              <a:t>Se suprapun etapele de execuție ale unei operații aritmetice</a:t>
            </a:r>
          </a:p>
          <a:p>
            <a:pPr lvl="1"/>
            <a:r>
              <a:rPr lang="ro-RO" dirty="0" smtClean="0"/>
              <a:t>Fiecare etapă este executată de un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etaj </a:t>
            </a:r>
            <a:r>
              <a:rPr lang="ro-RO" dirty="0" smtClean="0"/>
              <a:t>al sistemului </a:t>
            </a:r>
            <a:r>
              <a:rPr lang="ro-RO" i="1" dirty="0" err="1" smtClean="0"/>
              <a:t>pipeline</a:t>
            </a:r>
            <a:endParaRPr lang="ro-RO" i="1" dirty="0" smtClean="0"/>
          </a:p>
          <a:p>
            <a:pPr lvl="1"/>
            <a:r>
              <a:rPr lang="ro-RO" dirty="0" smtClean="0"/>
              <a:t>Etaj: registru + circuit de prelucrare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2939E8-6D38-4137-8425-3EE1B5C9AE97}" type="slidenum">
              <a:rPr lang="ro-RO" smtClean="0"/>
              <a:pPr/>
              <a:t>26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320797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Circuite de </a:t>
            </a:r>
            <a:r>
              <a:rPr lang="ro-RO" dirty="0" smtClean="0"/>
              <a:t>înmulțire </a:t>
            </a:r>
            <a:r>
              <a:rPr lang="ro-RO" i="1" dirty="0" err="1"/>
              <a:t>pipeline</a:t>
            </a:r>
            <a:r>
              <a:rPr lang="ro-RO" dirty="0"/>
              <a:t>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25293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24437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Consider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m </a:t>
            </a:r>
            <a:r>
              <a:rPr lang="ro-RO" dirty="0" smtClean="0">
                <a:cs typeface="Times New Roman" pitchFamily="18" charset="0"/>
              </a:rPr>
              <a:t>înmulțirea </a:t>
            </a:r>
            <a:r>
              <a:rPr lang="ro-RO" dirty="0"/>
              <a:t>a </a:t>
            </a:r>
            <a:r>
              <a:rPr lang="ro-RO" dirty="0">
                <a:cs typeface="Times New Roman" pitchFamily="18" charset="0"/>
              </a:rPr>
              <a:t>dou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numere </a:t>
            </a:r>
            <a:r>
              <a:rPr lang="ro-RO" dirty="0" smtClean="0">
                <a:cs typeface="Times New Roman" pitchFamily="18" charset="0"/>
              </a:rPr>
              <a:t>întregi de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biți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=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i="1" baseline="-30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ro-RO" baseline="-30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-1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i="1" baseline="-30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ro-RO" baseline="-30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-2</a:t>
            </a:r>
            <a:r>
              <a:rPr lang="ro-RO" dirty="0" smtClean="0">
                <a:cs typeface="Times New Roman" pitchFamily="18" charset="0"/>
              </a:rPr>
              <a:t>…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baseline="-30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0</a:t>
            </a:r>
            <a:r>
              <a:rPr lang="en-US" dirty="0" smtClean="0">
                <a:cs typeface="Times New Roman" pitchFamily="18" charset="0"/>
              </a:rPr>
              <a:t>,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=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-1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-2</a:t>
            </a:r>
            <a:r>
              <a:rPr lang="ro-RO" dirty="0">
                <a:cs typeface="Times New Roman" pitchFamily="18" charset="0"/>
              </a:rPr>
              <a:t>…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0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Circuitele de </a:t>
            </a:r>
            <a:r>
              <a:rPr lang="ro-RO" dirty="0" smtClean="0">
                <a:cs typeface="Times New Roman" pitchFamily="18" charset="0"/>
              </a:rPr>
              <a:t>înmulțire matriceal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pot fi </a:t>
            </a:r>
            <a:r>
              <a:rPr lang="ro-RO" dirty="0" smtClean="0">
                <a:cs typeface="Times New Roman" pitchFamily="18" charset="0"/>
              </a:rPr>
              <a:t>modificate în </a:t>
            </a:r>
            <a:r>
              <a:rPr lang="ro-RO" dirty="0">
                <a:cs typeface="Times New Roman" pitchFamily="18" charset="0"/>
              </a:rPr>
              <a:t>mod simplu pentru a utiliza tehnica </a:t>
            </a:r>
            <a:r>
              <a:rPr lang="ro-RO" i="1" dirty="0">
                <a:cs typeface="Times New Roman" pitchFamily="18" charset="0"/>
              </a:rPr>
              <a:t>pipeline</a:t>
            </a:r>
            <a:r>
              <a:rPr lang="en-US" i="1" dirty="0">
                <a:cs typeface="Times New Roman" pitchFamily="18" charset="0"/>
              </a:rPr>
              <a:t> </a:t>
            </a:r>
            <a:endParaRPr lang="ro-RO" dirty="0"/>
          </a:p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</a:t>
            </a:r>
            <a:r>
              <a:rPr lang="ro-RO" dirty="0"/>
              <a:t>: C</a:t>
            </a:r>
            <a:r>
              <a:rPr lang="ro-RO" dirty="0">
                <a:cs typeface="Times New Roman" pitchFamily="18" charset="0"/>
              </a:rPr>
              <a:t>ircuit de </a:t>
            </a:r>
            <a:r>
              <a:rPr lang="ro-RO" dirty="0" smtClean="0">
                <a:cs typeface="Times New Roman" pitchFamily="18" charset="0"/>
              </a:rPr>
              <a:t>înmulțire matriceal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 </a:t>
            </a:r>
            <a:r>
              <a:rPr lang="ro-RO" i="1" dirty="0" err="1">
                <a:cs typeface="Times New Roman" pitchFamily="18" charset="0"/>
              </a:rPr>
              <a:t>pipeline</a:t>
            </a:r>
            <a:r>
              <a:rPr lang="ro-RO" dirty="0">
                <a:cs typeface="Times New Roman" pitchFamily="18" charset="0"/>
              </a:rPr>
              <a:t> care utilizeaz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celula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 </a:t>
            </a:r>
            <a:r>
              <a:rPr lang="ro-RO" dirty="0">
                <a:cs typeface="Times New Roman" pitchFamily="18" charset="0"/>
              </a:rPr>
              <a:t>de 1 bit </a:t>
            </a:r>
            <a:r>
              <a:rPr lang="ro-RO" dirty="0" smtClean="0">
                <a:cs typeface="Times New Roman" pitchFamily="18" charset="0"/>
              </a:rPr>
              <a:t>de înmulțire </a:t>
            </a:r>
            <a:r>
              <a:rPr lang="ro-RO" dirty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adunare </a:t>
            </a:r>
            <a:endParaRPr lang="ro-RO" dirty="0"/>
          </a:p>
          <a:p>
            <a:pPr lvl="1"/>
            <a:r>
              <a:rPr lang="ro-RO" dirty="0"/>
              <a:t>C</a:t>
            </a:r>
            <a:r>
              <a:rPr lang="ro-RO" dirty="0">
                <a:cs typeface="Times New Roman" pitchFamily="18" charset="0"/>
              </a:rPr>
              <a:t>ele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celule din fiecare etaj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calculeaz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un produs </a:t>
            </a:r>
            <a:r>
              <a:rPr lang="ro-RO" dirty="0" smtClean="0">
                <a:cs typeface="Times New Roman" pitchFamily="18" charset="0"/>
              </a:rPr>
              <a:t>parțial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=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-1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+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  <a:sym typeface="Symbol" pitchFamily="18" charset="2"/>
              </a:rPr>
              <a:t>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2</a:t>
            </a:r>
            <a:r>
              <a:rPr lang="ro-RO" i="1" baseline="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sz="3600" dirty="0">
                <a:solidFill>
                  <a:srgbClr val="FFFFFF"/>
                </a:solidFill>
                <a:cs typeface="Times New Roman" pitchFamily="18" charset="0"/>
                <a:sym typeface="Symbol" pitchFamily="18" charset="2"/>
              </a:rPr>
              <a:t>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4356AC2-AB11-491E-8049-1F5A21650CD0}" type="slidenum">
              <a:rPr lang="ro-RO"/>
              <a:pPr/>
              <a:t>27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260423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Circuite de </a:t>
            </a:r>
            <a:r>
              <a:rPr lang="ro-RO" dirty="0" smtClean="0"/>
              <a:t>înmulțire </a:t>
            </a:r>
            <a:r>
              <a:rPr lang="ro-RO" i="1" dirty="0" err="1"/>
              <a:t>pipeline</a:t>
            </a:r>
            <a:r>
              <a:rPr lang="ro-RO" dirty="0"/>
              <a:t> </a:t>
            </a:r>
            <a:r>
              <a:rPr lang="ro-RO" dirty="0" smtClean="0"/>
              <a:t>(3)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EC9D5-A84D-43EF-9BD0-FBF536C445E0}" type="slidenum">
              <a:rPr lang="ro-RO"/>
              <a:pPr/>
              <a:t>28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/>
          </a:p>
        </p:txBody>
      </p:sp>
      <p:pic>
        <p:nvPicPr>
          <p:cNvPr id="9" name="Content Placeholder 8" descr="ssc5-inmultire1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87624" y="1484784"/>
            <a:ext cx="6739752" cy="4667107"/>
          </a:xfrm>
        </p:spPr>
      </p:pic>
    </p:spTree>
    <p:extLst>
      <p:ext uri="{BB962C8B-B14F-4D97-AF65-F5344CB8AC3E}">
        <p14:creationId xmlns:p14="http://schemas.microsoft.com/office/powerpoint/2010/main" val="118627971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Circuite de </a:t>
            </a:r>
            <a:r>
              <a:rPr lang="ro-RO" dirty="0" smtClean="0"/>
              <a:t>înmulțire </a:t>
            </a:r>
            <a:r>
              <a:rPr lang="ro-RO" i="1" dirty="0" err="1"/>
              <a:t>pipeline</a:t>
            </a:r>
            <a:r>
              <a:rPr lang="ro-RO" dirty="0"/>
              <a:t> </a:t>
            </a:r>
            <a:r>
              <a:rPr lang="ro-RO" dirty="0" smtClean="0"/>
              <a:t>(4)</a:t>
            </a:r>
            <a:endParaRPr lang="ro-RO" dirty="0"/>
          </a:p>
        </p:txBody>
      </p:sp>
      <p:sp>
        <p:nvSpPr>
          <p:cNvPr id="25497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99213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Un circuit de </a:t>
            </a:r>
            <a:r>
              <a:rPr lang="ro-RO" dirty="0" smtClean="0">
                <a:cs typeface="Times New Roman" pitchFamily="18" charset="0"/>
              </a:rPr>
              <a:t>înmulțire</a:t>
            </a:r>
            <a:r>
              <a:rPr lang="ro-RO" dirty="0" smtClean="0"/>
              <a:t> matriceală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pipeline</a:t>
            </a:r>
            <a:r>
              <a:rPr lang="ro-RO" dirty="0">
                <a:cs typeface="Times New Roman" pitchFamily="18" charset="0"/>
              </a:rPr>
              <a:t> cu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etaje poate suprapune calculul a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produse </a:t>
            </a:r>
            <a:r>
              <a:rPr lang="ro-RO" dirty="0" smtClean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 smtClean="0"/>
              <a:t> </a:t>
            </a:r>
            <a:r>
              <a:rPr lang="ro-RO" dirty="0" smtClean="0">
                <a:cs typeface="Times New Roman" pitchFamily="18" charset="0"/>
              </a:rPr>
              <a:t>înmulțirea </a:t>
            </a:r>
            <a:r>
              <a:rPr lang="ro-RO" dirty="0">
                <a:cs typeface="Times New Roman" pitchFamily="18" charset="0"/>
              </a:rPr>
              <a:t>vectorilor </a:t>
            </a:r>
            <a:r>
              <a:rPr lang="ro-RO" dirty="0" smtClean="0">
                <a:cs typeface="Times New Roman" pitchFamily="18" charset="0"/>
              </a:rPr>
              <a:t>întregi</a:t>
            </a:r>
            <a:endParaRPr lang="ro-RO" dirty="0"/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oate genera un nou rezultat în fiecare ciclu de ceas</a:t>
            </a:r>
            <a:r>
              <a:rPr lang="ro-RO" dirty="0"/>
              <a:t> 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ezavantaj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viteza redus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 logicii de propagare a transportului din fiecare etaj</a:t>
            </a:r>
            <a:r>
              <a:rPr lang="ro-RO" dirty="0"/>
              <a:t> 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ro-RO" dirty="0">
                <a:cs typeface="Times New Roman" pitchFamily="18" charset="0"/>
              </a:rPr>
              <a:t>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celulelor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 </a:t>
            </a:r>
            <a:r>
              <a:rPr lang="ro-RO" dirty="0">
                <a:cs typeface="Times New Roman" pitchFamily="18" charset="0"/>
              </a:rPr>
              <a:t>necesare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baseline="30000" dirty="0">
                <a:cs typeface="Times New Roman" pitchFamily="18" charset="0"/>
              </a:rPr>
              <a:t>2</a:t>
            </a:r>
            <a:endParaRPr lang="ro-RO" dirty="0"/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ro-RO" dirty="0"/>
              <a:t>C</a:t>
            </a:r>
            <a:r>
              <a:rPr lang="ro-RO" dirty="0">
                <a:cs typeface="Times New Roman" pitchFamily="18" charset="0"/>
              </a:rPr>
              <a:t>apacitatea tuturor registrelor </a:t>
            </a:r>
            <a:r>
              <a:rPr lang="ro-RO" dirty="0" err="1">
                <a:cs typeface="Times New Roman" pitchFamily="18" charset="0"/>
              </a:rPr>
              <a:t>buffer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en-US" dirty="0"/>
              <a:t>~</a:t>
            </a:r>
            <a:r>
              <a:rPr lang="ro-RO" dirty="0">
                <a:cs typeface="Times New Roman" pitchFamily="18" charset="0"/>
              </a:rPr>
              <a:t>3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baseline="30000" dirty="0">
                <a:cs typeface="Times New Roman" pitchFamily="18" charset="0"/>
              </a:rPr>
              <a:t>2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costisitor din punct de vedere hardware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887540-0071-4299-9303-5A9F74B1FEE8}" type="slidenum">
              <a:rPr lang="ro-RO"/>
              <a:pPr/>
              <a:t>29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323839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Circuite de </a:t>
            </a:r>
            <a:r>
              <a:rPr lang="ro-RO" dirty="0" smtClean="0"/>
              <a:t>înmulțire </a:t>
            </a:r>
            <a:r>
              <a:rPr lang="ro-RO" i="1" dirty="0" err="1"/>
              <a:t>pipeline</a:t>
            </a:r>
            <a:r>
              <a:rPr lang="ro-RO" dirty="0"/>
              <a:t> </a:t>
            </a:r>
            <a:r>
              <a:rPr lang="ro-RO" dirty="0" smtClean="0"/>
              <a:t>(5)</a:t>
            </a:r>
            <a:endParaRPr lang="ro-RO" dirty="0"/>
          </a:p>
        </p:txBody>
      </p:sp>
      <p:sp>
        <p:nvSpPr>
          <p:cNvPr id="25600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776"/>
            <a:ext cx="8352928" cy="4518160"/>
          </a:xfrm>
        </p:spPr>
        <p:txBody>
          <a:bodyPr/>
          <a:lstStyle/>
          <a:p>
            <a:r>
              <a:rPr lang="ro-RO" dirty="0"/>
              <a:t>T</a:t>
            </a:r>
            <a:r>
              <a:rPr lang="ro-RO" dirty="0">
                <a:cs typeface="Times New Roman" pitchFamily="18" charset="0"/>
              </a:rPr>
              <a:t>ehnica de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adunare cu salvarea transportului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avantajoasă</a:t>
            </a:r>
            <a:r>
              <a:rPr lang="ro-RO" dirty="0">
                <a:cs typeface="Times New Roman" pitchFamily="18" charset="0"/>
              </a:rPr>
              <a:t> pentru implementarea </a:t>
            </a:r>
            <a:r>
              <a:rPr lang="ro-RO" i="1" dirty="0" err="1">
                <a:cs typeface="Times New Roman" pitchFamily="18" charset="0"/>
              </a:rPr>
              <a:t>pipeline</a:t>
            </a:r>
            <a:endParaRPr lang="ro-RO" dirty="0"/>
          </a:p>
          <a:p>
            <a:pPr lvl="1"/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e pot aduna </a:t>
            </a:r>
            <a:r>
              <a:rPr lang="ro-RO" i="1" dirty="0">
                <a:cs typeface="Times New Roman" pitchFamily="18" charset="0"/>
              </a:rPr>
              <a:t>m</a:t>
            </a:r>
            <a:r>
              <a:rPr lang="ro-RO" dirty="0">
                <a:cs typeface="Times New Roman" pitchFamily="18" charset="0"/>
              </a:rPr>
              <a:t> numere printr‑o </a:t>
            </a:r>
            <a:r>
              <a:rPr lang="ro-RO" dirty="0" smtClean="0">
                <a:cs typeface="Times New Roman" pitchFamily="18" charset="0"/>
              </a:rPr>
              <a:t>rețea </a:t>
            </a:r>
            <a:r>
              <a:rPr lang="ro-RO" dirty="0">
                <a:cs typeface="Times New Roman" pitchFamily="18" charset="0"/>
              </a:rPr>
              <a:t>de sumatoare cu salvarea transportului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rezultat</a:t>
            </a:r>
            <a:r>
              <a:rPr lang="ro-RO" dirty="0"/>
              <a:t>ul este</a:t>
            </a:r>
            <a:r>
              <a:rPr lang="ro-RO" dirty="0">
                <a:cs typeface="Times New Roman" pitchFamily="18" charset="0"/>
              </a:rPr>
              <a:t> sub forma (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</a:t>
            </a:r>
            <a:r>
              <a:rPr lang="ro-RO" dirty="0">
                <a:cs typeface="Times New Roman" pitchFamily="18" charset="0"/>
              </a:rPr>
              <a:t>,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dirty="0">
                <a:cs typeface="Times New Roman" pitchFamily="18" charset="0"/>
              </a:rPr>
              <a:t>) </a:t>
            </a:r>
            <a:endParaRPr lang="ro-RO" dirty="0"/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>
                <a:cs typeface="Times New Roman" pitchFamily="18" charset="0"/>
              </a:rPr>
              <a:t>trebuie adunate printr‑un sumator </a:t>
            </a:r>
            <a:r>
              <a:rPr lang="ro-RO" dirty="0" smtClean="0">
                <a:cs typeface="Times New Roman" pitchFamily="18" charset="0"/>
              </a:rPr>
              <a:t>convențional </a:t>
            </a:r>
            <a:r>
              <a:rPr lang="ro-RO" dirty="0"/>
              <a:t>cu propagarea transportului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Metoda 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rbore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lui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Wallace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4F692D-7E1A-4832-BD48-A5AECB967AD8}" type="slidenum">
              <a:rPr lang="ro-RO"/>
              <a:pPr/>
              <a:t>30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883491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Circuite de </a:t>
            </a:r>
            <a:r>
              <a:rPr lang="ro-RO" dirty="0" smtClean="0"/>
              <a:t>înmulțire </a:t>
            </a:r>
            <a:r>
              <a:rPr lang="ro-RO" i="1" dirty="0" err="1"/>
              <a:t>pipeline</a:t>
            </a:r>
            <a:r>
              <a:rPr lang="ro-RO" dirty="0"/>
              <a:t> </a:t>
            </a:r>
            <a:r>
              <a:rPr lang="ro-RO" dirty="0" smtClean="0"/>
              <a:t>(6)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6122D9-B164-4454-A107-2E89B668A8DD}" type="slidenum">
              <a:rPr lang="ro-RO"/>
              <a:pPr/>
              <a:t>31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/>
          </a:p>
        </p:txBody>
      </p:sp>
      <p:pic>
        <p:nvPicPr>
          <p:cNvPr id="8" name="Content Placeholder 7" descr="ssc5-inmultire2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699792" y="1412776"/>
            <a:ext cx="3740513" cy="4715204"/>
          </a:xfrm>
        </p:spPr>
      </p:pic>
    </p:spTree>
    <p:extLst>
      <p:ext uri="{BB962C8B-B14F-4D97-AF65-F5344CB8AC3E}">
        <p14:creationId xmlns:p14="http://schemas.microsoft.com/office/powerpoint/2010/main" val="9607011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>
            <a:normAutofit lnSpcReduction="10000"/>
          </a:bodyPr>
          <a:lstStyle/>
          <a:p>
            <a:r>
              <a:rPr lang="ro-RO" sz="3300" dirty="0" smtClean="0"/>
              <a:t>Înmulțirea într-o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bază superioară </a:t>
            </a:r>
            <a:r>
              <a:rPr lang="ro-RO" sz="3300" dirty="0" smtClean="0"/>
              <a:t>reduce numărul etapelor prin examinarea mai multor biți ai înmulțitorului în fiecare etapă</a:t>
            </a:r>
          </a:p>
          <a:p>
            <a:pPr lvl="1"/>
            <a:r>
              <a:rPr lang="ro-RO" sz="2900" dirty="0" smtClean="0"/>
              <a:t>Înmulțire în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baza 4</a:t>
            </a:r>
            <a:r>
              <a:rPr lang="ro-RO" sz="2900" dirty="0" smtClean="0"/>
              <a:t>: sunt examinați 2 biți</a:t>
            </a:r>
          </a:p>
          <a:p>
            <a:pPr lvl="1"/>
            <a:r>
              <a:rPr lang="ro-RO" sz="2900" dirty="0"/>
              <a:t>Înmulțire în </a:t>
            </a:r>
            <a:r>
              <a:rPr lang="ro-RO" sz="29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baza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8</a:t>
            </a:r>
            <a:r>
              <a:rPr lang="ro-RO" sz="2900" dirty="0" smtClean="0"/>
              <a:t>: </a:t>
            </a:r>
            <a:r>
              <a:rPr lang="ro-RO" sz="2900" dirty="0"/>
              <a:t>sunt examinați </a:t>
            </a:r>
            <a:r>
              <a:rPr lang="ro-RO" sz="2900" dirty="0" smtClean="0"/>
              <a:t>3 biți</a:t>
            </a:r>
          </a:p>
          <a:p>
            <a:r>
              <a:rPr lang="ro-RO" sz="33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Înmulțirea matriceală </a:t>
            </a:r>
            <a:r>
              <a:rPr lang="ro-RO" sz="3300" dirty="0"/>
              <a:t>utilizează o matrice de circuite </a:t>
            </a:r>
            <a:r>
              <a:rPr lang="ro-RO" sz="3300" dirty="0" err="1"/>
              <a:t>combinaționale</a:t>
            </a:r>
            <a:r>
              <a:rPr lang="ro-RO" sz="3300" dirty="0"/>
              <a:t> pentru creșterea </a:t>
            </a:r>
            <a:r>
              <a:rPr lang="ro-RO" sz="3300" dirty="0" smtClean="0"/>
              <a:t>vitezei operației</a:t>
            </a:r>
            <a:endParaRPr lang="ro-RO" sz="3300" dirty="0"/>
          </a:p>
          <a:p>
            <a:pPr lvl="1"/>
            <a:r>
              <a:rPr lang="ro-RO" sz="2900" dirty="0"/>
              <a:t>Se pot utiliza sumatoare cu salvarea </a:t>
            </a:r>
            <a:r>
              <a:rPr lang="ro-RO" sz="2900" dirty="0" smtClean="0"/>
              <a:t>transportului</a:t>
            </a:r>
            <a:r>
              <a:rPr lang="ro-RO" sz="2900" dirty="0"/>
              <a:t> </a:t>
            </a:r>
            <a:r>
              <a:rPr lang="ro-RO" sz="2900" dirty="0" smtClean="0"/>
              <a:t>pentru amânarea propagării transportului până la ultimul etaj</a:t>
            </a:r>
            <a:endParaRPr lang="ro-RO" sz="29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2939E8-6D38-4137-8425-3EE1B5C9AE97}" type="slidenum">
              <a:rPr lang="ro-RO" smtClean="0"/>
              <a:pPr/>
              <a:t>32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229987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511480" cy="4205767"/>
          </a:xfrm>
        </p:spPr>
        <p:txBody>
          <a:bodyPr/>
          <a:lstStyle/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Arborele Wallace </a:t>
            </a:r>
            <a:r>
              <a:rPr lang="ro-RO" sz="3300" dirty="0" smtClean="0"/>
              <a:t>se utilizează pentru adunarea mai rapidă a unor produse parțiale</a:t>
            </a:r>
          </a:p>
          <a:p>
            <a:pPr lvl="1"/>
            <a:r>
              <a:rPr lang="ro-RO" sz="2900" dirty="0" smtClean="0"/>
              <a:t>Produsele parțiale sunt grupate câte trei</a:t>
            </a:r>
          </a:p>
          <a:p>
            <a:pPr lvl="1"/>
            <a:r>
              <a:rPr lang="ro-RO" sz="2900" dirty="0" smtClean="0"/>
              <a:t>Se utilizează câte un SST pentru adunarea lor</a:t>
            </a:r>
            <a:endParaRPr lang="ro-RO" sz="2900" dirty="0"/>
          </a:p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Tehnica </a:t>
            </a:r>
            <a:r>
              <a:rPr lang="ro-RO" sz="3300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pipeline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sz="3300" dirty="0" smtClean="0"/>
              <a:t>permite creșterea vitezei operației</a:t>
            </a:r>
          </a:p>
          <a:p>
            <a:pPr lvl="1"/>
            <a:r>
              <a:rPr lang="ro-RO" sz="2900" dirty="0" smtClean="0"/>
              <a:t>Circuitele de înmulțire </a:t>
            </a:r>
            <a:r>
              <a:rPr lang="ro-RO" sz="2900" dirty="0" err="1" smtClean="0"/>
              <a:t>combinațională</a:t>
            </a:r>
            <a:r>
              <a:rPr lang="ro-RO" sz="2900" dirty="0" smtClean="0"/>
              <a:t> (matriceală, arbore Wallace) se pot modifica în mod simplu pentru a utiliza această tehnică</a:t>
            </a:r>
            <a:endParaRPr lang="ro-RO" sz="29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2939E8-6D38-4137-8425-3EE1B5C9AE97}" type="slidenum">
              <a:rPr lang="ro-RO" smtClean="0"/>
              <a:pPr/>
              <a:t>33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2125264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Noțiuni, cunoștințe </a:t>
            </a:r>
            <a:r>
              <a:rPr lang="ro-RO" dirty="0" smtClean="0"/>
              <a:t>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/>
          <a:lstStyle/>
          <a:p>
            <a:pPr marL="576000" lvl="1">
              <a:spcBef>
                <a:spcPts val="768"/>
              </a:spcBef>
            </a:pPr>
            <a:r>
              <a:rPr lang="ro-RO" dirty="0"/>
              <a:t>Principiul înmulțirii într-o bază superioară</a:t>
            </a:r>
          </a:p>
          <a:p>
            <a:pPr marL="576000" lvl="1">
              <a:spcBef>
                <a:spcPts val="768"/>
              </a:spcBef>
            </a:pPr>
            <a:r>
              <a:rPr lang="ro-RO" dirty="0"/>
              <a:t>Tehnica de înmulțire </a:t>
            </a:r>
            <a:r>
              <a:rPr lang="ro-RO" dirty="0" err="1"/>
              <a:t>Booth</a:t>
            </a:r>
            <a:r>
              <a:rPr lang="ro-RO" dirty="0"/>
              <a:t> în baza 4</a:t>
            </a:r>
          </a:p>
          <a:p>
            <a:pPr marL="576000" lvl="1"/>
            <a:r>
              <a:rPr lang="ro-RO" dirty="0" smtClean="0"/>
              <a:t>Principiul </a:t>
            </a:r>
            <a:r>
              <a:rPr lang="ro-RO" dirty="0"/>
              <a:t>înmulțirii </a:t>
            </a:r>
            <a:r>
              <a:rPr lang="ro-RO" dirty="0" smtClean="0"/>
              <a:t>matriceale</a:t>
            </a:r>
            <a:endParaRPr lang="ro-RO" dirty="0"/>
          </a:p>
          <a:p>
            <a:pPr marL="576000" lvl="1"/>
            <a:r>
              <a:rPr lang="ro-RO" dirty="0" smtClean="0"/>
              <a:t>Circuit de înmulțire matriceală utilizând sumatoare cu propagarea succesivă a transportului</a:t>
            </a:r>
          </a:p>
          <a:p>
            <a:pPr marL="576000" lvl="1"/>
            <a:r>
              <a:rPr lang="ro-RO" dirty="0"/>
              <a:t>Circuit de </a:t>
            </a:r>
            <a:r>
              <a:rPr lang="ro-RO" dirty="0" smtClean="0"/>
              <a:t>înmulțire utilizând celula de 1 bit de înmulțire și adunare</a:t>
            </a:r>
          </a:p>
          <a:p>
            <a:pPr marL="576000" lvl="1"/>
            <a:r>
              <a:rPr lang="ro-RO" dirty="0"/>
              <a:t>Circuit de înmulțire </a:t>
            </a:r>
            <a:r>
              <a:rPr lang="ro-RO" dirty="0" smtClean="0"/>
              <a:t>matriceală </a:t>
            </a:r>
            <a:r>
              <a:rPr lang="ro-RO" dirty="0"/>
              <a:t>utilizând sumatoare cu </a:t>
            </a:r>
            <a:r>
              <a:rPr lang="ro-RO" dirty="0" smtClean="0"/>
              <a:t>salvarea transportului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2939E8-6D38-4137-8425-3EE1B5C9AE97}" type="slidenum">
              <a:rPr lang="ro-RO" smtClean="0"/>
              <a:pPr/>
              <a:t>34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209788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Noțiuni, cunoștințe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295456" cy="4727448"/>
          </a:xfrm>
        </p:spPr>
        <p:txBody>
          <a:bodyPr/>
          <a:lstStyle/>
          <a:p>
            <a:pPr marL="576000" lvl="1"/>
            <a:r>
              <a:rPr lang="ro-RO" dirty="0"/>
              <a:t>Principiul arborelui Wallace</a:t>
            </a:r>
          </a:p>
          <a:p>
            <a:pPr marL="576000" lvl="1"/>
            <a:r>
              <a:rPr lang="ro-RO" dirty="0" smtClean="0"/>
              <a:t>Circuit de înmulțire </a:t>
            </a:r>
            <a:r>
              <a:rPr lang="ro-RO" dirty="0" err="1" smtClean="0"/>
              <a:t>combinațională</a:t>
            </a:r>
            <a:r>
              <a:rPr lang="ro-RO" dirty="0" smtClean="0"/>
              <a:t> utilizând un arbore Wallace pentru însumarea produselor parțiale</a:t>
            </a:r>
          </a:p>
          <a:p>
            <a:pPr marL="576000" lvl="1"/>
            <a:r>
              <a:rPr lang="ro-RO" dirty="0" smtClean="0"/>
              <a:t>Circuit de înmulțire matriceală </a:t>
            </a:r>
            <a:r>
              <a:rPr lang="ro-RO" i="1" dirty="0" err="1" smtClean="0"/>
              <a:t>pipeline</a:t>
            </a:r>
            <a:r>
              <a:rPr lang="ro-RO" dirty="0" smtClean="0"/>
              <a:t> utilizând celula de 1 bit de </a:t>
            </a:r>
            <a:r>
              <a:rPr lang="ro-RO" dirty="0"/>
              <a:t>înmulțire și </a:t>
            </a:r>
            <a:r>
              <a:rPr lang="ro-RO" dirty="0" smtClean="0"/>
              <a:t>adunare</a:t>
            </a:r>
          </a:p>
          <a:p>
            <a:pPr marL="576000" lvl="1"/>
            <a:r>
              <a:rPr lang="ro-RO" dirty="0"/>
              <a:t>Circuit de înmulțire </a:t>
            </a:r>
            <a:r>
              <a:rPr lang="ro-RO" i="1" dirty="0" err="1" smtClean="0"/>
              <a:t>pipeline</a:t>
            </a:r>
            <a:r>
              <a:rPr lang="ro-RO" dirty="0" smtClean="0"/>
              <a:t> utilizând </a:t>
            </a:r>
            <a:r>
              <a:rPr lang="ro-RO" dirty="0"/>
              <a:t>un arbore Wallace pentru însumarea produselor </a:t>
            </a:r>
            <a:r>
              <a:rPr lang="ro-RO" dirty="0" smtClean="0"/>
              <a:t>parțiale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2939E8-6D38-4137-8425-3EE1B5C9AE97}" type="slidenum">
              <a:rPr lang="ro-RO" smtClean="0"/>
              <a:pPr/>
              <a:t>35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(02-3)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919190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Întrebări</a:t>
            </a:r>
            <a:endParaRPr 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776"/>
            <a:ext cx="8424936" cy="4896544"/>
          </a:xfrm>
        </p:spPr>
        <p:txBody>
          <a:bodyPr>
            <a:normAutofit/>
          </a:bodyPr>
          <a:lstStyle/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endParaRPr lang="ro-RO" dirty="0" smtClean="0"/>
          </a:p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/>
              <a:t>Care </a:t>
            </a:r>
            <a:r>
              <a:rPr lang="ro-RO" dirty="0"/>
              <a:t>sunt avantajele utilizării </a:t>
            </a:r>
            <a:r>
              <a:rPr lang="ro-RO" dirty="0" smtClean="0"/>
              <a:t>tehnicii </a:t>
            </a:r>
            <a:r>
              <a:rPr lang="ro-RO" dirty="0" err="1" smtClean="0"/>
              <a:t>Booth</a:t>
            </a:r>
            <a:r>
              <a:rPr lang="ro-RO" dirty="0" smtClean="0"/>
              <a:t> </a:t>
            </a:r>
            <a:r>
              <a:rPr lang="ro-RO" dirty="0"/>
              <a:t>în baza 4?</a:t>
            </a:r>
          </a:p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Care este avantajul circuitelor </a:t>
            </a:r>
            <a:r>
              <a:rPr lang="ro-RO" dirty="0" err="1" smtClean="0"/>
              <a:t>combinaționale</a:t>
            </a:r>
            <a:r>
              <a:rPr lang="ro-RO" dirty="0" smtClean="0"/>
              <a:t> </a:t>
            </a:r>
            <a:r>
              <a:rPr lang="ro-RO" dirty="0"/>
              <a:t>de </a:t>
            </a:r>
            <a:r>
              <a:rPr lang="ro-RO" dirty="0" smtClean="0"/>
              <a:t>înmulțire</a:t>
            </a:r>
            <a:r>
              <a:rPr lang="ro-RO" dirty="0"/>
              <a:t>?</a:t>
            </a:r>
          </a:p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Care este principiul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arborelui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Wallace</a:t>
            </a:r>
            <a:r>
              <a:rPr lang="ro-RO" dirty="0" smtClean="0"/>
              <a:t>?</a:t>
            </a:r>
          </a:p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/>
              <a:t>Cum se poate modifica un circuit de înmulțire pentru a utiliza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tehnica 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pipeline</a:t>
            </a:r>
            <a:r>
              <a:rPr lang="ro-RO" dirty="0" smtClean="0"/>
              <a:t>?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19.03.2018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DF4586-AB17-4BF4-B85A-19BA72732CFF}" type="slidenum">
              <a:rPr lang="ro-RO"/>
              <a:pPr/>
              <a:t>36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(02-3)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ark Blue Swoosh-modified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Dark Blue Swoosh-modif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Blue Swoosh-modified</Template>
  <TotalTime>2932</TotalTime>
  <Words>1939</Words>
  <Application>Microsoft Office PowerPoint</Application>
  <PresentationFormat>On-screen Show (4:3)</PresentationFormat>
  <Paragraphs>411</Paragraphs>
  <Slides>36</Slides>
  <Notes>36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Symbol</vt:lpstr>
      <vt:lpstr>Times New Roman</vt:lpstr>
      <vt:lpstr>Wingdings</vt:lpstr>
      <vt:lpstr>Dark Blue Swoosh-modified</vt:lpstr>
      <vt:lpstr>Dark Blue Swoosh-modif</vt:lpstr>
      <vt:lpstr>Equation</vt:lpstr>
      <vt:lpstr>Înmulțirea</vt:lpstr>
      <vt:lpstr>Înmulțirea într-o bază superioară (1)</vt:lpstr>
      <vt:lpstr>Înmulțirea într-o bază superioară (2)</vt:lpstr>
      <vt:lpstr>Înmulțirea într-o bază superioară (3)</vt:lpstr>
      <vt:lpstr>Înmulțirea</vt:lpstr>
      <vt:lpstr>Înmulțirea matriceală (1)</vt:lpstr>
      <vt:lpstr>Înmulțirea matriceală (2)</vt:lpstr>
      <vt:lpstr>Înmulțirea matriceală (3)</vt:lpstr>
      <vt:lpstr>Înmulțirea matriceală (4)</vt:lpstr>
      <vt:lpstr>Înmulțirea matriceală (5)</vt:lpstr>
      <vt:lpstr>Înmulțirea matriceală (6)</vt:lpstr>
      <vt:lpstr>Înmulțirea matriceală (7)</vt:lpstr>
      <vt:lpstr>Înmulțirea matriceală (8)</vt:lpstr>
      <vt:lpstr>Înmulțirea matriceală (9)</vt:lpstr>
      <vt:lpstr>Înmulțirea matriceală (10)</vt:lpstr>
      <vt:lpstr>Înmulțirea matriceală (11)</vt:lpstr>
      <vt:lpstr>Înmulțirea matriceală (12)</vt:lpstr>
      <vt:lpstr>Înmulțirea</vt:lpstr>
      <vt:lpstr>Arborele Wallace (1)</vt:lpstr>
      <vt:lpstr>Arborele Wallace (2)</vt:lpstr>
      <vt:lpstr>Arborele Wallace (3)</vt:lpstr>
      <vt:lpstr>Arborele Wallace (4)</vt:lpstr>
      <vt:lpstr>Arborele Wallace (5)</vt:lpstr>
      <vt:lpstr>Arborele Wallace (6)</vt:lpstr>
      <vt:lpstr>Înmulțirea</vt:lpstr>
      <vt:lpstr>Circuite de înmulțire pipeline (1)</vt:lpstr>
      <vt:lpstr>Circuite de înmulțire pipeline (2)</vt:lpstr>
      <vt:lpstr>Circuite de înmulțire pipeline (3)</vt:lpstr>
      <vt:lpstr>Circuite de înmulțire pipeline (4)</vt:lpstr>
      <vt:lpstr>Circuite de înmulțire pipeline (5)</vt:lpstr>
      <vt:lpstr>Circuite de înmulțire pipeline (6)</vt:lpstr>
      <vt:lpstr>Rezumat (1)</vt:lpstr>
      <vt:lpstr>Rezumat (2)</vt:lpstr>
      <vt:lpstr>Noțiuni, cunoștințe (1)</vt:lpstr>
      <vt:lpstr>Noțiuni, cunoștințe (2)</vt:lpstr>
      <vt:lpstr>Întrebări</vt:lpstr>
    </vt:vector>
  </TitlesOfParts>
  <Company>Technical University of Cluj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SSC-Inmultire-2</dc:title>
  <dc:creator>Baruch Zoltan</dc:creator>
  <cp:lastModifiedBy>Baruch Zoltan</cp:lastModifiedBy>
  <cp:revision>209</cp:revision>
  <cp:lastPrinted>1601-01-01T00:00:00Z</cp:lastPrinted>
  <dcterms:created xsi:type="dcterms:W3CDTF">2002-05-22T18:25:20Z</dcterms:created>
  <dcterms:modified xsi:type="dcterms:W3CDTF">2018-03-18T09:42:15Z</dcterms:modified>
</cp:coreProperties>
</file>