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  <p:sldMasterId id="2147483688" r:id="rId2"/>
  </p:sldMasterIdLst>
  <p:notesMasterIdLst>
    <p:notesMasterId r:id="rId43"/>
  </p:notesMasterIdLst>
  <p:handoutMasterIdLst>
    <p:handoutMasterId r:id="rId44"/>
  </p:handoutMasterIdLst>
  <p:sldIdLst>
    <p:sldId id="290" r:id="rId3"/>
    <p:sldId id="291" r:id="rId4"/>
    <p:sldId id="293" r:id="rId5"/>
    <p:sldId id="294" r:id="rId6"/>
    <p:sldId id="330" r:id="rId7"/>
    <p:sldId id="295" r:id="rId8"/>
    <p:sldId id="296" r:id="rId9"/>
    <p:sldId id="297" r:id="rId10"/>
    <p:sldId id="331" r:id="rId11"/>
    <p:sldId id="332" r:id="rId12"/>
    <p:sldId id="301" r:id="rId13"/>
    <p:sldId id="302" r:id="rId14"/>
    <p:sldId id="303" r:id="rId15"/>
    <p:sldId id="304" r:id="rId16"/>
    <p:sldId id="305" r:id="rId17"/>
    <p:sldId id="327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39" r:id="rId26"/>
    <p:sldId id="313" r:id="rId27"/>
    <p:sldId id="314" r:id="rId28"/>
    <p:sldId id="323" r:id="rId29"/>
    <p:sldId id="324" r:id="rId30"/>
    <p:sldId id="315" r:id="rId31"/>
    <p:sldId id="316" r:id="rId32"/>
    <p:sldId id="318" r:id="rId33"/>
    <p:sldId id="319" r:id="rId34"/>
    <p:sldId id="321" r:id="rId35"/>
    <p:sldId id="322" r:id="rId36"/>
    <p:sldId id="334" r:id="rId37"/>
    <p:sldId id="335" r:id="rId38"/>
    <p:sldId id="338" r:id="rId39"/>
    <p:sldId id="336" r:id="rId40"/>
    <p:sldId id="337" r:id="rId41"/>
    <p:sldId id="328" r:id="rId42"/>
  </p:sldIdLst>
  <p:sldSz cx="9144000" cy="6858000" type="screen4x3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269" autoAdjust="0"/>
  </p:normalViewPr>
  <p:slideViewPr>
    <p:cSldViewPr>
      <p:cViewPr varScale="1">
        <p:scale>
          <a:sx n="143" d="100"/>
          <a:sy n="143" d="100"/>
        </p:scale>
        <p:origin x="3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7" d="100"/>
          <a:sy n="117" d="100"/>
        </p:scale>
        <p:origin x="5132" y="7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016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016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3E83728-3125-464C-AB8A-3F8E4D8570C6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26185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153"/>
            <a:ext cx="4984962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BB4EDE6E-77F1-4CFA-B154-8138AF444D6D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8915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71452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2609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67984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4042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21117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67846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12603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11400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54368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7108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273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57795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7884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2041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0948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9645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20651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110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076611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24927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68211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17709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378317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26789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552219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80381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536305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82630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141256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233737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690374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46746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564170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925178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738368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02167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68276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247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2074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EDE6E-77F1-4CFA-B154-8138AF444D6D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138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649805"/>
            <a:ext cx="7656851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E8940-8F77-4F72-86F4-0F1BC61A3E5A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A4015DE-32F6-4DEE-AA2D-8C6F6551F522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1DACCD0C-07B6-4A65-98C1-E12500D83EC8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9DBADCF4-BA0A-47D3-A37A-20116D8FA8E8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15FC340E-2040-40A5-B8FB-8B0EBCD61F9A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90A5343B-E08B-4149-B086-353B3A18B37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4E8940-8F77-4F72-86F4-0F1BC61A3E5A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649805"/>
            <a:ext cx="7728859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24E8940-8F77-4F72-86F4-0F1BC61A3E5A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87363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(01-2)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(01-2)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24E8940-8F77-4F72-86F4-0F1BC61A3E5A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7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6000">
                <a:schemeClr val="accent3">
                  <a:lumMod val="60000"/>
                  <a:lumOff val="40000"/>
                </a:schemeClr>
              </a:gs>
              <a:gs pos="86000">
                <a:schemeClr val="accent3">
                  <a:lumMod val="75000"/>
                </a:schemeClr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(01-2)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.or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4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1. Introducere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endParaRPr lang="en-US" dirty="0" smtClean="0"/>
          </a:p>
          <a:p>
            <a:r>
              <a:rPr lang="ro-RO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Indicatori de performanță</a:t>
            </a:r>
          </a:p>
          <a:p>
            <a:pPr lvl="1"/>
            <a:r>
              <a:rPr lang="ro-RO" dirty="0"/>
              <a:t>Timpul de execuție</a:t>
            </a:r>
          </a:p>
          <a:p>
            <a:pPr lvl="1"/>
            <a:r>
              <a:rPr lang="ro-RO" dirty="0"/>
              <a:t>Timpul UCP</a:t>
            </a:r>
          </a:p>
          <a:p>
            <a:pPr lvl="1"/>
            <a:r>
              <a:rPr lang="ro-RO" dirty="0"/>
              <a:t>MIPS</a:t>
            </a:r>
          </a:p>
          <a:p>
            <a:pPr lvl="1"/>
            <a:r>
              <a:rPr lang="ro-RO" dirty="0"/>
              <a:t>MFLOPS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Programe de evaluare a performanțelor</a:t>
            </a:r>
          </a:p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05.03.2018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8517BF-A26D-449A-9801-68EB201F432C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695995"/>
          </a:xfrm>
        </p:spPr>
        <p:txBody>
          <a:bodyPr>
            <a:normAutofit fontScale="90000"/>
          </a:bodyPr>
          <a:lstStyle/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3785652"/>
          </a:xfrm>
        </p:spPr>
        <p:txBody>
          <a:bodyPr/>
          <a:lstStyle/>
          <a:p>
            <a:pPr>
              <a:buFontTx/>
              <a:buNone/>
            </a:pPr>
            <a:endParaRPr lang="ro-RO" dirty="0" smtClean="0">
              <a:solidFill>
                <a:schemeClr val="tx2"/>
              </a:solidFill>
            </a:endParaRPr>
          </a:p>
          <a:p>
            <a:pPr>
              <a:buFontTx/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Programe de evaluare a performanțelor</a:t>
            </a:r>
          </a:p>
          <a:p>
            <a:pPr lvl="1"/>
            <a:r>
              <a:rPr lang="ro-RO" dirty="0">
                <a:cs typeface="Times New Roman" pitchFamily="18" charset="0"/>
              </a:rPr>
              <a:t>Compararea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sintetizarea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/>
              <a:t>SPEC </a:t>
            </a:r>
            <a:r>
              <a:rPr lang="ro-RO" dirty="0" smtClean="0"/>
              <a:t>CPU2017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70050E-6D78-4ED2-A6CD-238AE3587BE4}" type="slidenum">
              <a:rPr lang="ro-RO"/>
              <a:pPr/>
              <a:t>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695995"/>
          </a:xfrm>
        </p:spPr>
        <p:txBody>
          <a:bodyPr>
            <a:normAutofit fontScale="90000"/>
          </a:bodyPr>
          <a:lstStyle/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439472" cy="4680520"/>
          </a:xfrm>
        </p:spPr>
        <p:txBody>
          <a:bodyPr>
            <a:normAutofit lnSpcReduction="10000"/>
          </a:bodyPr>
          <a:lstStyle/>
          <a:p>
            <a:r>
              <a:rPr lang="ro-RO" dirty="0"/>
              <a:t>O </a:t>
            </a:r>
            <a:r>
              <a:rPr lang="ro-RO" dirty="0">
                <a:cs typeface="Times New Roman" pitchFamily="18" charset="0"/>
              </a:rPr>
              <a:t>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</a:t>
            </a:r>
            <a:r>
              <a:rPr lang="ro-RO" dirty="0" smtClean="0">
                <a:cs typeface="Times New Roman" pitchFamily="18" charset="0"/>
              </a:rPr>
              <a:t>performanței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timpul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unui set reprezentativ de programe </a:t>
            </a:r>
            <a:endParaRPr lang="ro-RO" dirty="0"/>
          </a:p>
          <a:p>
            <a:r>
              <a:rPr lang="ro-RO" dirty="0"/>
              <a:t>Acest </a:t>
            </a:r>
            <a:r>
              <a:rPr lang="ro-RO" dirty="0">
                <a:cs typeface="Times New Roman" pitchFamily="18" charset="0"/>
              </a:rPr>
              <a:t>timp poate fi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impul total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execuție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edia aritmetic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sau geometric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timpilor de </a:t>
            </a:r>
            <a:r>
              <a:rPr lang="ro-RO" dirty="0" smtClean="0">
                <a:cs typeface="Times New Roman" pitchFamily="18" charset="0"/>
              </a:rPr>
              <a:t>execuție</a:t>
            </a:r>
            <a:r>
              <a:rPr lang="ro-RO" dirty="0" smtClean="0"/>
              <a:t>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Set de programe reale </a:t>
            </a:r>
            <a:r>
              <a:rPr lang="ro-RO" dirty="0">
                <a:cs typeface="Times New Roman" pitchFamily="18" charset="0"/>
              </a:rPr>
              <a:t>care sunt reprezentative pentru un anumit mediu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dirty="0">
                <a:cs typeface="Times New Roman" pitchFamily="18" charset="0"/>
              </a:rPr>
              <a:t>programe </a:t>
            </a:r>
            <a:r>
              <a:rPr lang="ro-RO" dirty="0" smtClean="0">
                <a:cs typeface="Times New Roman" pitchFamily="18" charset="0"/>
              </a:rPr>
              <a:t>de evaluare (</a:t>
            </a:r>
            <a:r>
              <a:rPr lang="ro-RO" i="1" dirty="0" smtClean="0">
                <a:cs typeface="Times New Roman" pitchFamily="18" charset="0"/>
              </a:rPr>
              <a:t>“</a:t>
            </a:r>
            <a:r>
              <a:rPr lang="ro-RO" i="1" dirty="0" err="1" smtClean="0">
                <a:cs typeface="Times New Roman" pitchFamily="18" charset="0"/>
              </a:rPr>
              <a:t>benchmark</a:t>
            </a:r>
            <a:r>
              <a:rPr lang="ro-RO" i="1" dirty="0" smtClean="0">
                <a:cs typeface="Times New Roman" pitchFamily="18" charset="0"/>
              </a:rPr>
              <a:t>”</a:t>
            </a:r>
            <a:r>
              <a:rPr lang="ro-RO" dirty="0" smtClean="0">
                <a:cs typeface="Times New Roman" pitchFamily="18" charset="0"/>
              </a:rPr>
              <a:t>)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E42383-AA5D-4627-B42F-121434AEED13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695995"/>
          </a:xfrm>
        </p:spPr>
        <p:txBody>
          <a:bodyPr>
            <a:normAutofit fontScale="90000"/>
          </a:bodyPr>
          <a:lstStyle/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3785652"/>
          </a:xfrm>
        </p:spPr>
        <p:txBody>
          <a:bodyPr/>
          <a:lstStyle/>
          <a:p>
            <a:pPr>
              <a:buFontTx/>
              <a:buNone/>
            </a:pPr>
            <a:endParaRPr lang="ro-RO" dirty="0" smtClean="0"/>
          </a:p>
          <a:p>
            <a:pPr>
              <a:buFontTx/>
              <a:buNone/>
            </a:pPr>
            <a:endParaRPr lang="en-US" dirty="0"/>
          </a:p>
          <a:p>
            <a:r>
              <a:rPr lang="ro-RO" dirty="0" smtClean="0">
                <a:cs typeface="Times New Roman" pitchFamily="18" charset="0"/>
              </a:rPr>
              <a:t>Programe </a:t>
            </a:r>
            <a:r>
              <a:rPr lang="ro-RO" dirty="0">
                <a:cs typeface="Times New Roman" pitchFamily="18" charset="0"/>
              </a:rPr>
              <a:t>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Compararea și sintetizarea performanțelor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/>
              <a:t>SPEC </a:t>
            </a:r>
            <a:r>
              <a:rPr lang="ro-RO" dirty="0" smtClean="0"/>
              <a:t>CPU2017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86204E-B832-4BAA-955F-E8BE50638729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8640"/>
            <a:ext cx="8382000" cy="1224135"/>
          </a:xfrm>
        </p:spPr>
        <p:txBody>
          <a:bodyPr/>
          <a:lstStyle/>
          <a:p>
            <a:r>
              <a:rPr lang="ro-RO" sz="4300" dirty="0"/>
              <a:t>Compararea </a:t>
            </a:r>
            <a:r>
              <a:rPr lang="ro-RO" sz="4300" dirty="0" smtClean="0"/>
              <a:t>și </a:t>
            </a:r>
            <a:r>
              <a:rPr lang="ro-RO" sz="4300" dirty="0"/>
              <a:t>sintetizarea </a:t>
            </a:r>
            <a:r>
              <a:rPr lang="ro-RO" sz="4300" dirty="0" smtClean="0"/>
              <a:t>performanțelor</a:t>
            </a:r>
            <a:r>
              <a:rPr lang="en-US" sz="4300" dirty="0" smtClean="0"/>
              <a:t> </a:t>
            </a:r>
            <a:r>
              <a:rPr lang="ro-RO" sz="4300" dirty="0"/>
              <a:t>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44825"/>
            <a:ext cx="8382000" cy="2539157"/>
          </a:xfrm>
        </p:spPr>
        <p:txBody>
          <a:bodyPr/>
          <a:lstStyle/>
          <a:p>
            <a:r>
              <a:rPr lang="ro-RO" sz="3300" dirty="0" smtClean="0"/>
              <a:t>M</a:t>
            </a:r>
            <a:r>
              <a:rPr lang="ro-RO" sz="3300" dirty="0" smtClean="0">
                <a:cs typeface="Times New Roman" pitchFamily="18" charset="0"/>
              </a:rPr>
              <a:t>odul în care se poate sintetiza performanța unui grup de programe de evaluare</a:t>
            </a:r>
            <a:r>
              <a:rPr lang="ro-RO" sz="3300" dirty="0" smtClean="0"/>
              <a:t> 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 </a:t>
            </a:r>
            <a:r>
              <a:rPr lang="ro-RO" sz="3300" dirty="0" smtClean="0"/>
              <a:t>de </a:t>
            </a:r>
            <a:r>
              <a:rPr lang="ro-RO" sz="3300" dirty="0" smtClean="0">
                <a:cs typeface="Times New Roman" pitchFamily="18" charset="0"/>
              </a:rPr>
              <a:t>situație în care </a:t>
            </a:r>
            <a:r>
              <a:rPr lang="ro-RO" sz="3300" dirty="0" smtClean="0"/>
              <a:t>nu se poate defini </a:t>
            </a:r>
            <a:r>
              <a:rPr lang="ro-RO" sz="3300" dirty="0" smtClean="0">
                <a:cs typeface="Times New Roman" pitchFamily="18" charset="0"/>
              </a:rPr>
              <a:t>performanț</a:t>
            </a:r>
            <a:r>
              <a:rPr lang="ro-RO" sz="3300" dirty="0" smtClean="0"/>
              <a:t>a relativă </a:t>
            </a:r>
            <a:r>
              <a:rPr lang="ro-RO" sz="3300" dirty="0" smtClean="0">
                <a:cs typeface="Times New Roman" pitchFamily="18" charset="0"/>
              </a:rPr>
              <a:t>a </a:t>
            </a:r>
            <a:r>
              <a:rPr lang="ro-RO" sz="3300" dirty="0" smtClean="0"/>
              <a:t>două </a:t>
            </a:r>
            <a:r>
              <a:rPr lang="ro-RO" sz="3300" dirty="0" smtClean="0">
                <a:cs typeface="Times New Roman" pitchFamily="18" charset="0"/>
              </a:rPr>
              <a:t>calculatoare</a:t>
            </a:r>
            <a:r>
              <a:rPr lang="ro-RO" sz="3300" dirty="0" smtClean="0"/>
              <a:t> </a:t>
            </a:r>
            <a:r>
              <a:rPr lang="ro-RO" sz="3300" i="1" dirty="0" smtClean="0"/>
              <a:t>A</a:t>
            </a:r>
            <a:r>
              <a:rPr lang="ro-RO" sz="3300" dirty="0" smtClean="0"/>
              <a:t>, </a:t>
            </a:r>
            <a:r>
              <a:rPr lang="ro-RO" sz="3300" i="1" dirty="0" smtClean="0"/>
              <a:t>B</a:t>
            </a:r>
          </a:p>
          <a:p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5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47664" y="4221088"/>
          <a:ext cx="6096000" cy="1828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endParaRPr lang="ro-RO" sz="2400" dirty="0"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A (s)</a:t>
                      </a:r>
                    </a:p>
                  </a:txBody>
                  <a:tcPr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B (s)</a:t>
                      </a:r>
                    </a:p>
                  </a:txBody>
                  <a:tcPr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             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           10</a:t>
                      </a: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       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         100</a:t>
                      </a: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Timp total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       1001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         110</a:t>
                      </a: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Compararea </a:t>
            </a:r>
            <a:r>
              <a:rPr lang="ro-RO" dirty="0" smtClean="0"/>
              <a:t>și </a:t>
            </a:r>
            <a:r>
              <a:rPr lang="ro-RO" dirty="0"/>
              <a:t>sintetizarea </a:t>
            </a:r>
            <a:r>
              <a:rPr lang="ro-RO" dirty="0" smtClean="0"/>
              <a:t>performanțelor</a:t>
            </a:r>
            <a:r>
              <a:rPr lang="en-US" dirty="0" smtClean="0"/>
              <a:t> </a:t>
            </a:r>
            <a:r>
              <a:rPr lang="ro-RO" dirty="0"/>
              <a:t>(2)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00808"/>
            <a:ext cx="8382000" cy="4608512"/>
          </a:xfrm>
        </p:spPr>
        <p:txBody>
          <a:bodyPr>
            <a:normAutofit lnSpcReduction="10000"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impul total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execuție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cs typeface="Times New Roman" pitchFamily="18" charset="0"/>
              </a:rPr>
              <a:t>Metoda cea mai simpl</a:t>
            </a:r>
            <a:r>
              <a:rPr lang="ro-RO" dirty="0"/>
              <a:t>ă</a:t>
            </a:r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alculatorul </a:t>
            </a:r>
            <a:r>
              <a:rPr lang="ro-RO" i="1" dirty="0">
                <a:cs typeface="Times New Roman" pitchFamily="18" charset="0"/>
              </a:rPr>
              <a:t>B</a:t>
            </a:r>
            <a:r>
              <a:rPr lang="ro-RO" dirty="0">
                <a:cs typeface="Times New Roman" pitchFamily="18" charset="0"/>
              </a:rPr>
              <a:t> este de 1001/110 = 9,1 ori mai rapid decât </a:t>
            </a:r>
            <a:r>
              <a:rPr lang="ro-RO" i="1" dirty="0">
                <a:cs typeface="Times New Roman" pitchFamily="18" charset="0"/>
              </a:rPr>
              <a:t>A</a:t>
            </a:r>
            <a:r>
              <a:rPr lang="ro-RO" dirty="0">
                <a:cs typeface="Times New Roman" pitchFamily="18" charset="0"/>
              </a:rPr>
              <a:t> pentru programele 1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2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Media aritmetic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timpilor de </a:t>
            </a:r>
            <a:r>
              <a:rPr lang="ro-RO" dirty="0" smtClean="0">
                <a:cs typeface="Times New Roman" pitchFamily="18" charset="0"/>
              </a:rPr>
              <a:t>execuție 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</a:t>
            </a:r>
            <a:r>
              <a:rPr lang="ro-RO" dirty="0">
                <a:cs typeface="Times New Roman" pitchFamily="18" charset="0"/>
              </a:rPr>
              <a:t>timpul 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al programului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din totalul 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programe </a:t>
            </a:r>
            <a:r>
              <a:rPr lang="ro-RO" dirty="0"/>
              <a:t>din set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154221-DB67-478A-933B-529FBE4D9F6D}" type="slidenum">
              <a:rPr lang="ro-RO"/>
              <a:pPr/>
              <a:t>6</a:t>
            </a:fld>
            <a:endParaRPr 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  <p:graphicFrame>
        <p:nvGraphicFramePr>
          <p:cNvPr id="233476" name="Object 4"/>
          <p:cNvGraphicFramePr>
            <a:graphicFrameLocks noChangeAspect="1"/>
          </p:cNvGraphicFramePr>
          <p:nvPr/>
        </p:nvGraphicFramePr>
        <p:xfrm>
          <a:off x="3779912" y="4221088"/>
          <a:ext cx="16430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32" name="Equation" r:id="rId4" imgW="863280" imgH="431640" progId="Equation.3">
                  <p:embed/>
                </p:oleObj>
              </mc:Choice>
              <mc:Fallback>
                <p:oleObj name="Equation" r:id="rId4" imgW="86328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4221088"/>
                        <a:ext cx="1643062" cy="8223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Compararea </a:t>
            </a:r>
            <a:r>
              <a:rPr lang="ro-RO" dirty="0" smtClean="0"/>
              <a:t>și </a:t>
            </a:r>
            <a:r>
              <a:rPr lang="ro-RO" dirty="0"/>
              <a:t>sintetizarea </a:t>
            </a:r>
            <a:r>
              <a:rPr lang="ro-RO" dirty="0" smtClean="0"/>
              <a:t>performanțelor</a:t>
            </a:r>
            <a:r>
              <a:rPr lang="en-US" dirty="0" smtClean="0"/>
              <a:t> </a:t>
            </a:r>
            <a:r>
              <a:rPr lang="ro-RO" dirty="0"/>
              <a:t>(3)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00808"/>
            <a:ext cx="8424936" cy="4395192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edia aritmetic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ponderat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 </a:t>
            </a:r>
            <a:r>
              <a:rPr lang="ro-RO" dirty="0"/>
              <a:t>a timpilor de </a:t>
            </a:r>
            <a:r>
              <a:rPr lang="ro-RO" dirty="0" smtClean="0"/>
              <a:t>execuție</a:t>
            </a:r>
            <a:endParaRPr lang="ro-RO" dirty="0"/>
          </a:p>
          <a:p>
            <a:pPr lvl="1"/>
            <a:r>
              <a:rPr lang="ro-RO" dirty="0"/>
              <a:t>Utilizare: dacă </a:t>
            </a: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execuții </a:t>
            </a:r>
            <a:r>
              <a:rPr lang="ro-RO" dirty="0">
                <a:cs typeface="Times New Roman" pitchFamily="18" charset="0"/>
              </a:rPr>
              <a:t>ale programe</a:t>
            </a:r>
            <a:r>
              <a:rPr lang="ro-RO" dirty="0"/>
              <a:t>lor</a:t>
            </a:r>
            <a:r>
              <a:rPr lang="ro-RO" dirty="0">
                <a:cs typeface="Times New Roman" pitchFamily="18" charset="0"/>
              </a:rPr>
              <a:t> dintr‑un set este </a:t>
            </a:r>
            <a:r>
              <a:rPr lang="ro-RO" dirty="0"/>
              <a:t>diferit </a:t>
            </a:r>
          </a:p>
          <a:p>
            <a:pPr lvl="1"/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asign</a:t>
            </a:r>
            <a:r>
              <a:rPr lang="ro-RO" dirty="0"/>
              <a:t>ează</a:t>
            </a:r>
            <a:r>
              <a:rPr lang="ro-RO" dirty="0">
                <a:cs typeface="Times New Roman" pitchFamily="18" charset="0"/>
              </a:rPr>
              <a:t> fiec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rui program o</a:t>
            </a:r>
            <a:r>
              <a:rPr lang="ro-RO" dirty="0">
                <a:solidFill>
                  <a:schemeClr val="tx2"/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pondere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latin typeface="Arial" charset="0"/>
                <a:cs typeface="Times New Roman" pitchFamily="18" charset="0"/>
                <a:sym typeface="Symbol" pitchFamily="18" charset="2"/>
              </a:rPr>
              <a:t> </a:t>
            </a:r>
            <a:r>
              <a:rPr lang="ro-RO" dirty="0">
                <a:cs typeface="Times New Roman" pitchFamily="18" charset="0"/>
              </a:rPr>
              <a:t>indică </a:t>
            </a:r>
            <a:r>
              <a:rPr lang="ro-RO" dirty="0" smtClean="0">
                <a:cs typeface="Times New Roman" pitchFamily="18" charset="0"/>
              </a:rPr>
              <a:t>frecvența </a:t>
            </a:r>
            <a:r>
              <a:rPr lang="ro-RO" dirty="0"/>
              <a:t>sa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execuție </a:t>
            </a:r>
            <a:endParaRPr lang="ro-RO" dirty="0"/>
          </a:p>
          <a:p>
            <a:pPr lvl="1"/>
            <a:r>
              <a:rPr lang="ro-RO" dirty="0"/>
              <a:t>Alegerea p</a:t>
            </a:r>
            <a:r>
              <a:rPr lang="ro-RO" dirty="0">
                <a:cs typeface="Times New Roman" pitchFamily="18" charset="0"/>
              </a:rPr>
              <a:t>onderilor: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pe un calculator de </a:t>
            </a:r>
            <a:r>
              <a:rPr lang="ro-RO" dirty="0" smtClean="0">
                <a:cs typeface="Times New Roman" pitchFamily="18" charset="0"/>
              </a:rPr>
              <a:t>referinț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timpii de </a:t>
            </a:r>
            <a:r>
              <a:rPr lang="ro-RO" dirty="0" smtClean="0">
                <a:cs typeface="Times New Roman" pitchFamily="18" charset="0"/>
              </a:rPr>
              <a:t>execuție ponderați </a:t>
            </a:r>
            <a:r>
              <a:rPr lang="ro-RO" dirty="0">
                <a:cs typeface="Times New Roman" pitchFamily="18" charset="0"/>
              </a:rPr>
              <a:t>ai fiec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rui program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fie egali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4E91A1-99B0-427D-B5EF-AFB17EF114CB}" type="slidenum">
              <a:rPr lang="ro-RO"/>
              <a:pPr/>
              <a:t>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Compararea </a:t>
            </a:r>
            <a:r>
              <a:rPr lang="ro-RO" dirty="0" smtClean="0"/>
              <a:t>și </a:t>
            </a:r>
            <a:r>
              <a:rPr lang="ro-RO" dirty="0"/>
              <a:t>sintetizarea </a:t>
            </a:r>
            <a:r>
              <a:rPr lang="ro-RO" dirty="0" smtClean="0"/>
              <a:t>performanțelor</a:t>
            </a:r>
            <a:r>
              <a:rPr lang="en-US" dirty="0" smtClean="0"/>
              <a:t> </a:t>
            </a:r>
            <a:r>
              <a:rPr lang="ro-RO" dirty="0"/>
              <a:t>(4)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00808"/>
            <a:ext cx="8382000" cy="4536504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ormaliza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timpi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execuție </a:t>
            </a:r>
            <a:r>
              <a:rPr lang="ro-RO" dirty="0" smtClean="0">
                <a:cs typeface="Times New Roman" pitchFamily="18" charset="0"/>
              </a:rPr>
              <a:t>faț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un calculator de </a:t>
            </a:r>
            <a:r>
              <a:rPr lang="ro-RO" dirty="0" smtClean="0">
                <a:cs typeface="Times New Roman" pitchFamily="18" charset="0"/>
              </a:rPr>
              <a:t>referinț</a:t>
            </a:r>
            <a:r>
              <a:rPr lang="ro-RO" dirty="0" smtClean="0"/>
              <a:t>ă</a:t>
            </a:r>
            <a:endParaRPr lang="ro-RO" dirty="0"/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 consider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media timpilor de </a:t>
            </a:r>
            <a:r>
              <a:rPr lang="ro-RO" dirty="0" smtClean="0">
                <a:cs typeface="Times New Roman" pitchFamily="18" charset="0"/>
              </a:rPr>
              <a:t>execuție normalizați</a:t>
            </a:r>
            <a:endParaRPr lang="ro-RO" dirty="0"/>
          </a:p>
          <a:p>
            <a:pPr lvl="1"/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</a:t>
            </a:r>
            <a:r>
              <a:rPr lang="ro-RO" dirty="0"/>
              <a:t>utilizează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media aritmetic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 timpilor de </a:t>
            </a:r>
            <a:r>
              <a:rPr lang="ro-RO" dirty="0" smtClean="0">
                <a:cs typeface="Times New Roman" pitchFamily="18" charset="0"/>
              </a:rPr>
              <a:t>execuție</a:t>
            </a:r>
            <a:r>
              <a:rPr lang="ro-RO" dirty="0">
                <a:cs typeface="Times New Roman" pitchFamily="18" charset="0"/>
              </a:rPr>
              <a:t>: rezultatul depinde de alegerea calculatorului </a:t>
            </a:r>
            <a:r>
              <a:rPr lang="ro-RO" dirty="0"/>
              <a:t>de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referinț</a:t>
            </a:r>
            <a:r>
              <a:rPr lang="ro-RO" dirty="0" smtClean="0"/>
              <a:t>ă 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de normalizare </a:t>
            </a:r>
            <a:r>
              <a:rPr lang="ro-RO" dirty="0" smtClean="0"/>
              <a:t>și </a:t>
            </a:r>
            <a:r>
              <a:rPr lang="ro-RO" dirty="0"/>
              <a:t>utilizare a mediei aritmetice </a:t>
            </a:r>
            <a:r>
              <a:rPr lang="ro-RO" dirty="0">
                <a:sym typeface="Symbol" pitchFamily="18" charset="2"/>
              </a:rPr>
              <a:t>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4F9176-E352-40B0-B380-B94F7DC91CC0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191095"/>
          </a:xfrm>
        </p:spPr>
        <p:txBody>
          <a:bodyPr/>
          <a:lstStyle/>
          <a:p>
            <a:r>
              <a:rPr lang="ro-RO" sz="4300" dirty="0"/>
              <a:t>Compararea </a:t>
            </a:r>
            <a:r>
              <a:rPr lang="ro-RO" sz="4300" dirty="0" smtClean="0"/>
              <a:t>și </a:t>
            </a:r>
            <a:r>
              <a:rPr lang="ro-RO" sz="4300" dirty="0"/>
              <a:t>sintetizarea </a:t>
            </a:r>
            <a:r>
              <a:rPr lang="ro-RO" sz="4300" dirty="0" smtClean="0"/>
              <a:t>performanțelor</a:t>
            </a:r>
            <a:r>
              <a:rPr lang="en-US" sz="4300" dirty="0" smtClean="0"/>
              <a:t> </a:t>
            </a:r>
            <a:r>
              <a:rPr lang="ro-RO" sz="4300" dirty="0"/>
              <a:t>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00808"/>
            <a:ext cx="8382000" cy="1329595"/>
          </a:xfrm>
        </p:spPr>
        <p:txBody>
          <a:bodyPr/>
          <a:lstStyle/>
          <a:p>
            <a:pPr lvl="1"/>
            <a:r>
              <a:rPr lang="ro-RO" dirty="0" smtClean="0">
                <a:cs typeface="Times New Roman" pitchFamily="18" charset="0"/>
              </a:rPr>
              <a:t>Timpii de execuție a două programe pe calculatoarele </a:t>
            </a:r>
            <a:r>
              <a:rPr lang="ro-RO" i="1" dirty="0" smtClean="0">
                <a:cs typeface="Times New Roman" pitchFamily="18" charset="0"/>
              </a:rPr>
              <a:t>A</a:t>
            </a:r>
            <a:r>
              <a:rPr lang="ro-RO" dirty="0" smtClean="0">
                <a:cs typeface="Times New Roman" pitchFamily="18" charset="0"/>
              </a:rPr>
              <a:t> și </a:t>
            </a:r>
            <a:r>
              <a:rPr lang="ro-RO" i="1" dirty="0" smtClean="0">
                <a:cs typeface="Times New Roman" pitchFamily="18" charset="0"/>
              </a:rPr>
              <a:t>B</a:t>
            </a:r>
            <a:r>
              <a:rPr lang="ro-RO" dirty="0" smtClean="0">
                <a:cs typeface="Times New Roman" pitchFamily="18" charset="0"/>
              </a:rPr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normalizați față de calculatorul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 </a:t>
            </a:r>
            <a:r>
              <a:rPr lang="ro-RO" i="1" dirty="0" smtClean="0">
                <a:cs typeface="Times New Roman" pitchFamily="18" charset="0"/>
                <a:sym typeface="Symbol" pitchFamily="18" charset="2"/>
              </a:rPr>
              <a:t>A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 este mai rapid față de B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 </a:t>
            </a:r>
            <a:endParaRPr lang="ro-RO" dirty="0" smtClean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9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1560" y="3284984"/>
          <a:ext cx="7920880" cy="26517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448272"/>
                <a:gridCol w="1224136"/>
                <a:gridCol w="1080120"/>
                <a:gridCol w="1584176"/>
                <a:gridCol w="1584176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A (s)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B (s)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A normalizat 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B normalizat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0,1</a:t>
                      </a:r>
                    </a:p>
                  </a:txBody>
                  <a:tcPr horzOverflow="overflow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Medie aritmetică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500,5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5,05</a:t>
                      </a:r>
                    </a:p>
                  </a:txBody>
                  <a:tcPr horzOverflow="overflow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Medie geometrică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31,6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31,6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191095"/>
          </a:xfrm>
        </p:spPr>
        <p:txBody>
          <a:bodyPr/>
          <a:lstStyle/>
          <a:p>
            <a:r>
              <a:rPr lang="ro-RO" sz="4300" dirty="0"/>
              <a:t>Compararea </a:t>
            </a:r>
            <a:r>
              <a:rPr lang="ro-RO" sz="4300" dirty="0" smtClean="0"/>
              <a:t>și </a:t>
            </a:r>
            <a:r>
              <a:rPr lang="ro-RO" sz="4300" dirty="0"/>
              <a:t>sintetizarea </a:t>
            </a:r>
            <a:r>
              <a:rPr lang="ro-RO" sz="4300" dirty="0" smtClean="0"/>
              <a:t>performanțelor</a:t>
            </a:r>
            <a:r>
              <a:rPr lang="en-US" sz="4300" dirty="0" smtClean="0"/>
              <a:t> </a:t>
            </a:r>
            <a:r>
              <a:rPr lang="ro-RO" sz="4300" dirty="0"/>
              <a:t>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00808"/>
            <a:ext cx="8382000" cy="886397"/>
          </a:xfrm>
        </p:spPr>
        <p:txBody>
          <a:bodyPr/>
          <a:lstStyle/>
          <a:p>
            <a:pPr lvl="1"/>
            <a:r>
              <a:rPr lang="ro-RO" dirty="0" smtClean="0">
                <a:cs typeface="Times New Roman" pitchFamily="18" charset="0"/>
              </a:rPr>
              <a:t>Timpii de execuție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normalizați faț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calculato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rul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</a:t>
            </a:r>
            <a:r>
              <a:rPr lang="ro-RO" i="1" dirty="0" smtClean="0">
                <a:solidFill>
                  <a:schemeClr val="tx2"/>
                </a:solidFill>
              </a:rPr>
              <a:t> </a:t>
            </a:r>
            <a:r>
              <a:rPr lang="ro-RO" dirty="0" smtClean="0">
                <a:sym typeface="Symbol" pitchFamily="18" charset="2"/>
              </a:rPr>
              <a:t> </a:t>
            </a:r>
            <a:r>
              <a:rPr lang="ro-RO" i="1" dirty="0" smtClean="0">
                <a:sym typeface="Symbol" pitchFamily="18" charset="2"/>
              </a:rPr>
              <a:t>B</a:t>
            </a:r>
            <a:r>
              <a:rPr lang="ro-RO" dirty="0" smtClean="0">
                <a:sym typeface="Symbol" pitchFamily="18" charset="2"/>
              </a:rPr>
              <a:t> este mai rapid față de </a:t>
            </a:r>
            <a:r>
              <a:rPr lang="ro-RO" i="1" dirty="0" smtClean="0">
                <a:sym typeface="Symbol" pitchFamily="18" charset="2"/>
              </a:rPr>
              <a:t>A</a:t>
            </a:r>
            <a:r>
              <a:rPr lang="ro-RO" dirty="0" smtClean="0">
                <a:sym typeface="Symbol" pitchFamily="18" charset="2"/>
              </a:rPr>
              <a:t> </a:t>
            </a:r>
            <a:endParaRPr lang="ro-RO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10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1560" y="3284984"/>
          <a:ext cx="7920880" cy="26517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448272"/>
                <a:gridCol w="1224136"/>
                <a:gridCol w="1080120"/>
                <a:gridCol w="1584176"/>
                <a:gridCol w="1584176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A (s)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B (s)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A normalizat 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ro-RO" sz="24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pe B normalizat</a:t>
                      </a: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0,1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Medie aritmetică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500,5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5,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Medie geometrică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31,6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31,6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Compararea </a:t>
            </a:r>
            <a:r>
              <a:rPr lang="ro-RO" dirty="0" smtClean="0"/>
              <a:t>și </a:t>
            </a:r>
            <a:r>
              <a:rPr lang="ro-RO" dirty="0"/>
              <a:t>sintetizarea </a:t>
            </a:r>
            <a:r>
              <a:rPr lang="ro-RO" dirty="0" smtClean="0"/>
              <a:t>performanțelor</a:t>
            </a:r>
            <a:r>
              <a:rPr lang="en-US" dirty="0" smtClean="0"/>
              <a:t> </a:t>
            </a:r>
            <a:r>
              <a:rPr lang="ro-RO" dirty="0"/>
              <a:t>(7)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00808"/>
            <a:ext cx="8382000" cy="507215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Media geometrică </a:t>
            </a:r>
            <a:r>
              <a:rPr lang="ro-RO" dirty="0"/>
              <a:t>a timpilor de </a:t>
            </a:r>
            <a:r>
              <a:rPr lang="ro-RO" dirty="0" smtClean="0"/>
              <a:t>execuție</a:t>
            </a:r>
            <a:endParaRPr lang="ro-RO" dirty="0">
              <a:solidFill>
                <a:schemeClr val="tx2"/>
              </a:solidFill>
            </a:endParaRPr>
          </a:p>
          <a:p>
            <a:endParaRPr lang="ro-RO" dirty="0"/>
          </a:p>
          <a:p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Este independent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seria datelor utilizate pentru normalizare</a:t>
            </a:r>
          </a:p>
          <a:p>
            <a:pPr lvl="1"/>
            <a:r>
              <a:rPr lang="ro-RO" dirty="0"/>
              <a:t>Are proprietatea: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3371D7-02E5-4DAF-B95F-71F40E201632}" type="slidenum">
              <a:rPr lang="ro-RO"/>
              <a:pPr/>
              <a:t>11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  <p:graphicFrame>
        <p:nvGraphicFramePr>
          <p:cNvPr id="240644" name="Object 4"/>
          <p:cNvGraphicFramePr>
            <a:graphicFrameLocks noChangeAspect="1"/>
          </p:cNvGraphicFramePr>
          <p:nvPr/>
        </p:nvGraphicFramePr>
        <p:xfrm>
          <a:off x="3707904" y="2348880"/>
          <a:ext cx="173990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56" name="Equation" r:id="rId4" imgW="914400" imgH="482400" progId="Equation.3">
                  <p:embed/>
                </p:oleObj>
              </mc:Choice>
              <mc:Fallback>
                <p:oleObj name="Equation" r:id="rId4" imgW="914400" imgH="482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2348880"/>
                        <a:ext cx="1739900" cy="91916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5" name="Object 5"/>
          <p:cNvGraphicFramePr>
            <a:graphicFrameLocks noChangeAspect="1"/>
          </p:cNvGraphicFramePr>
          <p:nvPr/>
        </p:nvGraphicFramePr>
        <p:xfrm>
          <a:off x="3275856" y="5157192"/>
          <a:ext cx="251301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57" name="Equation" r:id="rId6" imgW="1320480" imgH="482400" progId="Equation.3">
                  <p:embed/>
                </p:oleObj>
              </mc:Choice>
              <mc:Fallback>
                <p:oleObj name="Equation" r:id="rId6" imgW="1320480" imgH="482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5157192"/>
                        <a:ext cx="2513013" cy="91916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Compararea </a:t>
            </a:r>
            <a:r>
              <a:rPr lang="ro-RO" dirty="0" smtClean="0"/>
              <a:t>și </a:t>
            </a:r>
            <a:r>
              <a:rPr lang="ro-RO" dirty="0"/>
              <a:t>sintetizarea </a:t>
            </a:r>
            <a:r>
              <a:rPr lang="ro-RO" dirty="0" smtClean="0"/>
              <a:t>performanțelor</a:t>
            </a:r>
            <a:r>
              <a:rPr lang="en-US" dirty="0" smtClean="0"/>
              <a:t> </a:t>
            </a:r>
            <a:r>
              <a:rPr lang="ro-RO" dirty="0"/>
              <a:t>(8)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72816"/>
            <a:ext cx="8382000" cy="4167295"/>
          </a:xfrm>
        </p:spPr>
        <p:txBody>
          <a:bodyPr/>
          <a:lstStyle/>
          <a:p>
            <a:pPr lvl="1"/>
            <a:r>
              <a:rPr lang="ro-RO" dirty="0"/>
              <a:t>R</a:t>
            </a:r>
            <a:r>
              <a:rPr lang="ro-RO" dirty="0">
                <a:cs typeface="Times New Roman" pitchFamily="18" charset="0"/>
              </a:rPr>
              <a:t>ezultat</a:t>
            </a:r>
            <a:r>
              <a:rPr lang="ro-RO" dirty="0"/>
              <a:t>ul este a</a:t>
            </a:r>
            <a:r>
              <a:rPr lang="ro-RO" dirty="0" smtClean="0"/>
              <a:t>celași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indiferent </a:t>
            </a:r>
            <a:r>
              <a:rPr lang="ro-RO" dirty="0"/>
              <a:t>de calculatorul de </a:t>
            </a:r>
            <a:r>
              <a:rPr lang="ro-RO" dirty="0" smtClean="0"/>
              <a:t>referință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Avantaj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ele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mediei geometrice</a:t>
            </a:r>
            <a:r>
              <a:rPr lang="ro-RO" dirty="0"/>
              <a:t>:</a:t>
            </a:r>
          </a:p>
          <a:p>
            <a:pPr lvl="2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ste independent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timpii 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a</a:t>
            </a:r>
            <a:r>
              <a:rPr lang="ro-RO" dirty="0"/>
              <a:t>i</a:t>
            </a:r>
            <a:r>
              <a:rPr lang="ro-RO" dirty="0">
                <a:cs typeface="Times New Roman" pitchFamily="18" charset="0"/>
              </a:rPr>
              <a:t> programelor individuale </a:t>
            </a:r>
            <a:endParaRPr lang="ro-RO" dirty="0"/>
          </a:p>
          <a:p>
            <a:pPr lvl="2"/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 are </a:t>
            </a:r>
            <a:r>
              <a:rPr lang="ro-RO" dirty="0" smtClean="0">
                <a:cs typeface="Times New Roman" pitchFamily="18" charset="0"/>
              </a:rPr>
              <a:t>importanț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care calculator este utilizat pentru normalizare 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Dezavantajul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mediei geometrice:</a:t>
            </a:r>
          </a:p>
          <a:p>
            <a:pPr lvl="2"/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 anticipeaz</a:t>
            </a:r>
            <a:r>
              <a:rPr lang="ro-RO" dirty="0"/>
              <a:t>ă </a:t>
            </a:r>
            <a:r>
              <a:rPr lang="ro-RO" dirty="0" smtClean="0"/>
              <a:t>performanțele</a:t>
            </a:r>
            <a:r>
              <a:rPr lang="ro-RO" dirty="0" smtClean="0">
                <a:cs typeface="Times New Roman" pitchFamily="18" charset="0"/>
              </a:rPr>
              <a:t>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C634FE-1291-4856-A36E-A8BC92E9391D}" type="slidenum">
              <a:rPr lang="ro-RO"/>
              <a:pPr/>
              <a:t>12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695995"/>
          </a:xfrm>
        </p:spPr>
        <p:txBody>
          <a:bodyPr>
            <a:normAutofit fontScale="90000"/>
          </a:bodyPr>
          <a:lstStyle/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3785652"/>
          </a:xfrm>
        </p:spPr>
        <p:txBody>
          <a:bodyPr/>
          <a:lstStyle/>
          <a:p>
            <a:endParaRPr lang="ro-RO" dirty="0" smtClean="0"/>
          </a:p>
          <a:p>
            <a:endParaRPr lang="en-US" dirty="0"/>
          </a:p>
          <a:p>
            <a:r>
              <a:rPr lang="ro-RO" dirty="0" smtClean="0">
                <a:cs typeface="Times New Roman" pitchFamily="18" charset="0"/>
              </a:rPr>
              <a:t>Programe </a:t>
            </a:r>
            <a:r>
              <a:rPr lang="ro-RO" dirty="0">
                <a:cs typeface="Times New Roman" pitchFamily="18" charset="0"/>
              </a:rPr>
              <a:t>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/>
              <a:t>Compararea </a:t>
            </a:r>
            <a:r>
              <a:rPr lang="ro-RO" dirty="0" smtClean="0"/>
              <a:t>și </a:t>
            </a:r>
            <a:r>
              <a:rPr lang="ro-RO" dirty="0"/>
              <a:t>sintetizarea </a:t>
            </a:r>
            <a:r>
              <a:rPr lang="ro-RO" dirty="0" smtClean="0"/>
              <a:t>performanțelor</a:t>
            </a:r>
            <a:endParaRPr lang="ro-RO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Evoluția programelor de evaluare a performanțelor </a:t>
            </a:r>
          </a:p>
          <a:p>
            <a:pPr lvl="1"/>
            <a:r>
              <a:rPr lang="ro-RO" dirty="0"/>
              <a:t>SPEC </a:t>
            </a:r>
            <a:r>
              <a:rPr lang="ro-RO" dirty="0" smtClean="0"/>
              <a:t>CPU2017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2C5587-C756-4B9F-86D8-1C770D899D32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(1)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57338"/>
            <a:ext cx="8352928" cy="4585871"/>
          </a:xfrm>
        </p:spPr>
        <p:txBody>
          <a:bodyPr/>
          <a:lstStyle/>
          <a:p>
            <a:r>
              <a:rPr lang="ro-RO" dirty="0" smtClean="0"/>
              <a:t>S</a:t>
            </a:r>
            <a:r>
              <a:rPr lang="ro-RO" dirty="0" smtClean="0">
                <a:cs typeface="Times New Roman" pitchFamily="18" charset="0"/>
              </a:rPr>
              <a:t>oluția </a:t>
            </a:r>
            <a:r>
              <a:rPr lang="ro-RO" dirty="0">
                <a:cs typeface="Times New Roman" pitchFamily="18" charset="0"/>
              </a:rPr>
              <a:t>preferabilă</a:t>
            </a:r>
            <a:r>
              <a:rPr lang="ro-RO" dirty="0"/>
              <a:t>: utilizarea </a:t>
            </a:r>
            <a:r>
              <a:rPr lang="ro-RO" dirty="0">
                <a:cs typeface="Times New Roman" pitchFamily="18" charset="0"/>
              </a:rPr>
              <a:t>un</a:t>
            </a:r>
            <a:r>
              <a:rPr lang="ro-RO" dirty="0"/>
              <a:t>ui</a:t>
            </a:r>
            <a:r>
              <a:rPr lang="ro-RO" dirty="0">
                <a:cs typeface="Times New Roman" pitchFamily="18" charset="0"/>
              </a:rPr>
              <a:t> set de </a:t>
            </a:r>
            <a:r>
              <a:rPr lang="ro-RO" dirty="0" smtClean="0">
                <a:cs typeface="Times New Roman" pitchFamily="18" charset="0"/>
              </a:rPr>
              <a:t>aplicații </a:t>
            </a:r>
            <a:r>
              <a:rPr lang="ro-RO" dirty="0">
                <a:cs typeface="Times New Roman" pitchFamily="18" charset="0"/>
              </a:rPr>
              <a:t>reale ca programe de evaluare</a:t>
            </a:r>
            <a:r>
              <a:rPr lang="ro-RO" dirty="0"/>
              <a:t> </a:t>
            </a:r>
          </a:p>
          <a:p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etricil</a:t>
            </a: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Programe artificiale </a:t>
            </a:r>
            <a:r>
              <a:rPr lang="ro-RO" dirty="0">
                <a:cs typeface="Times New Roman" pitchFamily="18" charset="0"/>
              </a:rPr>
              <a:t>sau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sintetice </a:t>
            </a:r>
            <a:r>
              <a:rPr lang="ro-RO" dirty="0">
                <a:cs typeface="Times New Roman" pitchFamily="18" charset="0"/>
              </a:rPr>
              <a:t>de evaluare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Scopul: crearea </a:t>
            </a:r>
            <a:r>
              <a:rPr lang="ro-RO" dirty="0" smtClean="0"/>
              <a:t>unor programe </a:t>
            </a:r>
            <a:r>
              <a:rPr lang="ro-RO" dirty="0"/>
              <a:t>în care </a:t>
            </a:r>
            <a:r>
              <a:rPr lang="ro-RO" dirty="0" smtClean="0">
                <a:cs typeface="Times New Roman" pitchFamily="18" charset="0"/>
              </a:rPr>
              <a:t>frecvențele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ale </a:t>
            </a:r>
            <a:r>
              <a:rPr lang="ro-RO" dirty="0" smtClean="0">
                <a:cs typeface="Times New Roman" pitchFamily="18" charset="0"/>
              </a:rPr>
              <a:t>instrucțiunilor </a:t>
            </a:r>
            <a:r>
              <a:rPr lang="ro-RO" dirty="0">
                <a:cs typeface="Times New Roman" pitchFamily="18" charset="0"/>
              </a:rPr>
              <a:t>sunt </a:t>
            </a:r>
            <a:r>
              <a:rPr lang="ro-RO" dirty="0" smtClean="0">
                <a:cs typeface="Times New Roman" pitchFamily="18" charset="0"/>
              </a:rPr>
              <a:t>aceleași </a:t>
            </a:r>
            <a:r>
              <a:rPr lang="ro-RO" dirty="0">
                <a:cs typeface="Times New Roman" pitchFamily="18" charset="0"/>
              </a:rPr>
              <a:t>cu </a:t>
            </a:r>
            <a:r>
              <a:rPr lang="ro-RO" dirty="0"/>
              <a:t>cele</a:t>
            </a:r>
            <a:r>
              <a:rPr lang="ro-RO" dirty="0">
                <a:cs typeface="Times New Roman" pitchFamily="18" charset="0"/>
              </a:rPr>
              <a:t> dintr‑un set de programe de evaluare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3C7BD9-1159-4FB2-9A83-034511358CD0}" type="slidenum">
              <a:rPr lang="ro-RO"/>
              <a:pPr/>
              <a:t>14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(2)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628800"/>
            <a:ext cx="8424936" cy="468052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Programul sintetic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Whetstone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sz="3000" dirty="0"/>
              <a:t>Publicat </a:t>
            </a:r>
            <a:r>
              <a:rPr lang="ro-RO" sz="3000" dirty="0" smtClean="0"/>
              <a:t>de </a:t>
            </a:r>
            <a:r>
              <a:rPr lang="ro-RO" sz="3000" i="1" dirty="0"/>
              <a:t>National </a:t>
            </a:r>
            <a:r>
              <a:rPr lang="ro-RO" sz="3000" i="1" dirty="0" err="1"/>
              <a:t>Physical</a:t>
            </a:r>
            <a:r>
              <a:rPr lang="ro-RO" sz="3000" i="1" dirty="0"/>
              <a:t> </a:t>
            </a:r>
            <a:r>
              <a:rPr lang="ro-RO" sz="3000" i="1" dirty="0" err="1"/>
              <a:t>Laboratory</a:t>
            </a:r>
            <a:r>
              <a:rPr lang="ro-RO" sz="3000" dirty="0"/>
              <a:t> (NPL), Marea Britanie</a:t>
            </a:r>
          </a:p>
          <a:p>
            <a:pPr lvl="1">
              <a:lnSpc>
                <a:spcPct val="90000"/>
              </a:lnSpc>
            </a:pPr>
            <a:r>
              <a:rPr lang="ro-RO" sz="3000" dirty="0">
                <a:cs typeface="Times New Roman" pitchFamily="18" charset="0"/>
              </a:rPr>
              <a:t>Bazat pe m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sur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torile efectuate asupra </a:t>
            </a:r>
            <a:r>
              <a:rPr lang="ro-RO" sz="3000" dirty="0" smtClean="0">
                <a:cs typeface="Times New Roman" pitchFamily="18" charset="0"/>
              </a:rPr>
              <a:t>aplicațiilor științifice </a:t>
            </a:r>
            <a:r>
              <a:rPr lang="ro-RO" sz="3000" dirty="0" smtClean="0"/>
              <a:t>și</a:t>
            </a:r>
            <a:r>
              <a:rPr lang="ro-RO" sz="3000" dirty="0" smtClean="0">
                <a:cs typeface="Times New Roman" pitchFamily="18" charset="0"/>
              </a:rPr>
              <a:t> inginerești </a:t>
            </a:r>
            <a:r>
              <a:rPr lang="ro-RO" sz="3000" dirty="0">
                <a:cs typeface="Times New Roman" pitchFamily="18" charset="0"/>
              </a:rPr>
              <a:t>scrise în limbajul 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Algol 60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ro-RO" sz="3000" dirty="0"/>
              <a:t>Numit după compilatorul </a:t>
            </a:r>
            <a:r>
              <a:rPr lang="ro-RO" sz="3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Whetstone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Algol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000" dirty="0"/>
              <a:t>de la NPL</a:t>
            </a:r>
          </a:p>
          <a:p>
            <a:pPr lvl="1">
              <a:lnSpc>
                <a:spcPct val="90000"/>
              </a:lnSpc>
            </a:pPr>
            <a:r>
              <a:rPr lang="ro-RO" sz="3000" dirty="0">
                <a:cs typeface="Times New Roman" pitchFamily="18" charset="0"/>
              </a:rPr>
              <a:t>Rescris ulterior în limbajele 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Fortran </a:t>
            </a:r>
            <a:r>
              <a:rPr lang="ro-RO" sz="3000" dirty="0" smtClean="0">
                <a:cs typeface="Times New Roman" pitchFamily="18" charset="0"/>
              </a:rPr>
              <a:t>și 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Pascal</a:t>
            </a:r>
          </a:p>
          <a:p>
            <a:pPr lvl="1">
              <a:lnSpc>
                <a:spcPct val="90000"/>
              </a:lnSpc>
            </a:pPr>
            <a:r>
              <a:rPr lang="ro-RO" sz="3000" dirty="0">
                <a:cs typeface="Times New Roman" pitchFamily="18" charset="0"/>
              </a:rPr>
              <a:t>Pune accent pe </a:t>
            </a:r>
            <a:r>
              <a:rPr lang="ro-RO" sz="3000" dirty="0" smtClean="0">
                <a:cs typeface="Times New Roman" pitchFamily="18" charset="0"/>
              </a:rPr>
              <a:t>operațiile </a:t>
            </a:r>
            <a:r>
              <a:rPr lang="ro-RO" sz="3000" dirty="0">
                <a:cs typeface="Times New Roman" pitchFamily="18" charset="0"/>
              </a:rPr>
              <a:t>în VM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1BBEE0-DEB5-4E1E-97AF-F7F250693A77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(3)</a:t>
            </a:r>
            <a:endParaRPr lang="en-US" dirty="0"/>
          </a:p>
        </p:txBody>
      </p:sp>
      <p:sp>
        <p:nvSpPr>
          <p:cNvPr id="2672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09342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Programul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sintetic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Dhrystone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 smtClean="0"/>
              <a:t>C</a:t>
            </a:r>
            <a:r>
              <a:rPr lang="ro-RO" dirty="0" smtClean="0">
                <a:cs typeface="Times New Roman" pitchFamily="18" charset="0"/>
              </a:rPr>
              <a:t>reat </a:t>
            </a:r>
            <a:r>
              <a:rPr lang="ro-RO" dirty="0">
                <a:cs typeface="Times New Roman" pitchFamily="18" charset="0"/>
              </a:rPr>
              <a:t>pentru evaluarea programelor de sistem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Bazat pe un set de 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tori ale </a:t>
            </a:r>
            <a:r>
              <a:rPr lang="ro-RO" dirty="0" smtClean="0">
                <a:cs typeface="Times New Roman" pitchFamily="18" charset="0"/>
              </a:rPr>
              <a:t>frecvențelor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ale </a:t>
            </a:r>
            <a:r>
              <a:rPr lang="ro-RO" dirty="0" smtClean="0">
                <a:cs typeface="Times New Roman" pitchFamily="18" charset="0"/>
              </a:rPr>
              <a:t>instrucțiunilor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Nu pune accent pe </a:t>
            </a:r>
            <a:r>
              <a:rPr lang="ro-RO" dirty="0" smtClean="0">
                <a:cs typeface="Times New Roman" pitchFamily="18" charset="0"/>
              </a:rPr>
              <a:t>operațiile </a:t>
            </a:r>
            <a:r>
              <a:rPr lang="ro-RO" dirty="0">
                <a:cs typeface="Times New Roman" pitchFamily="18" charset="0"/>
              </a:rPr>
              <a:t>în VM</a:t>
            </a:r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cris </a:t>
            </a:r>
            <a:r>
              <a:rPr lang="ro-RO" dirty="0" smtClean="0">
                <a:cs typeface="Times New Roman" pitchFamily="18" charset="0"/>
              </a:rPr>
              <a:t>inițial </a:t>
            </a:r>
            <a:r>
              <a:rPr lang="ro-RO" dirty="0">
                <a:cs typeface="Times New Roman" pitchFamily="18" charset="0"/>
              </a:rPr>
              <a:t>în limbajul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Ada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cs typeface="Times New Roman" pitchFamily="18" charset="0"/>
              </a:rPr>
              <a:t>Convertit ulterior în limbajul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EA50D3-5657-461F-B0C1-787135367DD8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(4)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628774"/>
            <a:ext cx="8352928" cy="4680545"/>
          </a:xfrm>
        </p:spPr>
        <p:txBody>
          <a:bodyPr/>
          <a:lstStyle/>
          <a:p>
            <a:pPr lvl="1"/>
            <a:endParaRPr lang="ro-RO" dirty="0" smtClean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Dezavantajele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programelor sintetice </a:t>
            </a:r>
          </a:p>
          <a:p>
            <a:pPr lvl="1"/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 reflect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comportamentul programelor reale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ptimiz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rile executate de compilator sau prin hardware pot amplifica </a:t>
            </a:r>
            <a:r>
              <a:rPr lang="ro-RO" dirty="0" smtClean="0">
                <a:cs typeface="Times New Roman" pitchFamily="18" charset="0"/>
              </a:rPr>
              <a:t>performanțele </a:t>
            </a:r>
            <a:r>
              <a:rPr lang="ro-RO" dirty="0">
                <a:cs typeface="Times New Roman" pitchFamily="18" charset="0"/>
              </a:rPr>
              <a:t>acestor programe</a:t>
            </a:r>
            <a:r>
              <a:rPr lang="ro-RO" dirty="0"/>
              <a:t> </a:t>
            </a:r>
            <a:endParaRPr lang="ro-RO" dirty="0" smtClean="0"/>
          </a:p>
          <a:p>
            <a:pPr lvl="2"/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sz="3000" dirty="0" smtClean="0"/>
              <a:t>: compilatoare care pot elimina 25% din codul programului </a:t>
            </a:r>
            <a:r>
              <a:rPr lang="ro-RO" sz="3000" dirty="0" err="1" smtClean="0"/>
              <a:t>Dhrystone</a:t>
            </a:r>
            <a:endParaRPr lang="ro-RO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251B6E-12D6-4D5E-A0CF-32B69094B5E2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(5)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14488"/>
            <a:ext cx="8352928" cy="3994940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Programe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nucleu (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kernel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)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evaluare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ragmente de dimensiuni mici, dar solicitante, extrase din programe reale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laborate pentru evaluarea calculatoarelor performante (supercalculatoare)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Exemple</a:t>
            </a:r>
            <a:r>
              <a:rPr lang="ro-RO" dirty="0"/>
              <a:t>: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Livermore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Loops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Linpack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tilizate în special pentru </a:t>
            </a:r>
            <a:r>
              <a:rPr lang="ro-RO" dirty="0"/>
              <a:t>evaluarea 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performanțelor aplicațiilor științifice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7208F7-4A69-4F01-A479-8751F07ACC0C}" type="slidenum">
              <a:rPr lang="ro-RO"/>
              <a:pPr/>
              <a:t>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(6)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799"/>
            <a:ext cx="8382000" cy="481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ormarea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SPEC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>
                <a:cs typeface="Times New Roman" pitchFamily="18" charset="0"/>
              </a:rPr>
              <a:t>Standard </a:t>
            </a:r>
            <a:r>
              <a:rPr lang="ro-RO" i="1" dirty="0" err="1">
                <a:cs typeface="Times New Roman" pitchFamily="18" charset="0"/>
              </a:rPr>
              <a:t>Performance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Evaluation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Corporation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, </a:t>
            </a:r>
            <a:r>
              <a:rPr lang="ro-RO" dirty="0">
                <a:cs typeface="Times New Roman" pitchFamily="18" charset="0"/>
              </a:rPr>
              <a:t>1988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</a:pPr>
            <a:r>
              <a:rPr lang="ro-RO" sz="3100" dirty="0" err="1">
                <a:hlinkClick r:id="rId3"/>
              </a:rPr>
              <a:t>www.spec.org</a:t>
            </a:r>
            <a:endParaRPr lang="ro-RO" sz="3100" dirty="0"/>
          </a:p>
          <a:p>
            <a:pPr lvl="1">
              <a:lnSpc>
                <a:spcPct val="90000"/>
              </a:lnSpc>
            </a:pPr>
            <a:r>
              <a:rPr lang="ro-RO" sz="3100" dirty="0" smtClean="0"/>
              <a:t>C</a:t>
            </a:r>
            <a:r>
              <a:rPr lang="ro-RO" sz="3100" dirty="0" smtClean="0">
                <a:cs typeface="Times New Roman" pitchFamily="18" charset="0"/>
              </a:rPr>
              <a:t>orporație </a:t>
            </a:r>
            <a:r>
              <a:rPr lang="ro-RO" sz="3100" dirty="0">
                <a:cs typeface="Times New Roman" pitchFamily="18" charset="0"/>
              </a:rPr>
              <a:t>non-profit</a:t>
            </a:r>
            <a:endParaRPr lang="ro-RO" sz="3100" dirty="0"/>
          </a:p>
          <a:p>
            <a:pPr lvl="1">
              <a:lnSpc>
                <a:spcPct val="90000"/>
              </a:lnSpc>
            </a:pPr>
            <a:r>
              <a:rPr lang="ro-RO" sz="3100" dirty="0"/>
              <a:t>E</a:t>
            </a:r>
            <a:r>
              <a:rPr lang="ro-RO" sz="3100" dirty="0">
                <a:cs typeface="Times New Roman" pitchFamily="18" charset="0"/>
              </a:rPr>
              <a:t>laboreaz</a:t>
            </a:r>
            <a:r>
              <a:rPr lang="ro-RO" sz="3100" dirty="0"/>
              <a:t>ă</a:t>
            </a:r>
            <a:r>
              <a:rPr lang="ro-RO" sz="3100" dirty="0">
                <a:cs typeface="Times New Roman" pitchFamily="18" charset="0"/>
              </a:rPr>
              <a:t> </a:t>
            </a:r>
            <a:r>
              <a:rPr lang="ro-RO" sz="3100" dirty="0" smtClean="0">
                <a:cs typeface="Times New Roman" pitchFamily="18" charset="0"/>
              </a:rPr>
              <a:t>și actualizează seturi </a:t>
            </a:r>
            <a:r>
              <a:rPr lang="ro-RO" sz="3100" dirty="0">
                <a:cs typeface="Times New Roman" pitchFamily="18" charset="0"/>
              </a:rPr>
              <a:t>standardizate de programe de evaluare </a:t>
            </a:r>
            <a:r>
              <a:rPr lang="ro-RO" sz="31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bazate pe programe reale</a:t>
            </a:r>
            <a:r>
              <a:rPr lang="ro-RO" sz="3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ro-RO" sz="3100" dirty="0">
                <a:cs typeface="Times New Roman" pitchFamily="18" charset="0"/>
              </a:rPr>
              <a:t>Seturile de programe </a:t>
            </a:r>
            <a:r>
              <a:rPr lang="ro-RO" sz="3100" dirty="0" smtClean="0">
                <a:cs typeface="Times New Roman" pitchFamily="18" charset="0"/>
              </a:rPr>
              <a:t>conțin </a:t>
            </a:r>
            <a:r>
              <a:rPr lang="ro-RO" sz="3100" dirty="0">
                <a:cs typeface="Times New Roman" pitchFamily="18" charset="0"/>
              </a:rPr>
              <a:t>codul surs</a:t>
            </a:r>
            <a:r>
              <a:rPr lang="ro-RO" sz="3100" dirty="0"/>
              <a:t>ă</a:t>
            </a:r>
            <a:r>
              <a:rPr lang="ro-RO" sz="3100" dirty="0">
                <a:cs typeface="Times New Roman" pitchFamily="18" charset="0"/>
              </a:rPr>
              <a:t> </a:t>
            </a:r>
            <a:r>
              <a:rPr lang="ro-RO" sz="3100" dirty="0" smtClean="0">
                <a:cs typeface="Times New Roman" pitchFamily="18" charset="0"/>
              </a:rPr>
              <a:t>și </a:t>
            </a:r>
            <a:r>
              <a:rPr lang="ro-RO" sz="3100" dirty="0">
                <a:cs typeface="Times New Roman" pitchFamily="18" charset="0"/>
              </a:rPr>
              <a:t>utilitare pentru generarea rapoartelor de </a:t>
            </a:r>
            <a:r>
              <a:rPr lang="ro-RO" sz="3100" dirty="0" smtClean="0">
                <a:cs typeface="Times New Roman" pitchFamily="18" charset="0"/>
              </a:rPr>
              <a:t>performanț</a:t>
            </a:r>
            <a:r>
              <a:rPr lang="ro-RO" sz="3100" dirty="0" smtClean="0"/>
              <a:t>ă </a:t>
            </a:r>
            <a:endParaRPr lang="ro-RO" sz="3100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86F7B4-4BA4-47B8-B793-20FA45DDB52F}" type="slidenum">
              <a:rPr lang="ro-RO"/>
              <a:pPr/>
              <a:t>19</a:t>
            </a:fld>
            <a:endParaRPr 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  <p:pic>
        <p:nvPicPr>
          <p:cNvPr id="247812" name="Picture 4" descr="spec-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72400" y="1700808"/>
            <a:ext cx="619125" cy="84772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(7)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00808"/>
            <a:ext cx="8382000" cy="4536504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SPEC89</a:t>
            </a:r>
          </a:p>
          <a:p>
            <a:pPr lvl="1"/>
            <a:r>
              <a:rPr lang="ro-RO" dirty="0">
                <a:cs typeface="Times New Roman" pitchFamily="18" charset="0"/>
              </a:rPr>
              <a:t>Primul set de programe de evaluare (1989)</a:t>
            </a:r>
            <a:endParaRPr lang="ro-RO" dirty="0"/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 calcula o singur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metric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utilizând media geometric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timpilor de </a:t>
            </a:r>
            <a:r>
              <a:rPr lang="ro-RO" dirty="0" smtClean="0">
                <a:cs typeface="Times New Roman" pitchFamily="18" charset="0"/>
              </a:rPr>
              <a:t>execuție normalizați faț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calculatorul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VAX‑11/780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SPEC92</a:t>
            </a:r>
          </a:p>
          <a:p>
            <a:pPr lvl="1"/>
            <a:r>
              <a:rPr lang="ro-RO" dirty="0"/>
              <a:t>Au fost</a:t>
            </a:r>
            <a:r>
              <a:rPr lang="ro-RO" dirty="0">
                <a:cs typeface="Times New Roman" pitchFamily="18" charset="0"/>
              </a:rPr>
              <a:t> prev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zute metrici separate pentru calculel</a:t>
            </a: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 cu numere întregi</a:t>
            </a:r>
            <a:r>
              <a:rPr lang="ro-RO" dirty="0"/>
              <a:t> 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SPECINT</a:t>
            </a:r>
            <a:r>
              <a:rPr lang="ro-RO" dirty="0"/>
              <a:t>) </a:t>
            </a:r>
            <a:r>
              <a:rPr lang="ro-RO" dirty="0" smtClean="0"/>
              <a:t>și </a:t>
            </a:r>
            <a:r>
              <a:rPr lang="ro-RO" dirty="0"/>
              <a:t>a celor</a:t>
            </a:r>
            <a:r>
              <a:rPr lang="ro-RO" dirty="0">
                <a:cs typeface="Times New Roman" pitchFamily="18" charset="0"/>
              </a:rPr>
              <a:t> cu numere în </a:t>
            </a:r>
            <a:r>
              <a:rPr lang="ro-RO" dirty="0"/>
              <a:t>VM 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SPECFP</a:t>
            </a:r>
            <a:r>
              <a:rPr lang="ro-RO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6E44D7-451A-420B-BE14-238DDF820E32}" type="slidenum">
              <a:rPr lang="ro-RO"/>
              <a:pPr/>
              <a:t>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>
                <a:cs typeface="Times New Roman" pitchFamily="18" charset="0"/>
              </a:rPr>
              <a:t>Evoluția </a:t>
            </a:r>
            <a:r>
              <a:rPr lang="ro-RO" dirty="0">
                <a:cs typeface="Times New Roman" pitchFamily="18" charset="0"/>
              </a:rPr>
              <a:t>programelor 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r>
              <a:rPr lang="ro-RO" dirty="0" smtClean="0"/>
              <a:t> </a:t>
            </a:r>
            <a:r>
              <a:rPr lang="ro-RO" dirty="0"/>
              <a:t>(8)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643050"/>
            <a:ext cx="8424936" cy="445295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SPEC CPU95</a:t>
            </a:r>
            <a:r>
              <a:rPr lang="ro-RO" dirty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CPU2000</a:t>
            </a:r>
            <a:r>
              <a:rPr lang="ro-RO" dirty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CPU2006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ro-RO" dirty="0"/>
              <a:t>Versiunea </a:t>
            </a:r>
            <a:r>
              <a:rPr lang="ro-RO" dirty="0" smtClean="0"/>
              <a:t>curentă: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CPU2017</a:t>
            </a:r>
          </a:p>
          <a:p>
            <a:pPr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SPEC </a:t>
            </a:r>
            <a:r>
              <a:rPr lang="ro-RO" dirty="0">
                <a:cs typeface="Times New Roman" pitchFamily="18" charset="0"/>
              </a:rPr>
              <a:t>este format din trei grupuri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</a:pP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Open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Systems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Group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OSG</a:t>
            </a:r>
            <a:r>
              <a:rPr lang="ro-RO" dirty="0">
                <a:cs typeface="Times New Roman" pitchFamily="18" charset="0"/>
              </a:rPr>
              <a:t>): programe la nivel de componente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de sistem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High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Performance Group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HPG</a:t>
            </a:r>
            <a:r>
              <a:rPr lang="ro-RO" dirty="0">
                <a:cs typeface="Times New Roman" pitchFamily="18" charset="0"/>
              </a:rPr>
              <a:t>): programe pentru calcule de înalt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performanț</a:t>
            </a:r>
            <a:r>
              <a:rPr lang="ro-RO" dirty="0" smtClean="0"/>
              <a:t>ă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Graphics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Performance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Characterization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Group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GPCG</a:t>
            </a:r>
            <a:r>
              <a:rPr lang="ro-RO" dirty="0">
                <a:cs typeface="Times New Roman" pitchFamily="18" charset="0"/>
              </a:rPr>
              <a:t>): programe pentru subsisteme grafice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C6ABD3-1618-497C-B148-BE18DEA9449A}" type="slidenum">
              <a:rPr lang="ro-RO"/>
              <a:pPr/>
              <a:t>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695995"/>
          </a:xfrm>
        </p:spPr>
        <p:txBody>
          <a:bodyPr>
            <a:normAutofit fontScale="90000"/>
          </a:bodyPr>
          <a:lstStyle/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3785652"/>
          </a:xfrm>
        </p:spPr>
        <p:txBody>
          <a:bodyPr/>
          <a:lstStyle/>
          <a:p>
            <a:endParaRPr lang="ro-RO" dirty="0" smtClean="0"/>
          </a:p>
          <a:p>
            <a:endParaRPr lang="en-US" dirty="0"/>
          </a:p>
          <a:p>
            <a:r>
              <a:rPr lang="ro-RO" dirty="0" smtClean="0">
                <a:cs typeface="Times New Roman" pitchFamily="18" charset="0"/>
              </a:rPr>
              <a:t>Programe </a:t>
            </a:r>
            <a:r>
              <a:rPr lang="ro-RO" dirty="0">
                <a:cs typeface="Times New Roman" pitchFamily="18" charset="0"/>
              </a:rPr>
              <a:t>de evaluare a </a:t>
            </a:r>
            <a:r>
              <a:rPr lang="ro-RO" dirty="0" smtClean="0">
                <a:cs typeface="Times New Roman" pitchFamily="18" charset="0"/>
              </a:rPr>
              <a:t>performanțelor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/>
              <a:t>Compararea </a:t>
            </a:r>
            <a:r>
              <a:rPr lang="ro-RO" dirty="0" smtClean="0"/>
              <a:t>și </a:t>
            </a:r>
            <a:r>
              <a:rPr lang="ro-RO" dirty="0"/>
              <a:t>sintetizarea </a:t>
            </a:r>
            <a:r>
              <a:rPr lang="ro-RO" dirty="0" smtClean="0"/>
              <a:t>performanțelor</a:t>
            </a:r>
            <a:endParaRPr lang="ro-RO" dirty="0"/>
          </a:p>
          <a:p>
            <a:pPr lvl="1"/>
            <a:r>
              <a:rPr lang="ro-RO" dirty="0" smtClean="0"/>
              <a:t>Evoluția </a:t>
            </a:r>
            <a:r>
              <a:rPr lang="ro-RO" dirty="0"/>
              <a:t>programelor de evaluare a </a:t>
            </a:r>
            <a:r>
              <a:rPr lang="ro-RO" dirty="0" smtClean="0"/>
              <a:t>performanțelor </a:t>
            </a:r>
            <a:endParaRPr lang="ro-RO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 </a:t>
            </a:r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CPU2017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35EF37-0040-4936-B7DD-63455115E66F}" type="slidenum">
              <a:rPr lang="ro-RO"/>
              <a:pPr/>
              <a:t>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SPEC </a:t>
            </a:r>
            <a:r>
              <a:rPr lang="ro-RO" dirty="0" smtClean="0"/>
              <a:t>CPU2017 </a:t>
            </a:r>
            <a:r>
              <a:rPr lang="ro-RO" dirty="0"/>
              <a:t>(1)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8"/>
            <a:ext cx="8352928" cy="4968552"/>
          </a:xfrm>
        </p:spPr>
        <p:txBody>
          <a:bodyPr>
            <a:normAutofit fontScale="92500"/>
          </a:bodyPr>
          <a:lstStyle/>
          <a:p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fost dezvoltat de grupul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OSG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Se</a:t>
            </a:r>
            <a:r>
              <a:rPr lang="ro-RO" dirty="0">
                <a:cs typeface="Times New Roman" pitchFamily="18" charset="0"/>
              </a:rPr>
              <a:t> 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soar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performanța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UCP</a:t>
            </a:r>
            <a:r>
              <a:rPr lang="ro-RO" dirty="0">
                <a:cs typeface="Times New Roman" pitchFamily="18" charset="0"/>
              </a:rPr>
              <a:t>, a sistemului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/>
              <a:t>a </a:t>
            </a:r>
            <a:r>
              <a:rPr lang="ro-RO" dirty="0">
                <a:cs typeface="Times New Roman" pitchFamily="18" charset="0"/>
              </a:rPr>
              <a:t>gener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codului de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compilator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imp</a:t>
            </a:r>
            <a:r>
              <a:rPr lang="ro-RO" dirty="0"/>
              <a:t>ul</a:t>
            </a:r>
            <a:r>
              <a:rPr lang="ro-RO" dirty="0">
                <a:cs typeface="Times New Roman" pitchFamily="18" charset="0"/>
              </a:rPr>
              <a:t> necesar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</a:t>
            </a:r>
            <a:r>
              <a:rPr lang="ro-RO" dirty="0" smtClean="0">
                <a:cs typeface="Times New Roman" pitchFamily="18" charset="0"/>
              </a:rPr>
              <a:t>funcțiilor SO și </a:t>
            </a:r>
            <a:r>
              <a:rPr lang="ro-RO" dirty="0">
                <a:cs typeface="Times New Roman" pitchFamily="18" charset="0"/>
              </a:rPr>
              <a:t>a </a:t>
            </a:r>
            <a:r>
              <a:rPr lang="ro-RO" dirty="0" smtClean="0">
                <a:cs typeface="Times New Roman" pitchFamily="18" charset="0"/>
              </a:rPr>
              <a:t>operațiilor </a:t>
            </a:r>
            <a:r>
              <a:rPr lang="ro-RO" dirty="0">
                <a:cs typeface="Times New Roman" pitchFamily="18" charset="0"/>
              </a:rPr>
              <a:t>de I/E este neglijabil</a:t>
            </a:r>
            <a:endParaRPr lang="ro-RO" dirty="0"/>
          </a:p>
          <a:p>
            <a:r>
              <a:rPr lang="ro-RO" dirty="0" smtClean="0"/>
              <a:t>Conține porțiuni din 43 de aplicații reale în limbajele C, C++ și FORTRAN</a:t>
            </a:r>
          </a:p>
          <a:p>
            <a:r>
              <a:rPr lang="ro-RO" dirty="0" smtClean="0"/>
              <a:t>Aplicații portabile pe arhitecturi variate: IA32; AMD64 (x86-64); ARMv8 AArch64; SPARC etc.</a:t>
            </a:r>
          </a:p>
          <a:p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37785C-64E6-46CA-9E3E-48D01817EB3F}" type="slidenum">
              <a:rPr lang="ro-RO"/>
              <a:pPr/>
              <a:t>23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SPEC CPU2017 </a:t>
            </a:r>
            <a:r>
              <a:rPr lang="ro-RO" dirty="0" smtClean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511480" cy="475822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Îmbunătățiri</a:t>
            </a:r>
            <a:r>
              <a:rPr lang="ro-RO" dirty="0" smtClean="0"/>
              <a:t> față de versiunea precedentă:</a:t>
            </a:r>
          </a:p>
          <a:p>
            <a:pPr lvl="1"/>
            <a:r>
              <a:rPr lang="ro-RO" dirty="0" smtClean="0"/>
              <a:t>Complexitate și dimensiune crescută a programelor de evaluare</a:t>
            </a:r>
          </a:p>
          <a:p>
            <a:pPr lvl="1"/>
            <a:r>
              <a:rPr lang="ro-RO" dirty="0" smtClean="0"/>
              <a:t>Posibilitatea utilizării interfeței de programare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OpenMP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(</a:t>
            </a:r>
            <a:r>
              <a:rPr lang="ro-RO" i="1" dirty="0" smtClean="0"/>
              <a:t>Open </a:t>
            </a:r>
            <a:r>
              <a:rPr lang="ro-RO" i="1" dirty="0" err="1" smtClean="0"/>
              <a:t>Multi-Processing</a:t>
            </a:r>
            <a:r>
              <a:rPr lang="ro-RO" dirty="0" smtClean="0"/>
              <a:t>) pentru evaluarea sistemelor paralele</a:t>
            </a:r>
          </a:p>
          <a:p>
            <a:pPr lvl="1"/>
            <a:r>
              <a:rPr lang="ro-RO" dirty="0" smtClean="0"/>
              <a:t>Metrică opțională pentru măsurarea consumului de putere</a:t>
            </a:r>
          </a:p>
          <a:p>
            <a:pPr lvl="2"/>
            <a:r>
              <a:rPr lang="ro-RO" dirty="0" smtClean="0"/>
              <a:t>Se poate măsura puterea maximă, puterea medie și energia totală consumată (în kJ)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24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5880880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SPEC </a:t>
            </a:r>
            <a:r>
              <a:rPr lang="ro-RO" dirty="0" smtClean="0"/>
              <a:t>CPU2017 (3)</a:t>
            </a:r>
            <a:endParaRPr lang="ro-RO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68760"/>
            <a:ext cx="8382000" cy="508759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tipuri de </a:t>
            </a:r>
            <a:r>
              <a:rPr lang="ro-RO" dirty="0" smtClean="0">
                <a:cs typeface="Times New Roman" pitchFamily="18" charset="0"/>
              </a:rPr>
              <a:t>m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sur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tori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surarea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vitezei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execuție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Viteza SPEC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timpul </a:t>
            </a:r>
            <a:r>
              <a:rPr lang="ro-RO" dirty="0"/>
              <a:t>în care se </a:t>
            </a:r>
            <a:r>
              <a:rPr lang="ro-RO" dirty="0">
                <a:cs typeface="Times New Roman" pitchFamily="18" charset="0"/>
              </a:rPr>
              <a:t>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toate </a:t>
            </a:r>
            <a:r>
              <a:rPr lang="ro-RO" dirty="0">
                <a:cs typeface="Times New Roman" pitchFamily="18" charset="0"/>
              </a:rPr>
              <a:t>program</a:t>
            </a:r>
            <a:r>
              <a:rPr lang="ro-RO" dirty="0"/>
              <a:t>ele din </a:t>
            </a:r>
            <a:r>
              <a:rPr lang="ro-RO" dirty="0" smtClean="0"/>
              <a:t>setul de test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o singur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 err="1" smtClean="0">
                <a:cs typeface="Times New Roman" pitchFamily="18" charset="0"/>
              </a:rPr>
              <a:t>SPECspeed</a:t>
            </a:r>
            <a:r>
              <a:rPr lang="ro-RO" dirty="0" smtClean="0">
                <a:cs typeface="Times New Roman" pitchFamily="18" charset="0"/>
              </a:rPr>
              <a:t> 2017 </a:t>
            </a:r>
            <a:r>
              <a:rPr lang="ro-RO" dirty="0" err="1" smtClean="0">
                <a:cs typeface="Times New Roman" pitchFamily="18" charset="0"/>
              </a:rPr>
              <a:t>Integer</a:t>
            </a:r>
            <a:r>
              <a:rPr lang="ro-RO" dirty="0" smtClean="0">
                <a:cs typeface="Times New Roman" pitchFamily="18" charset="0"/>
              </a:rPr>
              <a:t>; </a:t>
            </a:r>
            <a:r>
              <a:rPr lang="ro-RO" dirty="0" err="1" smtClean="0">
                <a:cs typeface="Times New Roman" pitchFamily="18" charset="0"/>
              </a:rPr>
              <a:t>SPECspeed</a:t>
            </a:r>
            <a:r>
              <a:rPr lang="ro-RO" dirty="0" smtClean="0">
                <a:cs typeface="Times New Roman" pitchFamily="18" charset="0"/>
              </a:rPr>
              <a:t> 2017 </a:t>
            </a:r>
            <a:r>
              <a:rPr lang="ro-RO" dirty="0" err="1" smtClean="0">
                <a:cs typeface="Times New Roman" pitchFamily="18" charset="0"/>
              </a:rPr>
              <a:t>Floating</a:t>
            </a:r>
            <a:r>
              <a:rPr lang="ro-RO" dirty="0" smtClean="0">
                <a:cs typeface="Times New Roman" pitchFamily="18" charset="0"/>
              </a:rPr>
              <a:t> Point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surarea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ratei</a:t>
            </a:r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Rata SPEC</a:t>
            </a:r>
            <a:r>
              <a:rPr lang="ro-RO" dirty="0"/>
              <a:t>: </a:t>
            </a:r>
            <a:r>
              <a:rPr lang="ro-RO" dirty="0" smtClean="0">
                <a:cs typeface="Times New Roman" pitchFamily="18" charset="0"/>
              </a:rPr>
              <a:t>num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rul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programe care </a:t>
            </a:r>
            <a:r>
              <a:rPr lang="ro-RO" dirty="0">
                <a:cs typeface="Times New Roman" pitchFamily="18" charset="0"/>
              </a:rPr>
              <a:t>pot fi executate </a:t>
            </a:r>
            <a:r>
              <a:rPr lang="ro-RO" dirty="0" smtClean="0">
                <a:cs typeface="Times New Roman" pitchFamily="18" charset="0"/>
              </a:rPr>
              <a:t>într‑o unitate de timp </a:t>
            </a:r>
            <a:r>
              <a:rPr lang="ro-RO" dirty="0" smtClean="0"/>
              <a:t>(pe oră)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 err="1" smtClean="0">
                <a:cs typeface="Times New Roman" pitchFamily="18" charset="0"/>
              </a:rPr>
              <a:t>SPECrate</a:t>
            </a:r>
            <a:r>
              <a:rPr lang="ro-RO" dirty="0" smtClean="0">
                <a:cs typeface="Times New Roman" pitchFamily="18" charset="0"/>
              </a:rPr>
              <a:t> 2017 </a:t>
            </a:r>
            <a:r>
              <a:rPr lang="ro-RO" dirty="0" err="1" smtClean="0">
                <a:cs typeface="Times New Roman" pitchFamily="18" charset="0"/>
              </a:rPr>
              <a:t>Integer</a:t>
            </a:r>
            <a:r>
              <a:rPr lang="ro-RO" dirty="0" smtClean="0">
                <a:cs typeface="Times New Roman" pitchFamily="18" charset="0"/>
              </a:rPr>
              <a:t>; </a:t>
            </a:r>
            <a:r>
              <a:rPr lang="ro-RO" dirty="0" err="1" smtClean="0">
                <a:cs typeface="Times New Roman" pitchFamily="18" charset="0"/>
              </a:rPr>
              <a:t>SPECrate</a:t>
            </a:r>
            <a:r>
              <a:rPr lang="ro-RO" dirty="0" smtClean="0">
                <a:cs typeface="Times New Roman" pitchFamily="18" charset="0"/>
              </a:rPr>
              <a:t> 2017 </a:t>
            </a:r>
            <a:r>
              <a:rPr lang="ro-RO" dirty="0" err="1" smtClean="0">
                <a:cs typeface="Times New Roman" pitchFamily="18" charset="0"/>
              </a:rPr>
              <a:t>Floating</a:t>
            </a:r>
            <a:r>
              <a:rPr lang="ro-RO" dirty="0" smtClean="0">
                <a:cs typeface="Times New Roman" pitchFamily="18" charset="0"/>
              </a:rPr>
              <a:t> Point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6E2386-F60E-4F99-A28A-F59BB4488679}" type="slidenum">
              <a:rPr lang="ro-RO"/>
              <a:pPr/>
              <a:t>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SPEC </a:t>
            </a:r>
            <a:r>
              <a:rPr lang="ro-RO" dirty="0" smtClean="0"/>
              <a:t>CPU2017 (4)</a:t>
            </a:r>
            <a:endParaRPr lang="ro-RO" dirty="0"/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424936" cy="4785320"/>
          </a:xfrm>
        </p:spPr>
        <p:txBody>
          <a:bodyPr>
            <a:normAutofit lnSpcReduction="10000"/>
          </a:bodyPr>
          <a:lstStyle/>
          <a:p>
            <a:r>
              <a:rPr lang="ro-RO" dirty="0"/>
              <a:t>Se calculează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media geometrică </a:t>
            </a:r>
            <a:r>
              <a:rPr lang="ro-RO" dirty="0"/>
              <a:t>a indicatorilor</a:t>
            </a:r>
          </a:p>
          <a:p>
            <a:r>
              <a:rPr lang="ro-RO" dirty="0"/>
              <a:t>Timpii de </a:t>
            </a:r>
            <a:r>
              <a:rPr lang="ro-RO" dirty="0" smtClean="0"/>
              <a:t>execuție </a:t>
            </a:r>
            <a:r>
              <a:rPr lang="ro-RO" dirty="0"/>
              <a:t>sunt </a:t>
            </a:r>
            <a:r>
              <a:rPr lang="ro-RO" dirty="0" smtClean="0"/>
              <a:t>raportați </a:t>
            </a:r>
            <a:r>
              <a:rPr lang="ro-RO" dirty="0"/>
              <a:t>la un calculator de </a:t>
            </a:r>
            <a:r>
              <a:rPr lang="ro-RO" dirty="0" smtClean="0"/>
              <a:t>referință </a:t>
            </a:r>
            <a:endParaRPr lang="ro-RO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Sun </a:t>
            </a:r>
            <a:r>
              <a:rPr lang="ro-RO" i="1" dirty="0">
                <a:cs typeface="Times New Roman" pitchFamily="18" charset="0"/>
              </a:rPr>
              <a:t>Microsystems </a:t>
            </a:r>
            <a:r>
              <a:rPr lang="ro-RO" i="1" dirty="0" smtClean="0">
                <a:cs typeface="Times New Roman" pitchFamily="18" charset="0"/>
              </a:rPr>
              <a:t>Sun Fire V490</a:t>
            </a:r>
            <a:r>
              <a:rPr lang="ro-RO" dirty="0" smtClean="0"/>
              <a:t>, </a:t>
            </a:r>
            <a:r>
              <a:rPr lang="ro-RO" dirty="0"/>
              <a:t>cu </a:t>
            </a:r>
            <a:r>
              <a:rPr lang="ro-RO" dirty="0" smtClean="0"/>
              <a:t>procesoare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UltraSPARC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-IV+ </a:t>
            </a:r>
            <a:r>
              <a:rPr lang="ro-RO" dirty="0"/>
              <a:t>(2,1 GHz)</a:t>
            </a:r>
          </a:p>
          <a:p>
            <a:pPr lvl="1"/>
            <a:r>
              <a:rPr lang="ro-RO" dirty="0"/>
              <a:t>Programele au fost rulate pe acest calculator pentru a </a:t>
            </a:r>
            <a:r>
              <a:rPr lang="ro-RO" dirty="0">
                <a:cs typeface="Times New Roman" pitchFamily="18" charset="0"/>
              </a:rPr>
              <a:t>stabili un timp de </a:t>
            </a:r>
            <a:r>
              <a:rPr lang="ro-RO" dirty="0" smtClean="0">
                <a:cs typeface="Times New Roman" pitchFamily="18" charset="0"/>
              </a:rPr>
              <a:t>referinț</a:t>
            </a:r>
            <a:r>
              <a:rPr lang="ro-RO" dirty="0" smtClean="0"/>
              <a:t>ă </a:t>
            </a:r>
            <a:endParaRPr lang="ro-RO" dirty="0"/>
          </a:p>
          <a:p>
            <a:pPr lvl="1"/>
            <a:r>
              <a:rPr lang="ro-RO" dirty="0"/>
              <a:t>Pentru calculatorul de </a:t>
            </a:r>
            <a:r>
              <a:rPr lang="ro-RO" dirty="0" smtClean="0"/>
              <a:t>referință</a:t>
            </a:r>
            <a:r>
              <a:rPr lang="ro-RO" dirty="0"/>
              <a:t>, </a:t>
            </a:r>
            <a:r>
              <a:rPr lang="ro-RO" dirty="0" smtClean="0">
                <a:cs typeface="Times New Roman" pitchFamily="18" charset="0"/>
              </a:rPr>
              <a:t>metricile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SPECspeed2017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SPECrate2017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sunt </a:t>
            </a:r>
            <a:r>
              <a:rPr lang="ro-RO" dirty="0">
                <a:cs typeface="Times New Roman" pitchFamily="18" charset="0"/>
              </a:rPr>
              <a:t>1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9F3B9E-73BA-486D-8E8C-CDC8CD227CA4}" type="slidenum">
              <a:rPr lang="ro-RO"/>
              <a:pPr/>
              <a:t>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 </a:t>
            </a:r>
            <a:r>
              <a:rPr lang="ro-RO" dirty="0" smtClean="0"/>
              <a:t>CPU2017 (5)</a:t>
            </a:r>
            <a:endParaRPr lang="en-US" dirty="0"/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496944" cy="478532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Exemple de programe pentru numere întregi</a:t>
            </a:r>
          </a:p>
          <a:p>
            <a:pPr lvl="1"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502.gcc_r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</a:t>
            </a:r>
            <a:r>
              <a:rPr lang="ro-RO" dirty="0"/>
              <a:t>compilator C bazat pe </a:t>
            </a:r>
            <a:r>
              <a:rPr lang="ro-RO" dirty="0" smtClean="0"/>
              <a:t>GCC vers. 4.5.0</a:t>
            </a:r>
            <a:endParaRPr lang="ro-RO" dirty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520.omnetpp_r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simulare discretă a evenimentelor dintr-o rețea </a:t>
            </a:r>
            <a:r>
              <a:rPr lang="ro-RO" dirty="0"/>
              <a:t>Ethernet </a:t>
            </a:r>
            <a:r>
              <a:rPr lang="ro-RO" dirty="0" smtClean="0"/>
              <a:t>de 10 </a:t>
            </a:r>
            <a:r>
              <a:rPr lang="ro-RO" dirty="0" err="1" smtClean="0"/>
              <a:t>Gbiți</a:t>
            </a:r>
            <a:r>
              <a:rPr lang="ro-RO" dirty="0" smtClean="0"/>
              <a:t>/s pe baza simulatorului </a:t>
            </a:r>
            <a:r>
              <a:rPr lang="ro-RO" dirty="0" err="1" smtClean="0"/>
              <a:t>OMNeT</a:t>
            </a:r>
            <a:r>
              <a:rPr lang="ro-RO" dirty="0" smtClean="0"/>
              <a:t>++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525.x264_r</a:t>
            </a:r>
            <a:r>
              <a:rPr lang="ro-RO" dirty="0" smtClean="0"/>
              <a:t>: compresie video în formatul H.264/MPEG-4 AVC</a:t>
            </a:r>
            <a:endParaRPr lang="ro-RO" dirty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531.deepsjeng_r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</a:t>
            </a:r>
            <a:r>
              <a:rPr lang="ro-RO" dirty="0"/>
              <a:t>bazat pe programul de șah </a:t>
            </a:r>
            <a:r>
              <a:rPr lang="ro-RO" dirty="0" smtClean="0"/>
              <a:t>Deep </a:t>
            </a:r>
            <a:r>
              <a:rPr lang="ro-RO" dirty="0" err="1" smtClean="0"/>
              <a:t>Sjeng</a:t>
            </a:r>
            <a:endParaRPr lang="ro-RO" dirty="0" smtClean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548.exchange2_r</a:t>
            </a:r>
            <a:r>
              <a:rPr lang="ro-RO" dirty="0" smtClean="0"/>
              <a:t>: generator pentru jocul </a:t>
            </a:r>
            <a:r>
              <a:rPr lang="ro-RO" i="1" dirty="0" err="1" smtClean="0"/>
              <a:t>sudoku</a:t>
            </a:r>
            <a:r>
              <a:rPr lang="ro-RO" i="1" dirty="0" smtClean="0"/>
              <a:t> 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BF7E87-FAAE-4C24-818A-83AA01773F0C}" type="slidenum">
              <a:rPr lang="ro-RO"/>
              <a:pPr/>
              <a:t>27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 </a:t>
            </a:r>
            <a:r>
              <a:rPr lang="ro-RO" dirty="0" smtClean="0"/>
              <a:t>CPU2017 (6)</a:t>
            </a:r>
            <a:endParaRPr lang="en-US" dirty="0"/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56792"/>
            <a:ext cx="8496944" cy="4752528"/>
          </a:xfrm>
        </p:spPr>
        <p:txBody>
          <a:bodyPr>
            <a:normAutofit fontScale="92500"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Exemple de programe pentru numere în VM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508.namd_r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simularea unor sisteme </a:t>
            </a:r>
            <a:r>
              <a:rPr lang="ro-RO" dirty="0" err="1" smtClean="0"/>
              <a:t>biomoleculare</a:t>
            </a:r>
            <a:endParaRPr lang="ro-RO" dirty="0" smtClean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511.povray_r</a:t>
            </a:r>
            <a:r>
              <a:rPr lang="ro-RO" dirty="0" smtClean="0"/>
              <a:t>: trasarea razelor pe baza programului POV-Ray (vers. 3.7)</a:t>
            </a:r>
            <a:endParaRPr lang="ro-RO" dirty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521.wrf_r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predicția vremii pe baza modelului WRF, vers. 3.6.1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526.blender_r</a:t>
            </a:r>
            <a:r>
              <a:rPr lang="ro-RO" dirty="0" smtClean="0"/>
              <a:t>: redare 3D, animație (fundația </a:t>
            </a:r>
            <a:r>
              <a:rPr lang="ro-RO" dirty="0" err="1" smtClean="0"/>
              <a:t>Blender</a:t>
            </a:r>
            <a:r>
              <a:rPr lang="ro-RO" dirty="0" smtClean="0"/>
              <a:t>)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538.imagick_r</a:t>
            </a:r>
            <a:r>
              <a:rPr lang="ro-RO" dirty="0" smtClean="0"/>
              <a:t>: prelucrări de imagini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D736F5-61C1-4D39-B0DB-1FF025FAAD48}" type="slidenum">
              <a:rPr lang="ro-RO"/>
              <a:pPr/>
              <a:t>28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1. Introducere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93538"/>
          </a:xfrm>
        </p:spPr>
        <p:txBody>
          <a:bodyPr/>
          <a:lstStyle/>
          <a:p>
            <a:endParaRPr lang="ro-RO" dirty="0" smtClean="0"/>
          </a:p>
          <a:p>
            <a:r>
              <a:rPr lang="ro-RO" dirty="0" smtClean="0"/>
              <a:t>Indicatori </a:t>
            </a:r>
            <a:r>
              <a:rPr lang="ro-RO" dirty="0"/>
              <a:t>de </a:t>
            </a:r>
            <a:r>
              <a:rPr lang="ro-RO" dirty="0" smtClean="0"/>
              <a:t>performanță</a:t>
            </a:r>
            <a:endParaRPr lang="ro-RO" dirty="0"/>
          </a:p>
          <a:p>
            <a:pPr lvl="1"/>
            <a:r>
              <a:rPr lang="ro-RO" dirty="0"/>
              <a:t>Timpul de </a:t>
            </a:r>
            <a:r>
              <a:rPr lang="ro-RO" dirty="0" smtClean="0"/>
              <a:t>execuție</a:t>
            </a:r>
            <a:endParaRPr lang="ro-RO" dirty="0"/>
          </a:p>
          <a:p>
            <a:pPr lvl="1"/>
            <a:r>
              <a:rPr lang="ro-RO" dirty="0"/>
              <a:t>Timpul UCP</a:t>
            </a:r>
          </a:p>
          <a:p>
            <a:pPr lvl="1"/>
            <a:r>
              <a:rPr lang="ro-RO" dirty="0"/>
              <a:t>MIPS</a:t>
            </a:r>
          </a:p>
          <a:p>
            <a:pPr lvl="1"/>
            <a:r>
              <a:rPr lang="ro-RO" dirty="0"/>
              <a:t>MFLOPS</a:t>
            </a:r>
          </a:p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Legea lui </a:t>
            </a:r>
            <a:r>
              <a:rPr lang="ro-RO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Amdahl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57F011-3A76-42D5-B907-A9897B520749}" type="slidenum">
              <a:rPr lang="ro-RO"/>
              <a:pPr/>
              <a:t>29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r>
              <a:rPr lang="ro-RO" dirty="0"/>
              <a:t> (1)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Indică </a:t>
            </a:r>
            <a:r>
              <a:rPr lang="ro-RO" dirty="0" smtClean="0"/>
              <a:t>c</a:t>
            </a:r>
            <a:r>
              <a:rPr lang="ro-RO" dirty="0" smtClean="0">
                <a:cs typeface="Times New Roman" pitchFamily="18" charset="0"/>
              </a:rPr>
              <a:t>reșterea performanței </a:t>
            </a:r>
            <a:r>
              <a:rPr lang="ro-RO" dirty="0">
                <a:cs typeface="Times New Roman" pitchFamily="18" charset="0"/>
              </a:rPr>
              <a:t>care se poate </a:t>
            </a:r>
            <a:r>
              <a:rPr lang="ro-RO" dirty="0" smtClean="0">
                <a:cs typeface="Times New Roman" pitchFamily="18" charset="0"/>
              </a:rPr>
              <a:t>obține </a:t>
            </a:r>
            <a:r>
              <a:rPr lang="ro-RO" dirty="0">
                <a:cs typeface="Times New Roman" pitchFamily="18" charset="0"/>
              </a:rPr>
              <a:t>prin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irea </a:t>
            </a:r>
            <a:r>
              <a:rPr lang="ro-RO" dirty="0">
                <a:cs typeface="Times New Roman" pitchFamily="18" charset="0"/>
              </a:rPr>
              <a:t>unei anumite </a:t>
            </a:r>
            <a:r>
              <a:rPr lang="ro-RO" dirty="0" smtClean="0">
                <a:cs typeface="Times New Roman" pitchFamily="18" charset="0"/>
              </a:rPr>
              <a:t>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rți </a:t>
            </a:r>
            <a:r>
              <a:rPr lang="ro-RO" dirty="0">
                <a:cs typeface="Times New Roman" pitchFamily="18" charset="0"/>
              </a:rPr>
              <a:t>a unui calculator </a:t>
            </a:r>
            <a:endParaRPr lang="ro-RO" dirty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Îmbunătățirea </a:t>
            </a:r>
            <a:r>
              <a:rPr lang="ro-RO" dirty="0" smtClean="0">
                <a:cs typeface="Times New Roman" pitchFamily="18" charset="0"/>
              </a:rPr>
              <a:t>obținut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prin utilizarea unui mod mai rapid 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este limitat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fracțiunea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timp în care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este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utilizat modul mai rapid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>
                <a:cs typeface="Times New Roman" pitchFamily="18" charset="0"/>
              </a:rPr>
              <a:t>Presupunem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poate efectua o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ire </a:t>
            </a:r>
            <a:r>
              <a:rPr lang="ro-RO" dirty="0">
                <a:cs typeface="Times New Roman" pitchFamily="18" charset="0"/>
              </a:rPr>
              <a:t>a unui calculator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124901-183E-4381-81CF-ADD8095BAC19}" type="slidenum">
              <a:rPr lang="ro-RO"/>
              <a:pPr/>
              <a:t>30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r>
              <a:rPr lang="ro-RO" dirty="0"/>
              <a:t> (2)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296561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Creșterea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vitezei</a:t>
            </a:r>
            <a:r>
              <a:rPr lang="ro-RO" dirty="0"/>
              <a:t>:</a:t>
            </a:r>
          </a:p>
          <a:p>
            <a:endParaRPr lang="ro-RO" dirty="0"/>
          </a:p>
          <a:p>
            <a:endParaRPr lang="ro-RO" dirty="0"/>
          </a:p>
          <a:p>
            <a:pPr lvl="1"/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</a:t>
            </a:r>
            <a:r>
              <a:rPr lang="ro-RO" i="1" baseline="-250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îmb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– </a:t>
            </a:r>
            <a:r>
              <a:rPr lang="ro-RO" dirty="0" smtClean="0"/>
              <a:t>performanța </a:t>
            </a:r>
            <a:r>
              <a:rPr lang="ro-RO" dirty="0" smtClean="0">
                <a:cs typeface="Times New Roman" pitchFamily="18" charset="0"/>
              </a:rPr>
              <a:t>obținut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utilizând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irea </a:t>
            </a:r>
            <a:endParaRPr lang="ro-RO" dirty="0"/>
          </a:p>
          <a:p>
            <a:pPr lvl="1"/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</a:t>
            </a:r>
            <a:r>
              <a:rPr lang="ro-RO" i="1" baseline="-250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neîmb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–  </a:t>
            </a:r>
            <a:r>
              <a:rPr lang="ro-RO" dirty="0" smtClean="0">
                <a:cs typeface="Times New Roman" pitchFamily="18" charset="0"/>
              </a:rPr>
              <a:t>performanța obținut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f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utilizarea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irii</a:t>
            </a:r>
            <a:r>
              <a:rPr lang="ro-RO" dirty="0" smtClean="0"/>
              <a:t> </a:t>
            </a:r>
            <a:endParaRPr lang="ro-RO" dirty="0"/>
          </a:p>
          <a:p>
            <a:r>
              <a:rPr lang="ro-RO" dirty="0"/>
              <a:t>sau: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F7EFBA-EF94-40A5-B11B-3599F3B74191}" type="slidenum">
              <a:rPr lang="ro-RO"/>
              <a:pPr/>
              <a:t>31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  <p:graphicFrame>
        <p:nvGraphicFramePr>
          <p:cNvPr id="269312" name="Object 0"/>
          <p:cNvGraphicFramePr>
            <a:graphicFrameLocks noChangeAspect="1"/>
          </p:cNvGraphicFramePr>
          <p:nvPr/>
        </p:nvGraphicFramePr>
        <p:xfrm>
          <a:off x="3851920" y="2132856"/>
          <a:ext cx="139223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24" name="Equation" r:id="rId4" imgW="698400" imgH="431640" progId="Equation.3">
                  <p:embed/>
                </p:oleObj>
              </mc:Choice>
              <mc:Fallback>
                <p:oleObj name="Equation" r:id="rId4" imgW="698400" imgH="43164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132856"/>
                        <a:ext cx="1392238" cy="8620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3" name="Object 1"/>
          <p:cNvGraphicFramePr>
            <a:graphicFrameLocks noChangeAspect="1"/>
          </p:cNvGraphicFramePr>
          <p:nvPr/>
        </p:nvGraphicFramePr>
        <p:xfrm>
          <a:off x="3851920" y="5301208"/>
          <a:ext cx="1468438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25" name="Equation" r:id="rId6" imgW="736560" imgH="457200" progId="Equation.3">
                  <p:embed/>
                </p:oleObj>
              </mc:Choice>
              <mc:Fallback>
                <p:oleObj name="Equation" r:id="rId6" imgW="736560" imgH="4572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5301208"/>
                        <a:ext cx="1468438" cy="9128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Legea lui Amdahl (3)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71600"/>
            <a:ext cx="8352928" cy="4724400"/>
          </a:xfrm>
        </p:spPr>
        <p:txBody>
          <a:bodyPr>
            <a:normAutofit fontScale="92500"/>
          </a:bodyPr>
          <a:lstStyle/>
          <a:p>
            <a:r>
              <a:rPr lang="ro-RO" dirty="0" smtClean="0">
                <a:cs typeface="Times New Roman" pitchFamily="18" charset="0"/>
              </a:rPr>
              <a:t>Creșterea </a:t>
            </a:r>
            <a:r>
              <a:rPr lang="ro-RO" dirty="0">
                <a:cs typeface="Times New Roman" pitchFamily="18" charset="0"/>
              </a:rPr>
              <a:t>vitezei depinde de:</a:t>
            </a:r>
            <a:endParaRPr lang="ro-RO" dirty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Fracțiunea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timpului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al calculatorului original în care se poate </a:t>
            </a:r>
            <a:r>
              <a:rPr lang="ro-RO" dirty="0"/>
              <a:t>utiliza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ir</a:t>
            </a:r>
            <a:r>
              <a:rPr lang="ro-RO" dirty="0" smtClean="0"/>
              <a:t>ea</a:t>
            </a:r>
            <a:r>
              <a:rPr lang="ro-RO" dirty="0"/>
              <a:t>: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îmb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b="1" dirty="0">
                <a:cs typeface="Times New Roman" pitchFamily="18" charset="0"/>
                <a:sym typeface="Symbol" pitchFamily="18" charset="2"/>
              </a:rPr>
              <a:t></a:t>
            </a:r>
            <a:r>
              <a:rPr lang="ro-RO" dirty="0"/>
              <a:t> 1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reșterea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vitezei </a:t>
            </a:r>
            <a:r>
              <a:rPr lang="ro-RO" dirty="0">
                <a:cs typeface="Times New Roman" pitchFamily="18" charset="0"/>
              </a:rPr>
              <a:t>care s‑ar </a:t>
            </a:r>
            <a:r>
              <a:rPr lang="ro-RO" dirty="0" smtClean="0">
                <a:cs typeface="Times New Roman" pitchFamily="18" charset="0"/>
              </a:rPr>
              <a:t>obține </a:t>
            </a:r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s‑ar utiliza numai noul mod de </a:t>
            </a:r>
            <a:r>
              <a:rPr lang="ro-RO" dirty="0" smtClean="0">
                <a:cs typeface="Times New Roman" pitchFamily="18" charset="0"/>
              </a:rPr>
              <a:t>execuție</a:t>
            </a:r>
            <a:r>
              <a:rPr lang="ro-RO" dirty="0"/>
              <a:t>: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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îmb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&gt;</a:t>
            </a:r>
            <a:r>
              <a:rPr lang="ro-RO" dirty="0" smtClean="0"/>
              <a:t> </a:t>
            </a:r>
            <a:r>
              <a:rPr lang="ro-RO" dirty="0" smtClean="0">
                <a:sym typeface="Symbol" pitchFamily="18" charset="2"/>
              </a:rPr>
              <a:t>1</a:t>
            </a:r>
            <a:endParaRPr lang="ro-RO" dirty="0">
              <a:sym typeface="Symbol" pitchFamily="18" charset="2"/>
            </a:endParaRP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Timpul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execuție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utilizând calculatorul original în modul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îmbun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it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timpul în care se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partea nemodificat</a:t>
            </a:r>
            <a:r>
              <a:rPr lang="ro-RO" dirty="0"/>
              <a:t>ă </a:t>
            </a:r>
            <a:r>
              <a:rPr lang="en-US" dirty="0"/>
              <a:t>+ </a:t>
            </a:r>
            <a:r>
              <a:rPr lang="ro-RO" dirty="0">
                <a:cs typeface="Times New Roman" pitchFamily="18" charset="0"/>
              </a:rPr>
              <a:t>timpul în care se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partea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it</a:t>
            </a:r>
            <a:r>
              <a:rPr lang="ro-RO" dirty="0" smtClean="0"/>
              <a:t>ă </a:t>
            </a:r>
            <a:r>
              <a:rPr lang="ro-RO" dirty="0" smtClean="0">
                <a:cs typeface="Times New Roman" pitchFamily="18" charset="0"/>
              </a:rPr>
              <a:t>   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8B0E95-B579-40F5-914B-B99C5B67DC99}" type="slidenum">
              <a:rPr lang="ro-RO"/>
              <a:pPr/>
              <a:t>32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r>
              <a:rPr lang="ro-RO" dirty="0"/>
              <a:t> (4)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561249"/>
          </a:xfrm>
        </p:spPr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/>
              <a:t>Rezultă:</a:t>
            </a:r>
          </a:p>
          <a:p>
            <a:endParaRPr lang="ro-RO" dirty="0"/>
          </a:p>
          <a:p>
            <a:endParaRPr lang="ro-RO" sz="2400" dirty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Creșterea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totală a vitezei </a:t>
            </a:r>
            <a:r>
              <a:rPr lang="ro-RO" dirty="0"/>
              <a:t>este: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978CD3-E1C5-4398-8CD4-E2D87B7C25AA}" type="slidenum">
              <a:rPr lang="ro-RO"/>
              <a:pPr/>
              <a:t>33</a:t>
            </a:fld>
            <a:endParaRPr 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  <p:graphicFrame>
        <p:nvGraphicFramePr>
          <p:cNvPr id="270336" name="Object 0"/>
          <p:cNvGraphicFramePr>
            <a:graphicFrameLocks noChangeAspect="1"/>
          </p:cNvGraphicFramePr>
          <p:nvPr/>
        </p:nvGraphicFramePr>
        <p:xfrm>
          <a:off x="2555776" y="1628800"/>
          <a:ext cx="40259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04" name="Equation" r:id="rId4" imgW="2019240" imgH="431640" progId="Equation.3">
                  <p:embed/>
                </p:oleObj>
              </mc:Choice>
              <mc:Fallback>
                <p:oleObj name="Equation" r:id="rId4" imgW="2019240" imgH="43164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628800"/>
                        <a:ext cx="4025900" cy="8620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37" name="Object 1"/>
          <p:cNvGraphicFramePr>
            <a:graphicFrameLocks noChangeAspect="1"/>
          </p:cNvGraphicFramePr>
          <p:nvPr/>
        </p:nvGraphicFramePr>
        <p:xfrm>
          <a:off x="2699792" y="3140968"/>
          <a:ext cx="369728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05" name="Equation" r:id="rId6" imgW="1854000" imgH="482400" progId="Equation.3">
                  <p:embed/>
                </p:oleObj>
              </mc:Choice>
              <mc:Fallback>
                <p:oleObj name="Equation" r:id="rId6" imgW="1854000" imgH="4824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140968"/>
                        <a:ext cx="3697288" cy="9636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38" name="Object 2"/>
          <p:cNvGraphicFramePr>
            <a:graphicFrameLocks noChangeAspect="1"/>
          </p:cNvGraphicFramePr>
          <p:nvPr/>
        </p:nvGraphicFramePr>
        <p:xfrm>
          <a:off x="2627784" y="4941168"/>
          <a:ext cx="3849688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06" name="Equation" r:id="rId8" imgW="1930320" imgH="622080" progId="Equation.3">
                  <p:embed/>
                </p:oleObj>
              </mc:Choice>
              <mc:Fallback>
                <p:oleObj name="Equation" r:id="rId8" imgW="1930320" imgH="6220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941168"/>
                        <a:ext cx="3849688" cy="12430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Legea lui </a:t>
            </a:r>
            <a:r>
              <a:rPr lang="ro-RO" dirty="0" err="1"/>
              <a:t>Amdahl</a:t>
            </a:r>
            <a:r>
              <a:rPr lang="ro-RO" dirty="0"/>
              <a:t> (5)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68761"/>
            <a:ext cx="8382000" cy="496855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5"/>
                </a:solidFill>
              </a:rPr>
              <a:t>Exemplul 1.4</a:t>
            </a:r>
          </a:p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O eroare frecventă în aplicarea legii </a:t>
            </a:r>
            <a:r>
              <a:rPr lang="ro-RO" dirty="0" err="1">
                <a:cs typeface="Times New Roman" pitchFamily="18" charset="0"/>
              </a:rPr>
              <a:t>Amdahl</a:t>
            </a:r>
            <a:r>
              <a:rPr lang="ro-RO" dirty="0"/>
              <a:t> este </a:t>
            </a:r>
            <a:r>
              <a:rPr lang="ro-RO" dirty="0">
                <a:cs typeface="Times New Roman" pitchFamily="18" charset="0"/>
              </a:rPr>
              <a:t>de a se confunda</a:t>
            </a:r>
            <a:r>
              <a:rPr lang="ro-RO" dirty="0"/>
              <a:t>:</a:t>
            </a:r>
          </a:p>
          <a:p>
            <a:pPr lvl="1">
              <a:lnSpc>
                <a:spcPct val="90000"/>
              </a:lnSpc>
            </a:pPr>
            <a:r>
              <a:rPr lang="ro-RO" dirty="0" smtClean="0">
                <a:cs typeface="Times New Roman" pitchFamily="18" charset="0"/>
              </a:rPr>
              <a:t>“</a:t>
            </a:r>
            <a:r>
              <a:rPr lang="ro-RO" dirty="0">
                <a:cs typeface="Times New Roman" pitchFamily="18" charset="0"/>
              </a:rPr>
              <a:t>F</a:t>
            </a:r>
            <a:r>
              <a:rPr lang="ro-RO" dirty="0" smtClean="0">
                <a:cs typeface="Times New Roman" pitchFamily="18" charset="0"/>
              </a:rPr>
              <a:t>racțiunea </a:t>
            </a:r>
            <a:r>
              <a:rPr lang="ro-RO" dirty="0">
                <a:cs typeface="Times New Roman" pitchFamily="18" charset="0"/>
              </a:rPr>
              <a:t>de timp în care se poate </a:t>
            </a:r>
            <a:r>
              <a:rPr lang="ro-RO" dirty="0"/>
              <a:t>utiliza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ir</a:t>
            </a:r>
            <a:r>
              <a:rPr lang="ro-RO" dirty="0" smtClean="0"/>
              <a:t>ea</a:t>
            </a:r>
            <a:r>
              <a:rPr lang="ro-RO" dirty="0">
                <a:cs typeface="Times New Roman" pitchFamily="18" charset="0"/>
              </a:rPr>
              <a:t>” cu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 smtClean="0">
                <a:cs typeface="Times New Roman" pitchFamily="18" charset="0"/>
              </a:rPr>
              <a:t>“</a:t>
            </a:r>
            <a:r>
              <a:rPr lang="ro-RO" dirty="0">
                <a:cs typeface="Times New Roman" pitchFamily="18" charset="0"/>
              </a:rPr>
              <a:t>F</a:t>
            </a:r>
            <a:r>
              <a:rPr lang="ro-RO" dirty="0" smtClean="0">
                <a:cs typeface="Times New Roman" pitchFamily="18" charset="0"/>
              </a:rPr>
              <a:t>racțiunea </a:t>
            </a:r>
            <a:r>
              <a:rPr lang="ro-RO" dirty="0">
                <a:cs typeface="Times New Roman" pitchFamily="18" charset="0"/>
              </a:rPr>
              <a:t>de timp dup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utilizarea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irii</a:t>
            </a:r>
            <a:r>
              <a:rPr lang="ro-RO" dirty="0">
                <a:cs typeface="Times New Roman" pitchFamily="18" charset="0"/>
              </a:rPr>
              <a:t>”</a:t>
            </a:r>
            <a:r>
              <a:rPr lang="ro-RO" dirty="0"/>
              <a:t> </a:t>
            </a:r>
          </a:p>
          <a:p>
            <a:pPr>
              <a:lnSpc>
                <a:spcPct val="90000"/>
              </a:lnSpc>
            </a:pPr>
            <a:r>
              <a:rPr lang="ro-RO" dirty="0"/>
              <a:t>Legea este o </a:t>
            </a:r>
            <a:r>
              <a:rPr lang="ro-RO" dirty="0" smtClean="0"/>
              <a:t>indicație </a:t>
            </a:r>
            <a:r>
              <a:rPr lang="ro-RO" dirty="0">
                <a:cs typeface="Times New Roman" pitchFamily="18" charset="0"/>
              </a:rPr>
              <a:t>a modului în care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distribuie resursele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5"/>
                </a:solidFill>
              </a:rPr>
              <a:t>Exemplul 1.5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0F1D6C-AF95-43D6-98C3-C3FF3F5B99D8}" type="slidenum">
              <a:rPr lang="ro-RO"/>
              <a:pPr/>
              <a:t>34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96670"/>
          </a:xfrm>
        </p:spPr>
        <p:txBody>
          <a:bodyPr/>
          <a:lstStyle/>
          <a:p>
            <a:r>
              <a:rPr lang="ro-RO" sz="3300" dirty="0" smtClean="0"/>
              <a:t>Pentru a sintetiza performanța unui grup de programe de evaluare se pot utiliza diferite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metrici</a:t>
            </a:r>
          </a:p>
          <a:p>
            <a:pPr lvl="1"/>
            <a:r>
              <a:rPr lang="ro-RO" sz="2900" dirty="0" smtClean="0"/>
              <a:t>De obicei, se utilizează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media geometrică a timpilor de execuție normalizați </a:t>
            </a:r>
            <a:r>
              <a:rPr lang="ro-RO" sz="2900" dirty="0" smtClean="0"/>
              <a:t>față de un calculator de referință</a:t>
            </a:r>
            <a:endParaRPr lang="ro-RO" sz="2900" dirty="0"/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Programele artificiale </a:t>
            </a:r>
            <a:r>
              <a:rPr lang="ro-RO" sz="3300" dirty="0" smtClean="0"/>
              <a:t>(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sintetice</a:t>
            </a:r>
            <a:r>
              <a:rPr lang="ro-RO" sz="3300" dirty="0" smtClean="0"/>
              <a:t>) de evaluare încearcă să emuleze comportamentul programelor reale</a:t>
            </a:r>
          </a:p>
          <a:p>
            <a:pPr lvl="1"/>
            <a:r>
              <a:rPr lang="ro-RO" sz="2900" dirty="0" smtClean="0"/>
              <a:t>Exemple: 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Whetstone</a:t>
            </a:r>
            <a:r>
              <a:rPr lang="ro-RO" sz="2900" dirty="0" smtClean="0"/>
              <a:t>, 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Dhrystone</a:t>
            </a:r>
            <a:endParaRPr lang="ro-RO" sz="2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35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38922382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Rezumat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Programele nucleu </a:t>
            </a:r>
            <a:r>
              <a:rPr lang="ro-RO" sz="3300" dirty="0" smtClean="0"/>
              <a:t>(</a:t>
            </a:r>
            <a:r>
              <a:rPr lang="ro-RO" sz="3300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kernel</a:t>
            </a:r>
            <a:r>
              <a:rPr lang="ro-RO" sz="3300" dirty="0" smtClean="0"/>
              <a:t>) de evaluare se pot utiliza pentru evaluarea performanței supercalculatoarelor</a:t>
            </a:r>
          </a:p>
          <a:p>
            <a:pPr lvl="1"/>
            <a:r>
              <a:rPr lang="ro-RO" sz="2900" dirty="0" smtClean="0"/>
              <a:t>Exemple: 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Livermoore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Loops</a:t>
            </a:r>
            <a:r>
              <a:rPr lang="ro-RO" sz="2900" dirty="0" smtClean="0"/>
              <a:t>, 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Linpack</a:t>
            </a:r>
            <a:endParaRPr lang="ro-RO" sz="2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 CPU2017</a:t>
            </a:r>
            <a:r>
              <a:rPr lang="ro-RO" sz="3300" dirty="0" smtClean="0"/>
              <a:t>: pachet de programe pentru evaluarea performanței UCP, a memoriei și a generării codului de către compilator</a:t>
            </a:r>
          </a:p>
          <a:p>
            <a:pPr lvl="1"/>
            <a:r>
              <a:rPr lang="ro-RO" sz="2900" dirty="0" smtClean="0"/>
              <a:t>Colecții: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SPECspeed2017</a:t>
            </a:r>
            <a:r>
              <a:rPr lang="ro-RO" sz="2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2900" dirty="0" smtClean="0"/>
              <a:t>(</a:t>
            </a:r>
            <a:r>
              <a:rPr lang="ro-RO" sz="2900" dirty="0" err="1" smtClean="0"/>
              <a:t>Integer</a:t>
            </a:r>
            <a:r>
              <a:rPr lang="ro-RO" sz="2900" dirty="0" smtClean="0"/>
              <a:t>, FP);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SPECrate2017</a:t>
            </a:r>
            <a:r>
              <a:rPr lang="ro-RO" sz="2900" dirty="0" smtClean="0">
                <a:solidFill>
                  <a:schemeClr val="tx2"/>
                </a:solidFill>
              </a:rPr>
              <a:t> </a:t>
            </a:r>
            <a:r>
              <a:rPr lang="ro-RO" sz="2900" dirty="0"/>
              <a:t>(</a:t>
            </a:r>
            <a:r>
              <a:rPr lang="ro-RO" sz="2900" dirty="0" err="1"/>
              <a:t>Integer</a:t>
            </a:r>
            <a:r>
              <a:rPr lang="ro-RO" sz="2900" dirty="0"/>
              <a:t>, FP)</a:t>
            </a:r>
          </a:p>
          <a:p>
            <a:pPr lvl="1"/>
            <a:r>
              <a:rPr lang="ro-RO" sz="2900" dirty="0" smtClean="0"/>
              <a:t>Măsurarea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vitezei de execuție</a:t>
            </a:r>
            <a:r>
              <a:rPr lang="ro-RO" sz="2900" dirty="0" smtClean="0"/>
              <a:t>: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viteza SPEC</a:t>
            </a:r>
          </a:p>
          <a:p>
            <a:pPr lvl="1"/>
            <a:r>
              <a:rPr lang="ro-RO" sz="2900" dirty="0" smtClean="0"/>
              <a:t>Măsurarea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ratei</a:t>
            </a:r>
            <a:r>
              <a:rPr lang="ro-RO" sz="2900" dirty="0" smtClean="0"/>
              <a:t>: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rata SPEC</a:t>
            </a:r>
            <a:endParaRPr lang="ro-RO" sz="2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36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9272761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</a:t>
            </a:r>
            <a:r>
              <a:rPr lang="ro-RO" dirty="0" smtClean="0"/>
              <a:t>ezumat 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6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Legea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lui </a:t>
            </a:r>
            <a:r>
              <a:rPr lang="ro-RO" sz="33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Amdahl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 smtClean="0"/>
              <a:t>indică creșterea vitezei care se poate obține dacă se îmbunătățește o parte a unui calculator</a:t>
            </a:r>
          </a:p>
          <a:p>
            <a:pPr lvl="1"/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Factori</a:t>
            </a:r>
            <a:r>
              <a:rPr lang="ro-RO" sz="2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2900" dirty="0" smtClean="0"/>
              <a:t>de care depinde creșterea vitezei: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fracțiunea de timp </a:t>
            </a:r>
            <a:r>
              <a:rPr lang="ro-RO" sz="2900" dirty="0" smtClean="0"/>
              <a:t>în care se poate utiliza îmbunătățirea;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creșterea vitezei </a:t>
            </a:r>
            <a:r>
              <a:rPr lang="ro-RO" sz="2900" dirty="0" smtClean="0"/>
              <a:t>obținute</a:t>
            </a:r>
            <a:r>
              <a:rPr lang="ro-RO" sz="2900" dirty="0" smtClean="0">
                <a:solidFill>
                  <a:schemeClr val="tx2"/>
                </a:solidFill>
              </a:rPr>
              <a:t> </a:t>
            </a:r>
            <a:r>
              <a:rPr lang="ro-RO" sz="2900" dirty="0" smtClean="0"/>
              <a:t>dacă îmbunătățirea s-ar utiliza permanent</a:t>
            </a:r>
          </a:p>
          <a:p>
            <a:pPr lvl="1"/>
            <a:r>
              <a:rPr lang="ro-RO" sz="2900" dirty="0" smtClean="0"/>
              <a:t>Poate indica modul în care trebuie distribuite resursele pentru a îmbunătăți raportul cost/performanță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37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30332924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5937"/>
          </a:xfrm>
        </p:spPr>
        <p:txBody>
          <a:bodyPr/>
          <a:lstStyle/>
          <a:p>
            <a:pPr marL="576000" lvl="1"/>
            <a:r>
              <a:rPr lang="ro-RO" dirty="0" smtClean="0"/>
              <a:t>Metrici pentru sintetizarea performanței unui grup de programe de evaluare</a:t>
            </a:r>
          </a:p>
          <a:p>
            <a:pPr marL="576000" lvl="1"/>
            <a:r>
              <a:rPr lang="ro-RO" dirty="0" smtClean="0"/>
              <a:t>Media aritmetică ponderată a timpilor de execuție</a:t>
            </a:r>
          </a:p>
          <a:p>
            <a:pPr marL="576000" lvl="1"/>
            <a:r>
              <a:rPr lang="ro-RO" dirty="0" smtClean="0"/>
              <a:t>Timpi de execuție normalizați față de un calculator de referință</a:t>
            </a:r>
          </a:p>
          <a:p>
            <a:pPr marL="576000" lvl="1"/>
            <a:r>
              <a:rPr lang="ro-RO" dirty="0" smtClean="0"/>
              <a:t>Avantaje și dezavantaje ale mediei geometrice a timpilor de execuție</a:t>
            </a:r>
          </a:p>
          <a:p>
            <a:pPr marL="576000" lvl="1"/>
            <a:r>
              <a:rPr lang="ro-RO" dirty="0" smtClean="0"/>
              <a:t>Programe artificiale (sintetice) de evaluare a performanțelor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38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6317531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79715"/>
          </a:xfrm>
        </p:spPr>
        <p:txBody>
          <a:bodyPr/>
          <a:lstStyle/>
          <a:p>
            <a:pPr marL="576000" lvl="1"/>
            <a:r>
              <a:rPr lang="ro-RO" dirty="0" smtClean="0"/>
              <a:t>Programe nucleu de evaluare a performanțelor</a:t>
            </a:r>
          </a:p>
          <a:p>
            <a:pPr marL="576000" lvl="1"/>
            <a:r>
              <a:rPr lang="ro-RO" dirty="0" smtClean="0"/>
              <a:t>Setul de programe de evaluare SPEC CPU2017</a:t>
            </a:r>
          </a:p>
          <a:p>
            <a:pPr marL="576000" lvl="1"/>
            <a:r>
              <a:rPr lang="ro-RO" dirty="0" smtClean="0"/>
              <a:t>Măsurători efectuate de setul de programe de evaluare SPEC CPU2017</a:t>
            </a:r>
          </a:p>
          <a:p>
            <a:pPr marL="576000" lvl="1"/>
            <a:r>
              <a:rPr lang="ro-RO" dirty="0" smtClean="0"/>
              <a:t>Viteza SPEC</a:t>
            </a:r>
          </a:p>
          <a:p>
            <a:pPr marL="576000" lvl="1"/>
            <a:r>
              <a:rPr lang="ro-RO" dirty="0" smtClean="0"/>
              <a:t>Rata SPEC</a:t>
            </a:r>
          </a:p>
          <a:p>
            <a:pPr marL="576000" lvl="1"/>
            <a:r>
              <a:rPr lang="ro-RO" dirty="0" smtClean="0"/>
              <a:t>Legea lui </a:t>
            </a:r>
            <a:r>
              <a:rPr lang="ro-RO" dirty="0" err="1" smtClean="0"/>
              <a:t>Amdahl</a:t>
            </a:r>
            <a:endParaRPr lang="ro-RO" dirty="0" smtClean="0"/>
          </a:p>
          <a:p>
            <a:pPr marL="576000" lvl="1"/>
            <a:r>
              <a:rPr lang="ro-RO" dirty="0" smtClean="0"/>
              <a:t>Factorii de care depinde creșterea vitezei în legea lui </a:t>
            </a:r>
            <a:r>
              <a:rPr lang="ro-RO" dirty="0" err="1" smtClean="0"/>
              <a:t>Amdahl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4015DE-32F6-4DEE-AA2D-8C6F6551F522}" type="slidenum">
              <a:rPr lang="ro-RO" smtClean="0"/>
              <a:pPr/>
              <a:t>39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31202499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Întrebări</a:t>
            </a:r>
            <a:endParaRPr lang="en-US" dirty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</a:t>
            </a:r>
            <a:r>
              <a:rPr lang="ro-RO" dirty="0" smtClean="0"/>
              <a:t>metricile pentru </a:t>
            </a:r>
            <a:r>
              <a:rPr lang="ro-RO" dirty="0"/>
              <a:t>sintetizarea </a:t>
            </a:r>
            <a:r>
              <a:rPr lang="ro-RO" dirty="0" smtClean="0"/>
              <a:t>performanței </a:t>
            </a:r>
            <a:r>
              <a:rPr lang="ro-RO" dirty="0"/>
              <a:t>unui grup de programe?</a:t>
            </a:r>
          </a:p>
          <a:p>
            <a:pPr marL="533400" indent="-533400">
              <a:lnSpc>
                <a:spcPct val="11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Ce sunt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programele sintetice </a:t>
            </a:r>
            <a:r>
              <a:rPr lang="ro-RO" dirty="0"/>
              <a:t>de evaluare?</a:t>
            </a:r>
          </a:p>
          <a:p>
            <a:pPr marL="533400" indent="-533400">
              <a:lnSpc>
                <a:spcPct val="11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Ce sunt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programele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nucleu </a:t>
            </a:r>
            <a:r>
              <a:rPr lang="ro-RO" dirty="0" smtClean="0"/>
              <a:t>de </a:t>
            </a:r>
            <a:r>
              <a:rPr lang="ro-RO" dirty="0"/>
              <a:t>evaluare?</a:t>
            </a:r>
            <a:endParaRPr lang="en-US" dirty="0"/>
          </a:p>
          <a:p>
            <a:pPr marL="533400" indent="-533400">
              <a:lnSpc>
                <a:spcPct val="11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Pentru ce tipuri de măsurători se poate utiliza setul de programe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CPU2017</a:t>
            </a:r>
            <a:r>
              <a:rPr lang="ro-RO" dirty="0" smtClean="0"/>
              <a:t>?</a:t>
            </a:r>
            <a:endParaRPr lang="ro-RO" dirty="0"/>
          </a:p>
          <a:p>
            <a:pPr marL="533400" indent="-533400">
              <a:lnSpc>
                <a:spcPct val="11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Enunțați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legea lui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Amdahl</a:t>
            </a:r>
            <a:r>
              <a:rPr lang="ro-RO" dirty="0"/>
              <a:t>. Care sunt factorii de care depinde </a:t>
            </a:r>
            <a:r>
              <a:rPr lang="ro-RO" dirty="0" smtClean="0"/>
              <a:t>creșterea </a:t>
            </a:r>
            <a:r>
              <a:rPr lang="ro-RO" dirty="0"/>
              <a:t>vitezei?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05.03.2018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74C717-CE65-4C06-8F58-51ABA0A09202}" type="slidenum">
              <a:rPr lang="ro-RO"/>
              <a:pPr/>
              <a:t>40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(01-2)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3820</TotalTime>
  <Words>2372</Words>
  <Application>Microsoft Office PowerPoint</Application>
  <PresentationFormat>On-screen Show (4:3)</PresentationFormat>
  <Paragraphs>466</Paragraphs>
  <Slides>40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Symbol</vt:lpstr>
      <vt:lpstr>Times New Roman</vt:lpstr>
      <vt:lpstr>Dark Blue Swoosh-modified</vt:lpstr>
      <vt:lpstr>Dark Blue Swoosh-modif</vt:lpstr>
      <vt:lpstr>Equation</vt:lpstr>
      <vt:lpstr>1. Introducere</vt:lpstr>
      <vt:lpstr>Programe de evaluare a performanțelor</vt:lpstr>
      <vt:lpstr>Programe de evaluare a performanțelor</vt:lpstr>
      <vt:lpstr>Programe de evaluare a performanțelor</vt:lpstr>
      <vt:lpstr>Compararea și sintetizarea performanțelor (1)</vt:lpstr>
      <vt:lpstr>Compararea și sintetizarea performanțelor (2)</vt:lpstr>
      <vt:lpstr>Compararea și sintetizarea performanțelor (3)</vt:lpstr>
      <vt:lpstr>Compararea și sintetizarea performanțelor (4)</vt:lpstr>
      <vt:lpstr>Compararea și sintetizarea performanțelor (5)</vt:lpstr>
      <vt:lpstr>Compararea și sintetizarea performanțelor (6)</vt:lpstr>
      <vt:lpstr>Compararea și sintetizarea performanțelor (7)</vt:lpstr>
      <vt:lpstr>Compararea și sintetizarea performanțelor (8)</vt:lpstr>
      <vt:lpstr>Programe de evaluare a performanțelor</vt:lpstr>
      <vt:lpstr>Evoluția programelor de evaluare a performanțelor (1)</vt:lpstr>
      <vt:lpstr>Evoluția programelor de evaluare a performanțelor (2)</vt:lpstr>
      <vt:lpstr>Evoluția programelor de evaluare a performanțelor (3)</vt:lpstr>
      <vt:lpstr>Evoluția programelor de evaluare a performanțelor (4)</vt:lpstr>
      <vt:lpstr>Evoluția programelor de evaluare a performanțelor (5)</vt:lpstr>
      <vt:lpstr>Evoluția programelor de evaluare a performanțelor (6)</vt:lpstr>
      <vt:lpstr>Evoluția programelor de evaluare a performanțelor (7)</vt:lpstr>
      <vt:lpstr>Evoluția programelor de evaluare a performanțelor (8)</vt:lpstr>
      <vt:lpstr>Programe de evaluare a performanțelor</vt:lpstr>
      <vt:lpstr>SPEC CPU2017 (1)</vt:lpstr>
      <vt:lpstr>SPEC CPU2017 (2)</vt:lpstr>
      <vt:lpstr>SPEC CPU2017 (3)</vt:lpstr>
      <vt:lpstr>SPEC CPU2017 (4)</vt:lpstr>
      <vt:lpstr>SPEC CPU2017 (5)</vt:lpstr>
      <vt:lpstr>SPEC CPU2017 (6)</vt:lpstr>
      <vt:lpstr>1. Introducere</vt:lpstr>
      <vt:lpstr>Legea lui Amdahl (1)</vt:lpstr>
      <vt:lpstr>Legea lui Amdahl (2)</vt:lpstr>
      <vt:lpstr>Legea lui Amdahl (3)</vt:lpstr>
      <vt:lpstr>Legea lui Amdahl (4)</vt:lpstr>
      <vt:lpstr>Legea lui Amdahl (5)</vt:lpstr>
      <vt:lpstr>Rezumat (1)</vt:lpstr>
      <vt:lpstr>Rezumat (2)</vt:lpstr>
      <vt:lpstr>Rezumat (3)</vt:lpstr>
      <vt:lpstr>Noțiuni, cunoștințe (1)</vt:lpstr>
      <vt:lpstr>Noțiuni, cunoștințe (2)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SSC-Introducere-2</dc:title>
  <dc:creator>Baruch Zoltan</dc:creator>
  <cp:lastModifiedBy>Baruch Zoltan</cp:lastModifiedBy>
  <cp:revision>260</cp:revision>
  <cp:lastPrinted>2014-03-06T14:17:51Z</cp:lastPrinted>
  <dcterms:created xsi:type="dcterms:W3CDTF">2002-05-22T18:25:20Z</dcterms:created>
  <dcterms:modified xsi:type="dcterms:W3CDTF">2018-03-04T09:20:15Z</dcterms:modified>
</cp:coreProperties>
</file>