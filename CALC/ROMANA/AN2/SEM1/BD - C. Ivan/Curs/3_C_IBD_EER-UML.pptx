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05"/>
  </p:notesMasterIdLst>
  <p:handoutMasterIdLst>
    <p:handoutMasterId r:id="rId106"/>
  </p:handoutMasterIdLst>
  <p:sldIdLst>
    <p:sldId id="446" r:id="rId5"/>
    <p:sldId id="492" r:id="rId6"/>
    <p:sldId id="493" r:id="rId7"/>
    <p:sldId id="532" r:id="rId8"/>
    <p:sldId id="494" r:id="rId9"/>
    <p:sldId id="500" r:id="rId10"/>
    <p:sldId id="535" r:id="rId11"/>
    <p:sldId id="339" r:id="rId12"/>
    <p:sldId id="533" r:id="rId13"/>
    <p:sldId id="340" r:id="rId14"/>
    <p:sldId id="341" r:id="rId15"/>
    <p:sldId id="342" r:id="rId16"/>
    <p:sldId id="344" r:id="rId17"/>
    <p:sldId id="345" r:id="rId18"/>
    <p:sldId id="346" r:id="rId19"/>
    <p:sldId id="347" r:id="rId20"/>
    <p:sldId id="348" r:id="rId21"/>
    <p:sldId id="349" r:id="rId22"/>
    <p:sldId id="350" r:id="rId23"/>
    <p:sldId id="351" r:id="rId24"/>
    <p:sldId id="353" r:id="rId25"/>
    <p:sldId id="496" r:id="rId26"/>
    <p:sldId id="354" r:id="rId27"/>
    <p:sldId id="355" r:id="rId28"/>
    <p:sldId id="363" r:id="rId29"/>
    <p:sldId id="534" r:id="rId30"/>
    <p:sldId id="357" r:id="rId31"/>
    <p:sldId id="358" r:id="rId32"/>
    <p:sldId id="359" r:id="rId33"/>
    <p:sldId id="360" r:id="rId34"/>
    <p:sldId id="361" r:id="rId35"/>
    <p:sldId id="362" r:id="rId36"/>
    <p:sldId id="364" r:id="rId37"/>
    <p:sldId id="365" r:id="rId38"/>
    <p:sldId id="366" r:id="rId39"/>
    <p:sldId id="367" r:id="rId40"/>
    <p:sldId id="368" r:id="rId41"/>
    <p:sldId id="369" r:id="rId42"/>
    <p:sldId id="370" r:id="rId43"/>
    <p:sldId id="371" r:id="rId44"/>
    <p:sldId id="378" r:id="rId45"/>
    <p:sldId id="376" r:id="rId46"/>
    <p:sldId id="449" r:id="rId47"/>
    <p:sldId id="450" r:id="rId48"/>
    <p:sldId id="451" r:id="rId49"/>
    <p:sldId id="498" r:id="rId50"/>
    <p:sldId id="452" r:id="rId51"/>
    <p:sldId id="453" r:id="rId52"/>
    <p:sldId id="454" r:id="rId53"/>
    <p:sldId id="455" r:id="rId54"/>
    <p:sldId id="456" r:id="rId55"/>
    <p:sldId id="379" r:id="rId56"/>
    <p:sldId id="380" r:id="rId57"/>
    <p:sldId id="384" r:id="rId58"/>
    <p:sldId id="385" r:id="rId59"/>
    <p:sldId id="386" r:id="rId60"/>
    <p:sldId id="387" r:id="rId61"/>
    <p:sldId id="388" r:id="rId62"/>
    <p:sldId id="389" r:id="rId63"/>
    <p:sldId id="390" r:id="rId64"/>
    <p:sldId id="391" r:id="rId65"/>
    <p:sldId id="392" r:id="rId66"/>
    <p:sldId id="393" r:id="rId67"/>
    <p:sldId id="395" r:id="rId68"/>
    <p:sldId id="396" r:id="rId69"/>
    <p:sldId id="397" r:id="rId70"/>
    <p:sldId id="398" r:id="rId71"/>
    <p:sldId id="394" r:id="rId72"/>
    <p:sldId id="499" r:id="rId73"/>
    <p:sldId id="399" r:id="rId74"/>
    <p:sldId id="502" r:id="rId75"/>
    <p:sldId id="503" r:id="rId76"/>
    <p:sldId id="504" r:id="rId77"/>
    <p:sldId id="505" r:id="rId78"/>
    <p:sldId id="506" r:id="rId79"/>
    <p:sldId id="507" r:id="rId80"/>
    <p:sldId id="508" r:id="rId81"/>
    <p:sldId id="510" r:id="rId82"/>
    <p:sldId id="509" r:id="rId83"/>
    <p:sldId id="511" r:id="rId84"/>
    <p:sldId id="512" r:id="rId85"/>
    <p:sldId id="513" r:id="rId86"/>
    <p:sldId id="514" r:id="rId87"/>
    <p:sldId id="515" r:id="rId88"/>
    <p:sldId id="516" r:id="rId89"/>
    <p:sldId id="517" r:id="rId90"/>
    <p:sldId id="518" r:id="rId91"/>
    <p:sldId id="519" r:id="rId92"/>
    <p:sldId id="520" r:id="rId93"/>
    <p:sldId id="521" r:id="rId94"/>
    <p:sldId id="522" r:id="rId95"/>
    <p:sldId id="523" r:id="rId96"/>
    <p:sldId id="524" r:id="rId97"/>
    <p:sldId id="525" r:id="rId98"/>
    <p:sldId id="526" r:id="rId99"/>
    <p:sldId id="527" r:id="rId100"/>
    <p:sldId id="528" r:id="rId101"/>
    <p:sldId id="529" r:id="rId102"/>
    <p:sldId id="530" r:id="rId103"/>
    <p:sldId id="531" r:id="rId104"/>
  </p:sldIdLst>
  <p:sldSz cx="9144000" cy="6858000" type="screen4x3"/>
  <p:notesSz cx="6934200" cy="9080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A4CFB9-CD2D-487F-971D-6ADD6F42F2F6}" v="2" dt="2021-01-27T08:07:11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41" autoAdjust="0"/>
    <p:restoredTop sz="90929"/>
  </p:normalViewPr>
  <p:slideViewPr>
    <p:cSldViewPr>
      <p:cViewPr varScale="1">
        <p:scale>
          <a:sx n="78" d="100"/>
          <a:sy n="78" d="100"/>
        </p:scale>
        <p:origin x="111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microsoft.com/office/2015/10/relationships/revisionInfo" Target="revisionInfo.xml"/><Relationship Id="rId16" Type="http://schemas.openxmlformats.org/officeDocument/2006/relationships/slide" Target="slides/slide12.xml"/><Relationship Id="rId107" Type="http://schemas.openxmlformats.org/officeDocument/2006/relationships/presProps" Target="presProps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viewProps" Target="viewProp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theme" Target="theme/theme1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tableStyles" Target="tableStyle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a Maria Astalis" userId="S::astalis.so.lorena@utcluj.didatec.ro::8e2f0abd-2b32-4a49-a986-2499006b9ff1" providerId="AD" clId="Web-{1DA4CFB9-CD2D-487F-971D-6ADD6F42F2F6}"/>
    <pc:docChg chg="modSld">
      <pc:chgData name="Lorena Maria Astalis" userId="S::astalis.so.lorena@utcluj.didatec.ro::8e2f0abd-2b32-4a49-a986-2499006b9ff1" providerId="AD" clId="Web-{1DA4CFB9-CD2D-487F-971D-6ADD6F42F2F6}" dt="2021-01-27T08:07:11.637" v="1"/>
      <pc:docMkLst>
        <pc:docMk/>
      </pc:docMkLst>
      <pc:sldChg chg="addSp delSp">
        <pc:chgData name="Lorena Maria Astalis" userId="S::astalis.so.lorena@utcluj.didatec.ro::8e2f0abd-2b32-4a49-a986-2499006b9ff1" providerId="AD" clId="Web-{1DA4CFB9-CD2D-487F-971D-6ADD6F42F2F6}" dt="2021-01-27T08:07:11.637" v="1"/>
        <pc:sldMkLst>
          <pc:docMk/>
          <pc:sldMk cId="0" sldId="380"/>
        </pc:sldMkLst>
        <pc:inkChg chg="add del">
          <ac:chgData name="Lorena Maria Astalis" userId="S::astalis.so.lorena@utcluj.didatec.ro::8e2f0abd-2b32-4a49-a986-2499006b9ff1" providerId="AD" clId="Web-{1DA4CFB9-CD2D-487F-971D-6ADD6F42F2F6}" dt="2021-01-27T08:07:11.637" v="1"/>
          <ac:inkMkLst>
            <pc:docMk/>
            <pc:sldMk cId="0" sldId="380"/>
            <ac:inkMk id="2" creationId="{41A2974C-4983-4A95-9F48-25FA52F71B2D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9063" y="0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6475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9063" y="8626475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1CB6D65-D0E8-4B39-90E8-8642E403CEE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404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9063" y="0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044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6975" y="681038"/>
            <a:ext cx="4540250" cy="34051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4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313238"/>
            <a:ext cx="508635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4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6475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44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9063" y="8626475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A779865-DC56-49AB-9F10-58B257F54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917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8719">
              <a:defRPr sz="1500" b="1">
                <a:solidFill>
                  <a:schemeClr val="tx1"/>
                </a:solidFill>
                <a:latin typeface="Helvetica" pitchFamily="34" charset="0"/>
              </a:defRPr>
            </a:lvl1pPr>
            <a:lvl2pPr marL="686337" indent="-263976" defTabSz="888719">
              <a:defRPr sz="1500" b="1">
                <a:solidFill>
                  <a:schemeClr val="tx1"/>
                </a:solidFill>
                <a:latin typeface="Helvetica" pitchFamily="34" charset="0"/>
              </a:defRPr>
            </a:lvl2pPr>
            <a:lvl3pPr marL="1055903" indent="-211181" defTabSz="888719">
              <a:defRPr sz="1500" b="1">
                <a:solidFill>
                  <a:schemeClr val="tx1"/>
                </a:solidFill>
                <a:latin typeface="Helvetica" pitchFamily="34" charset="0"/>
              </a:defRPr>
            </a:lvl3pPr>
            <a:lvl4pPr marL="1478265" indent="-211181" defTabSz="888719">
              <a:defRPr sz="1500" b="1">
                <a:solidFill>
                  <a:schemeClr val="tx1"/>
                </a:solidFill>
                <a:latin typeface="Helvetica" pitchFamily="34" charset="0"/>
              </a:defRPr>
            </a:lvl4pPr>
            <a:lvl5pPr marL="1900626" indent="-211181" defTabSz="888719">
              <a:defRPr sz="1500" b="1">
                <a:solidFill>
                  <a:schemeClr val="tx1"/>
                </a:solidFill>
                <a:latin typeface="Helvetica" pitchFamily="34" charset="0"/>
              </a:defRPr>
            </a:lvl5pPr>
            <a:lvl6pPr marL="2322987" indent="-211181" defTabSz="888719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chemeClr val="tx1"/>
                </a:solidFill>
                <a:latin typeface="Helvetica" pitchFamily="34" charset="0"/>
              </a:defRPr>
            </a:lvl6pPr>
            <a:lvl7pPr marL="2745349" indent="-211181" defTabSz="888719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chemeClr val="tx1"/>
                </a:solidFill>
                <a:latin typeface="Helvetica" pitchFamily="34" charset="0"/>
              </a:defRPr>
            </a:lvl7pPr>
            <a:lvl8pPr marL="3167710" indent="-211181" defTabSz="888719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chemeClr val="tx1"/>
                </a:solidFill>
                <a:latin typeface="Helvetica" pitchFamily="34" charset="0"/>
              </a:defRPr>
            </a:lvl8pPr>
            <a:lvl9pPr marL="3590072" indent="-211181" defTabSz="888719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fld id="{1D6AFA6E-E4D6-4A66-9395-E08787156390}" type="slidenum">
              <a:rPr lang="en-US" altLang="en-US" sz="1200" b="0">
                <a:latin typeface="Times New Roman" pitchFamily="18" charset="0"/>
              </a:rPr>
              <a:pPr/>
              <a:t>1</a:t>
            </a:fld>
            <a:endParaRPr lang="en-US" altLang="en-US" sz="1200" b="0">
              <a:latin typeface="Times New Roman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565074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2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054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4CC475-8CB4-450A-BB71-3F7AF33B62F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875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4CC475-8CB4-450A-BB71-3F7AF33B62F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138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7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762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8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484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9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681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10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793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11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567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12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773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13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926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14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261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15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494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16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060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17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452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18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0514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19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5050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20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3456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21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3738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22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205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23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2560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24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308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25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7450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26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3688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27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0282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28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9032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29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2579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30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3318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31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6033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32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9175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33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7775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34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1594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35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8498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36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0733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37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029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38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294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39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3823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40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882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41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4534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42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1466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360C15-7917-468B-9C7D-7648DC7BF420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589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3C9ECB-5163-4A4E-A554-B40985496770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882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3C9ECB-5163-4A4E-A554-B40985496770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7982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779865-DC56-49AB-9F10-58B257F548C2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738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E85F8E-1BAE-404E-8F59-AE2A2679EF31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445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E85F8E-1BAE-404E-8F59-AE2A2679EF31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1583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360C15-7917-468B-9C7D-7648DC7BF420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4013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52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9748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53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39769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54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5756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55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61142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56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4003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57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82331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58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49968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59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37438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60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25059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61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79550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62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6012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63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53963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64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22580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65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87646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66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77716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67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23865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68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37936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69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77540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70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21354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EF2773-76DE-4F81-A4DB-BE87F370C790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6495805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B46811-0691-40D2-9408-D2364D9AB2E8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8730515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D38CF3-1FDB-413A-8773-6DC58EF6A989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2835875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74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68762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75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16690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76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35077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77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51005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78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04858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79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55641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80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86122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81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0965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82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57271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83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43755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84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2720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85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1491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86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94867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87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97415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88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82498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89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52713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90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41272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91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1517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92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45008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93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76857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94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79339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95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29548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96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72118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97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37610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98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60440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99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20023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3AE56-FC7C-47A8-96DA-D93B77C84F9A}" type="slidenum">
              <a:rPr lang="en-US"/>
              <a:pPr/>
              <a:t>100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89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AEBCA82-33AC-4F52-B7F7-67247E76F30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772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0D34264-B0B7-41C2-90D8-6875529387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1E5260F-6432-4162-AF4B-0E6EA16348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C11BDA4-8E81-4281-BAD6-2765169EAB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C9DDEC-ACF5-47B0-A803-07F89F5AB2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08A6ACC-C307-4265-B4B9-894BCD31232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59394F2-E991-434E-A76A-0D82C25131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078CCCF-8128-4862-B911-3C4E3B36E0D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4B55CBC-FDB4-40AF-A24E-7158570412C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D8CB805-5DB5-42D2-8880-2087506BE74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7298F-4F10-4970-9469-189FE4340C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6157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219200"/>
            <a:ext cx="91440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1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6505575"/>
            <a:ext cx="46672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762000" y="757238"/>
            <a:ext cx="7772400" cy="4267200"/>
          </a:xfrm>
        </p:spPr>
        <p:txBody>
          <a:bodyPr/>
          <a:lstStyle/>
          <a:p>
            <a:r>
              <a:rPr lang="ro-RO" altLang="en-US" sz="4000" b="1" dirty="0">
                <a:solidFill>
                  <a:schemeClr val="tx1"/>
                </a:solidFill>
                <a:effectLst/>
                <a:latin typeface="Tahoma" pitchFamily="34" charset="0"/>
                <a:cs typeface="Tahoma" pitchFamily="34" charset="0"/>
              </a:rPr>
              <a:t>Introducere în </a:t>
            </a:r>
            <a:br>
              <a:rPr lang="ro-RO" altLang="en-US" sz="4000" b="1" dirty="0">
                <a:solidFill>
                  <a:schemeClr val="tx1"/>
                </a:solidFill>
                <a:effectLst/>
                <a:latin typeface="Tahoma" pitchFamily="34" charset="0"/>
                <a:cs typeface="Tahoma" pitchFamily="34" charset="0"/>
              </a:rPr>
            </a:br>
            <a:r>
              <a:rPr lang="ro-RO" altLang="en-US" sz="4000" b="1" dirty="0">
                <a:solidFill>
                  <a:schemeClr val="tx1"/>
                </a:solidFill>
                <a:effectLst/>
                <a:latin typeface="Tahoma" pitchFamily="34" charset="0"/>
                <a:cs typeface="Tahoma" pitchFamily="34" charset="0"/>
              </a:rPr>
              <a:t>BAZE de DATE</a:t>
            </a:r>
            <a:br>
              <a:rPr lang="ro-RO" altLang="en-US" b="1" dirty="0">
                <a:solidFill>
                  <a:schemeClr val="tx1"/>
                </a:solidFill>
                <a:effectLst/>
                <a:latin typeface="Tahoma" pitchFamily="34" charset="0"/>
                <a:cs typeface="Tahoma" pitchFamily="34" charset="0"/>
              </a:rPr>
            </a:br>
            <a:br>
              <a:rPr lang="ro-RO" altLang="en-US" b="1" dirty="0">
                <a:solidFill>
                  <a:schemeClr val="tx1"/>
                </a:solidFill>
                <a:effectLst/>
                <a:latin typeface="Tahoma" pitchFamily="34" charset="0"/>
                <a:cs typeface="Tahoma" pitchFamily="34" charset="0"/>
              </a:rPr>
            </a:br>
            <a:br>
              <a:rPr lang="ro-RO" altLang="en-US" b="1" dirty="0">
                <a:solidFill>
                  <a:schemeClr val="tx1"/>
                </a:solidFill>
                <a:effectLst/>
                <a:latin typeface="Tahoma" pitchFamily="34" charset="0"/>
                <a:cs typeface="Tahoma" pitchFamily="34" charset="0"/>
              </a:rPr>
            </a:br>
            <a:br>
              <a:rPr lang="ro-RO" altLang="en-US" sz="2800" b="1" dirty="0">
                <a:solidFill>
                  <a:schemeClr val="tx1"/>
                </a:solidFill>
                <a:effectLst/>
                <a:latin typeface="Tahoma" pitchFamily="34" charset="0"/>
                <a:cs typeface="Tahoma" pitchFamily="34" charset="0"/>
              </a:rPr>
            </a:br>
            <a:r>
              <a:rPr lang="ro-RO" altLang="en-US" sz="2800" b="1" dirty="0">
                <a:solidFill>
                  <a:schemeClr val="tx1"/>
                </a:solidFill>
                <a:effectLst/>
                <a:latin typeface="Tahoma" pitchFamily="34" charset="0"/>
                <a:cs typeface="Tahoma" pitchFamily="34" charset="0"/>
              </a:rPr>
              <a:t>3.</a:t>
            </a:r>
            <a:r>
              <a:rPr lang="en-US" altLang="en-US" sz="2800" b="1" dirty="0" err="1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Modele</a:t>
            </a:r>
            <a:r>
              <a:rPr lang="en-US" altLang="en-US" sz="2800" b="1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sz="2800" b="1" dirty="0" err="1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conceptuale</a:t>
            </a:r>
            <a:r>
              <a:rPr lang="en-US" altLang="en-US" sz="2800" b="1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 de date</a:t>
            </a:r>
            <a:br>
              <a:rPr lang="ro-RO" altLang="en-US" sz="2800" b="1" dirty="0">
                <a:solidFill>
                  <a:schemeClr val="tx1"/>
                </a:solidFill>
                <a:effectLst/>
                <a:latin typeface="Tahoma" pitchFamily="34" charset="0"/>
                <a:cs typeface="Tahoma" pitchFamily="34" charset="0"/>
              </a:rPr>
            </a:br>
            <a:endParaRPr lang="en-US" altLang="en-US" sz="2800" b="1" dirty="0">
              <a:solidFill>
                <a:schemeClr val="tx1"/>
              </a:solidFill>
              <a:effectLst/>
              <a:latin typeface="Tahoma" pitchFamily="34" charset="0"/>
              <a:cs typeface="Tahoma" pitchFamily="34" charset="0"/>
            </a:endParaRPr>
          </a:p>
        </p:txBody>
      </p:sp>
      <p:pic>
        <p:nvPicPr>
          <p:cNvPr id="1536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0"/>
            <a:ext cx="141287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286000" y="5557838"/>
            <a:ext cx="45720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itchFamily="18" charset="2"/>
              <a:buChar char="4"/>
              <a:defRPr kumimoji="1" sz="24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 sz="20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0" dirty="0" err="1">
                <a:latin typeface="Tahoma" pitchFamily="34" charset="0"/>
                <a:cs typeface="Tahoma" pitchFamily="34" charset="0"/>
              </a:rPr>
              <a:t>Cosmina</a:t>
            </a:r>
            <a:r>
              <a:rPr kumimoji="0" lang="en-US" altLang="en-US" sz="1400" b="0" dirty="0">
                <a:latin typeface="Tahoma" pitchFamily="34" charset="0"/>
                <a:cs typeface="Tahoma" pitchFamily="34" charset="0"/>
              </a:rPr>
              <a:t> Ivan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0" dirty="0">
                <a:latin typeface="Tahoma" pitchFamily="34" charset="0"/>
                <a:cs typeface="Tahoma" pitchFamily="34" charset="0"/>
              </a:rPr>
              <a:t>cosmina.ivan@cs.utcluj.ro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0" dirty="0" err="1">
                <a:latin typeface="Tahoma" pitchFamily="34" charset="0"/>
                <a:cs typeface="Tahoma" pitchFamily="34" charset="0"/>
              </a:rPr>
              <a:t>Departamentul</a:t>
            </a:r>
            <a:r>
              <a:rPr kumimoji="0" lang="en-US" altLang="en-US" sz="1400" b="0" dirty="0">
                <a:latin typeface="Tahoma" pitchFamily="34" charset="0"/>
                <a:cs typeface="Tahoma" pitchFamily="34" charset="0"/>
              </a:rPr>
              <a:t> de </a:t>
            </a:r>
            <a:r>
              <a:rPr kumimoji="0" lang="en-US" altLang="en-US" sz="1400" b="0" dirty="0" err="1">
                <a:latin typeface="Tahoma" pitchFamily="34" charset="0"/>
                <a:cs typeface="Tahoma" pitchFamily="34" charset="0"/>
              </a:rPr>
              <a:t>Calculatoare</a:t>
            </a:r>
            <a:r>
              <a:rPr kumimoji="0" lang="en-US" altLang="en-US" sz="1400" b="0" dirty="0">
                <a:latin typeface="Tahoma" pitchFamily="34" charset="0"/>
                <a:cs typeface="Tahoma" pitchFamily="34" charset="0"/>
              </a:rPr>
              <a:t> 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0" dirty="0">
                <a:latin typeface="Tahoma" pitchFamily="34" charset="0"/>
                <a:cs typeface="Tahoma" pitchFamily="34" charset="0"/>
              </a:rPr>
              <a:t>UNIVERSITATEA TEHNICA CLUJ NAPOCA</a:t>
            </a:r>
          </a:p>
        </p:txBody>
      </p:sp>
    </p:spTree>
    <p:extLst>
      <p:ext uri="{BB962C8B-B14F-4D97-AF65-F5344CB8AC3E}">
        <p14:creationId xmlns:p14="http://schemas.microsoft.com/office/powerpoint/2010/main" val="3339792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 EA</a:t>
            </a:r>
            <a:b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lvl="1">
              <a:buFont typeface="Wingdings" pitchFamily="2" charset="2"/>
              <a:buChar char="§"/>
            </a:pP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tipuri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seturi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engl.relationship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tipuri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slabe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n-are</a:t>
            </a:r>
          </a:p>
          <a:p>
            <a:pPr lvl="1">
              <a:buFont typeface="Wingdings" pitchFamily="2" charset="2"/>
              <a:buChar char="§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969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Elemente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BD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Abilitatea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a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optim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aplicatiile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asociate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factor critic in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succesul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actual al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oricarei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companii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moderne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 –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necesita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intelegerea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cerintelor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operationale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activitate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curenta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bussines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scopuri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perspective)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organizatii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cat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abilitatea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a MODELA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realiza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cerintele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respective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folosind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</a:t>
            </a:r>
          </a:p>
          <a:p>
            <a:pPr lvl="1">
              <a:buFont typeface="Wingdings" pitchFamily="2" charset="2"/>
              <a:buChar char="§"/>
            </a:pP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Dezvoltarea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bazei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Sistemului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informational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realizata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bazat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ciclu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dezvoltare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consecutive bine definite,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posibil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reluate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anumitor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metodologii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dezvoltare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software)</a:t>
            </a:r>
          </a:p>
        </p:txBody>
      </p:sp>
    </p:spTree>
    <p:extLst>
      <p:ext uri="{BB962C8B-B14F-4D97-AF65-F5344CB8AC3E}">
        <p14:creationId xmlns:p14="http://schemas.microsoft.com/office/powerpoint/2010/main" val="2312845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Elemente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BD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itchFamily="2" charset="2"/>
              <a:buChar char="§"/>
            </a:pPr>
            <a:endParaRPr 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Dezvoltarea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bazei</a:t>
            </a:r>
            <a:r>
              <a:rPr lang="en-US" sz="32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32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Sistemului</a:t>
            </a:r>
            <a:r>
              <a:rPr lang="en-US" sz="32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informational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realizata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bazat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 </a:t>
            </a:r>
            <a:r>
              <a:rPr lang="en-US" sz="32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ciclu</a:t>
            </a:r>
            <a:r>
              <a:rPr lang="en-US" sz="32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32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dezvoltare</a:t>
            </a:r>
            <a:r>
              <a:rPr lang="en-US" sz="32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endParaRPr lang="ro-RO" sz="32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endParaRPr lang="ro-RO" sz="32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consecutive bine definite,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posibil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reluate</a:t>
            </a:r>
            <a:r>
              <a:rPr lang="ro-R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ro-R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ro-R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finarea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anumitor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cerinte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diverse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metodologii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3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dezvoltare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software-Agile, Scrum, Model driven)</a:t>
            </a:r>
          </a:p>
        </p:txBody>
      </p:sp>
    </p:spTree>
    <p:extLst>
      <p:ext uri="{BB962C8B-B14F-4D97-AF65-F5344CB8AC3E}">
        <p14:creationId xmlns:p14="http://schemas.microsoft.com/office/powerpoint/2010/main" val="708163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Procesul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093788"/>
            <a:ext cx="7848600" cy="4903787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§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Ciclul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dezvoltare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aplicatii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BD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Colectarea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elor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analiza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conceptuala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Rafinarea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schemei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BD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fizica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implementarea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BD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aplicatiei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elemente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securitate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Testare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mentenanta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83929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Procesul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990600"/>
            <a:ext cx="86487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11316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 conceptuală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-E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A/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UML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 conceptuala a BD  presupune modelarea informatiei colectate la un </a:t>
            </a:r>
            <a:r>
              <a:rPr lang="ro-RO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nivel inalt de abstractizare</a:t>
            </a:r>
            <a:r>
              <a:rPr lang="en-US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ro-RO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fara a utiliza un model particular de date</a:t>
            </a:r>
            <a:r>
              <a:rPr lang="ro-RO" sz="28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 un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anumit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SGBD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o-RO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necesita un limbaj de nivel inalt specific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astfel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 mai popular limbaj de proiectare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conceptuala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este modelul ER-EER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 Entity Relationship ,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Peter Chen-1976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utilizat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actual,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insa fuzionat cu constructii de modelare UML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(Uniform Modeling language)- </a:t>
            </a:r>
          </a:p>
          <a:p>
            <a:pPr marL="0" indent="0"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 actual de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diagramare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sisteme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software (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inclusiv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BD)</a:t>
            </a:r>
            <a:endParaRPr lang="ro-RO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770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 EA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Modelarea EA  - abordare </a:t>
            </a:r>
            <a:r>
              <a:rPr lang="ro-RO" sz="28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down</a:t>
            </a:r>
            <a:r>
              <a:rPr lang="en-US" sz="28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”( </a:t>
            </a:r>
            <a:r>
              <a:rPr lang="en-US" sz="2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catre</a:t>
            </a:r>
            <a:r>
              <a:rPr lang="en-US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detalierea</a:t>
            </a:r>
            <a:r>
              <a:rPr lang="en-US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finala</a:t>
            </a:r>
            <a:r>
              <a:rPr lang="en-US" sz="28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ro-RO" sz="28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proiectarea  bazei de date ,ce modeleaza datele ca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 ,atribute si asocieri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entitati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engl.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ER :entity-relationship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</a:t>
            </a:r>
          </a:p>
          <a:p>
            <a:pPr marL="0" indent="0">
              <a:buNone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EA:entitate-asociere)</a:t>
            </a:r>
          </a:p>
          <a:p>
            <a:pPr marL="0" indent="0">
              <a:buNone/>
            </a:pPr>
            <a:endParaRPr lang="ro-RO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rafineaza entitatile si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acestora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incl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uderea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proprietati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ale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itatilor și ale asocierilor numite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 definirea de 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constrangeri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asupra acestora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entitatilor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endParaRPr lang="ro-RO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 EA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lvl="1">
              <a:buFont typeface="Wingdings" pitchFamily="2" charset="2"/>
              <a:buChar char="§"/>
            </a:pPr>
            <a:endParaRPr lang="ro-RO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ro-RO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 este un model</a:t>
            </a:r>
            <a:r>
              <a:rPr lang="ro-RO" sz="32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independent</a:t>
            </a:r>
            <a:r>
              <a:rPr lang="en-US" sz="32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SGBD</a:t>
            </a:r>
            <a:r>
              <a:rPr lang="ro-RO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o-R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 fi convertit in modelul logic dorit (de ex. Modelul relational) 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ro-R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potrivit pentru </a:t>
            </a:r>
            <a:r>
              <a:rPr lang="ro-RO" sz="32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interactiuni</a:t>
            </a:r>
            <a:r>
              <a:rPr lang="ro-R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ro-RO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utilizatori BD nontehnici</a:t>
            </a:r>
          </a:p>
          <a:p>
            <a:pPr lvl="1">
              <a:buFont typeface="Wingdings" pitchFamily="2" charset="2"/>
              <a:buChar char="§"/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720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nota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clasic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066800"/>
            <a:ext cx="82296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otația UML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Entități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 de e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ntitate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grup  de obiecte din lumea reala ce poseda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aceleasi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proprietati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avand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existenta</a:t>
            </a: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independenta</a:t>
            </a: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algn="just"/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buFont typeface="Wingdings" pitchFamily="2" charset="2"/>
              <a:buChar char="§"/>
            </a:pP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baza in modelul ER 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buFont typeface="Wingdings" pitchFamily="2" charset="2"/>
              <a:buChar char="§"/>
            </a:pP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 fi un obiect </a:t>
            </a:r>
            <a:r>
              <a:rPr lang="ro-RO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fizic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persoana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sau un concept </a:t>
            </a:r>
            <a:r>
              <a:rPr lang="ro-RO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abstract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aceleasi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 de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entitate</a:t>
            </a:r>
            <a:endParaRPr lang="ro-RO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buFont typeface="Wingdings" pitchFamily="2" charset="2"/>
              <a:buChar char="§"/>
            </a:pPr>
            <a:r>
              <a:rPr lang="ro-RO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Instanta unei entitati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aparitia particulara a unei entitati (de ex. Popescu  Ion – entitatea angajat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1" algn="just">
              <a:buFont typeface="Wingdings" pitchFamily="2" charset="2"/>
              <a:buChar char="§"/>
            </a:pPr>
            <a:endParaRPr lang="ro-RO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buFont typeface="Wingdings" pitchFamily="2" charset="2"/>
              <a:buChar char="§"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de entitati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set de instante de entitati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colectia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entitatilor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acelasi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tip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</a:t>
            </a:r>
          </a:p>
          <a:p>
            <a:pPr lvl="1" algn="just">
              <a:buFont typeface="Wingdings" pitchFamily="2" charset="2"/>
              <a:buChar char="§"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Asocierea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set de corelari logice (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relationships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intre entitati, fiecarei asocieri i se confera un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ce descrie functia/rolul sau.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Instanta asocierii –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aparitia particulara a unei asocieri intre instante de entitati</a:t>
            </a:r>
          </a:p>
          <a:p>
            <a:pPr lvl="1">
              <a:buFont typeface="Wingdings" pitchFamily="2" charset="2"/>
              <a:buChar char="§"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de asocieri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de instante de asocieri</a:t>
            </a:r>
          </a:p>
          <a:p>
            <a:pPr marL="457200" lvl="1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Nota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pot exista mai multe asocieri  intre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aceleasi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doua entitati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Reprezentare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Many to many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proiect poate avea mai mult de un angajat si un angajat poate lucra in mai mult de un proiect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438400"/>
            <a:ext cx="79248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Reprezentarea asocierilor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notatia clasica ER asocierea simpla</a:t>
            </a:r>
          </a:p>
          <a:p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UML- etichetarea /sageata  indica corect directia de citire</a:t>
            </a:r>
          </a:p>
          <a:p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unui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tip de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este un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verb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4572000"/>
            <a:ext cx="65532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0600" y="1828800"/>
            <a:ext cx="63246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Gradul asocierii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Gradul unei asocieri este determinat de 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numarul de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seturi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entitati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participante in asociere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o-RO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Asocierile de grad 2 sunt binare ,grad 3 – ternare...</a:t>
            </a:r>
          </a:p>
          <a:p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ER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UML folosesc un romb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pt.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reprezentare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ro-RO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 proiect poate necesita parti de la furnizori diferiti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3810000"/>
            <a:ext cx="535305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 recursivă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Asocierea recursiva este acea asociere in care 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aceeasi entitate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 mai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 de o data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in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roluri diferite</a:t>
            </a:r>
          </a:p>
          <a:p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ex asocierea angajat- supervisor.Supervisorul este  si angajat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ER</a:t>
            </a:r>
          </a:p>
          <a:p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UML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un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4751717"/>
            <a:ext cx="3733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47800" y="3429000"/>
            <a:ext cx="3228622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 – proprietatea unei entitati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,sau asocieri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o-RO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 conventie- atributele se noteaza distinctiv cu litere mici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 atribut poseda un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domeniu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ce reprezinta setul de valori permise pentru atribut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 diferite pot utiliza acelasi domeniu, insa ,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atribut </a:t>
            </a:r>
            <a:r>
              <a:rPr lang="ro-RO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poseda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singur </a:t>
            </a:r>
            <a:r>
              <a:rPr lang="ro-RO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domeniu</a:t>
            </a:r>
            <a:endParaRPr lang="en-US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 simple și complexe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atribut ,este atribut simplu daca contine o singura componenta cu existenta independenta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 simple sunt numite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 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atomice</a:t>
            </a:r>
            <a:endParaRPr lang="en-US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endParaRPr lang="ro-RO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atribut este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compus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,daca se constituie din multiple componente fiecare cu existenta independenta ( de ex. Adresa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strada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oras,judet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 uni-multivaloare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univaloare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daca poseda o valoare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unica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pentru fiecare instanta a entitatii –ex.  </a:t>
            </a:r>
            <a:r>
              <a:rPr lang="ro-RO" i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salariu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multivaloare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 daca poate avea valori multiple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 o singura instanta a entitatii</a:t>
            </a:r>
          </a:p>
          <a:p>
            <a:pPr lvl="1"/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ex. </a:t>
            </a:r>
            <a:r>
              <a:rPr lang="ro-RO" i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Nr telefon</a:t>
            </a:r>
          </a:p>
          <a:p>
            <a:pPr lvl="1"/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ro-RO" sz="32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 derivat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un atribut a carui valoare este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calculata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din alte atribute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insa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 este stocat fizic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(pot fi utilizate in calcul si alte atribute din alte entitati)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Reprezentarea atributelor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53278"/>
            <a:ext cx="9144000" cy="5867400"/>
          </a:xfrm>
        </p:spPr>
        <p:txBody>
          <a:bodyPr/>
          <a:lstStyle/>
          <a:p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 si UML difera in modul de reprezentare a atributelor, notatia UML este  mai compacta , mai usor de inteles</a:t>
            </a:r>
          </a:p>
          <a:p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 EA descrie atributele ca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ovaluri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nume conectate la entitate ( diverse tipuri pentru diverse atribute - atribut cheie, atribut multivaloare, compus)</a:t>
            </a:r>
          </a:p>
          <a:p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UML atribute apar in cadrul entitatii </a:t>
            </a:r>
          </a:p>
          <a:p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{PK}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partiala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{PPK}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străină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K} ,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multivaloare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minval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maxVal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 a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tasat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 candidata-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minimal de atribute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 </a:t>
            </a:r>
            <a:r>
              <a:rPr lang="ro-RO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 unic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 instanta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unei entitati (tuplă)</a:t>
            </a:r>
          </a:p>
          <a:p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 primara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cheie candidata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selectata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 identifice unic fiecare instanta  a unei entitati</a:t>
            </a:r>
          </a:p>
          <a:p>
            <a:pPr lvl="1"/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aleasa dintr-un set de de chei candidate</a:t>
            </a:r>
          </a:p>
          <a:p>
            <a:pPr lvl="1"/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Cheia compusa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o cheie formata din 2 sau mai multe atribute</a:t>
            </a:r>
          </a:p>
          <a:p>
            <a:pPr lvl="1"/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ex. </a:t>
            </a:r>
            <a:r>
              <a:rPr lang="ro-RO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Curs identificat  unic de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 departament si numar curs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 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departament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curs)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362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143000"/>
            <a:ext cx="8229599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en-US"/>
              <a:t>T</a:t>
            </a:r>
            <a:endParaRPr lang="en-US" dirty="0"/>
          </a:p>
        </p:txBody>
      </p:sp>
      <p:grpSp>
        <p:nvGrpSpPr>
          <p:cNvPr id="2" name="Group 8"/>
          <p:cNvGrpSpPr/>
          <p:nvPr/>
        </p:nvGrpSpPr>
        <p:grpSpPr>
          <a:xfrm>
            <a:off x="457200" y="1143000"/>
            <a:ext cx="8229600" cy="5410200"/>
            <a:chOff x="457200" y="1143000"/>
            <a:chExt cx="8229600" cy="5410200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7200" y="1143000"/>
              <a:ext cx="8229600" cy="5333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Box 7"/>
            <p:cNvSpPr txBox="1"/>
            <p:nvPr/>
          </p:nvSpPr>
          <p:spPr>
            <a:xfrm>
              <a:off x="7391400" y="6019800"/>
              <a:ext cx="1295400" cy="5334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UML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</a:t>
            </a:r>
            <a:r>
              <a:rPr lang="ro-RO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</a:t>
            </a:r>
            <a:r>
              <a:rPr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ngeri</a:t>
            </a:r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structurale</a:t>
            </a:r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</a:t>
            </a:r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endParaRPr lang="en-US" sz="3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en-US" sz="2800" b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Limiteaza</a:t>
            </a: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posibilele</a:t>
            </a: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combinatii</a:t>
            </a: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ale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entitatilor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seturi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Constrangerea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Cardinalitate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numarul maxim de instante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 o entitate participanta intr-o asociere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</a:t>
            </a:r>
            <a:r>
              <a:rPr lang="ro-RO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</a:t>
            </a:r>
            <a:r>
              <a:rPr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ngeri</a:t>
            </a:r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structurale</a:t>
            </a:r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</a:t>
            </a:r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endParaRPr lang="en-US" sz="3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Constrangerea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</a:t>
            </a:r>
            <a:r>
              <a:rPr lang="ro-RO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Participare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determina daca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toate ,sau doar o parte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instantelor entitatii participa in asociere</a:t>
            </a:r>
          </a:p>
          <a:p>
            <a:endParaRPr lang="ro-RO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participarea poate fi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optionala sau obligatorie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Participarea – linie dubla in modelul EA si cardinalitatea minima in UML</a:t>
            </a:r>
          </a:p>
          <a:p>
            <a:pPr lvl="1">
              <a:buFont typeface="Wingdings" pitchFamily="2" charset="2"/>
              <a:buChar char="§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Daca participarea unei entitati este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obligatorie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(simbol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participare totala)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atunci existenta entitatii depinde de asociere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873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one to one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4800600"/>
          </a:xfrm>
        </p:spPr>
        <p:txBody>
          <a:bodyPr/>
          <a:lstStyle/>
          <a:p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 instanta a unui set de entitati E1 poate fi asociata cu </a:t>
            </a:r>
            <a:r>
              <a:rPr lang="ro-RO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 mult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instanta a unui set de entitati  E2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 reciproc.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1395412" y="2372380"/>
            <a:ext cx="6353175" cy="3418820"/>
            <a:chOff x="1419225" y="2590800"/>
            <a:chExt cx="6353175" cy="357122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19225" y="2590800"/>
              <a:ext cx="6305550" cy="3428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7086600" y="5638800"/>
              <a:ext cx="6858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143000" y="5684099"/>
            <a:ext cx="723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departament 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(optional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zero)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avea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singur mana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 si un manager 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conduce un singur departament.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Exemplu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one to one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447800"/>
            <a:ext cx="800099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57200" y="6027003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departament poate avea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singur mana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 si un manager poate conduce un singur departament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one to many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 instanta a unei clase de entitati E1 poate fi asociata cu </a:t>
            </a:r>
            <a:r>
              <a:rPr lang="ro-RO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 mult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o instanta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unui set de entitati E2,  reciproc entitatea E2 poate fi asociata cu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instanta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E1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990600" y="3048000"/>
            <a:ext cx="7081837" cy="3490912"/>
            <a:chOff x="1452563" y="2300288"/>
            <a:chExt cx="6396037" cy="2347912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52563" y="2300288"/>
              <a:ext cx="6238875" cy="2257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7010400" y="4114800"/>
              <a:ext cx="838200" cy="5334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one to many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exemplu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791200"/>
            <a:ext cx="9144000" cy="762000"/>
          </a:xfrm>
        </p:spPr>
        <p:txBody>
          <a:bodyPr/>
          <a:lstStyle/>
          <a:p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proiect poate fi asociat cu </a:t>
            </a:r>
            <a:r>
              <a:rPr lang="ro-RO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 mult 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departament, un departament poate avea </a:t>
            </a:r>
            <a:r>
              <a:rPr lang="ro-RO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 multe 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proiecte.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219200"/>
            <a:ext cx="8001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many to many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 instanta a unei clase de entitati E1 poate fi asociata cu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 mult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o instanta a unei alte clase de entitati E2 si reciproc.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533400" y="2667001"/>
            <a:ext cx="8153400" cy="3002894"/>
            <a:chOff x="1443038" y="2228850"/>
            <a:chExt cx="7091362" cy="3247370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43038" y="2228850"/>
              <a:ext cx="6938962" cy="318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7620000" y="4953000"/>
              <a:ext cx="9144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5791200"/>
            <a:ext cx="9144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angajat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lucra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multi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angajati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lucreaza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many to many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643063"/>
            <a:ext cx="8153400" cy="4833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ngeri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participare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proiect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asociat cu un departament si un departament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avea unul sau mai multe proiecte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10400" y="5410200"/>
            <a:ext cx="914400" cy="533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2" name="Group 13"/>
          <p:cNvGrpSpPr/>
          <p:nvPr/>
        </p:nvGrpSpPr>
        <p:grpSpPr>
          <a:xfrm>
            <a:off x="685800" y="2224088"/>
            <a:ext cx="7924800" cy="4329112"/>
            <a:chOff x="685800" y="2224088"/>
            <a:chExt cx="7924800" cy="4014132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85800" y="2224088"/>
              <a:ext cx="7924799" cy="38719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TextBox 12"/>
            <p:cNvSpPr txBox="1"/>
            <p:nvPr/>
          </p:nvSpPr>
          <p:spPr>
            <a:xfrm>
              <a:off x="7772400" y="5715000"/>
              <a:ext cx="8382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Participare one to many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10200"/>
            <a:ext cx="8229600" cy="685800"/>
          </a:xfrm>
        </p:spPr>
        <p:txBody>
          <a:bodyPr/>
          <a:lstStyle/>
          <a:p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proiect trebuie asociat cu un departament, un departament poate avea 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zero sau sau mai multe proiecte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371600"/>
            <a:ext cx="8153399" cy="3719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Constrângere de participare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proiect </a:t>
            </a:r>
            <a:r>
              <a:rPr lang="ro-RO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trebuie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 aiba unul sau mai multi angajati si un angajat lucreaza în unul sau mai multe proiecte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209800"/>
            <a:ext cx="7811146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Participare many to many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381000" y="1295401"/>
            <a:ext cx="8534400" cy="5247619"/>
            <a:chOff x="381000" y="1295401"/>
            <a:chExt cx="8534400" cy="5247619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1000" y="1295401"/>
              <a:ext cx="8381999" cy="4953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Box 7"/>
            <p:cNvSpPr txBox="1"/>
            <p:nvPr/>
          </p:nvSpPr>
          <p:spPr>
            <a:xfrm>
              <a:off x="7772400" y="6019800"/>
              <a:ext cx="11430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n-are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r>
              <a:rPr lang="ro-RO" sz="20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 asocieri complexe 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multiplicitatea este numarul de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posibile apartitii ale entitatii in asocierea n-ara in condtitiile </a:t>
            </a:r>
            <a:r>
              <a:rPr lang="ro-RO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care celelalte (n-1) val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ro-RO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 sunt fix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ate</a:t>
            </a:r>
            <a:r>
              <a:rPr lang="ro-RO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Ex. Un furnizor poate oferi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sau mai multe parti unui proiect, un proiect poate avea 0 sau mai multi furnizori, fiecare furnizor poate oferi proiectului, zero sau mai multe parti - </a:t>
            </a:r>
            <a:r>
              <a:rPr lang="ro-RO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ambiguitate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interpretari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diferite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UML, </a:t>
            </a:r>
            <a:r>
              <a:rPr lang="ro-RO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evitat 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=&gt;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binare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696686" y="3886200"/>
            <a:ext cx="8001000" cy="2733020"/>
            <a:chOff x="457200" y="2362200"/>
            <a:chExt cx="8001000" cy="3647420"/>
          </a:xfrm>
        </p:grpSpPr>
        <p:pic>
          <p:nvPicPr>
            <p:cNvPr id="1126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7200" y="2362200"/>
              <a:ext cx="7924800" cy="3505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7543800" y="5486400"/>
              <a:ext cx="9144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Entiăți slabe/puternice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Entitate puternica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 acel tip de entitate a carui existenta 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 este dependenta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o alta entitate.</a:t>
            </a:r>
          </a:p>
          <a:p>
            <a:pPr lvl="1"/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entitatea puternica are 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propria cheie primara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 indentifica unic instantele sale</a:t>
            </a:r>
          </a:p>
          <a:p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Entitatea slaba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entitatea a carui existenta 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dependenta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o alta entitate</a:t>
            </a:r>
          </a:p>
          <a:p>
            <a:pPr lvl="1"/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entitatea slaba 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 are un set propriu de  atribute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care sa ii identifice instantele</a:t>
            </a:r>
          </a:p>
          <a:p>
            <a:pPr lvl="1">
              <a:buNone/>
            </a:pP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Ex.:</a:t>
            </a:r>
          </a:p>
          <a:p>
            <a:pPr lvl="1">
              <a:buNone/>
            </a:pP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Entitate puternica – angajat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id_angajat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ro-RO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None/>
            </a:pP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Entitate slaba – descendent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copil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in BD nu este stocata o cheie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pot fi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identificati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doar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in_angajat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Entități slabe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066800"/>
            <a:ext cx="49530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05200" y="4267200"/>
            <a:ext cx="5029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Probleme în modelul ER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Dificil de ales cand un anumit concept  devine in modelul EA entitate, asociere sau atribut...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general</a:t>
            </a:r>
          </a:p>
          <a:p>
            <a:pPr lvl="1"/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Entitatile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sunt </a:t>
            </a:r>
            <a:r>
              <a:rPr lang="ro-RO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substantive</a:t>
            </a:r>
            <a:r>
              <a:rPr lang="ro-RO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  <a:p>
            <a:pPr lvl="2"/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Trebuie sa poata fi identificate un set de atribute cheie pentru entitate</a:t>
            </a:r>
          </a:p>
          <a:p>
            <a:pPr lvl="1"/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sunt </a:t>
            </a:r>
            <a:r>
              <a:rPr lang="ro-RO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proprietati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 pot fi substantive sau adjective</a:t>
            </a:r>
          </a:p>
          <a:p>
            <a:pPr lvl="3"/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va utiliza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atribut , daca este corelat/parte a unei entitati si 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 are propria cheie</a:t>
            </a:r>
          </a:p>
          <a:p>
            <a:pPr lvl="1"/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Asocierile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trebuie in general sa fie binare – </a:t>
            </a:r>
            <a:r>
              <a:rPr lang="ro-RO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verbe</a:t>
            </a:r>
          </a:p>
          <a:p>
            <a:pPr marL="457200" lvl="1" indent="0">
              <a:buNone/>
            </a:pP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asocierile nonbinare vor fi modelate ca si entitati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Entitate vs atribut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305800" cy="3352800"/>
          </a:xfrm>
        </p:spPr>
        <p:txBody>
          <a:bodyPr/>
          <a:lstStyle/>
          <a:p>
            <a:pPr>
              <a:buNone/>
            </a:pP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va utiliza o entitate daca cel putin una din afirmatiile este adevarata:</a:t>
            </a:r>
          </a:p>
          <a:p>
            <a:pPr>
              <a:buNone/>
            </a:pPr>
            <a:endParaRPr lang="ro-RO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1.Entitatea contine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 putin un atribut noncheie</a:t>
            </a:r>
          </a:p>
          <a:p>
            <a:pPr>
              <a:buNone/>
            </a:pPr>
            <a:endParaRPr lang="ro-RO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2.Este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partea many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intr-o asociere </a:t>
            </a:r>
            <a:r>
              <a:rPr lang="ro-RO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many to one</a:t>
            </a:r>
            <a:endParaRPr lang="en-US" sz="28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Reguli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ro-RO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Evitarea redundantei  - nu s</a:t>
            </a:r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ro-RO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ocati aceeasi info in mai </a:t>
            </a:r>
            <a:r>
              <a:rPr lang="ro-RO" sz="3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 de un loc</a:t>
            </a:r>
          </a:p>
          <a:p>
            <a:pPr marL="742950" indent="-742950">
              <a:buFont typeface="+mj-lt"/>
              <a:buAutoNum type="arabicPeriod"/>
            </a:pPr>
            <a:endParaRPr lang="ro-RO" sz="36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ro-RO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 utilizati o </a:t>
            </a:r>
            <a:r>
              <a:rPr lang="ro-RO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entitate</a:t>
            </a:r>
            <a:r>
              <a:rPr lang="ro-RO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,daca poate fi utilizat un </a:t>
            </a:r>
            <a:r>
              <a:rPr lang="ro-RO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</a:t>
            </a:r>
          </a:p>
          <a:p>
            <a:pPr marL="742950" indent="-742950">
              <a:buFont typeface="+mj-lt"/>
              <a:buAutoNum type="arabicPeriod"/>
            </a:pPr>
            <a:endParaRPr lang="ro-RO" sz="3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ro-RO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Limitati utilizarea seturilor de </a:t>
            </a:r>
            <a:r>
              <a:rPr lang="ro-RO" sz="3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 slabe</a:t>
            </a:r>
            <a:endParaRPr lang="en-US" sz="36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15400" cy="1143000"/>
          </a:xfrm>
        </p:spPr>
        <p:txBody>
          <a:bodyPr/>
          <a:lstStyle/>
          <a:p>
            <a:pPr>
              <a:defRPr/>
            </a:pP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Specifica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proiectului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609601" y="1371600"/>
            <a:ext cx="7882686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endParaRPr kumimoji="1" 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1143000"/>
            <a:ext cx="89916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Scop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obiective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sintetic</a:t>
            </a:r>
            <a:endParaRPr kumimoji="1"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Colectarea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cerintelor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detalii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asupra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proceselor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organizationale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aspectelor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specifice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utilizatorilor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nu pot fi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surprinse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nivel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succint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</a:pP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Colectarea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datelor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realizeaza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tehnici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kumimoji="1"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intervievare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utilizatori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machetare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formulare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, </a:t>
            </a:r>
            <a:r>
              <a:rPr kumimoji="1"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identificarea</a:t>
            </a:r>
            <a:r>
              <a:rPr kumimoji="1"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documentelor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utilizate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kumimoji="1"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rapoartelor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necesare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</a:pP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care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datele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generate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utilizate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eventual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cerinte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viitoare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privitor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date/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aplicatii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ulterioare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unice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dependente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 -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constrangeri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dimensiunea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datelor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rata de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crestere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BD  (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anumite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tabele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operationale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comporta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cresteri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substantiale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82946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BD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pPr marL="514350" indent="-514350">
              <a:lnSpc>
                <a:spcPct val="80000"/>
              </a:lnSpc>
              <a:buFont typeface="Monotype Sorts" pitchFamily="2" charset="2"/>
              <a:buAutoNum type="arabicPeriod"/>
            </a:pPr>
            <a:r>
              <a:rPr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Analiza</a:t>
            </a:r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cerintelor</a:t>
            </a:r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ro-RO" sz="3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lnSpc>
                <a:spcPct val="80000"/>
              </a:lnSpc>
              <a:buFont typeface="Monotype Sorts" pitchFamily="2" charset="2"/>
              <a:buAutoNum type="arabicPeriod"/>
            </a:pP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cerintelor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utilizator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urmeaza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transpuse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BD.</a:t>
            </a: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stocate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</a:t>
            </a: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reguli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business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tranzactii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proc.stocate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triggere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aplicatii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BD,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tipuri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utilizatori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Frecventa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anumitor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clase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ex.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timp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executie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raspuns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informal  - nu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absoluta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verificata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diverse :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intervievare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studiul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sistemelor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existente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=&gt;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Rezultat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unui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document  cu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specificarea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cerintelor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punct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pornire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analiza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2486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Elemente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..</a:t>
            </a:r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23327" y="914400"/>
            <a:ext cx="89154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</a:t>
            </a:r>
            <a:r>
              <a:rPr kumimoji="1"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</a:t>
            </a:r>
            <a:r>
              <a:rPr kumimoji="1"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conceptuala</a:t>
            </a:r>
            <a:r>
              <a:rPr kumimoji="1"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kumimoji="1" lang="en-US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spcBef>
                <a:spcPct val="35000"/>
              </a:spcBef>
              <a:buClr>
                <a:schemeClr val="hlink"/>
              </a:buClr>
              <a:buSzPct val="80000"/>
            </a:pP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Model de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nivel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inalt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inglobeaza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incapsuleaza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cerintele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specifice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datelor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lvl="1">
              <a:spcBef>
                <a:spcPct val="35000"/>
              </a:spcBef>
              <a:buClr>
                <a:schemeClr val="hlink"/>
              </a:buClr>
              <a:buSzPct val="80000"/>
            </a:pP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Modelele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ER (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/EER, UML</a:t>
            </a:r>
          </a:p>
          <a:p>
            <a:pPr lvl="1">
              <a:spcBef>
                <a:spcPct val="35000"/>
              </a:spcBef>
              <a:buClr>
                <a:schemeClr val="hlink"/>
              </a:buClr>
              <a:buSzPct val="80000"/>
            </a:pP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Ofera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precisa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relativ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simpla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datelor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translatare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catre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acceptate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SGBD</a:t>
            </a:r>
          </a:p>
          <a:p>
            <a:pPr lvl="2">
              <a:spcBef>
                <a:spcPct val="35000"/>
              </a:spcBef>
              <a:buClr>
                <a:schemeClr val="hlink"/>
              </a:buClr>
              <a:buSzPct val="80000"/>
            </a:pP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-Este un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down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specifica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entitatile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apoi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construieste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definirea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ale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acestora</a:t>
            </a:r>
            <a:endParaRPr kumimoji="1"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spcBef>
                <a:spcPct val="35000"/>
              </a:spcBef>
              <a:buClr>
                <a:schemeClr val="hlink"/>
              </a:buClr>
              <a:buSzPct val="80000"/>
            </a:pP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abordare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bottom –up 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normalizarea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presupune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identificarea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atributelor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apoi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utilizarea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kumimoji="1"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tehnici</a:t>
            </a:r>
            <a:r>
              <a:rPr kumimoji="1"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bazate</a:t>
            </a:r>
            <a:r>
              <a:rPr kumimoji="1"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</a:t>
            </a:r>
            <a:r>
              <a:rPr kumimoji="1"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dependente</a:t>
            </a:r>
            <a:r>
              <a:rPr kumimoji="1"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care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acestea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pot fi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grupate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genera </a:t>
            </a: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87355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Exemplu</a:t>
            </a:r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</a:t>
            </a:r>
            <a:r>
              <a:rPr lang="ro-RO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ță</a:t>
            </a:r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3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</a:t>
            </a:r>
            <a:endParaRPr lang="en-US" sz="3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715000"/>
          </a:xfrm>
        </p:spPr>
        <p:txBody>
          <a:bodyPr/>
          <a:lstStyle/>
          <a:p>
            <a:pPr marL="0" lvl="0" indent="0">
              <a:buNone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Firma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VideoShop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ofera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imprumut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clientilor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casete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VHS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DVD, conform cu 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urmatoarele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cerinte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suport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stocare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media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unic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printr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-un cod ,  o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locatia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magazin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clasele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media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VHS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DVD 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casete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video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calitatea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DVD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regiune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lvl="0"/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oferi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clientilor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media are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asociata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minima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despre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film.Pe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astfel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suport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stocare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inregistrat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singur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film 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acesta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atat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caseta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cat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DVD. </a:t>
            </a:r>
          </a:p>
          <a:p>
            <a:pPr lvl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film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definit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unic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un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identificator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 are un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titlu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stoca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numele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actorilor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principali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astfel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suport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media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imprumutat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 client 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imprumut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stoca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inceput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sfarsit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lvl="0"/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Clientul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un ID,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numele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adresa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oras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strada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cod postal),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putea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realiza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rezervari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Internet se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cardul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credit </a:t>
            </a:r>
          </a:p>
          <a:p>
            <a:pPr lvl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client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realiza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imprumuturi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fara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fi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necesara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inregistrarea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unui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istoric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imprumuturilor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. </a:t>
            </a:r>
          </a:p>
          <a:p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1159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>
              <a:defRPr/>
            </a:pPr>
            <a:b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3.Proiectarea logic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Presupune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alegerea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unui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de date (al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unui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SGBD)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unui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SGBD (MS SQL, MySQL, Oracle, IBM DB2)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necesar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implementarii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buFont typeface="Wingdings" pitchFamily="2" charset="2"/>
              <a:buChar char="§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Translatarea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proiectarii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un model de date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suportat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SGBD =&gt;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relational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nonrelational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..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nivel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logic de ex. XML)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Realizeaza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informatiei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bazat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caracteristicile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modelului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logic ( de ex.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specificarea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domenii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constrangeri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064246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>
              <a:defRPr/>
            </a:pPr>
            <a:b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3.Proiectarea logic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1066800"/>
            <a:ext cx="91440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presupune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rafinarea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ulterioara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schemei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BD</a:t>
            </a:r>
          </a:p>
          <a:p>
            <a:pPr marL="742950" lvl="1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</a:pP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Restructurarea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schemei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relationale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asigura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anumite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proprietati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elimina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anomaliile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redundantele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 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la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baza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teoria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normalizarilor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baze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date.</a:t>
            </a:r>
          </a:p>
          <a:p>
            <a:pPr marL="742950" lvl="1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</a:pPr>
            <a:endParaRPr kumimoji="1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57300" lvl="2" indent="-342900">
              <a:spcBef>
                <a:spcPct val="35000"/>
              </a:spcBef>
              <a:buClr>
                <a:schemeClr val="hlink"/>
              </a:buClr>
              <a:buSzPct val="80000"/>
              <a:buFont typeface="Arial" pitchFamily="34" charset="0"/>
              <a:buChar char="•"/>
            </a:pP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un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</a:t>
            </a:r>
            <a:r>
              <a:rPr kumimoji="1"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kumimoji="1" lang="en-US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subiectiv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 RIGUROS (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comparativ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analiza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cerintelor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conceptuala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exista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concepte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algoritmi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acest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</a:t>
            </a:r>
            <a:endParaRPr kumimoji="1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pitchFamily="2" charset="2"/>
              <a:buChar char="l"/>
            </a:pPr>
            <a:endParaRPr kumimoji="1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9227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>
              <a:defRPr/>
            </a:pPr>
            <a:b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fizic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pPr lvl="1"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Definirea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structurii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fizice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date.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Crearea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setului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tabele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bazat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relational</a:t>
            </a:r>
          </a:p>
          <a:p>
            <a:pPr lvl="2">
              <a:buFont typeface="Wingdings" pitchFamily="2" charset="2"/>
              <a:buChar char="§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Crearea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indecsi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date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Se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iau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considerare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elemente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incarcare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performanta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accesului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date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anumite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frecvent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accesate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2">
              <a:buFont typeface="Wingdings" pitchFamily="2" charset="2"/>
              <a:buChar char="§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Implementarea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constrangerilor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restrictiilor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securitate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buFont typeface="Wingdings" pitchFamily="2" charset="2"/>
              <a:buChar char="§"/>
            </a:pP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Utilizatori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grupuri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 schema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externa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alaturi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privilegiile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kumimoji="1"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implementare</a:t>
            </a:r>
            <a:r>
              <a:rPr kumimoji="1"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buFont typeface="Wingdings" pitchFamily="2" charset="2"/>
              <a:buChar char="§"/>
            </a:pP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Dezvoltarea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aplicatii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kumimoji="1"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</a:t>
            </a:r>
            <a:r>
              <a:rPr kumimoji="1"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 date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3"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presupune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reproiectarea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anumitor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schema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</a:t>
            </a:r>
          </a:p>
        </p:txBody>
      </p:sp>
    </p:spTree>
    <p:extLst>
      <p:ext uri="{BB962C8B-B14F-4D97-AF65-F5344CB8AC3E}">
        <p14:creationId xmlns:p14="http://schemas.microsoft.com/office/powerpoint/2010/main" val="23612389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916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Testare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mentanan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ță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procesul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executie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aplicatiei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avand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drept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scop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detectarea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erori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Mentenanta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operationala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procesul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monitorizare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mentinere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sistemului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urmat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instalare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CASE tools –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sustin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procesul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dezvoltare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Tooluri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convertesc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automat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diagrame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ER in SQL –DDL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Examineaza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interogarile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sugereaza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imbunatatiri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..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ofera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medii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dezvoltare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aplicatiilor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sofisticate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mentinerea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productivitatii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echipei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dezvoltare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4970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Recomand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Tx/>
              <a:buChar char="•"/>
            </a:pP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fizica</a:t>
            </a:r>
            <a:r>
              <a:rPr lang="ro-RO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ro-RO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CUM,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CE</a:t>
            </a: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schema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a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bazei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inainte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incepe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dezoltarea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aplicatiei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Modificari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asupra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schemei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au impact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asupra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aplicatiei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reduce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eficienta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procesului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dezvoltare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prototipiza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aplicatia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reduce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timpul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general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dezvoltare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sistemului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structura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reutilizare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cod/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documentare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intermediare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confirmare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feedback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utilizator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asupra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formularelor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ecranelor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rapoartelor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acestea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pot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comporta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modificari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frecvente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izola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codul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baza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 (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..)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8385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Practici de proiectare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8991600" cy="5867400"/>
          </a:xfrm>
        </p:spPr>
        <p:txBody>
          <a:bodyPr/>
          <a:lstStyle/>
          <a:p>
            <a:pPr>
              <a:buNone/>
            </a:pP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Evitarea entitatilor slabe in modelare – desi aparent exista putine chei naturale ,din multimea proprietatilor obiectelor, exista diverse chei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generate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(CNP, studentID..)</a:t>
            </a:r>
          </a:p>
          <a:p>
            <a:pPr>
              <a:buNone/>
            </a:pP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cate ori este posibil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vor utiliza chei </a:t>
            </a:r>
            <a:r>
              <a:rPr lang="ro-RO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prefabricate(numerice, surogat, autoincrementabile </a:t>
            </a:r>
            <a:endParaRPr lang="en-US" sz="28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endParaRPr lang="ro-RO" sz="28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Simplificari </a:t>
            </a:r>
          </a:p>
          <a:p>
            <a:pPr>
              <a:buNone/>
            </a:pP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asocierile many to many – doua asocieri one to many</a:t>
            </a:r>
          </a:p>
          <a:p>
            <a:pPr>
              <a:buNone/>
            </a:pP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asocierile de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ordin superior ( ternar)   - asocieri binare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 many to many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ransformare many to many in doua asocieri one to many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2362200"/>
            <a:ext cx="7696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Concluzii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lvl="1"/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 conceptual – la un nivel inalt de abstractizare, implica </a:t>
            </a:r>
            <a:r>
              <a:rPr lang="ro-RO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entitati, asocieri si atribute</a:t>
            </a:r>
          </a:p>
          <a:p>
            <a:pPr lvl="1"/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 de Entitate ( de ex E1) – grup de entitati cu aceleasi proprietati</a:t>
            </a:r>
          </a:p>
          <a:p>
            <a:pPr lvl="2"/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Entitatile pot fi puternice ( au cheie unica) sau slabe ( nu au cheie unica, proprie)</a:t>
            </a:r>
          </a:p>
          <a:p>
            <a:pPr lvl="2"/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Asocierea – corelarea logica a entitatilor</a:t>
            </a:r>
          </a:p>
          <a:p>
            <a:pPr lvl="2"/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 implica doua sau mai multe entitati si poate fi reflexiva</a:t>
            </a:r>
          </a:p>
          <a:p>
            <a:pPr lvl="2"/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Poseda doua tipuri de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constrangeri</a:t>
            </a:r>
          </a:p>
          <a:p>
            <a:pPr lvl="3"/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participare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 numarul minim de  participari ale unei entitati intr-o asociere</a:t>
            </a:r>
          </a:p>
          <a:p>
            <a:pPr lvl="3"/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Cardinalitate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numaru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maxim de participari intr-o asociere</a:t>
            </a:r>
          </a:p>
          <a:p>
            <a:pPr lvl="3"/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 sunt proprietatile entitatilor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 asocierilor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ro-RO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 EA –  modelare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conceptuala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BD,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actual 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UML</a:t>
            </a:r>
          </a:p>
          <a:p>
            <a:pPr lvl="1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extins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lv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extins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(E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include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OO 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anume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Superclase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Specializare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generalizare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Agregare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compozitie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Aceste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permit o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precisa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sistemelor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care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domeniului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orientate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obiect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 de ex.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CAD/CAM,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GIS </a:t>
            </a:r>
          </a:p>
          <a:p>
            <a:pPr lvl="2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mod 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uzual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majoritate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proiectelor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nu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absolut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necesare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decat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daca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ofera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avantaje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semnificative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deoarece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trebuie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mentinuta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SIMPLA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2743200"/>
          </a:xfrm>
        </p:spPr>
        <p:txBody>
          <a:bodyPr/>
          <a:lstStyle/>
          <a:p>
            <a:pPr lvl="1">
              <a:buNone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extinsa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None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o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specifica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extinde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mostenirea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metodelor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adaugarea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propriilor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None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Mostenirea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procesul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care o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mosteneste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metodele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886200"/>
            <a:ext cx="7772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Utilitate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5257800" cy="5867400"/>
          </a:xfrm>
        </p:spPr>
        <p:txBody>
          <a:bodyPr/>
          <a:lstStyle/>
          <a:p>
            <a:pPr lvl="1"/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Domeniul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OO,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iar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utilizarea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mostenirii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reduce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complexitatea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proiectarii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buNone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Cazuri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aplicabilitate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EER</a:t>
            </a:r>
          </a:p>
          <a:p>
            <a:pPr lvl="2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mostenirea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reduce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utilizarea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null-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uri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pot fi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mod explicit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seturi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1981200"/>
            <a:ext cx="38100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Generalizare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specializare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71939"/>
            <a:ext cx="9144000" cy="5867400"/>
          </a:xfrm>
        </p:spPr>
        <p:txBody>
          <a:bodyPr/>
          <a:lstStyle/>
          <a:p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superclasele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create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utilizan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generalizarea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specializarea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Specializarea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procesul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specializate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anumite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top-down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porneste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o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subdivide 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specializate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specializate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pot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propriile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comune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tuturor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raman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superclasa</a:t>
            </a:r>
          </a:p>
          <a:p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Generalizarea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procesul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general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existente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bottom – up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porneste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specializate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incearca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determinarea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comune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Specializare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685800" y="1295400"/>
            <a:ext cx="7696200" cy="4953000"/>
            <a:chOff x="1371600" y="1519238"/>
            <a:chExt cx="6553200" cy="3956982"/>
          </a:xfrm>
        </p:grpSpPr>
        <p:pic>
          <p:nvPicPr>
            <p:cNvPr id="2560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371600" y="1519238"/>
              <a:ext cx="6400800" cy="3819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6858000" y="4953000"/>
              <a:ext cx="10668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Generalizare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838200" y="1509713"/>
            <a:ext cx="7315199" cy="4814887"/>
            <a:chOff x="1395413" y="1509713"/>
            <a:chExt cx="6529387" cy="4042707"/>
          </a:xfrm>
        </p:grpSpPr>
        <p:pic>
          <p:nvPicPr>
            <p:cNvPr id="2662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395413" y="1509713"/>
              <a:ext cx="6353175" cy="3838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6934200" y="5029200"/>
              <a:ext cx="9906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ngeri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Generalizare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specializare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486400"/>
          </a:xfrm>
        </p:spPr>
        <p:txBody>
          <a:bodyPr/>
          <a:lstStyle/>
          <a:p>
            <a:pPr lvl="1">
              <a:buFont typeface="Wingdings" pitchFamily="2" charset="2"/>
              <a:buChar char="§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Constrangerea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participare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determina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daca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membru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trebuie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membru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sale</a:t>
            </a:r>
          </a:p>
          <a:p>
            <a:pPr lvl="2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obligatoriu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Constrangerea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disjunctivitate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determina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daca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membru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membru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</a:t>
            </a:r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una</a:t>
            </a:r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din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sale</a:t>
            </a:r>
          </a:p>
          <a:p>
            <a:pPr lvl="2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Daca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membru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singure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notatia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disjuncte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2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caz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notatia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–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sale</a:t>
            </a:r>
          </a:p>
          <a:p>
            <a:pPr lvl="2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Exemplu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angajat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dezvoltator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manager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990600" y="2057400"/>
            <a:ext cx="7391399" cy="4114800"/>
            <a:chOff x="1566863" y="1771650"/>
            <a:chExt cx="6205537" cy="3399770"/>
          </a:xfrm>
        </p:grpSpPr>
        <p:pic>
          <p:nvPicPr>
            <p:cNvPr id="27650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566863" y="1771650"/>
              <a:ext cx="6010275" cy="3314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6858000" y="4648200"/>
              <a:ext cx="9144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Exemplul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angajat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specializa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dezvoltator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manager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 ambele)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133600"/>
            <a:ext cx="7467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294160" y="6096000"/>
            <a:ext cx="9906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Mostenirea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multipl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Daca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singura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diagrama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specializare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ierarhie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tipuri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Daca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o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diagrama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generalizare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3048000"/>
            <a:ext cx="683895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Agregarea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Agregarea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reprezinta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HAS-A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PART OF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tipuri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un tip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intregul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celalalt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partea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048000"/>
            <a:ext cx="75438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Compozi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ia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Compozitia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forma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puternica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agregare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care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nu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fara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intreg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2531854"/>
            <a:ext cx="7696200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066800" y="5657671"/>
            <a:ext cx="769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Constrangerea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min-max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intreg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Departament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trebuie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fie 1..1 la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compozitiei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!!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obligatoriu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vs E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447800"/>
            <a:ext cx="4724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1371600"/>
            <a:ext cx="3971925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ngeri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de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vs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ngeri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tenire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echivalenta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constrangerile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reprezentarile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modelului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constrangerile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mostenire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sub/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superclase</a:t>
            </a:r>
            <a:endParaRPr lang="ro-RO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numarul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minim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aparitii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constrangere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participare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ambele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cazuri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numarul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maxim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aparitii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numit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constangere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cardinalitate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disjunctivitate</a:t>
            </a:r>
            <a:r>
              <a:rPr lang="en-US" sz="24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E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0" y="5207000"/>
            <a:ext cx="4953000" cy="165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28600"/>
            <a:ext cx="868680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0730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Concluzii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include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aspecte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OO</a:t>
            </a:r>
          </a:p>
          <a:p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Generalizarea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specializarea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complementare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construirea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(IS A)</a:t>
            </a:r>
          </a:p>
          <a:p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Constrageri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disjunctivitate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aplicabile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subclaselor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participarea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obligatorie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 mandatory)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in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subclasa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membra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singure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constangerea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disjunct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OR)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 AND)</a:t>
            </a:r>
          </a:p>
          <a:p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Agregarea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compozitia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HAS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PART OF</a:t>
            </a: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Caracteristicile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modelului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EER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utile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BD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complexe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roiectare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conceptual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buFont typeface="Monotype Sorts" charset="0"/>
              <a:buNone/>
            </a:pP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Schemele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relatiilor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elementele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constitutive ale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BD</a:t>
            </a:r>
          </a:p>
          <a:p>
            <a:pPr lvl="1">
              <a:buFont typeface="Monotype Sorts" charset="0"/>
              <a:buNone/>
            </a:pP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Schema  </a:t>
            </a:r>
            <a:r>
              <a:rPr lang="en-US" sz="24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contine</a:t>
            </a: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</a:t>
            </a:r>
            <a:r>
              <a:rPr lang="ro-RO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</a:t>
            </a: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structura</a:t>
            </a: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relatiei</a:t>
            </a: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lvl="1">
              <a:buFont typeface="Monotype Sorts" charset="0"/>
              <a:buNone/>
            </a:pP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	 </a:t>
            </a:r>
            <a:r>
              <a:rPr lang="en-US" sz="24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domeniile</a:t>
            </a: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</a:t>
            </a: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</a:t>
            </a:r>
          </a:p>
          <a:p>
            <a:pPr lvl="1"/>
            <a:endParaRPr lang="en-US" sz="2400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Monotype Sorts" charset="0"/>
              <a:buNone/>
            </a:pP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de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</a:t>
            </a:r>
          </a:p>
          <a:p>
            <a:pPr lvl="4"/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alegerea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setului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 scheme de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care se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modeleaza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optim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entitatile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endParaRPr lang="ro-RO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4"/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4"/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gruparea</a:t>
            </a:r>
            <a:r>
              <a:rPr lang="en-US" sz="2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optima</a:t>
            </a:r>
            <a:r>
              <a:rPr lang="en-US" sz="2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atributelor</a:t>
            </a:r>
            <a:r>
              <a:rPr lang="en-US" sz="2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scheme</a:t>
            </a:r>
            <a:endParaRPr lang="ro-RO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4"/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4"/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specificarea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tipurilor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intre</a:t>
            </a:r>
            <a:r>
              <a:rPr lang="en-US" sz="2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tipuri</a:t>
            </a:r>
            <a:r>
              <a:rPr lang="en-US" sz="2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</a:t>
            </a:r>
            <a:endParaRPr lang="en-US" sz="2400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4"/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454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conceptual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(1)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pPr lvl="1">
              <a:buFont typeface="Monotype Sorts" charset="0"/>
              <a:buNone/>
            </a:pPr>
            <a:r>
              <a:rPr lang="en-US" sz="24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US" sz="2400" b="1" i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ependenta</a:t>
            </a:r>
            <a:r>
              <a:rPr lang="en-US" sz="2400" b="1" i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i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datelor</a:t>
            </a: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intre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relatiilor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exista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u="sng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legaturi</a:t>
            </a:r>
            <a:r>
              <a:rPr lang="en-US" sz="2400" b="1" u="sng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u="sng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logice</a:t>
            </a:r>
            <a:r>
              <a:rPr lang="en-US" sz="2400" b="1" u="sng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(..</a:t>
            </a:r>
            <a:r>
              <a:rPr lang="en-US" sz="2400" b="1" u="sn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dependente</a:t>
            </a:r>
            <a:r>
              <a:rPr lang="en-US" sz="24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influenteaza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operatiile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curente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exploatare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BD</a:t>
            </a:r>
          </a:p>
          <a:p>
            <a:pPr lvl="1"/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Monotype Sorts" charset="0"/>
              <a:buNone/>
            </a:pP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Tipuri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dependente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functionale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multivalorice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de cuplare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Monotype Sorts" charset="0"/>
              <a:buNone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Anumite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scheme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</a:t>
            </a:r>
            <a:r>
              <a:rPr lang="en-U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redundanta</a:t>
            </a:r>
            <a:r>
              <a:rPr lang="en-U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datelor</a:t>
            </a:r>
            <a:r>
              <a:rPr lang="en-U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relativ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anumite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pot conduce la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anomalii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</a:t>
            </a: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</a:t>
            </a:r>
            <a:r>
              <a:rPr lang="en-US" sz="24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adaugare</a:t>
            </a: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stergere</a:t>
            </a:r>
            <a:r>
              <a:rPr lang="en-US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de </a:t>
            </a:r>
            <a:r>
              <a:rPr lang="en-US" sz="24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actualizare</a:t>
            </a:r>
            <a:endParaRPr lang="en-US" sz="2400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Monotype Sorts" charset="0"/>
              <a:buNone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Alegerea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unui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model 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corect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BD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relationala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reprezintă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determinarea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descompuneri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capabile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ro-RO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buFont typeface="Monotype Sorts" charset="0"/>
              <a:buNone/>
            </a:pPr>
            <a:r>
              <a:rPr lang="ro-RO" b="1" i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</a:t>
            </a:r>
            <a:r>
              <a:rPr lang="en-US" b="1" i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izoleze</a:t>
            </a:r>
            <a:r>
              <a:rPr lang="en-US" b="1" i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dependentele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ro-RO" b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buFont typeface="Monotype Sorts" charset="0"/>
              <a:buNone/>
            </a:pPr>
            <a:r>
              <a:rPr lang="ro-RO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</a:t>
            </a:r>
            <a:r>
              <a:rPr lang="en-US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</a:t>
            </a:r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i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elimine</a:t>
            </a:r>
            <a:r>
              <a:rPr lang="en-US" b="1" i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ANOMALIILE de </a:t>
            </a:r>
            <a:r>
              <a:rPr lang="en-US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accesare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datelor</a:t>
            </a:r>
            <a:endParaRPr lang="en-US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3164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 conceptuală (2)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0"/>
              <a:buNone/>
            </a:pP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eronata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BD,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conduce la 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redundanta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aceeasi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valoare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date in m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ulte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locuri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- reduce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performanta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accesului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date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consuma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spatiu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M/HDD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Dificultati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4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reprezentarea</a:t>
            </a:r>
            <a:r>
              <a:rPr lang="en-US" sz="2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anumitor</a:t>
            </a:r>
            <a:r>
              <a:rPr lang="en-US" sz="2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informatii</a:t>
            </a:r>
            <a:r>
              <a:rPr lang="en-US" sz="2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/date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Dificultati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verificarea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constrangerilor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</a:t>
            </a:r>
            <a:r>
              <a:rPr lang="en-US" sz="24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integritate</a:t>
            </a:r>
            <a:r>
              <a:rPr lang="en-US" sz="2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(PK-FK)</a:t>
            </a:r>
          </a:p>
          <a:p>
            <a:pPr>
              <a:lnSpc>
                <a:spcPct val="90000"/>
              </a:lnSpc>
              <a:buFont typeface="Monotype Sorts" charset="0"/>
              <a:buNone/>
            </a:pP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Obiective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corecta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BD-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gruparea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atributelor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 existe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lvl="2">
              <a:lnSpc>
                <a:spcPct val="90000"/>
              </a:lnSpc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Reprezentare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corecta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relatiilor</a:t>
            </a:r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logice </a:t>
            </a:r>
            <a:r>
              <a:rPr lang="en-US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existente</a:t>
            </a:r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lnSpc>
                <a:spcPct val="90000"/>
              </a:lnSpc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Minimizarea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evitarea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redundantei</a:t>
            </a:r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datelor</a:t>
            </a:r>
            <a:r>
              <a:rPr lang="ro-RO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(dublare)</a:t>
            </a:r>
            <a:endParaRPr lang="en-US" b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lnSpc>
                <a:spcPct val="90000"/>
              </a:lnSpc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Suport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verificarea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constrangerilor</a:t>
            </a:r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integritate</a:t>
            </a:r>
            <a:endParaRPr lang="en-US" b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lnSpc>
                <a:spcPct val="90000"/>
              </a:lnSpc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90000"/>
              </a:lnSpc>
            </a:pP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8205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 și Modelul Relațional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rezulta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 model  conceptual E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/E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/UML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conceptual 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rezultat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trebuie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convertit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 RELATIONAL </a:t>
            </a:r>
            <a:r>
              <a:rPr lang="en-US" sz="28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8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putea</a:t>
            </a:r>
            <a:r>
              <a:rPr 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 </a:t>
            </a:r>
            <a:r>
              <a:rPr lang="en-US" sz="28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implementat</a:t>
            </a:r>
            <a:r>
              <a:rPr 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</a:t>
            </a:r>
            <a:r>
              <a:rPr 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-un SGBD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posibila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direct in 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relational 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benefica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proiectarea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conceptual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detectarea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eventualelor</a:t>
            </a:r>
            <a:r>
              <a:rPr 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probleme</a:t>
            </a:r>
            <a:r>
              <a:rPr 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8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</a:t>
            </a:r>
            <a:r>
              <a:rPr lang="en-US" sz="28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incorecta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=&gt;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scop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 model relational BUN</a:t>
            </a:r>
          </a:p>
        </p:txBody>
      </p:sp>
    </p:spTree>
    <p:extLst>
      <p:ext uri="{BB962C8B-B14F-4D97-AF65-F5344CB8AC3E}">
        <p14:creationId xmlns:p14="http://schemas.microsoft.com/office/powerpoint/2010/main" val="41984871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elational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ER-relational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presupune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un set de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general se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vor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converti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entitatile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asocierile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iar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si 1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vor fi utilizate </a:t>
            </a:r>
            <a:r>
              <a:rPr lang="ro-RO" sz="2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cheile straine </a:t>
            </a:r>
            <a:endParaRPr lang="en-US" sz="28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Dupa conversie,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necesar un proces de </a:t>
            </a:r>
            <a:r>
              <a:rPr lang="ro-R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normalizare,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imbunatatirea schemei rezultate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7457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/>
              <a:t>Modelul </a:t>
            </a:r>
            <a:r>
              <a:rPr lang="en-US" sz="4000" b="1" dirty="0"/>
              <a:t>ER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990600"/>
            <a:ext cx="8229600" cy="5333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7467600" y="5791200"/>
            <a:ext cx="12192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7037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onversie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ăț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puternice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" y="1181100"/>
            <a:ext cx="9144000" cy="990600"/>
          </a:xfrm>
        </p:spPr>
        <p:txBody>
          <a:bodyPr/>
          <a:lstStyle/>
          <a:p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converteste fiecare entitate puternica intr-o relatie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1074" y="1676400"/>
            <a:ext cx="71628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28600" y="4114800"/>
            <a:ext cx="86868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kumimoji="0" lang="ro-RO" sz="24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entitatii devin atribute in relatie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o-RO" sz="2400" kern="0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includ doar </a:t>
            </a:r>
            <a:r>
              <a:rPr lang="ro-RO" sz="2400" b="1" kern="0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 simple </a:t>
            </a:r>
            <a:r>
              <a:rPr lang="ro-RO" sz="2400" kern="0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relatie, pentru </a:t>
            </a:r>
            <a:r>
              <a:rPr lang="ro-RO" sz="2400" b="1" kern="0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 compuse se vor crea atribute </a:t>
            </a:r>
            <a:r>
              <a:rPr lang="en-US" sz="2400" b="1" kern="0" baseline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distincte</a:t>
            </a:r>
            <a:r>
              <a:rPr lang="en-US" sz="2400" b="1" kern="0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400" b="1" kern="0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relatie</a:t>
            </a:r>
            <a:r>
              <a:rPr lang="ro-RO" sz="2400" kern="0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pentru fiecare component</a:t>
            </a:r>
            <a:r>
              <a:rPr lang="en-US" sz="2400" kern="0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ro-RO" sz="2400" kern="0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atribut</a:t>
            </a:r>
            <a:r>
              <a:rPr lang="en-US" sz="2400" kern="0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kern="0" baseline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compus</a:t>
            </a:r>
            <a:endParaRPr lang="ro-RO" sz="2400" kern="0" baseline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ro-RO" sz="24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 multivaloare vor fi tratate distinct</a:t>
            </a:r>
            <a:r>
              <a:rPr kumimoji="0" lang="en-US" sz="24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 …</a:t>
            </a:r>
            <a:r>
              <a:rPr kumimoji="0" lang="en-US" sz="2400" b="0" i="0" u="none" strike="noStrike" kern="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alte</a:t>
            </a:r>
            <a:r>
              <a:rPr kumimoji="0" lang="en-US" sz="24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400" b="0" i="0" u="none" strike="noStrike" kern="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</a:t>
            </a:r>
            <a:r>
              <a:rPr kumimoji="0" lang="en-US" sz="24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kumimoji="0" lang="ro-RO" sz="2400" b="0" i="0" u="none" strike="noStrike" kern="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ro-RO" sz="2400" b="1" kern="0" baseline="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Cheia</a:t>
            </a:r>
            <a:r>
              <a:rPr lang="ro-RO" sz="2400" b="1" kern="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primara  a relatiei este cheia  entitatii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02146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ăț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slabe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990600"/>
            <a:ext cx="9067800" cy="5867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converti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slaba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-o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poseda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straine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 parinte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permit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identificarea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Generalizare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slaba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W, cu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puternice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E1, E2,… En ,se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dupa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cum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urmeaza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R1, R2, R3… Rn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E1, E2… En</a:t>
            </a:r>
          </a:p>
          <a:p>
            <a:pPr lvl="1">
              <a:buFont typeface="Arial" pitchFamily="34" charset="0"/>
              <a:buChar char="•"/>
            </a:pP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constituie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relatiilor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R1, R2… Rn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(eventual)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partiala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slabe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creeaza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R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R1, R2… Rn</a:t>
            </a: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86271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Pas 1 - 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Schema de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990600"/>
            <a:ext cx="80772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360516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</a:t>
            </a: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ăț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3716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855463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Schema de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devine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295400"/>
            <a:ext cx="7772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1129939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asocierilor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1219200"/>
            <a:ext cx="914400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asocierilor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binare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cardinalitate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1:1, 1:N, M:N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Nota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cazul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M:N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general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astfel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incat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algoritmul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acestea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aplicat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cazurilor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1:1, 1:N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din motive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dorit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aplice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diferite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distincte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tip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Arial" pitchFamily="34" charset="0"/>
              <a:buChar char="•"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general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ER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mapata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totusi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M:N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eficient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combine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existente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decat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creeze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noua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87028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asocierilor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914400"/>
            <a:ext cx="9144000" cy="5943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convertesc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binare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1:1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folosind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referinta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tip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la o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cealalta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Ex.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Fiind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binara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1:1  ,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numita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 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Ej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mod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corespunzator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Rj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alege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 de ex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adauga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R 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adauga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Rj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creeaza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referinta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tip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la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Rj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declara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Rj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fiind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(Unique)</a:t>
            </a:r>
          </a:p>
          <a:p>
            <a:pPr marL="800100" lvl="1" indent="-342900">
              <a:buFont typeface="Wingdings" pitchFamily="2" charset="2"/>
              <a:buChar char="§"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Nota: 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alege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Rj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uzual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alege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obligatorie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23808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Ex.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asocierilor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1:1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219200"/>
            <a:ext cx="80772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725317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asocierilor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143000"/>
            <a:ext cx="9120996" cy="571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converteste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binara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1:N ca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referinta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tip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dinspre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 a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 a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asocierii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Ex. Fie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binara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de tip 1:N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numita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Ej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corespondente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Rj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asocierii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0" lvl="3" indent="-342900">
              <a:buFont typeface="Wingdings" pitchFamily="2" charset="2"/>
              <a:buChar char="§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adauga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R 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0" lvl="3" indent="-342900">
              <a:buFont typeface="Wingdings" pitchFamily="2" charset="2"/>
              <a:buChar char="§"/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adauga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Rj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creeaza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referinta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la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Rj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Nota-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obligatorie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selectia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straina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74210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asocierilor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1:N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143000"/>
            <a:ext cx="8534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366133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asocierilor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1:N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95400"/>
            <a:ext cx="9143999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5842501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asocierilor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1:N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2192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7962960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Schema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ional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devine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..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371600"/>
            <a:ext cx="8458200" cy="4952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104656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asocierilor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M:N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219200"/>
            <a:ext cx="914400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convertesc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binare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M:N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-o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noua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straine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catre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cele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doua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participante</a:t>
            </a: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binara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M:N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Ej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corespondente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Rj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>
              <a:buFont typeface="Wingdings" pitchFamily="2" charset="2"/>
              <a:buChar char="§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creeaza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noua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reprezinta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astfel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</a:p>
          <a:p>
            <a:pPr lvl="1">
              <a:buFont typeface="Wingdings" pitchFamily="2" charset="2"/>
              <a:buChar char="Ø"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buFont typeface="Arial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asocierii</a:t>
            </a:r>
            <a:endParaRPr lang="ro-RO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buFont typeface="Arial" pitchFamily="34" charset="0"/>
              <a:buChar char="•"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buFont typeface="Arial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compusa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constituie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ale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relatiilor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Rj</a:t>
            </a:r>
            <a:endParaRPr lang="ro-RO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buFont typeface="Arial" pitchFamily="34" charset="0"/>
              <a:buChar char="•"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buFont typeface="Arial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adauga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Rj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R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creeaza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referinta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R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Rj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R</a:t>
            </a:r>
          </a:p>
        </p:txBody>
      </p:sp>
    </p:spTree>
    <p:extLst>
      <p:ext uri="{BB962C8B-B14F-4D97-AF65-F5344CB8AC3E}">
        <p14:creationId xmlns:p14="http://schemas.microsoft.com/office/powerpoint/2010/main" val="257191358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asocierilor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M:N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295400"/>
            <a:ext cx="8534400" cy="5029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8429751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Schema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ional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devine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..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143000"/>
            <a:ext cx="8915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471972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atributelor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multivaloare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1143000"/>
            <a:ext cx="9144000" cy="571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multivaloare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converteste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-o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compusa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valoare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Fie un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multivaloare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al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corespunzatoare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noua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reprezinta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astfel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3">
              <a:buFont typeface="Wingdings" pitchFamily="2" charset="2"/>
              <a:buChar char="Ø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valoarea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simpla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atributului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</a:t>
            </a:r>
          </a:p>
          <a:p>
            <a:pPr lvl="3">
              <a:buFont typeface="Wingdings" pitchFamily="2" charset="2"/>
              <a:buChar char="Ø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adauga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R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creeaza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referinta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din R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3">
              <a:buFont typeface="Wingdings" pitchFamily="2" charset="2"/>
              <a:buChar char="Ø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R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compusa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constituita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194518421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atributelor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multivaloare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5769532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Schema de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devine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..</a:t>
            </a: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371600"/>
            <a:ext cx="8610600" cy="5181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3049006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asocierilor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n-are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371600"/>
            <a:ext cx="9144000" cy="5486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 - are se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convertesc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crearea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scopul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reprezenta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crearea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referentiaza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entitatile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corelate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fie o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N-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E1, E2… En: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R1, R2…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E1, E2..En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creeaza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noua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reprezenta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asocierea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R 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compune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R1, R2..Rn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creeaza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R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relatiilor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R1…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Rn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devin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08169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asocierilor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n-are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19200"/>
            <a:ext cx="9144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8285018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-&gt;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</a:t>
            </a:r>
            <a:r>
              <a:rPr lang="ro-RO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ional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990601"/>
            <a:ext cx="9144000" cy="5867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necesar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 pas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aditional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subclaselor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superclaselor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model relational 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astfel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Abordari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posibile (exclusive)</a:t>
            </a:r>
            <a:endParaRPr lang="en-US" b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creeaza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separata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superclasa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subclasa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-  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tehnica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generala,uzuala</a:t>
            </a:r>
            <a:endParaRPr lang="ro-RO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creeaza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doar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functionala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daca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obligator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creeaza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singura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un tip de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indica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obiectului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linia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tabelei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 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functional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daca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disjuncte</a:t>
            </a:r>
            <a:endParaRPr lang="ro-RO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crearea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singure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tipuri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cazul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care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nu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disjuncte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comune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00863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Conversia</a:t>
            </a: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subclaselor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1066800"/>
            <a:ext cx="9144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convertesc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superclasele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crearea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Se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leaga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folosind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cheile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 o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setul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S1, S2…Sn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creeaza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superclasa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creeaza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relatiile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R1, R2..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Rn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subclasele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S1, S2..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Sn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superclasei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fiecare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relație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creeaza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straina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R,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folosind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atributele</a:t>
            </a:r>
            <a:r>
              <a:rPr lang="ro-R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 atributul)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cheii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primare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03556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Sumar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1371600"/>
            <a:ext cx="3429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Entitate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1:1, 1:N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M:N</a:t>
            </a: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Asociere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n-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simplu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compus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multivaloare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00600" y="1371600"/>
            <a:ext cx="4038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Relational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straina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Componente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atribut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straina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29811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>
            <a:alpha val="5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>
            <a:alpha val="5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9DD9953CBC2C4DBB52AFFEC97286D6" ma:contentTypeVersion="6" ma:contentTypeDescription="Create a new document." ma:contentTypeScope="" ma:versionID="2adac720e05505cebb3f9c4d0739b4a8">
  <xsd:schema xmlns:xsd="http://www.w3.org/2001/XMLSchema" xmlns:xs="http://www.w3.org/2001/XMLSchema" xmlns:p="http://schemas.microsoft.com/office/2006/metadata/properties" xmlns:ns2="4bd20f04-cafc-4930-b011-41e549565744" targetNamespace="http://schemas.microsoft.com/office/2006/metadata/properties" ma:root="true" ma:fieldsID="f0fa9544f0f60b5bec78c69caad3893d" ns2:_="">
    <xsd:import namespace="4bd20f04-cafc-4930-b011-41e5495657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20f04-cafc-4930-b011-41e5495657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3B4900-F5DC-438C-8445-FEEC3611A3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D00850-151A-4AAE-9BDB-F069AAF8FAD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488E5E6-5916-41D1-AA7D-6D3D662343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d20f04-cafc-4930-b011-41e5495657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2252</TotalTime>
  <Words>5221</Words>
  <Application>Microsoft Office PowerPoint</Application>
  <PresentationFormat>On-screen Show (4:3)</PresentationFormat>
  <Paragraphs>605</Paragraphs>
  <Slides>100</Slides>
  <Notes>96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1" baseType="lpstr">
      <vt:lpstr>Default Design</vt:lpstr>
      <vt:lpstr>Introducere în  BAZE de DATE    3.Modele conceptuale de date </vt:lpstr>
      <vt:lpstr>Modelare EA entitate -asociere</vt:lpstr>
      <vt:lpstr>Elemente de proiectare a BD</vt:lpstr>
      <vt:lpstr>Elemente de proiectare a BD</vt:lpstr>
      <vt:lpstr>Procesul de proiectare</vt:lpstr>
      <vt:lpstr>Procesul de proiectare</vt:lpstr>
      <vt:lpstr>Proiectarea conceptuală-EA/UML</vt:lpstr>
      <vt:lpstr>Modelare EA</vt:lpstr>
      <vt:lpstr>Modelare EA</vt:lpstr>
      <vt:lpstr>ER- notația clasică</vt:lpstr>
      <vt:lpstr>Notația UML</vt:lpstr>
      <vt:lpstr>Entități</vt:lpstr>
      <vt:lpstr>Asocieri</vt:lpstr>
      <vt:lpstr>Reprezentare asocieri</vt:lpstr>
      <vt:lpstr>Reprezentarea asocierilor</vt:lpstr>
      <vt:lpstr>Gradul asocierii</vt:lpstr>
      <vt:lpstr>Asociere recursivă</vt:lpstr>
      <vt:lpstr>Atribute</vt:lpstr>
      <vt:lpstr>Atribute simple și complexe</vt:lpstr>
      <vt:lpstr>Atribute uni-multivaloare</vt:lpstr>
      <vt:lpstr>Reprezentarea atributelor</vt:lpstr>
      <vt:lpstr>Chei</vt:lpstr>
      <vt:lpstr>Model EA</vt:lpstr>
      <vt:lpstr>Model UML</vt:lpstr>
      <vt:lpstr>Constrângeri structurale pe asocieri</vt:lpstr>
      <vt:lpstr>Constrângeri structurale pe asocieri</vt:lpstr>
      <vt:lpstr>Asocieri one to one</vt:lpstr>
      <vt:lpstr>Exemplu asocieri one to one</vt:lpstr>
      <vt:lpstr>Asocieri  one to many</vt:lpstr>
      <vt:lpstr>Asocieri  one to many exemplu</vt:lpstr>
      <vt:lpstr>Asocieri many to many</vt:lpstr>
      <vt:lpstr>Asocieri many to many</vt:lpstr>
      <vt:lpstr>Constrângeri de participare </vt:lpstr>
      <vt:lpstr>Participare one to many</vt:lpstr>
      <vt:lpstr>Constrângere de participare</vt:lpstr>
      <vt:lpstr>Participare many to many</vt:lpstr>
      <vt:lpstr>Asocieri n-are</vt:lpstr>
      <vt:lpstr>Entiăți slabe/puternice</vt:lpstr>
      <vt:lpstr>Entități slabe</vt:lpstr>
      <vt:lpstr>Probleme în modelul ER</vt:lpstr>
      <vt:lpstr>Entitate vs atribut</vt:lpstr>
      <vt:lpstr>Reguli</vt:lpstr>
      <vt:lpstr>Specificația proiectului</vt:lpstr>
      <vt:lpstr>Etape proiectare BD</vt:lpstr>
      <vt:lpstr>Elemente de proiectare..</vt:lpstr>
      <vt:lpstr>Exemplu de cerință de proiectare</vt:lpstr>
      <vt:lpstr> 3.Proiectarea logică  </vt:lpstr>
      <vt:lpstr> 3.Proiectarea logică  </vt:lpstr>
      <vt:lpstr> 4.Proiectarea fizică  </vt:lpstr>
      <vt:lpstr>Testare și mentananță</vt:lpstr>
      <vt:lpstr>Recomandări de design</vt:lpstr>
      <vt:lpstr>Practici de proiectare</vt:lpstr>
      <vt:lpstr>Asocieri many to many</vt:lpstr>
      <vt:lpstr>Concluzii </vt:lpstr>
      <vt:lpstr>Modelul EA extins</vt:lpstr>
      <vt:lpstr>Superclasă/subclasă</vt:lpstr>
      <vt:lpstr>Utilitate EAE</vt:lpstr>
      <vt:lpstr>Generalizare și specializare</vt:lpstr>
      <vt:lpstr>Specializare</vt:lpstr>
      <vt:lpstr>Generalizare</vt:lpstr>
      <vt:lpstr>Constrângeri în Generalizare si specializare</vt:lpstr>
      <vt:lpstr>Exemplu</vt:lpstr>
      <vt:lpstr>Exemplul 2</vt:lpstr>
      <vt:lpstr>Mostenirea multiplă</vt:lpstr>
      <vt:lpstr>Agregarea</vt:lpstr>
      <vt:lpstr>Compoziția</vt:lpstr>
      <vt:lpstr>EA vs EAE</vt:lpstr>
      <vt:lpstr>Constrângeri  de asociere vs constrângeri de moștenire</vt:lpstr>
      <vt:lpstr>PowerPoint Presentation</vt:lpstr>
      <vt:lpstr>Concluzii EAE</vt:lpstr>
      <vt:lpstr>Proiectare conceptuală</vt:lpstr>
      <vt:lpstr>Proiectare conceptuală (1)</vt:lpstr>
      <vt:lpstr>Proiectarea conceptuală (2)</vt:lpstr>
      <vt:lpstr>EA și Modelul Relațional</vt:lpstr>
      <vt:lpstr>Conversie EA-Relational</vt:lpstr>
      <vt:lpstr>Modelul ER</vt:lpstr>
      <vt:lpstr>Conversie entități puternice</vt:lpstr>
      <vt:lpstr>Conversie entități slabe</vt:lpstr>
      <vt:lpstr>Pas 1 - Schema de relatii</vt:lpstr>
      <vt:lpstr>Conversie entități</vt:lpstr>
      <vt:lpstr>Schema de relatii devine..</vt:lpstr>
      <vt:lpstr>Conversia asocierilor</vt:lpstr>
      <vt:lpstr>Conversia asocierilor 1:1</vt:lpstr>
      <vt:lpstr>Ex. conversia asocierilor 1:1</vt:lpstr>
      <vt:lpstr>Conversia asocierilor 1:N</vt:lpstr>
      <vt:lpstr>Conversia asocierilor 1:N</vt:lpstr>
      <vt:lpstr>Conversia asocierilor 1:N</vt:lpstr>
      <vt:lpstr>Conversia asocierilor 1:N</vt:lpstr>
      <vt:lpstr>Schema relațională devine..</vt:lpstr>
      <vt:lpstr>Conversia asocierilor M:N</vt:lpstr>
      <vt:lpstr>Conversia asocierilor M:N</vt:lpstr>
      <vt:lpstr>Schema relațională devine..</vt:lpstr>
      <vt:lpstr>Conversia atributelor multivaloare</vt:lpstr>
      <vt:lpstr>Conversia atributelor multivaloare</vt:lpstr>
      <vt:lpstr>Schema de relații devine..</vt:lpstr>
      <vt:lpstr>Conversia asocierilor n-are</vt:lpstr>
      <vt:lpstr>Conversia asocierilor n-are</vt:lpstr>
      <vt:lpstr>EAE-&gt;Relațional</vt:lpstr>
      <vt:lpstr>Conversia subclaselor</vt:lpstr>
      <vt:lpstr>Sumar</vt:lpstr>
    </vt:vector>
  </TitlesOfParts>
  <Company>UW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Cosmina Ivan</dc:creator>
  <cp:lastModifiedBy>cosmina ivan</cp:lastModifiedBy>
  <cp:revision>363</cp:revision>
  <dcterms:created xsi:type="dcterms:W3CDTF">2009-04-22T19:24:48Z</dcterms:created>
  <dcterms:modified xsi:type="dcterms:W3CDTF">2021-01-27T08:08:01Z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0x010100809DD9953CBC2C4DBB52AFFEC97286D6</vt:lpwstr>
  </property>
</Properties>
</file>