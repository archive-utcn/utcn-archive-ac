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7"/>
  </p:notesMasterIdLst>
  <p:sldIdLst>
    <p:sldId id="256" r:id="rId2"/>
    <p:sldId id="492" r:id="rId3"/>
    <p:sldId id="814" r:id="rId4"/>
    <p:sldId id="815" r:id="rId5"/>
    <p:sldId id="816" r:id="rId6"/>
    <p:sldId id="739" r:id="rId7"/>
    <p:sldId id="740" r:id="rId8"/>
    <p:sldId id="741" r:id="rId9"/>
    <p:sldId id="742" r:id="rId10"/>
    <p:sldId id="743" r:id="rId11"/>
    <p:sldId id="744" r:id="rId12"/>
    <p:sldId id="745" r:id="rId13"/>
    <p:sldId id="746" r:id="rId14"/>
    <p:sldId id="747" r:id="rId15"/>
    <p:sldId id="748" r:id="rId16"/>
    <p:sldId id="749" r:id="rId17"/>
    <p:sldId id="750" r:id="rId18"/>
    <p:sldId id="751" r:id="rId19"/>
    <p:sldId id="752" r:id="rId20"/>
    <p:sldId id="753" r:id="rId21"/>
    <p:sldId id="754" r:id="rId22"/>
    <p:sldId id="755" r:id="rId23"/>
    <p:sldId id="756" r:id="rId24"/>
    <p:sldId id="757" r:id="rId25"/>
    <p:sldId id="758" r:id="rId26"/>
    <p:sldId id="759" r:id="rId27"/>
    <p:sldId id="760" r:id="rId28"/>
    <p:sldId id="761" r:id="rId29"/>
    <p:sldId id="762" r:id="rId30"/>
    <p:sldId id="763" r:id="rId31"/>
    <p:sldId id="764" r:id="rId32"/>
    <p:sldId id="765" r:id="rId33"/>
    <p:sldId id="766" r:id="rId34"/>
    <p:sldId id="767" r:id="rId35"/>
    <p:sldId id="768" r:id="rId36"/>
    <p:sldId id="769" r:id="rId37"/>
    <p:sldId id="770" r:id="rId38"/>
    <p:sldId id="771" r:id="rId39"/>
    <p:sldId id="772" r:id="rId40"/>
    <p:sldId id="773" r:id="rId41"/>
    <p:sldId id="774" r:id="rId42"/>
    <p:sldId id="775" r:id="rId43"/>
    <p:sldId id="776" r:id="rId44"/>
    <p:sldId id="777" r:id="rId45"/>
    <p:sldId id="778" r:id="rId46"/>
    <p:sldId id="779" r:id="rId47"/>
    <p:sldId id="780" r:id="rId48"/>
    <p:sldId id="781" r:id="rId49"/>
    <p:sldId id="782" r:id="rId50"/>
    <p:sldId id="783" r:id="rId51"/>
    <p:sldId id="784" r:id="rId52"/>
    <p:sldId id="785" r:id="rId53"/>
    <p:sldId id="786" r:id="rId54"/>
    <p:sldId id="787" r:id="rId55"/>
    <p:sldId id="788" r:id="rId56"/>
    <p:sldId id="789" r:id="rId57"/>
    <p:sldId id="790" r:id="rId58"/>
    <p:sldId id="791" r:id="rId59"/>
    <p:sldId id="792" r:id="rId60"/>
    <p:sldId id="793" r:id="rId61"/>
    <p:sldId id="794" r:id="rId62"/>
    <p:sldId id="795" r:id="rId63"/>
    <p:sldId id="796" r:id="rId64"/>
    <p:sldId id="797" r:id="rId65"/>
    <p:sldId id="798" r:id="rId66"/>
    <p:sldId id="799" r:id="rId67"/>
    <p:sldId id="800" r:id="rId68"/>
    <p:sldId id="801" r:id="rId69"/>
    <p:sldId id="802" r:id="rId70"/>
    <p:sldId id="803" r:id="rId71"/>
    <p:sldId id="804" r:id="rId72"/>
    <p:sldId id="805" r:id="rId73"/>
    <p:sldId id="806" r:id="rId74"/>
    <p:sldId id="807" r:id="rId75"/>
    <p:sldId id="808" r:id="rId76"/>
    <p:sldId id="809" r:id="rId77"/>
    <p:sldId id="810" r:id="rId78"/>
    <p:sldId id="811" r:id="rId79"/>
    <p:sldId id="812" r:id="rId80"/>
    <p:sldId id="813" r:id="rId81"/>
    <p:sldId id="495" r:id="rId82"/>
    <p:sldId id="496" r:id="rId83"/>
    <p:sldId id="497" r:id="rId84"/>
    <p:sldId id="498" r:id="rId85"/>
    <p:sldId id="499" r:id="rId86"/>
    <p:sldId id="526" r:id="rId87"/>
    <p:sldId id="527" r:id="rId88"/>
    <p:sldId id="522" r:id="rId89"/>
    <p:sldId id="501" r:id="rId90"/>
    <p:sldId id="502" r:id="rId91"/>
    <p:sldId id="503" r:id="rId92"/>
    <p:sldId id="504" r:id="rId93"/>
    <p:sldId id="505" r:id="rId94"/>
    <p:sldId id="506" r:id="rId95"/>
    <p:sldId id="507" r:id="rId96"/>
    <p:sldId id="508" r:id="rId97"/>
    <p:sldId id="509" r:id="rId98"/>
    <p:sldId id="510" r:id="rId99"/>
    <p:sldId id="511" r:id="rId100"/>
    <p:sldId id="512" r:id="rId101"/>
    <p:sldId id="513" r:id="rId102"/>
    <p:sldId id="514" r:id="rId103"/>
    <p:sldId id="515" r:id="rId104"/>
    <p:sldId id="516" r:id="rId105"/>
    <p:sldId id="517" r:id="rId106"/>
    <p:sldId id="519" r:id="rId107"/>
    <p:sldId id="520" r:id="rId108"/>
    <p:sldId id="521" r:id="rId109"/>
    <p:sldId id="696" r:id="rId110"/>
    <p:sldId id="523" r:id="rId111"/>
    <p:sldId id="518" r:id="rId112"/>
    <p:sldId id="525" r:id="rId113"/>
    <p:sldId id="697" r:id="rId114"/>
    <p:sldId id="698" r:id="rId115"/>
    <p:sldId id="699" r:id="rId116"/>
    <p:sldId id="700" r:id="rId117"/>
    <p:sldId id="701" r:id="rId118"/>
    <p:sldId id="702" r:id="rId119"/>
    <p:sldId id="633" r:id="rId120"/>
    <p:sldId id="634" r:id="rId121"/>
    <p:sldId id="653" r:id="rId122"/>
    <p:sldId id="635" r:id="rId123"/>
    <p:sldId id="636" r:id="rId124"/>
    <p:sldId id="637" r:id="rId125"/>
    <p:sldId id="638" r:id="rId126"/>
    <p:sldId id="639" r:id="rId127"/>
    <p:sldId id="640" r:id="rId128"/>
    <p:sldId id="641" r:id="rId129"/>
    <p:sldId id="642" r:id="rId130"/>
    <p:sldId id="643" r:id="rId131"/>
    <p:sldId id="644" r:id="rId132"/>
    <p:sldId id="645" r:id="rId133"/>
    <p:sldId id="646" r:id="rId134"/>
    <p:sldId id="647" r:id="rId135"/>
    <p:sldId id="648" r:id="rId136"/>
    <p:sldId id="649" r:id="rId137"/>
    <p:sldId id="655" r:id="rId138"/>
    <p:sldId id="652" r:id="rId139"/>
    <p:sldId id="656" r:id="rId140"/>
    <p:sldId id="654" r:id="rId141"/>
    <p:sldId id="657" r:id="rId142"/>
    <p:sldId id="658" r:id="rId143"/>
    <p:sldId id="659" r:id="rId144"/>
    <p:sldId id="660" r:id="rId145"/>
    <p:sldId id="661" r:id="rId146"/>
    <p:sldId id="651" r:id="rId147"/>
    <p:sldId id="663" r:id="rId148"/>
    <p:sldId id="664" r:id="rId149"/>
    <p:sldId id="665" r:id="rId150"/>
    <p:sldId id="666" r:id="rId151"/>
    <p:sldId id="667" r:id="rId152"/>
    <p:sldId id="668" r:id="rId153"/>
    <p:sldId id="669" r:id="rId154"/>
    <p:sldId id="670" r:id="rId155"/>
    <p:sldId id="676" r:id="rId156"/>
    <p:sldId id="677" r:id="rId157"/>
    <p:sldId id="678" r:id="rId158"/>
    <p:sldId id="679" r:id="rId159"/>
    <p:sldId id="681" r:id="rId160"/>
    <p:sldId id="683" r:id="rId161"/>
    <p:sldId id="682" r:id="rId162"/>
    <p:sldId id="684" r:id="rId163"/>
    <p:sldId id="685" r:id="rId164"/>
    <p:sldId id="671" r:id="rId165"/>
    <p:sldId id="672" r:id="rId166"/>
    <p:sldId id="674" r:id="rId167"/>
    <p:sldId id="675" r:id="rId168"/>
    <p:sldId id="673" r:id="rId169"/>
    <p:sldId id="686" r:id="rId170"/>
    <p:sldId id="688" r:id="rId171"/>
    <p:sldId id="687" r:id="rId172"/>
    <p:sldId id="689" r:id="rId173"/>
    <p:sldId id="690" r:id="rId174"/>
    <p:sldId id="691" r:id="rId175"/>
    <p:sldId id="692" r:id="rId176"/>
    <p:sldId id="693" r:id="rId177"/>
    <p:sldId id="694" r:id="rId178"/>
    <p:sldId id="695" r:id="rId179"/>
    <p:sldId id="703" r:id="rId180"/>
    <p:sldId id="704" r:id="rId181"/>
    <p:sldId id="705" r:id="rId182"/>
    <p:sldId id="706" r:id="rId183"/>
    <p:sldId id="707" r:id="rId184"/>
    <p:sldId id="708" r:id="rId185"/>
    <p:sldId id="709" r:id="rId186"/>
    <p:sldId id="710" r:id="rId187"/>
    <p:sldId id="711" r:id="rId188"/>
    <p:sldId id="712" r:id="rId189"/>
    <p:sldId id="713" r:id="rId190"/>
    <p:sldId id="714" r:id="rId191"/>
    <p:sldId id="718" r:id="rId192"/>
    <p:sldId id="717" r:id="rId193"/>
    <p:sldId id="719" r:id="rId194"/>
    <p:sldId id="720" r:id="rId195"/>
    <p:sldId id="721" r:id="rId196"/>
    <p:sldId id="722" r:id="rId197"/>
    <p:sldId id="723" r:id="rId198"/>
    <p:sldId id="725" r:id="rId199"/>
    <p:sldId id="726" r:id="rId200"/>
    <p:sldId id="724" r:id="rId201"/>
    <p:sldId id="727" r:id="rId202"/>
    <p:sldId id="728" r:id="rId203"/>
    <p:sldId id="729" r:id="rId204"/>
    <p:sldId id="730" r:id="rId205"/>
    <p:sldId id="715" r:id="rId206"/>
    <p:sldId id="716" r:id="rId207"/>
    <p:sldId id="731" r:id="rId208"/>
    <p:sldId id="732" r:id="rId209"/>
    <p:sldId id="733" r:id="rId210"/>
    <p:sldId id="734" r:id="rId211"/>
    <p:sldId id="735" r:id="rId212"/>
    <p:sldId id="736" r:id="rId213"/>
    <p:sldId id="737" r:id="rId214"/>
    <p:sldId id="738" r:id="rId215"/>
    <p:sldId id="491" r:id="rId2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perator" initials="O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notesMaster" Target="notesMasters/notes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commentAuthors" Target="commentAuthors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presProps" Target="presProps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theme" Target="theme/theme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tableStyles" Target="tableStyle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microsoft.com/office/2015/10/relationships/revisionInfo" Target="revisionInfo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28022-3C0D-418B-A8D0-6F07DD708D64}" type="datetimeFigureOut">
              <a:rPr lang="en-US" smtClean="0"/>
              <a:pPr/>
              <a:t>11/21/2017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7C1943-EA29-41FC-8FD0-B2CFE14359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8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99852-AB5D-4B7E-A2DE-BA6A511D2671}" type="datetime1">
              <a:rPr lang="en-US" smtClean="0"/>
              <a:t>11/21/2017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898E-C001-4DBC-8419-1F89420AB696}" type="datetime1">
              <a:rPr lang="en-US" smtClean="0"/>
              <a:t>11/21/2017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4DE36-BE46-4110-AC3E-ADD095A77893}" type="datetime1">
              <a:rPr lang="en-US" smtClean="0"/>
              <a:t>11/21/2017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66CEE-04D7-4A93-8984-5FEED5915848}" type="datetime1">
              <a:rPr lang="en-US" smtClean="0"/>
              <a:t>11/21/2017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58D71-8A57-4AD6-91DA-A800C3F7DD26}" type="datetime1">
              <a:rPr lang="en-US" smtClean="0"/>
              <a:t>11/21/2017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73BD-AFD7-4384-9B20-85B1E8C5DD47}" type="datetime1">
              <a:rPr lang="en-US" smtClean="0"/>
              <a:t>11/21/2017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106FE-AF01-4271-A146-D08EAF910989}" type="datetime1">
              <a:rPr lang="en-US" smtClean="0"/>
              <a:t>11/21/2017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395E8-F6E2-4DD3-8257-73FF65F371E7}" type="datetime1">
              <a:rPr lang="en-US" smtClean="0"/>
              <a:t>11/21/2017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2A257-334E-4D06-ACD9-F2024B0BFFD2}" type="datetime1">
              <a:rPr lang="en-US" smtClean="0"/>
              <a:t>11/21/2017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3F085-41CD-4B68-BEE8-BCEF11AA3C35}" type="datetime1">
              <a:rPr lang="en-US" smtClean="0"/>
              <a:t>11/21/2017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DAA67-4BDD-46E9-8397-D585F4E5544B}" type="datetime1">
              <a:rPr lang="en-US" smtClean="0"/>
              <a:t>11/21/2017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80559-D4F4-4B7B-98B2-22336630B51C}" type="datetime1">
              <a:rPr lang="en-US" smtClean="0"/>
              <a:t>11/21/2017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l-2h4XnKZ3g" TargetMode="External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Structured    Query    Language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beyond SELECT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3D44-A265-4C35-B3D9-34A1C005FE0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713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    *    from    </a:t>
            </a:r>
            <a:r>
              <a:rPr lang="en-US" dirty="0" err="1"/>
              <a:t>emp</a:t>
            </a:r>
            <a:r>
              <a:rPr lang="en-US" dirty="0"/>
              <a:t>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EMPNO    ENAME    JOB    MGR    HIREDATE    SAL    COMM    DEPTNO  </a:t>
            </a:r>
          </a:p>
          <a:p>
            <a:r>
              <a:rPr lang="en-US" sz="1600" dirty="0"/>
              <a:t>7369    SMITH    </a:t>
            </a:r>
            <a:r>
              <a:rPr lang="ro-RO" sz="1600" dirty="0"/>
              <a:t>   </a:t>
            </a:r>
            <a:r>
              <a:rPr lang="en-US" sz="1600" dirty="0"/>
              <a:t>CLERK    </a:t>
            </a:r>
            <a:r>
              <a:rPr lang="ro-RO" sz="1600" dirty="0"/>
              <a:t>        </a:t>
            </a:r>
            <a:r>
              <a:rPr lang="en-US" sz="1600" dirty="0"/>
              <a:t>7902   17-DEC-1980</a:t>
            </a:r>
            <a:r>
              <a:rPr lang="ro-RO" sz="1600" dirty="0"/>
              <a:t> </a:t>
            </a:r>
            <a:r>
              <a:rPr lang="en-US" sz="1600" dirty="0"/>
              <a:t>    </a:t>
            </a:r>
            <a:r>
              <a:rPr lang="ro-RO" sz="1600" dirty="0"/>
              <a:t> </a:t>
            </a:r>
            <a:r>
              <a:rPr lang="en-US" sz="1600" dirty="0"/>
              <a:t>800   </a:t>
            </a:r>
            <a:r>
              <a:rPr lang="ro-RO" sz="1600" dirty="0"/>
              <a:t>            </a:t>
            </a:r>
            <a:r>
              <a:rPr lang="en-US" sz="1600" dirty="0"/>
              <a:t>20 </a:t>
            </a:r>
          </a:p>
          <a:p>
            <a:r>
              <a:rPr lang="en-US" sz="1600" dirty="0"/>
              <a:t>7499    ALLEN    </a:t>
            </a:r>
            <a:r>
              <a:rPr lang="ro-RO" sz="1600" dirty="0"/>
              <a:t>   </a:t>
            </a:r>
            <a:r>
              <a:rPr lang="en-US" sz="1600" dirty="0"/>
              <a:t>SALESMAN    7698   20-FEB-1981    </a:t>
            </a:r>
            <a:r>
              <a:rPr lang="ro-RO" sz="1600" dirty="0"/>
              <a:t> </a:t>
            </a:r>
            <a:r>
              <a:rPr lang="en-US" sz="1600" dirty="0"/>
              <a:t>1600    </a:t>
            </a:r>
            <a:r>
              <a:rPr lang="ro-RO" sz="1600" dirty="0"/>
              <a:t> </a:t>
            </a:r>
            <a:r>
              <a:rPr lang="en-US" sz="1600" dirty="0"/>
              <a:t>300  30</a:t>
            </a:r>
          </a:p>
          <a:p>
            <a:r>
              <a:rPr lang="en-US" sz="1600" dirty="0"/>
              <a:t>7521    WARD    </a:t>
            </a:r>
            <a:r>
              <a:rPr lang="ro-RO" sz="1600" dirty="0"/>
              <a:t>   </a:t>
            </a:r>
            <a:r>
              <a:rPr lang="en-US" sz="1600" dirty="0"/>
              <a:t>SALESMAN    7698   22-FEB-1981    </a:t>
            </a:r>
            <a:r>
              <a:rPr lang="ro-RO" sz="1600" dirty="0"/>
              <a:t> </a:t>
            </a:r>
            <a:r>
              <a:rPr lang="en-US" sz="1600" dirty="0"/>
              <a:t>1250    </a:t>
            </a:r>
            <a:r>
              <a:rPr lang="ro-RO" sz="1600" dirty="0"/>
              <a:t> </a:t>
            </a:r>
            <a:r>
              <a:rPr lang="en-US" sz="1600" dirty="0"/>
              <a:t>500  30 </a:t>
            </a:r>
          </a:p>
          <a:p>
            <a:r>
              <a:rPr lang="en-US" sz="1600" dirty="0"/>
              <a:t>7566    JONES    </a:t>
            </a:r>
            <a:r>
              <a:rPr lang="ro-RO" sz="1600" dirty="0"/>
              <a:t>   </a:t>
            </a:r>
            <a:r>
              <a:rPr lang="en-US" sz="1600" dirty="0"/>
              <a:t>MANAGER    7839    02-APR-1981    2975    </a:t>
            </a:r>
            <a:r>
              <a:rPr lang="ro-RO" sz="1600" dirty="0"/>
              <a:t>          </a:t>
            </a:r>
            <a:r>
              <a:rPr lang="en-US" sz="1600" dirty="0"/>
              <a:t>20 </a:t>
            </a:r>
          </a:p>
          <a:p>
            <a:r>
              <a:rPr lang="en-US" sz="1600" dirty="0"/>
              <a:t>7654    MARTIN    SALESMAN   7698    28-SEP-1981    </a:t>
            </a:r>
            <a:r>
              <a:rPr lang="ro-RO" sz="1600" dirty="0"/>
              <a:t> </a:t>
            </a:r>
            <a:r>
              <a:rPr lang="en-US" sz="1600" dirty="0"/>
              <a:t>1250    1400 30 </a:t>
            </a:r>
          </a:p>
          <a:p>
            <a:r>
              <a:rPr lang="en-US" sz="1600" dirty="0"/>
              <a:t>7698    BLAKE    </a:t>
            </a:r>
            <a:r>
              <a:rPr lang="ro-RO" sz="1600" dirty="0"/>
              <a:t>   </a:t>
            </a:r>
            <a:r>
              <a:rPr lang="en-US" sz="1600" dirty="0"/>
              <a:t>MANAGER    7839    01-MAY-1981   2850    </a:t>
            </a:r>
            <a:r>
              <a:rPr lang="ro-RO" sz="1600" dirty="0"/>
              <a:t>          </a:t>
            </a:r>
            <a:r>
              <a:rPr lang="en-US" sz="1600" dirty="0"/>
              <a:t>30</a:t>
            </a:r>
            <a:endParaRPr lang="ro-RO" sz="1600" dirty="0"/>
          </a:p>
          <a:p>
            <a:r>
              <a:rPr lang="en-US" sz="1600" dirty="0"/>
              <a:t>7782    CLARK    </a:t>
            </a:r>
            <a:r>
              <a:rPr lang="ro-RO" sz="1600" dirty="0"/>
              <a:t>   </a:t>
            </a:r>
            <a:r>
              <a:rPr lang="en-US" sz="1600" dirty="0"/>
              <a:t>MANAGER    7839    09-JUN-1981</a:t>
            </a:r>
            <a:r>
              <a:rPr lang="ro-RO" sz="1600" dirty="0"/>
              <a:t> </a:t>
            </a:r>
            <a:r>
              <a:rPr lang="en-US" sz="1600" dirty="0"/>
              <a:t>   2450    </a:t>
            </a:r>
            <a:r>
              <a:rPr lang="ro-RO" sz="1600" dirty="0"/>
              <a:t>          </a:t>
            </a:r>
            <a:r>
              <a:rPr lang="en-US" sz="1600" dirty="0"/>
              <a:t>10  </a:t>
            </a:r>
          </a:p>
          <a:p>
            <a:r>
              <a:rPr lang="en-US" sz="1600" dirty="0"/>
              <a:t>7788    SCOTT    </a:t>
            </a:r>
            <a:r>
              <a:rPr lang="ro-RO" sz="1600" dirty="0"/>
              <a:t>   </a:t>
            </a:r>
            <a:r>
              <a:rPr lang="en-US" sz="1600" dirty="0"/>
              <a:t>ANALYST    </a:t>
            </a:r>
            <a:r>
              <a:rPr lang="ro-RO" sz="1600" dirty="0"/>
              <a:t>   </a:t>
            </a:r>
            <a:r>
              <a:rPr lang="en-US" sz="1600" dirty="0"/>
              <a:t>7566    09-DEC-1982 </a:t>
            </a:r>
            <a:r>
              <a:rPr lang="ro-RO" sz="1600" dirty="0"/>
              <a:t> </a:t>
            </a:r>
            <a:r>
              <a:rPr lang="en-US" sz="1600" dirty="0"/>
              <a:t>  3000    </a:t>
            </a:r>
            <a:r>
              <a:rPr lang="ro-RO" sz="1600" dirty="0"/>
              <a:t>          </a:t>
            </a:r>
            <a:r>
              <a:rPr lang="en-US" sz="1600" dirty="0"/>
              <a:t>20 </a:t>
            </a:r>
          </a:p>
          <a:p>
            <a:r>
              <a:rPr lang="en-US" sz="1600" dirty="0"/>
              <a:t>7839    KING    </a:t>
            </a:r>
            <a:r>
              <a:rPr lang="ro-RO" sz="1600" dirty="0"/>
              <a:t>     </a:t>
            </a:r>
            <a:r>
              <a:rPr lang="en-US" sz="1600" dirty="0"/>
              <a:t>PRESIDENT   </a:t>
            </a:r>
            <a:r>
              <a:rPr lang="ro-RO" sz="1600" dirty="0"/>
              <a:t>            </a:t>
            </a:r>
            <a:r>
              <a:rPr lang="en-US" sz="1600" dirty="0"/>
              <a:t> 17-NOV-1981   5000    </a:t>
            </a:r>
            <a:r>
              <a:rPr lang="ro-RO" sz="1600" dirty="0"/>
              <a:t>          </a:t>
            </a:r>
            <a:r>
              <a:rPr lang="en-US" sz="1600" dirty="0"/>
              <a:t>10 </a:t>
            </a:r>
          </a:p>
          <a:p>
            <a:r>
              <a:rPr lang="en-US" sz="1600" dirty="0"/>
              <a:t>7844    TURNER   SALESMAN    7698    08-SEP-1981    1500    </a:t>
            </a:r>
            <a:r>
              <a:rPr lang="ro-RO" sz="1600" dirty="0"/>
              <a:t>       </a:t>
            </a:r>
            <a:r>
              <a:rPr lang="en-US" sz="1600" dirty="0"/>
              <a:t>0 30  </a:t>
            </a:r>
          </a:p>
          <a:p>
            <a:r>
              <a:rPr lang="en-US" sz="1600" dirty="0"/>
              <a:t>7876    ADAMS    CLERK    </a:t>
            </a:r>
            <a:r>
              <a:rPr lang="ro-RO" sz="1600" dirty="0"/>
              <a:t>         </a:t>
            </a:r>
            <a:r>
              <a:rPr lang="en-US" sz="1600" dirty="0"/>
              <a:t>7788    12-JAN-1983    1100    </a:t>
            </a:r>
            <a:r>
              <a:rPr lang="ro-RO" sz="1600" dirty="0"/>
              <a:t>          </a:t>
            </a:r>
            <a:r>
              <a:rPr lang="en-US" sz="1600" dirty="0"/>
              <a:t>20  </a:t>
            </a:r>
          </a:p>
          <a:p>
            <a:r>
              <a:rPr lang="en-US" sz="1600" dirty="0"/>
              <a:t>7900    JAMES    </a:t>
            </a:r>
            <a:r>
              <a:rPr lang="ro-RO" sz="1600" dirty="0"/>
              <a:t>  </a:t>
            </a:r>
            <a:r>
              <a:rPr lang="en-US" sz="1600" dirty="0"/>
              <a:t>CLERK    </a:t>
            </a:r>
            <a:r>
              <a:rPr lang="ro-RO" sz="1600" dirty="0"/>
              <a:t>         </a:t>
            </a:r>
            <a:r>
              <a:rPr lang="en-US" sz="1600" dirty="0"/>
              <a:t>7698    03-DEC-1981   </a:t>
            </a:r>
            <a:r>
              <a:rPr lang="ro-RO" sz="1600" dirty="0"/>
              <a:t> </a:t>
            </a:r>
            <a:r>
              <a:rPr lang="en-US" sz="1600" dirty="0"/>
              <a:t>950    </a:t>
            </a:r>
            <a:r>
              <a:rPr lang="ro-RO" sz="1600" dirty="0"/>
              <a:t>            </a:t>
            </a:r>
            <a:r>
              <a:rPr lang="en-US" sz="1600" dirty="0"/>
              <a:t>30</a:t>
            </a:r>
            <a:endParaRPr lang="ro-RO" sz="1600" dirty="0"/>
          </a:p>
          <a:p>
            <a:r>
              <a:rPr lang="en-US" sz="1600" dirty="0"/>
              <a:t>7902    FORD    </a:t>
            </a:r>
            <a:r>
              <a:rPr lang="ro-RO" sz="1600" dirty="0"/>
              <a:t>   </a:t>
            </a:r>
            <a:r>
              <a:rPr lang="en-US" sz="1600" dirty="0"/>
              <a:t>ANALYST    </a:t>
            </a:r>
            <a:r>
              <a:rPr lang="ro-RO" sz="1600" dirty="0"/>
              <a:t>     </a:t>
            </a:r>
            <a:r>
              <a:rPr lang="en-US" sz="1600" dirty="0"/>
              <a:t>7566    03-DEC-1981    3000    </a:t>
            </a:r>
            <a:r>
              <a:rPr lang="ro-RO" sz="1600" dirty="0"/>
              <a:t>          </a:t>
            </a:r>
            <a:r>
              <a:rPr lang="en-US" sz="1600" dirty="0"/>
              <a:t>20</a:t>
            </a:r>
          </a:p>
          <a:p>
            <a:r>
              <a:rPr lang="en-US" sz="1600" dirty="0"/>
              <a:t>7934    MILLER    CLERK    </a:t>
            </a:r>
            <a:r>
              <a:rPr lang="ro-RO" sz="1600" dirty="0"/>
              <a:t>         </a:t>
            </a:r>
            <a:r>
              <a:rPr lang="en-US" sz="1600" dirty="0"/>
              <a:t>7782    23-JAN-1982    </a:t>
            </a:r>
            <a:r>
              <a:rPr lang="ro-RO" sz="1600" dirty="0"/>
              <a:t> </a:t>
            </a:r>
            <a:r>
              <a:rPr lang="en-US" sz="1600" dirty="0"/>
              <a:t>1300    </a:t>
            </a:r>
            <a:r>
              <a:rPr lang="ro-RO" sz="1600" dirty="0"/>
              <a:t>          </a:t>
            </a:r>
            <a:r>
              <a:rPr lang="en-US" sz="1600" dirty="0"/>
              <a:t>10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082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 * from </a:t>
            </a:r>
            <a:r>
              <a:rPr lang="en-US" dirty="0" err="1"/>
              <a:t>dept</a:t>
            </a:r>
            <a:r>
              <a:rPr lang="en-US" dirty="0"/>
              <a:t>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DEPTNO  DNAME  LOC</a:t>
            </a:r>
          </a:p>
          <a:p>
            <a:r>
              <a:rPr lang="en-US" dirty="0"/>
              <a:t>10  ACCOUNTING  NEW YORK</a:t>
            </a:r>
          </a:p>
          <a:p>
            <a:r>
              <a:rPr lang="en-US" dirty="0"/>
              <a:t>20  RESEARCH  DALLAS</a:t>
            </a:r>
          </a:p>
          <a:p>
            <a:r>
              <a:rPr lang="en-US" dirty="0"/>
              <a:t>30  SALES  CHICAGO</a:t>
            </a:r>
          </a:p>
          <a:p>
            <a:r>
              <a:rPr lang="en-US" dirty="0"/>
              <a:t>40  OPERATIONS  BOSTON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39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 * from </a:t>
            </a:r>
            <a:r>
              <a:rPr lang="en-US" dirty="0" err="1"/>
              <a:t>emp_bonus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EMPNO RECEIVED TYPE</a:t>
            </a:r>
          </a:p>
          <a:p>
            <a:r>
              <a:rPr lang="en-US" dirty="0"/>
              <a:t>7934 17-MAR-2005 1</a:t>
            </a:r>
          </a:p>
          <a:p>
            <a:r>
              <a:rPr lang="en-US" dirty="0"/>
              <a:t>7934 15-FEB-2005 2</a:t>
            </a:r>
          </a:p>
          <a:p>
            <a:r>
              <a:rPr lang="en-US" dirty="0"/>
              <a:t>7839 15-FEB-2005 3</a:t>
            </a:r>
          </a:p>
          <a:p>
            <a:r>
              <a:rPr lang="en-US" dirty="0"/>
              <a:t>7782 15-FEB-2005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71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id from t10;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</a:t>
            </a:r>
          </a:p>
          <a:p>
            <a:r>
              <a:rPr lang="en-US" dirty="0"/>
              <a:t>1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3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10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53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36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Insert, Update, Delete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393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300" dirty="0"/>
              <a:t>insert one row at a time</a:t>
            </a:r>
          </a:p>
          <a:p>
            <a:r>
              <a:rPr lang="en-US" dirty="0"/>
              <a:t>insert into </a:t>
            </a:r>
            <a:r>
              <a:rPr lang="en-US" dirty="0" err="1"/>
              <a:t>dept</a:t>
            </a:r>
            <a:r>
              <a:rPr lang="en-US" dirty="0"/>
              <a:t> (</a:t>
            </a:r>
            <a:r>
              <a:rPr lang="en-US" dirty="0" err="1"/>
              <a:t>deptno,dname,loc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values (50,'PROGRAMMING','BALTIMORE')</a:t>
            </a:r>
          </a:p>
          <a:p>
            <a:r>
              <a:rPr lang="en-US" sz="3300" dirty="0"/>
              <a:t>insert multiple rows at a time </a:t>
            </a:r>
          </a:p>
          <a:p>
            <a:r>
              <a:rPr lang="en-US" dirty="0"/>
              <a:t>insert into </a:t>
            </a:r>
            <a:r>
              <a:rPr lang="en-US" dirty="0" err="1"/>
              <a:t>dept</a:t>
            </a:r>
            <a:r>
              <a:rPr lang="en-US" dirty="0"/>
              <a:t> (</a:t>
            </a:r>
            <a:r>
              <a:rPr lang="en-US" dirty="0" err="1"/>
              <a:t>deptno,dname,loc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values 	(1,'A','B'), (2,'B','C')</a:t>
            </a:r>
          </a:p>
          <a:p>
            <a:r>
              <a:rPr lang="en-US" dirty="0"/>
              <a:t>insert row of default values without having to specify those values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87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Copy rows from one table into</a:t>
            </a:r>
            <a:br>
              <a:rPr lang="en-US" dirty="0"/>
            </a:br>
            <a:r>
              <a:rPr lang="en-US" dirty="0"/>
              <a:t>another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300" dirty="0"/>
              <a:t>follow INSERT statement with query </a:t>
            </a:r>
            <a:r>
              <a:rPr lang="en-US" dirty="0"/>
              <a:t>that returns desired rows</a:t>
            </a:r>
            <a:endParaRPr lang="ro-RO" dirty="0"/>
          </a:p>
          <a:p>
            <a:r>
              <a:rPr lang="en-US" dirty="0"/>
              <a:t>insert into </a:t>
            </a:r>
            <a:r>
              <a:rPr lang="en-US" dirty="0" err="1"/>
              <a:t>dept_east</a:t>
            </a:r>
            <a:r>
              <a:rPr lang="en-US" dirty="0"/>
              <a:t> (</a:t>
            </a:r>
            <a:r>
              <a:rPr lang="en-US" dirty="0" err="1"/>
              <a:t>deptno,dname,loc</a:t>
            </a:r>
            <a:r>
              <a:rPr lang="en-US" dirty="0"/>
              <a:t>)</a:t>
            </a:r>
          </a:p>
          <a:p>
            <a:r>
              <a:rPr lang="en-US" dirty="0"/>
              <a:t>select </a:t>
            </a:r>
            <a:r>
              <a:rPr lang="en-US" dirty="0" err="1"/>
              <a:t>deptno,dname,loc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dept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loc</a:t>
            </a:r>
            <a:r>
              <a:rPr lang="en-US" dirty="0"/>
              <a:t> in ( 'NEW YORK','BOSTON' 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82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Block Insert to certain columns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create view with only those columns you wish to expose.</a:t>
            </a:r>
            <a:endParaRPr lang="ro-RO" dirty="0"/>
          </a:p>
          <a:p>
            <a:r>
              <a:rPr lang="ro-RO" dirty="0"/>
              <a:t>t</a:t>
            </a:r>
            <a:r>
              <a:rPr lang="en-US" dirty="0"/>
              <a:t>hen force all</a:t>
            </a:r>
            <a:r>
              <a:rPr lang="ro-RO" dirty="0"/>
              <a:t> </a:t>
            </a:r>
            <a:r>
              <a:rPr lang="en-US" dirty="0"/>
              <a:t>inserts to go through that view</a:t>
            </a:r>
          </a:p>
          <a:p>
            <a:r>
              <a:rPr lang="en-US" dirty="0"/>
              <a:t>create view </a:t>
            </a:r>
            <a:r>
              <a:rPr lang="en-US" dirty="0" err="1"/>
              <a:t>new_emps</a:t>
            </a:r>
            <a:r>
              <a:rPr lang="en-US" dirty="0"/>
              <a:t> as</a:t>
            </a:r>
          </a:p>
          <a:p>
            <a:r>
              <a:rPr lang="en-US" dirty="0"/>
              <a:t>select </a:t>
            </a:r>
            <a:r>
              <a:rPr lang="en-US" dirty="0" err="1"/>
              <a:t>empno</a:t>
            </a:r>
            <a:r>
              <a:rPr lang="en-US" dirty="0"/>
              <a:t>, </a:t>
            </a:r>
            <a:r>
              <a:rPr lang="en-US" dirty="0" err="1"/>
              <a:t>ename</a:t>
            </a:r>
            <a:r>
              <a:rPr lang="en-US" dirty="0"/>
              <a:t>, job</a:t>
            </a:r>
            <a:r>
              <a:rPr lang="ro-RO" dirty="0"/>
              <a:t> </a:t>
            </a:r>
            <a:r>
              <a:rPr lang="en-US" dirty="0"/>
              <a:t>from </a:t>
            </a:r>
            <a:r>
              <a:rPr lang="en-US" dirty="0" err="1"/>
              <a:t>emp</a:t>
            </a:r>
            <a:endParaRPr lang="ro-RO" dirty="0"/>
          </a:p>
          <a:p>
            <a:r>
              <a:rPr lang="en-US" dirty="0"/>
              <a:t>Grant access to view to those users and programs allowed to populate only the three</a:t>
            </a:r>
            <a:r>
              <a:rPr lang="ro-RO" dirty="0"/>
              <a:t> </a:t>
            </a:r>
            <a:r>
              <a:rPr lang="en-US" dirty="0"/>
              <a:t>fields in view</a:t>
            </a:r>
            <a:endParaRPr lang="ro-RO" dirty="0"/>
          </a:p>
          <a:p>
            <a:r>
              <a:rPr lang="ro-RO" dirty="0"/>
              <a:t>d</a:t>
            </a:r>
            <a:r>
              <a:rPr lang="en-US" dirty="0"/>
              <a:t>o not </a:t>
            </a:r>
            <a:r>
              <a:rPr lang="ro-RO" dirty="0"/>
              <a:t>G</a:t>
            </a:r>
            <a:r>
              <a:rPr lang="en-US" dirty="0"/>
              <a:t>rant those users insert access to EMP table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89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into </a:t>
            </a:r>
            <a:r>
              <a:rPr lang="en-US" dirty="0" err="1"/>
              <a:t>new_emps</a:t>
            </a:r>
            <a:r>
              <a:rPr lang="ro-RO" dirty="0"/>
              <a:t> </a:t>
            </a:r>
            <a:r>
              <a:rPr lang="en-US" dirty="0"/>
              <a:t>(</a:t>
            </a:r>
            <a:r>
              <a:rPr lang="en-US" dirty="0" err="1"/>
              <a:t>empno</a:t>
            </a:r>
            <a:r>
              <a:rPr lang="en-US" dirty="0"/>
              <a:t> </a:t>
            </a:r>
            <a:r>
              <a:rPr lang="en-US" dirty="0" err="1"/>
              <a:t>ename</a:t>
            </a:r>
            <a:r>
              <a:rPr lang="en-US" dirty="0"/>
              <a:t>, job)</a:t>
            </a:r>
          </a:p>
          <a:p>
            <a:r>
              <a:rPr lang="en-US" dirty="0"/>
              <a:t>values (1, 'Jonathan', 'Editor')</a:t>
            </a:r>
          </a:p>
          <a:p>
            <a:r>
              <a:rPr lang="en-US" dirty="0"/>
              <a:t>will be translated behind the scenes into:</a:t>
            </a:r>
          </a:p>
          <a:p>
            <a:r>
              <a:rPr lang="en-US" dirty="0"/>
              <a:t>insert into </a:t>
            </a:r>
            <a:r>
              <a:rPr lang="en-US" dirty="0" err="1"/>
              <a:t>emp</a:t>
            </a:r>
            <a:r>
              <a:rPr lang="ro-RO" dirty="0"/>
              <a:t> </a:t>
            </a:r>
            <a:r>
              <a:rPr lang="en-US" dirty="0"/>
              <a:t>(</a:t>
            </a:r>
            <a:r>
              <a:rPr lang="en-US" dirty="0" err="1"/>
              <a:t>empno</a:t>
            </a:r>
            <a:r>
              <a:rPr lang="en-US" dirty="0"/>
              <a:t> </a:t>
            </a:r>
            <a:r>
              <a:rPr lang="en-US" dirty="0" err="1"/>
              <a:t>ename</a:t>
            </a:r>
            <a:r>
              <a:rPr lang="en-US" dirty="0"/>
              <a:t>, job)</a:t>
            </a:r>
          </a:p>
          <a:p>
            <a:r>
              <a:rPr lang="en-US" dirty="0"/>
              <a:t>values (1, 'Jonathan', 'Editor')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79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UPDATE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bump all SAL values by 10%.</a:t>
            </a:r>
          </a:p>
          <a:p>
            <a:r>
              <a:rPr lang="en-US" sz="3300" dirty="0"/>
              <a:t>update</a:t>
            </a:r>
            <a:r>
              <a:rPr lang="en-US" dirty="0"/>
              <a:t> </a:t>
            </a:r>
            <a:r>
              <a:rPr lang="en-US" dirty="0" err="1"/>
              <a:t>emp</a:t>
            </a:r>
            <a:endParaRPr lang="en-US" dirty="0"/>
          </a:p>
          <a:p>
            <a:r>
              <a:rPr lang="en-US" dirty="0"/>
              <a:t>set </a:t>
            </a:r>
            <a:r>
              <a:rPr lang="en-US" dirty="0" err="1"/>
              <a:t>sal</a:t>
            </a:r>
            <a:r>
              <a:rPr lang="en-US" dirty="0"/>
              <a:t> = </a:t>
            </a:r>
            <a:r>
              <a:rPr lang="en-US" dirty="0" err="1"/>
              <a:t>sal</a:t>
            </a:r>
            <a:r>
              <a:rPr lang="en-US" dirty="0"/>
              <a:t>*1.10</a:t>
            </a:r>
          </a:p>
          <a:p>
            <a:r>
              <a:rPr lang="en-US" dirty="0"/>
              <a:t>where </a:t>
            </a:r>
            <a:r>
              <a:rPr lang="en-US" dirty="0" err="1"/>
              <a:t>deptno</a:t>
            </a:r>
            <a:r>
              <a:rPr lang="en-US" dirty="0"/>
              <a:t> = 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643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Update when corresponding rows</a:t>
            </a:r>
            <a:r>
              <a:rPr lang="ro-RO" dirty="0"/>
              <a:t> </a:t>
            </a:r>
            <a:r>
              <a:rPr lang="en-US" dirty="0"/>
              <a:t>exist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000" dirty="0"/>
              <a:t>update</a:t>
            </a:r>
            <a:r>
              <a:rPr lang="en-US" sz="2800" dirty="0"/>
              <a:t> </a:t>
            </a:r>
            <a:r>
              <a:rPr lang="en-US" sz="2800" dirty="0" err="1"/>
              <a:t>emp</a:t>
            </a:r>
            <a:endParaRPr lang="en-US" sz="2800" dirty="0"/>
          </a:p>
          <a:p>
            <a:r>
              <a:rPr lang="en-US" sz="2800" dirty="0"/>
              <a:t>set </a:t>
            </a:r>
            <a:r>
              <a:rPr lang="en-US" sz="2800" dirty="0" err="1"/>
              <a:t>sal</a:t>
            </a:r>
            <a:r>
              <a:rPr lang="en-US" sz="2800" dirty="0"/>
              <a:t>=</a:t>
            </a:r>
            <a:r>
              <a:rPr lang="en-US" sz="2800" dirty="0" err="1"/>
              <a:t>sal</a:t>
            </a:r>
            <a:r>
              <a:rPr lang="en-US" sz="2800" dirty="0"/>
              <a:t>*1.20</a:t>
            </a:r>
          </a:p>
          <a:p>
            <a:r>
              <a:rPr lang="en-US" sz="2800" dirty="0"/>
              <a:t>where </a:t>
            </a:r>
            <a:r>
              <a:rPr lang="en-US" sz="2800" dirty="0" err="1"/>
              <a:t>empno</a:t>
            </a:r>
            <a:r>
              <a:rPr lang="en-US" sz="2800" dirty="0"/>
              <a:t> in ( select </a:t>
            </a:r>
            <a:r>
              <a:rPr lang="en-US" sz="2800" dirty="0" err="1"/>
              <a:t>empno</a:t>
            </a:r>
            <a:r>
              <a:rPr lang="en-US" sz="2800" dirty="0"/>
              <a:t> from </a:t>
            </a:r>
            <a:r>
              <a:rPr lang="en-US" sz="2800" dirty="0" err="1"/>
              <a:t>emp_bonus</a:t>
            </a:r>
            <a:r>
              <a:rPr lang="en-US" sz="2800" dirty="0"/>
              <a:t>)</a:t>
            </a:r>
          </a:p>
          <a:p>
            <a:r>
              <a:rPr lang="en-US" sz="2800" dirty="0"/>
              <a:t>alternatively, </a:t>
            </a:r>
            <a:r>
              <a:rPr lang="ro-RO" sz="2800" dirty="0"/>
              <a:t>c</a:t>
            </a:r>
            <a:r>
              <a:rPr lang="en-US" sz="2800" dirty="0"/>
              <a:t>an use EXISTS instead of IN</a:t>
            </a:r>
          </a:p>
          <a:p>
            <a:r>
              <a:rPr lang="en-US" sz="2800" dirty="0"/>
              <a:t>update </a:t>
            </a:r>
            <a:r>
              <a:rPr lang="en-US" sz="2800" dirty="0" err="1"/>
              <a:t>emp</a:t>
            </a:r>
            <a:endParaRPr lang="en-US" sz="2800" dirty="0"/>
          </a:p>
          <a:p>
            <a:r>
              <a:rPr lang="en-US" sz="2800" dirty="0"/>
              <a:t>set </a:t>
            </a:r>
            <a:r>
              <a:rPr lang="en-US" sz="2800" dirty="0" err="1"/>
              <a:t>sal</a:t>
            </a:r>
            <a:r>
              <a:rPr lang="en-US" sz="2800" dirty="0"/>
              <a:t> = </a:t>
            </a:r>
            <a:r>
              <a:rPr lang="en-US" sz="2800" dirty="0" err="1"/>
              <a:t>sal</a:t>
            </a:r>
            <a:r>
              <a:rPr lang="en-US" sz="2800" dirty="0"/>
              <a:t>*1.20</a:t>
            </a:r>
          </a:p>
          <a:p>
            <a:r>
              <a:rPr lang="en-US" sz="2800" dirty="0"/>
              <a:t>where exists ( select null</a:t>
            </a:r>
          </a:p>
          <a:p>
            <a:pPr lvl="1"/>
            <a:r>
              <a:rPr lang="en-US" dirty="0"/>
              <a:t>from </a:t>
            </a:r>
            <a:r>
              <a:rPr lang="en-US" dirty="0" err="1"/>
              <a:t>emp_bonus</a:t>
            </a:r>
            <a:endParaRPr lang="en-US" dirty="0"/>
          </a:p>
          <a:p>
            <a:pPr lvl="1"/>
            <a:r>
              <a:rPr lang="en-US" dirty="0"/>
              <a:t>where </a:t>
            </a:r>
            <a:r>
              <a:rPr lang="en-US" dirty="0" err="1"/>
              <a:t>emp.empno</a:t>
            </a:r>
            <a:r>
              <a:rPr lang="ro-RO" dirty="0"/>
              <a:t> </a:t>
            </a:r>
            <a:r>
              <a:rPr lang="en-US" dirty="0"/>
              <a:t>=</a:t>
            </a:r>
            <a:r>
              <a:rPr lang="ro-RO" dirty="0"/>
              <a:t> </a:t>
            </a:r>
            <a:r>
              <a:rPr lang="en-US" dirty="0" err="1"/>
              <a:t>emp_bonus.empno</a:t>
            </a:r>
            <a:r>
              <a:rPr lang="en-US" dirty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651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Update with values from another table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000" dirty="0"/>
              <a:t>update salaries and</a:t>
            </a:r>
            <a:r>
              <a:rPr lang="ro-RO" sz="3000" dirty="0"/>
              <a:t> </a:t>
            </a:r>
            <a:r>
              <a:rPr lang="en-US" sz="3000" dirty="0"/>
              <a:t>commission of employees in table EMP using values table NEW_SAL if there is match</a:t>
            </a:r>
            <a:r>
              <a:rPr lang="ro-RO" sz="3000" dirty="0"/>
              <a:t> </a:t>
            </a:r>
            <a:r>
              <a:rPr lang="en-US" sz="3000" dirty="0"/>
              <a:t>between EMP.DEPTNO and NEW_SAL.DEPTNO, update EMP.SAL to NEW_SAL.SAL, and EMP.COMM to 50% of NEW_SAL.SAL</a:t>
            </a:r>
            <a:endParaRPr lang="ro-RO" sz="3000" dirty="0"/>
          </a:p>
          <a:p>
            <a:r>
              <a:rPr lang="ro-RO" dirty="0"/>
              <a:t>MS SQL Server </a:t>
            </a:r>
            <a:r>
              <a:rPr lang="en-US" dirty="0"/>
              <a:t>you can</a:t>
            </a:r>
            <a:r>
              <a:rPr lang="ro-RO" dirty="0"/>
              <a:t> </a:t>
            </a:r>
            <a:r>
              <a:rPr lang="en-US" dirty="0"/>
              <a:t>join directly in UPDATE</a:t>
            </a:r>
            <a:endParaRPr lang="ro-RO" dirty="0"/>
          </a:p>
          <a:p>
            <a:r>
              <a:rPr lang="en-US" dirty="0"/>
              <a:t>update e</a:t>
            </a:r>
          </a:p>
          <a:p>
            <a:pPr lvl="1"/>
            <a:r>
              <a:rPr lang="en-US" sz="3000" dirty="0"/>
              <a:t>set </a:t>
            </a:r>
            <a:r>
              <a:rPr lang="en-US" sz="3000" dirty="0" err="1"/>
              <a:t>e.sal</a:t>
            </a:r>
            <a:r>
              <a:rPr lang="en-US" sz="3000" dirty="0"/>
              <a:t> = </a:t>
            </a:r>
            <a:r>
              <a:rPr lang="en-US" sz="3000" dirty="0" err="1"/>
              <a:t>ns.sal</a:t>
            </a:r>
            <a:r>
              <a:rPr lang="en-US" sz="3000" dirty="0"/>
              <a:t>,</a:t>
            </a:r>
            <a:r>
              <a:rPr lang="ro-RO" sz="3000" dirty="0"/>
              <a:t> </a:t>
            </a:r>
            <a:r>
              <a:rPr lang="en-US" sz="3000" dirty="0" err="1"/>
              <a:t>e.comm</a:t>
            </a:r>
            <a:r>
              <a:rPr lang="en-US" sz="3000" dirty="0"/>
              <a:t> = </a:t>
            </a:r>
            <a:r>
              <a:rPr lang="en-US" sz="3000" dirty="0" err="1"/>
              <a:t>ns.sal</a:t>
            </a:r>
            <a:r>
              <a:rPr lang="en-US" sz="3000" dirty="0"/>
              <a:t>/2</a:t>
            </a:r>
          </a:p>
          <a:p>
            <a:r>
              <a:rPr lang="en-US" dirty="0"/>
              <a:t>from </a:t>
            </a:r>
            <a:r>
              <a:rPr lang="en-US" dirty="0" err="1"/>
              <a:t>emp</a:t>
            </a:r>
            <a:r>
              <a:rPr lang="en-US" dirty="0"/>
              <a:t> e,</a:t>
            </a:r>
            <a:r>
              <a:rPr lang="ro-RO" dirty="0"/>
              <a:t> </a:t>
            </a:r>
            <a:r>
              <a:rPr lang="en-US" dirty="0" err="1"/>
              <a:t>new_sal</a:t>
            </a:r>
            <a:r>
              <a:rPr lang="en-US" dirty="0"/>
              <a:t> ns</a:t>
            </a:r>
            <a:r>
              <a:rPr lang="ro-RO" dirty="0"/>
              <a:t> </a:t>
            </a:r>
            <a:r>
              <a:rPr lang="en-US" dirty="0"/>
              <a:t>where </a:t>
            </a:r>
            <a:r>
              <a:rPr lang="en-US" dirty="0" err="1"/>
              <a:t>ns.deptno</a:t>
            </a:r>
            <a:r>
              <a:rPr lang="en-US" dirty="0"/>
              <a:t> = </a:t>
            </a:r>
            <a:r>
              <a:rPr lang="en-US" dirty="0" err="1"/>
              <a:t>e.deptno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00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Update with values from another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update </a:t>
            </a:r>
            <a:r>
              <a:rPr lang="en-US" dirty="0" err="1"/>
              <a:t>emp</a:t>
            </a:r>
            <a:r>
              <a:rPr lang="en-US" dirty="0"/>
              <a:t> e </a:t>
            </a:r>
            <a:endParaRPr lang="ro-RO" dirty="0"/>
          </a:p>
          <a:p>
            <a:r>
              <a:rPr lang="en-US" dirty="0"/>
              <a:t>set (</a:t>
            </a:r>
            <a:r>
              <a:rPr lang="en-US" dirty="0" err="1"/>
              <a:t>e.sal,e.comm</a:t>
            </a:r>
            <a:r>
              <a:rPr lang="en-US" dirty="0"/>
              <a:t>) = (select </a:t>
            </a:r>
            <a:r>
              <a:rPr lang="en-US" dirty="0" err="1"/>
              <a:t>ns.sal</a:t>
            </a:r>
            <a:r>
              <a:rPr lang="en-US" dirty="0"/>
              <a:t>, </a:t>
            </a:r>
            <a:r>
              <a:rPr lang="en-US" dirty="0" err="1"/>
              <a:t>ns.sal</a:t>
            </a:r>
            <a:r>
              <a:rPr lang="en-US" dirty="0"/>
              <a:t>/2</a:t>
            </a:r>
          </a:p>
          <a:p>
            <a:pPr lvl="1"/>
            <a:r>
              <a:rPr lang="en-US" dirty="0"/>
              <a:t>from </a:t>
            </a:r>
            <a:r>
              <a:rPr lang="en-US" dirty="0" err="1"/>
              <a:t>new_sal</a:t>
            </a:r>
            <a:r>
              <a:rPr lang="en-US" dirty="0"/>
              <a:t> ns</a:t>
            </a:r>
            <a:r>
              <a:rPr lang="ro-RO" dirty="0"/>
              <a:t> </a:t>
            </a:r>
            <a:r>
              <a:rPr lang="en-US" dirty="0"/>
              <a:t>where </a:t>
            </a:r>
            <a:r>
              <a:rPr lang="en-US" dirty="0" err="1"/>
              <a:t>ns.deptno</a:t>
            </a:r>
            <a:r>
              <a:rPr lang="en-US" dirty="0"/>
              <a:t>=</a:t>
            </a:r>
            <a:r>
              <a:rPr lang="en-US" dirty="0" err="1"/>
              <a:t>e.deptno</a:t>
            </a:r>
            <a:r>
              <a:rPr lang="en-US" dirty="0"/>
              <a:t>)</a:t>
            </a:r>
          </a:p>
          <a:p>
            <a:r>
              <a:rPr lang="en-US" dirty="0"/>
              <a:t>where exists ( select null</a:t>
            </a:r>
            <a:r>
              <a:rPr lang="ro-RO" dirty="0"/>
              <a:t> </a:t>
            </a:r>
            <a:r>
              <a:rPr lang="en-US" dirty="0"/>
              <a:t>from </a:t>
            </a:r>
            <a:r>
              <a:rPr lang="en-US" dirty="0" err="1"/>
              <a:t>new_sal</a:t>
            </a:r>
            <a:r>
              <a:rPr lang="en-US" dirty="0"/>
              <a:t> ns</a:t>
            </a:r>
            <a:r>
              <a:rPr lang="ro-RO" dirty="0"/>
              <a:t> </a:t>
            </a:r>
            <a:r>
              <a:rPr lang="en-US" dirty="0"/>
              <a:t>where </a:t>
            </a:r>
            <a:r>
              <a:rPr lang="en-US" dirty="0" err="1"/>
              <a:t>ns.deptno</a:t>
            </a:r>
            <a:r>
              <a:rPr lang="en-US" dirty="0"/>
              <a:t> = </a:t>
            </a:r>
            <a:r>
              <a:rPr lang="en-US" dirty="0" err="1"/>
              <a:t>e.deptno</a:t>
            </a:r>
            <a:r>
              <a:rPr lang="en-US" dirty="0"/>
              <a:t> 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374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Delete records from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300" dirty="0"/>
              <a:t>Delete all records from table</a:t>
            </a:r>
          </a:p>
          <a:p>
            <a:r>
              <a:rPr lang="en-US" dirty="0"/>
              <a:t>delete from </a:t>
            </a:r>
            <a:r>
              <a:rPr lang="en-US" dirty="0" err="1"/>
              <a:t>emp</a:t>
            </a:r>
            <a:endParaRPr lang="en-US" dirty="0"/>
          </a:p>
          <a:p>
            <a:r>
              <a:rPr lang="en-US" sz="3300" dirty="0"/>
              <a:t>Delete specific records from table</a:t>
            </a:r>
          </a:p>
          <a:p>
            <a:r>
              <a:rPr lang="en-US" dirty="0"/>
              <a:t>delete from </a:t>
            </a:r>
            <a:r>
              <a:rPr lang="en-US" dirty="0" err="1"/>
              <a:t>emp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deptno</a:t>
            </a:r>
            <a:r>
              <a:rPr lang="en-US" dirty="0"/>
              <a:t> = 10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70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Metadata Queries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C83B6-4585-43D0-A864-0981B6C75EA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941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OBJECT_ID('[ </a:t>
            </a:r>
            <a:r>
              <a:rPr lang="en-US" sz="3600" dirty="0" err="1"/>
              <a:t>database_name</a:t>
            </a:r>
            <a:r>
              <a:rPr lang="en-US" sz="3600" dirty="0"/>
              <a:t> . [ </a:t>
            </a:r>
            <a:r>
              <a:rPr lang="en-US" sz="3600" dirty="0" err="1"/>
              <a:t>schema_name</a:t>
            </a:r>
            <a:r>
              <a:rPr lang="en-US" sz="3600" dirty="0"/>
              <a:t> ] .] </a:t>
            </a:r>
            <a:r>
              <a:rPr lang="en-US" sz="3600" dirty="0" err="1"/>
              <a:t>object_name</a:t>
            </a:r>
            <a:r>
              <a:rPr lang="en-US" sz="3600" dirty="0"/>
              <a:t>' [ ,'</a:t>
            </a:r>
            <a:r>
              <a:rPr lang="en-US" sz="3600" dirty="0" err="1"/>
              <a:t>object_type</a:t>
            </a:r>
            <a:r>
              <a:rPr lang="en-US" sz="3600" dirty="0"/>
              <a:t>' ]);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getting the Identifier of an Object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52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DB_ID ( [ '</a:t>
            </a:r>
            <a:r>
              <a:rPr lang="en-US" dirty="0" err="1"/>
              <a:t>database_name</a:t>
            </a:r>
            <a:r>
              <a:rPr lang="en-US" dirty="0"/>
              <a:t>' ] ) RETURNS </a:t>
            </a:r>
            <a:r>
              <a:rPr lang="en-US" dirty="0" err="1"/>
              <a:t>int</a:t>
            </a:r>
            <a:r>
              <a:rPr lang="en-US" dirty="0"/>
              <a:t>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Identifier of a Database</a:t>
            </a:r>
          </a:p>
          <a:p>
            <a:r>
              <a:rPr lang="en-US" dirty="0"/>
              <a:t>function takes an argument that is optional - If you call without an argument, it returns name of current database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228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DB_NAME ( [ </a:t>
            </a:r>
            <a:r>
              <a:rPr lang="en-US" dirty="0" err="1"/>
              <a:t>database_id</a:t>
            </a:r>
            <a:r>
              <a:rPr lang="en-US" dirty="0"/>
              <a:t> ] ) RETURNS </a:t>
            </a:r>
            <a:r>
              <a:rPr lang="en-US" dirty="0" err="1"/>
              <a:t>nvarchar</a:t>
            </a:r>
            <a:r>
              <a:rPr lang="en-US" dirty="0"/>
              <a:t>(128);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Getting the Current Database</a:t>
            </a:r>
          </a:p>
          <a:p>
            <a:r>
              <a:rPr lang="en-US" dirty="0"/>
              <a:t>function takes an optional argument - If you call this function without an argument, it finds name of database that is currently selected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560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USER_NAME ( [ </a:t>
            </a:r>
            <a:r>
              <a:rPr lang="en-US" sz="3600" dirty="0" err="1"/>
              <a:t>server_user_id</a:t>
            </a:r>
            <a:r>
              <a:rPr lang="en-US" sz="3600" dirty="0"/>
              <a:t> ] ) RETURNS </a:t>
            </a:r>
            <a:r>
              <a:rPr lang="en-US" sz="3600" dirty="0" err="1"/>
              <a:t>nvarchar</a:t>
            </a:r>
            <a:r>
              <a:rPr lang="en-US" sz="3600" dirty="0"/>
              <a:t>(128);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the actual username of the user connected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13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HOST_NAME() RETURNS </a:t>
            </a:r>
            <a:r>
              <a:rPr lang="en-US" dirty="0" err="1"/>
              <a:t>nvarchar</a:t>
            </a:r>
            <a:r>
              <a:rPr lang="en-US" dirty="0"/>
              <a:t>(128);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the name of computer that is currently being used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01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Tables in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select </a:t>
            </a:r>
            <a:r>
              <a:rPr lang="en-US" sz="3000" dirty="0" err="1"/>
              <a:t>table_name</a:t>
            </a:r>
            <a:endParaRPr lang="en-US" sz="3000" dirty="0"/>
          </a:p>
          <a:p>
            <a:r>
              <a:rPr lang="en-US" sz="3000" dirty="0"/>
              <a:t>from </a:t>
            </a:r>
            <a:r>
              <a:rPr lang="en-US" sz="3000" dirty="0" err="1"/>
              <a:t>information_schema.tables</a:t>
            </a:r>
            <a:endParaRPr lang="en-US" sz="3000" dirty="0"/>
          </a:p>
          <a:p>
            <a:r>
              <a:rPr lang="en-US" sz="3000" dirty="0"/>
              <a:t>where </a:t>
            </a:r>
            <a:r>
              <a:rPr lang="en-US" sz="3000" dirty="0" err="1"/>
              <a:t>table_schema</a:t>
            </a:r>
            <a:r>
              <a:rPr lang="en-US" sz="3000" dirty="0"/>
              <a:t> = ‘</a:t>
            </a:r>
            <a:r>
              <a:rPr lang="en-US" sz="3000" dirty="0" err="1"/>
              <a:t>DBDCourse</a:t>
            </a:r>
            <a:r>
              <a:rPr lang="en-US" sz="3000" dirty="0"/>
              <a:t>’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C83B6-4585-43D0-A864-0981B6C75EA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7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Table’s Columns (Indexed)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select </a:t>
            </a:r>
            <a:r>
              <a:rPr lang="en-US" sz="2800" dirty="0" err="1"/>
              <a:t>column_name</a:t>
            </a:r>
            <a:r>
              <a:rPr lang="en-US" sz="2800" dirty="0"/>
              <a:t>, </a:t>
            </a:r>
            <a:r>
              <a:rPr lang="en-US" sz="2800" dirty="0" err="1"/>
              <a:t>data_type</a:t>
            </a:r>
            <a:r>
              <a:rPr lang="en-US" sz="2800" dirty="0"/>
              <a:t>, </a:t>
            </a:r>
            <a:r>
              <a:rPr lang="en-US" sz="2800" dirty="0" err="1"/>
              <a:t>ordinal_position</a:t>
            </a:r>
            <a:endParaRPr lang="en-US" sz="2800" dirty="0"/>
          </a:p>
          <a:p>
            <a:r>
              <a:rPr lang="en-US" sz="2800" dirty="0"/>
              <a:t>from </a:t>
            </a:r>
            <a:r>
              <a:rPr lang="en-US" sz="2800" dirty="0" err="1"/>
              <a:t>information_schema.columns</a:t>
            </a:r>
            <a:endParaRPr lang="en-US" sz="2800" dirty="0"/>
          </a:p>
          <a:p>
            <a:r>
              <a:rPr lang="en-US" sz="2800" dirty="0"/>
              <a:t>where </a:t>
            </a:r>
            <a:r>
              <a:rPr lang="en-US" sz="2800" dirty="0" err="1"/>
              <a:t>table_schema</a:t>
            </a:r>
            <a:r>
              <a:rPr lang="en-US" sz="2800" dirty="0"/>
              <a:t> = ‘</a:t>
            </a:r>
            <a:r>
              <a:rPr lang="en-US" sz="2800" dirty="0" err="1"/>
              <a:t>DBDCourse</a:t>
            </a:r>
            <a:r>
              <a:rPr lang="en-US" sz="2800" dirty="0"/>
              <a:t>’</a:t>
            </a:r>
          </a:p>
          <a:p>
            <a:r>
              <a:rPr lang="en-US" sz="2800" dirty="0"/>
              <a:t>and </a:t>
            </a:r>
            <a:r>
              <a:rPr lang="en-US" sz="2800" dirty="0" err="1"/>
              <a:t>table_name</a:t>
            </a:r>
            <a:r>
              <a:rPr lang="en-US" sz="2800" dirty="0"/>
              <a:t> = 'EMP‘</a:t>
            </a:r>
          </a:p>
          <a:p>
            <a:endParaRPr lang="en-US" sz="900" dirty="0"/>
          </a:p>
          <a:p>
            <a:r>
              <a:rPr lang="en-US" sz="2800" dirty="0"/>
              <a:t>select </a:t>
            </a:r>
            <a:r>
              <a:rPr lang="en-US" sz="2800" dirty="0" err="1"/>
              <a:t>a.tablename</a:t>
            </a:r>
            <a:r>
              <a:rPr lang="en-US" sz="2800" dirty="0"/>
              <a:t>, </a:t>
            </a:r>
            <a:r>
              <a:rPr lang="en-US" sz="2800" dirty="0" err="1"/>
              <a:t>a.indexname</a:t>
            </a:r>
            <a:r>
              <a:rPr lang="en-US" sz="2800" dirty="0"/>
              <a:t>, </a:t>
            </a:r>
            <a:r>
              <a:rPr lang="en-US" sz="2800" dirty="0" err="1"/>
              <a:t>b.column_name</a:t>
            </a:r>
            <a:endParaRPr lang="en-US" sz="2800" dirty="0"/>
          </a:p>
          <a:p>
            <a:r>
              <a:rPr lang="en-US" sz="2800" dirty="0"/>
              <a:t>from </a:t>
            </a:r>
            <a:r>
              <a:rPr lang="en-US" sz="2800" dirty="0" err="1"/>
              <a:t>pg_catalog.pg_indexes</a:t>
            </a:r>
            <a:r>
              <a:rPr lang="en-US" sz="2800" dirty="0"/>
              <a:t> a, </a:t>
            </a:r>
            <a:r>
              <a:rPr lang="en-US" sz="2800" dirty="0" err="1"/>
              <a:t>information_schema.columns</a:t>
            </a:r>
            <a:r>
              <a:rPr lang="en-US" sz="2800" dirty="0"/>
              <a:t> b</a:t>
            </a:r>
          </a:p>
          <a:p>
            <a:r>
              <a:rPr lang="en-US" sz="2800" dirty="0"/>
              <a:t>where </a:t>
            </a:r>
            <a:r>
              <a:rPr lang="en-US" sz="2800" dirty="0" err="1"/>
              <a:t>table_schema</a:t>
            </a:r>
            <a:r>
              <a:rPr lang="en-US" sz="2800" dirty="0"/>
              <a:t> = ‘</a:t>
            </a:r>
            <a:r>
              <a:rPr lang="en-US" sz="2800" dirty="0" err="1"/>
              <a:t>DBDCourse</a:t>
            </a:r>
            <a:r>
              <a:rPr lang="en-US" sz="2800" dirty="0"/>
              <a:t>’</a:t>
            </a:r>
          </a:p>
          <a:p>
            <a:r>
              <a:rPr lang="en-US" sz="2800" dirty="0"/>
              <a:t>and </a:t>
            </a:r>
            <a:r>
              <a:rPr lang="en-US" sz="2800" dirty="0" err="1"/>
              <a:t>a.tablename</a:t>
            </a:r>
            <a:r>
              <a:rPr lang="en-US" sz="2800" dirty="0"/>
              <a:t> = </a:t>
            </a:r>
            <a:r>
              <a:rPr lang="en-US" sz="2800" dirty="0" err="1"/>
              <a:t>b.table_name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C83B6-4585-43D0-A864-0981B6C75EA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686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Constraints 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000" dirty="0"/>
              <a:t>select </a:t>
            </a:r>
            <a:r>
              <a:rPr lang="en-US" sz="3000" dirty="0" err="1"/>
              <a:t>a.table_name</a:t>
            </a:r>
            <a:r>
              <a:rPr lang="en-US" sz="3000" dirty="0"/>
              <a:t>, </a:t>
            </a:r>
            <a:r>
              <a:rPr lang="en-US" sz="3000" dirty="0" err="1"/>
              <a:t>a.constraint_name</a:t>
            </a:r>
            <a:r>
              <a:rPr lang="en-US" sz="3000" dirty="0"/>
              <a:t>, </a:t>
            </a:r>
            <a:r>
              <a:rPr lang="en-US" sz="3000" dirty="0" err="1"/>
              <a:t>b.column_name</a:t>
            </a:r>
            <a:r>
              <a:rPr lang="en-US" sz="3000" dirty="0"/>
              <a:t>, </a:t>
            </a:r>
            <a:r>
              <a:rPr lang="en-US" sz="3000" dirty="0" err="1"/>
              <a:t>a.constraint_type</a:t>
            </a:r>
            <a:r>
              <a:rPr lang="en-US" sz="3000" dirty="0"/>
              <a:t> from </a:t>
            </a:r>
            <a:r>
              <a:rPr lang="en-US" sz="3000" dirty="0" err="1"/>
              <a:t>information_schema.table_constraints</a:t>
            </a:r>
            <a:r>
              <a:rPr lang="en-US" sz="3000" dirty="0"/>
              <a:t> a, </a:t>
            </a:r>
            <a:r>
              <a:rPr lang="en-US" sz="3000" dirty="0" err="1"/>
              <a:t>information_schema.key_column_usage</a:t>
            </a:r>
            <a:r>
              <a:rPr lang="en-US" sz="3000" dirty="0"/>
              <a:t> b</a:t>
            </a:r>
          </a:p>
          <a:p>
            <a:r>
              <a:rPr lang="en-US" sz="3000" dirty="0"/>
              <a:t>where </a:t>
            </a:r>
            <a:r>
              <a:rPr lang="en-US" sz="3000" dirty="0" err="1"/>
              <a:t>a.table_name</a:t>
            </a:r>
            <a:r>
              <a:rPr lang="en-US" sz="3000" dirty="0"/>
              <a:t> = ‘EMP’ and </a:t>
            </a:r>
            <a:r>
              <a:rPr lang="en-US" sz="3000" dirty="0" err="1"/>
              <a:t>a.table_schema</a:t>
            </a:r>
            <a:r>
              <a:rPr lang="en-US" sz="3000" dirty="0"/>
              <a:t> = ‘</a:t>
            </a:r>
            <a:r>
              <a:rPr lang="en-US" sz="3000" dirty="0" err="1"/>
              <a:t>DBDCourse</a:t>
            </a:r>
            <a:r>
              <a:rPr lang="en-US" sz="3000" dirty="0"/>
              <a:t>’</a:t>
            </a:r>
          </a:p>
          <a:p>
            <a:r>
              <a:rPr lang="en-US" sz="3000" dirty="0"/>
              <a:t>and </a:t>
            </a:r>
            <a:r>
              <a:rPr lang="en-US" sz="3000" dirty="0" err="1"/>
              <a:t>a.table_name</a:t>
            </a:r>
            <a:r>
              <a:rPr lang="en-US" sz="3000" dirty="0"/>
              <a:t> = </a:t>
            </a:r>
            <a:r>
              <a:rPr lang="en-US" sz="3000" dirty="0" err="1"/>
              <a:t>b.table_name</a:t>
            </a:r>
            <a:endParaRPr lang="en-US" sz="3000" dirty="0"/>
          </a:p>
          <a:p>
            <a:r>
              <a:rPr lang="en-US" sz="3000" dirty="0"/>
              <a:t>and </a:t>
            </a:r>
            <a:r>
              <a:rPr lang="en-US" sz="3000" dirty="0" err="1"/>
              <a:t>a.table_schema</a:t>
            </a:r>
            <a:r>
              <a:rPr lang="en-US" sz="3000" dirty="0"/>
              <a:t> = </a:t>
            </a:r>
            <a:r>
              <a:rPr lang="en-US" sz="3000" dirty="0" err="1"/>
              <a:t>b.table_schema</a:t>
            </a:r>
            <a:endParaRPr lang="en-US" sz="3000" dirty="0"/>
          </a:p>
          <a:p>
            <a:r>
              <a:rPr lang="en-US" sz="3000" dirty="0"/>
              <a:t>and </a:t>
            </a:r>
            <a:r>
              <a:rPr lang="en-US" sz="3000" dirty="0" err="1"/>
              <a:t>a.constraint_name</a:t>
            </a:r>
            <a:r>
              <a:rPr lang="en-US" sz="3000" dirty="0"/>
              <a:t> = </a:t>
            </a:r>
            <a:r>
              <a:rPr lang="en-US" sz="3000" dirty="0" err="1"/>
              <a:t>b.constraint_name</a:t>
            </a:r>
            <a:endParaRPr lang="en-US" sz="3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C83B6-4585-43D0-A864-0981B6C75EA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359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Working with Strings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C83B6-4585-43D0-A864-0981B6C75EA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785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PARSE ( </a:t>
            </a:r>
            <a:r>
              <a:rPr lang="en-US" dirty="0" err="1"/>
              <a:t>string_value</a:t>
            </a:r>
            <a:r>
              <a:rPr lang="en-US" dirty="0"/>
              <a:t> AS </a:t>
            </a:r>
            <a:r>
              <a:rPr lang="en-US" dirty="0" err="1"/>
              <a:t>data_type</a:t>
            </a:r>
            <a:r>
              <a:rPr lang="en-US" dirty="0"/>
              <a:t> [ USING culture ] 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Parsing consists of scanning of expression or word to match pattern</a:t>
            </a:r>
          </a:p>
          <a:p>
            <a:r>
              <a:rPr lang="en-US" sz="2800" dirty="0"/>
              <a:t>to check every symbol in combination to find out if it is number or something else</a:t>
            </a:r>
          </a:p>
          <a:p>
            <a:r>
              <a:rPr lang="en-US" sz="2800" dirty="0"/>
              <a:t>takes one argument, passed as string and accompanied by its data type preceded by </a:t>
            </a:r>
            <a:r>
              <a:rPr lang="en-US" sz="2800" i="1" dirty="0"/>
              <a:t>AS</a:t>
            </a:r>
            <a:r>
              <a:rPr lang="en-US" sz="2800" dirty="0"/>
              <a:t> keyword</a:t>
            </a:r>
          </a:p>
          <a:p>
            <a:r>
              <a:rPr lang="en-US" sz="2800" dirty="0"/>
              <a:t>used to "scan" an expression that is passed as </a:t>
            </a:r>
            <a:r>
              <a:rPr lang="en-US" sz="2800" i="1" dirty="0" err="1"/>
              <a:t>string_value</a:t>
            </a:r>
            <a:r>
              <a:rPr lang="en-US" sz="2800" dirty="0"/>
              <a:t> argument; expression must follow rules of </a:t>
            </a:r>
            <a:r>
              <a:rPr lang="en-US" sz="2800" i="1" dirty="0" err="1"/>
              <a:t>data_type</a:t>
            </a:r>
            <a:r>
              <a:rPr lang="en-US" sz="2800" dirty="0"/>
              <a:t> argument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99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PARSE ( </a:t>
            </a:r>
            <a:r>
              <a:rPr lang="en-US" dirty="0" err="1"/>
              <a:t>string_value</a:t>
            </a:r>
            <a:r>
              <a:rPr lang="en-US" dirty="0"/>
              <a:t> AS </a:t>
            </a:r>
            <a:r>
              <a:rPr lang="en-US" dirty="0" err="1"/>
              <a:t>data_type</a:t>
            </a:r>
            <a:r>
              <a:rPr lang="en-US" dirty="0"/>
              <a:t> [ USING culture ] 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for example to find out if some value is an integer; if you want to know whether some value is date,(</a:t>
            </a:r>
            <a:r>
              <a:rPr lang="en-US" sz="2000" dirty="0"/>
              <a:t>value must follow rules of date value as specified in Date tab in Customize Regional Options accessible from Regional and Language Options</a:t>
            </a:r>
            <a:r>
              <a:rPr lang="en-US" sz="2400" dirty="0"/>
              <a:t>)</a:t>
            </a:r>
          </a:p>
          <a:p>
            <a:r>
              <a:rPr lang="en-US" sz="2800" dirty="0"/>
              <a:t>If argument may include international characters or formats (Unicode), you should indicate language, called </a:t>
            </a:r>
            <a:r>
              <a:rPr lang="en-US" sz="2800" i="1" dirty="0"/>
              <a:t>culture</a:t>
            </a:r>
            <a:r>
              <a:rPr lang="en-US" sz="2800" dirty="0"/>
              <a:t>, that argument follows</a:t>
            </a:r>
          </a:p>
          <a:p>
            <a:r>
              <a:rPr lang="en-US" sz="2800" dirty="0"/>
              <a:t>If PARSE() is not able to determine  type or if value of argument doesn't follow rule of </a:t>
            </a:r>
            <a:r>
              <a:rPr lang="en-US" sz="2800" i="1" dirty="0" err="1"/>
              <a:t>data_type</a:t>
            </a:r>
            <a:r>
              <a:rPr lang="en-US" sz="2800" dirty="0"/>
              <a:t>, function produces (throws) an error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028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TRY_PARSE ( </a:t>
            </a:r>
            <a:r>
              <a:rPr lang="en-US" i="1" dirty="0" err="1"/>
              <a:t>string_value</a:t>
            </a:r>
            <a:r>
              <a:rPr lang="en-US" dirty="0"/>
              <a:t> AS </a:t>
            </a:r>
            <a:r>
              <a:rPr lang="en-US" i="1" dirty="0" err="1"/>
              <a:t>data_type</a:t>
            </a:r>
            <a:r>
              <a:rPr lang="en-US" dirty="0"/>
              <a:t> [ USING </a:t>
            </a:r>
            <a:r>
              <a:rPr lang="en-US" i="1" dirty="0"/>
              <a:t>culture</a:t>
            </a:r>
            <a:r>
              <a:rPr lang="en-US" dirty="0"/>
              <a:t> ] 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as an alternative provides TRY_PARSE() function</a:t>
            </a:r>
          </a:p>
          <a:p>
            <a:r>
              <a:rPr lang="en-US" sz="2800" dirty="0"/>
              <a:t>If parsing operation fails, TRY_PARSE produces NULL (if parsing operation fails)</a:t>
            </a:r>
          </a:p>
          <a:p>
            <a:r>
              <a:rPr lang="en-US" sz="2800" dirty="0"/>
              <a:t>in most cases, you should prefer TRY_PARSE() instead of PARSE()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684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CAST ( Expression AS </a:t>
            </a:r>
            <a:r>
              <a:rPr lang="en-US" dirty="0" err="1"/>
              <a:t>DataType</a:t>
            </a:r>
            <a:r>
              <a:rPr lang="en-US" dirty="0"/>
              <a:t> [ ( length ) ] 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/>
              <a:t>Casting a Value: </a:t>
            </a:r>
            <a:r>
              <a:rPr lang="en-US" sz="2800" dirty="0"/>
              <a:t>in most cases, value user submits is primarily considered string; If value user provides must be treated as something other than string, before using such a value, you should first convert it to appropriate type</a:t>
            </a:r>
          </a:p>
          <a:p>
            <a:r>
              <a:rPr lang="en-US" sz="2800" dirty="0"/>
              <a:t>If CAST() function is not able to cast expression, it produces (throws) an error; as an alternative provides a function named</a:t>
            </a:r>
          </a:p>
          <a:p>
            <a:r>
              <a:rPr lang="en-US" sz="2800" dirty="0"/>
              <a:t>TRY_CAST ( expression AS </a:t>
            </a:r>
            <a:r>
              <a:rPr lang="en-US" sz="2800" dirty="0" err="1"/>
              <a:t>data_type</a:t>
            </a:r>
            <a:r>
              <a:rPr lang="en-US" sz="2800" dirty="0"/>
              <a:t> [ ( length ) ] 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85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CONVERT(</a:t>
            </a:r>
            <a:r>
              <a:rPr lang="en-US" dirty="0" err="1"/>
              <a:t>DataType</a:t>
            </a:r>
            <a:r>
              <a:rPr lang="en-US" dirty="0"/>
              <a:t> [ ( length ) ] , Expression [ , style ])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can be used to convert value from its original type into non-similar type</a:t>
            </a:r>
          </a:p>
          <a:p>
            <a:r>
              <a:rPr lang="en-US" sz="2800" dirty="0"/>
              <a:t>first argument must be known data type</a:t>
            </a:r>
          </a:p>
          <a:p>
            <a:r>
              <a:rPr lang="en-US" sz="2800" dirty="0"/>
              <a:t>Expression is value that needs to be converted</a:t>
            </a:r>
          </a:p>
          <a:p>
            <a:r>
              <a:rPr lang="en-US" sz="2800" dirty="0"/>
              <a:t>If conversion is performed on date or time value, the style argument is number that indicates how that conversion must proceed</a:t>
            </a:r>
          </a:p>
          <a:p>
            <a:r>
              <a:rPr lang="en-US" sz="2800" dirty="0"/>
              <a:t>TRY_CONVERT ( </a:t>
            </a:r>
            <a:r>
              <a:rPr lang="en-US" sz="2800" dirty="0" err="1"/>
              <a:t>data_type</a:t>
            </a:r>
            <a:r>
              <a:rPr lang="en-US" sz="2800" dirty="0"/>
              <a:t> [ ( length ) ], expression [, style ] 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208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</a:t>
            </a:r>
            <a:r>
              <a:rPr lang="en-US" dirty="0"/>
              <a:t> LEN(String)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Length of a String</a:t>
            </a:r>
          </a:p>
          <a:p>
            <a:r>
              <a:rPr lang="en-US" dirty="0"/>
              <a:t>number of characters or symbols it contains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1965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CONCAT(string string_value1,</a:t>
            </a:r>
            <a:br>
              <a:rPr lang="en-US" sz="4000" dirty="0"/>
            </a:br>
            <a:r>
              <a:rPr lang="en-US" sz="4000" dirty="0"/>
              <a:t>string str_val2 [, string </a:t>
            </a:r>
            <a:r>
              <a:rPr lang="en-US" sz="4000" dirty="0" err="1"/>
              <a:t>str_val_N</a:t>
            </a:r>
            <a:r>
              <a:rPr lang="en-US" sz="4000" dirty="0"/>
              <a:t>]) RETURNS string;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Concatenating Strings</a:t>
            </a:r>
          </a:p>
          <a:p>
            <a:r>
              <a:rPr lang="en-US" dirty="0"/>
              <a:t>function takes an unlimited number of strings as arguments; function returns string</a:t>
            </a:r>
          </a:p>
          <a:p>
            <a:r>
              <a:rPr lang="en-US" dirty="0"/>
              <a:t>in reality, each of arguments can be char or one of its variants: </a:t>
            </a:r>
            <a:r>
              <a:rPr lang="en-US" dirty="0" err="1"/>
              <a:t>nchar</a:t>
            </a:r>
            <a:r>
              <a:rPr lang="en-US" dirty="0"/>
              <a:t>, char(n), </a:t>
            </a:r>
            <a:r>
              <a:rPr lang="en-US" dirty="0" err="1"/>
              <a:t>varchar</a:t>
            </a:r>
            <a:r>
              <a:rPr lang="en-US" dirty="0"/>
              <a:t>, </a:t>
            </a:r>
            <a:r>
              <a:rPr lang="en-US" dirty="0" err="1"/>
              <a:t>nvarchar</a:t>
            </a:r>
            <a:r>
              <a:rPr lang="en-US" dirty="0"/>
              <a:t>, or </a:t>
            </a:r>
            <a:r>
              <a:rPr lang="en-US" dirty="0" err="1"/>
              <a:t>nvarchar</a:t>
            </a:r>
            <a:r>
              <a:rPr lang="en-US" dirty="0"/>
              <a:t>(n), or </a:t>
            </a:r>
            <a:r>
              <a:rPr lang="en-US" dirty="0" err="1"/>
              <a:t>nvarchar</a:t>
            </a:r>
            <a:r>
              <a:rPr lang="en-US" dirty="0"/>
              <a:t>(max)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9057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</a:t>
            </a:r>
            <a:r>
              <a:rPr lang="en-US" dirty="0"/>
              <a:t> ASCII(String)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Converting From Integer to ASCII</a:t>
            </a:r>
          </a:p>
          <a:p>
            <a:r>
              <a:rPr lang="en-US" dirty="0"/>
              <a:t>function takes as argument string and returns ASCII code of first left character of string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728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CHAR(</a:t>
            </a:r>
            <a:r>
              <a:rPr lang="en-US" dirty="0" err="1"/>
              <a:t>int</a:t>
            </a:r>
            <a:r>
              <a:rPr lang="en-US" dirty="0"/>
              <a:t> value) RETURNS char;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Converting From ASCII to Integer</a:t>
            </a:r>
          </a:p>
          <a:p>
            <a:r>
              <a:rPr lang="en-US" dirty="0"/>
              <a:t>function takes as argument numeric value as an integer; upon conversion, function returns ASCII equivalent of that number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7811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LOWER(String) RETURNS </a:t>
            </a:r>
            <a:r>
              <a:rPr lang="en-US" sz="3600" dirty="0" err="1"/>
              <a:t>varchar</a:t>
            </a:r>
            <a:r>
              <a:rPr lang="en-US" sz="3600" dirty="0"/>
              <a:t>; / UPPER(String) RETURNS </a:t>
            </a:r>
            <a:r>
              <a:rPr lang="en-US" sz="3600" dirty="0" err="1"/>
              <a:t>varchar</a:t>
            </a:r>
            <a:r>
              <a:rPr lang="en-US" sz="3600" dirty="0"/>
              <a:t>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Converting to Lowercase / Uppercase</a:t>
            </a:r>
          </a:p>
          <a:p>
            <a:r>
              <a:rPr lang="en-US" dirty="0"/>
              <a:t>function takes as argument a string which would be converted to lowercase / uppercase; after conversion function returns new string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142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LEFT(String, </a:t>
            </a:r>
            <a:r>
              <a:rPr lang="en-US" sz="3200" dirty="0" err="1"/>
              <a:t>NumberOfCharacters</a:t>
            </a:r>
            <a:r>
              <a:rPr lang="en-US" sz="3200" dirty="0"/>
              <a:t>) RETURNS </a:t>
            </a:r>
            <a:r>
              <a:rPr lang="en-US" sz="3200" dirty="0" err="1"/>
              <a:t>varchar</a:t>
            </a:r>
            <a:r>
              <a:rPr lang="en-US" sz="3200" dirty="0"/>
              <a:t> / RIGHT(String, </a:t>
            </a:r>
            <a:r>
              <a:rPr lang="en-US" sz="3200" dirty="0" err="1"/>
              <a:t>NumberOfCharacters</a:t>
            </a:r>
            <a:r>
              <a:rPr lang="en-US" sz="3200" dirty="0"/>
              <a:t>) RETURNS </a:t>
            </a:r>
            <a:r>
              <a:rPr lang="en-US" sz="3200" dirty="0" err="1"/>
              <a:t>varchar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Sub-Strings Characters of a String </a:t>
            </a:r>
          </a:p>
          <a:p>
            <a:r>
              <a:rPr lang="en-US" dirty="0"/>
              <a:t>function takes two arguments: first argument specifies original string, second argument specifies number of characters from most left / right that will constitute sub-string - after operation, function returns new string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6228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REPLACE(String, </a:t>
            </a:r>
            <a:r>
              <a:rPr lang="en-US" sz="4000" dirty="0" err="1"/>
              <a:t>FindString</a:t>
            </a:r>
            <a:r>
              <a:rPr lang="en-US" sz="4000" dirty="0"/>
              <a:t>, </a:t>
            </a:r>
            <a:r>
              <a:rPr lang="en-US" sz="4000" dirty="0" err="1"/>
              <a:t>ReplaceWith</a:t>
            </a:r>
            <a:r>
              <a:rPr lang="en-US" sz="4000" dirty="0"/>
              <a:t>) RETURNS </a:t>
            </a:r>
            <a:r>
              <a:rPr lang="en-US" sz="4000" dirty="0" err="1"/>
              <a:t>varchar</a:t>
            </a:r>
            <a:r>
              <a:rPr lang="en-US" sz="4000" dirty="0"/>
              <a:t>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Replacing Occurrences in a String</a:t>
            </a:r>
          </a:p>
          <a:p>
            <a:r>
              <a:rPr lang="en-US" dirty="0"/>
              <a:t>function takes three arguments: first is string that will be used as reference; second argument is character or sub-string to look for </a:t>
            </a:r>
          </a:p>
          <a:p>
            <a:r>
              <a:rPr lang="en-US" dirty="0"/>
              <a:t>If </a:t>
            </a:r>
            <a:r>
              <a:rPr lang="en-US" i="1" dirty="0" err="1"/>
              <a:t>FindString</a:t>
            </a:r>
            <a:r>
              <a:rPr lang="en-US" dirty="0"/>
              <a:t> sub-string is found in </a:t>
            </a:r>
            <a:r>
              <a:rPr lang="en-US" i="1" dirty="0"/>
              <a:t>String</a:t>
            </a:r>
            <a:r>
              <a:rPr lang="en-US" dirty="0"/>
              <a:t>, then it is replaced with value of last argument, </a:t>
            </a:r>
            <a:r>
              <a:rPr lang="en-US" i="1" dirty="0" err="1"/>
              <a:t>ReplaceWith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9128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Embed Quotes Within String Literals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select ‘Q’’s powers’ from t1</a:t>
            </a:r>
          </a:p>
          <a:p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C83B6-4585-43D0-A864-0981B6C75EA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4228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Remove Unwanted Characters from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for example remove vowels and all zeros - use functions TRANSLATE and REPLACE</a:t>
            </a:r>
          </a:p>
          <a:p>
            <a:r>
              <a:rPr lang="en-US" dirty="0"/>
              <a:t>select </a:t>
            </a:r>
            <a:r>
              <a:rPr lang="en-US" dirty="0" err="1"/>
              <a:t>ename</a:t>
            </a:r>
            <a:r>
              <a:rPr lang="en-US" dirty="0"/>
              <a:t>, replace (replace (replace (replace (replace (</a:t>
            </a:r>
            <a:r>
              <a:rPr lang="en-US" dirty="0" err="1"/>
              <a:t>ename</a:t>
            </a:r>
            <a:r>
              <a:rPr lang="en-US" dirty="0"/>
              <a:t>,'A',''),'E',''),'I',''),'O',''),'U','') as stripped1, </a:t>
            </a:r>
            <a:r>
              <a:rPr lang="en-US" dirty="0" err="1"/>
              <a:t>sal</a:t>
            </a:r>
            <a:r>
              <a:rPr lang="en-US" dirty="0"/>
              <a:t>, replace(sal,0,'') stripped2 from </a:t>
            </a:r>
            <a:r>
              <a:rPr lang="en-US" dirty="0" err="1"/>
              <a:t>emp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C83B6-4585-43D0-A864-0981B6C75EA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2781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Initials from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George Strawberry – G.S.</a:t>
            </a:r>
          </a:p>
          <a:p>
            <a:r>
              <a:rPr lang="en-US" sz="3000" dirty="0"/>
              <a:t>select replace(replace(</a:t>
            </a:r>
          </a:p>
          <a:p>
            <a:r>
              <a:rPr lang="en-US" sz="3000" dirty="0"/>
              <a:t>translate(replace(' George Strawberry ', '.', ''),</a:t>
            </a:r>
          </a:p>
          <a:p>
            <a:r>
              <a:rPr lang="en-US" sz="3000" dirty="0"/>
              <a:t>'</a:t>
            </a:r>
            <a:r>
              <a:rPr lang="en-US" sz="3000" dirty="0" err="1"/>
              <a:t>abcdefghijklmnopqrstuvwxyz</a:t>
            </a:r>
            <a:r>
              <a:rPr lang="en-US" sz="3000" dirty="0"/>
              <a:t>',</a:t>
            </a:r>
          </a:p>
          <a:p>
            <a:r>
              <a:rPr lang="en-US" sz="3000" dirty="0" err="1"/>
              <a:t>rpad</a:t>
            </a:r>
            <a:r>
              <a:rPr lang="en-US" sz="3000" dirty="0"/>
              <a:t>('#',26,'#') ), '#','' ),' ','.' ) ||'.'</a:t>
            </a:r>
          </a:p>
          <a:p>
            <a:r>
              <a:rPr lang="en-US" sz="3000" dirty="0"/>
              <a:t>from t1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C83B6-4585-43D0-A864-0981B6C75EA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6492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Extracting </a:t>
            </a:r>
            <a:r>
              <a:rPr lang="en-US" i="1" dirty="0"/>
              <a:t>n</a:t>
            </a:r>
            <a:r>
              <a:rPr lang="en-US" baseline="30000" dirty="0"/>
              <a:t>th</a:t>
            </a:r>
            <a:r>
              <a:rPr lang="en-US" dirty="0"/>
              <a:t> Delimited Substring</a:t>
            </a:r>
            <a:br>
              <a:rPr lang="en-US" dirty="0"/>
            </a:br>
            <a:r>
              <a:rPr lang="en-US" dirty="0"/>
              <a:t>Parsing an IP Address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/>
              <a:t>select </a:t>
            </a:r>
          </a:p>
          <a:p>
            <a:r>
              <a:rPr lang="en-US" sz="3000" dirty="0" err="1"/>
              <a:t>split_part</a:t>
            </a:r>
            <a:r>
              <a:rPr lang="en-US" sz="3000" dirty="0"/>
              <a:t>(y.ip,'.',1) as a, </a:t>
            </a:r>
            <a:r>
              <a:rPr lang="en-US" sz="3000" dirty="0" err="1"/>
              <a:t>split_part</a:t>
            </a:r>
            <a:r>
              <a:rPr lang="en-US" sz="3000" dirty="0"/>
              <a:t>(y.ip,'.',2) as b,</a:t>
            </a:r>
          </a:p>
          <a:p>
            <a:r>
              <a:rPr lang="en-US" sz="3000" dirty="0" err="1"/>
              <a:t>split_part</a:t>
            </a:r>
            <a:r>
              <a:rPr lang="en-US" sz="3000" dirty="0"/>
              <a:t>(y.ip,'.',3) as c, </a:t>
            </a:r>
            <a:r>
              <a:rPr lang="en-US" sz="3000" dirty="0" err="1"/>
              <a:t>split_part</a:t>
            </a:r>
            <a:r>
              <a:rPr lang="en-US" sz="3000" dirty="0"/>
              <a:t>(y.ip,'.',4) as d</a:t>
            </a:r>
          </a:p>
          <a:p>
            <a:r>
              <a:rPr lang="en-US" sz="3000" dirty="0"/>
              <a:t>from (select cast('193.226.17.55' as text) as </a:t>
            </a:r>
            <a:r>
              <a:rPr lang="en-US" sz="3000" dirty="0" err="1"/>
              <a:t>ip</a:t>
            </a:r>
            <a:r>
              <a:rPr lang="en-US" sz="3000" dirty="0"/>
              <a:t> from t1) as y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C83B6-4585-43D0-A864-0981B6C75EA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758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Working with Numbers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C83B6-4585-43D0-A864-0981B6C75EA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1347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Mathematical Functions and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+ 	addition</a:t>
            </a:r>
            <a:r>
              <a:rPr lang="ro-RO" dirty="0"/>
              <a:t>		</a:t>
            </a:r>
            <a:r>
              <a:rPr lang="en-US" dirty="0"/>
              <a:t>- 	subtraction</a:t>
            </a:r>
          </a:p>
          <a:p>
            <a:r>
              <a:rPr lang="en-US" dirty="0"/>
              <a:t>* 	multiplication</a:t>
            </a:r>
            <a:r>
              <a:rPr lang="ro-RO" dirty="0"/>
              <a:t>		</a:t>
            </a:r>
            <a:r>
              <a:rPr lang="en-US" dirty="0"/>
              <a:t>/ 	division </a:t>
            </a:r>
            <a:r>
              <a:rPr lang="en-US" sz="2200" dirty="0"/>
              <a:t>(integer division truncates results)</a:t>
            </a:r>
            <a:endParaRPr lang="en-US" sz="2600" dirty="0"/>
          </a:p>
          <a:p>
            <a:r>
              <a:rPr lang="en-US" dirty="0"/>
              <a:t>% 	modulo (remainder)</a:t>
            </a:r>
          </a:p>
          <a:p>
            <a:r>
              <a:rPr lang="en-US" dirty="0"/>
              <a:t>^ 	exponentiation 	</a:t>
            </a:r>
          </a:p>
          <a:p>
            <a:r>
              <a:rPr lang="en-US" dirty="0"/>
              <a:t>|/ 	square root 	</a:t>
            </a:r>
            <a:r>
              <a:rPr lang="ro-RO" dirty="0"/>
              <a:t>	</a:t>
            </a:r>
            <a:r>
              <a:rPr lang="en-US" dirty="0"/>
              <a:t>||/ 	cube root 	</a:t>
            </a:r>
          </a:p>
          <a:p>
            <a:r>
              <a:rPr lang="en-US" dirty="0"/>
              <a:t>! 	factorial 	</a:t>
            </a:r>
            <a:r>
              <a:rPr lang="ro-RO" dirty="0"/>
              <a:t>	</a:t>
            </a:r>
            <a:r>
              <a:rPr lang="en-US" dirty="0"/>
              <a:t>!! 	factorial (prefix operator)</a:t>
            </a:r>
          </a:p>
          <a:p>
            <a:r>
              <a:rPr lang="en-US" dirty="0"/>
              <a:t>@ 	absolute value</a:t>
            </a:r>
          </a:p>
          <a:p>
            <a:r>
              <a:rPr lang="en-US" dirty="0"/>
              <a:t>&amp; 	bitwise AND</a:t>
            </a:r>
            <a:r>
              <a:rPr lang="ro-RO" dirty="0"/>
              <a:t>		</a:t>
            </a:r>
            <a:r>
              <a:rPr lang="en-US" dirty="0"/>
              <a:t>| 	bitwise OR</a:t>
            </a:r>
          </a:p>
          <a:p>
            <a:r>
              <a:rPr lang="en-US" dirty="0"/>
              <a:t># 	bitwise XOR</a:t>
            </a:r>
            <a:r>
              <a:rPr lang="ro-RO" dirty="0"/>
              <a:t>		</a:t>
            </a:r>
            <a:r>
              <a:rPr lang="en-US" dirty="0"/>
              <a:t>~ 	bitwise NOT</a:t>
            </a:r>
          </a:p>
          <a:p>
            <a:r>
              <a:rPr lang="en-US" dirty="0"/>
              <a:t>&lt;&lt; 	bitwise shift left</a:t>
            </a:r>
            <a:r>
              <a:rPr lang="ro-RO" dirty="0"/>
              <a:t>	</a:t>
            </a:r>
            <a:r>
              <a:rPr lang="en-US" dirty="0"/>
              <a:t>&gt;&gt; 	bitwise shift right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C83B6-4585-43D0-A864-0981B6C75EA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6121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SIGN(Expression)</a:t>
            </a:r>
          </a:p>
          <a:p>
            <a:r>
              <a:rPr lang="en-US" dirty="0"/>
              <a:t>ABS(Expression) RETURNS Data Type       	of Argument</a:t>
            </a:r>
          </a:p>
          <a:p>
            <a:r>
              <a:rPr lang="en-US" dirty="0"/>
              <a:t>CEILING(Expression) FLOOR(Expression)</a:t>
            </a:r>
          </a:p>
          <a:p>
            <a:r>
              <a:rPr lang="en-US" dirty="0"/>
              <a:t>EXP(Expression) LOG(Expression)</a:t>
            </a:r>
          </a:p>
          <a:p>
            <a:r>
              <a:rPr lang="en-US" dirty="0"/>
              <a:t>POWER(x, y)</a:t>
            </a:r>
          </a:p>
          <a:p>
            <a:r>
              <a:rPr lang="en-US" dirty="0"/>
              <a:t>SQRT(Expression)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727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PI()</a:t>
            </a:r>
          </a:p>
          <a:p>
            <a:r>
              <a:rPr lang="en-US" dirty="0"/>
              <a:t>RADIANS(Expression)</a:t>
            </a:r>
          </a:p>
          <a:p>
            <a:r>
              <a:rPr lang="en-US" dirty="0"/>
              <a:t>DEGREES(Expression)</a:t>
            </a:r>
          </a:p>
          <a:p>
            <a:r>
              <a:rPr lang="en-US" dirty="0"/>
              <a:t>COS(Expression) SIN(Expression)</a:t>
            </a:r>
          </a:p>
          <a:p>
            <a:r>
              <a:rPr lang="en-US" dirty="0"/>
              <a:t>TAN(Expression)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5456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Trigonometric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acos</a:t>
            </a:r>
            <a:r>
              <a:rPr lang="en-US" dirty="0"/>
              <a:t>(x) 	inverse cosine</a:t>
            </a:r>
            <a:r>
              <a:rPr lang="ro-RO" dirty="0"/>
              <a:t>	</a:t>
            </a:r>
            <a:r>
              <a:rPr lang="en-US" dirty="0" err="1"/>
              <a:t>asin</a:t>
            </a:r>
            <a:r>
              <a:rPr lang="en-US" dirty="0"/>
              <a:t>(x) 	inverse sine</a:t>
            </a:r>
          </a:p>
          <a:p>
            <a:r>
              <a:rPr lang="en-US" dirty="0" err="1"/>
              <a:t>atan</a:t>
            </a:r>
            <a:r>
              <a:rPr lang="en-US" dirty="0"/>
              <a:t>(x) 	inverse tangent</a:t>
            </a:r>
            <a:r>
              <a:rPr lang="ro-RO" dirty="0"/>
              <a:t>	</a:t>
            </a:r>
            <a:r>
              <a:rPr lang="en-US" dirty="0"/>
              <a:t>atan2(x, y) 	inverse tangent of x/y</a:t>
            </a:r>
          </a:p>
          <a:p>
            <a:r>
              <a:rPr lang="en-US" dirty="0"/>
              <a:t>cos(x) 	cosine</a:t>
            </a:r>
            <a:r>
              <a:rPr lang="ro-RO" dirty="0"/>
              <a:t>		</a:t>
            </a:r>
            <a:r>
              <a:rPr lang="en-US" dirty="0"/>
              <a:t>cot(x) 	cotangent</a:t>
            </a:r>
          </a:p>
          <a:p>
            <a:r>
              <a:rPr lang="en-US" dirty="0"/>
              <a:t>sin(x) 	sine</a:t>
            </a:r>
            <a:r>
              <a:rPr lang="ro-RO" dirty="0"/>
              <a:t>			</a:t>
            </a:r>
            <a:r>
              <a:rPr lang="en-US" dirty="0"/>
              <a:t>tan(x) 	tangent</a:t>
            </a:r>
            <a:endParaRPr lang="ro-RO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C83B6-4585-43D0-A864-0981B6C75EA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053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abs(x) </a:t>
            </a:r>
            <a:r>
              <a:rPr lang="ro-RO" dirty="0"/>
              <a:t>- </a:t>
            </a:r>
            <a:r>
              <a:rPr lang="en-US" dirty="0"/>
              <a:t>(same </a:t>
            </a:r>
            <a:r>
              <a:rPr lang="ro-RO" dirty="0" err="1"/>
              <a:t>type</a:t>
            </a:r>
            <a:r>
              <a:rPr lang="ro-RO" dirty="0"/>
              <a:t> </a:t>
            </a:r>
            <a:r>
              <a:rPr lang="en-US" dirty="0"/>
              <a:t>as x): absolute value </a:t>
            </a:r>
          </a:p>
          <a:p>
            <a:r>
              <a:rPr lang="en-US" dirty="0" err="1"/>
              <a:t>cbrt</a:t>
            </a:r>
            <a:r>
              <a:rPr lang="en-US" dirty="0"/>
              <a:t>(</a:t>
            </a:r>
            <a:r>
              <a:rPr lang="en-US" dirty="0" err="1"/>
              <a:t>dp</a:t>
            </a:r>
            <a:r>
              <a:rPr lang="en-US" dirty="0"/>
              <a:t>) – </a:t>
            </a:r>
            <a:r>
              <a:rPr lang="en-US" dirty="0" err="1"/>
              <a:t>dp</a:t>
            </a:r>
            <a:r>
              <a:rPr lang="en-US" dirty="0"/>
              <a:t>: cube root</a:t>
            </a:r>
          </a:p>
          <a:p>
            <a:r>
              <a:rPr lang="en-US" dirty="0"/>
              <a:t>ceil(</a:t>
            </a:r>
            <a:r>
              <a:rPr lang="en-US" dirty="0" err="1"/>
              <a:t>dp</a:t>
            </a:r>
            <a:r>
              <a:rPr lang="en-US" dirty="0"/>
              <a:t> or numeric) - (same as input): smallest integer not less than argument </a:t>
            </a:r>
          </a:p>
          <a:p>
            <a:r>
              <a:rPr lang="en-US" dirty="0"/>
              <a:t>floor(</a:t>
            </a:r>
            <a:r>
              <a:rPr lang="en-US" dirty="0" err="1"/>
              <a:t>dp</a:t>
            </a:r>
            <a:r>
              <a:rPr lang="en-US" dirty="0"/>
              <a:t> or numeric) - (same as input): largest integer not greater than argument</a:t>
            </a:r>
          </a:p>
          <a:p>
            <a:r>
              <a:rPr lang="en-US" dirty="0"/>
              <a:t>degrees(</a:t>
            </a:r>
            <a:r>
              <a:rPr lang="en-US" dirty="0" err="1"/>
              <a:t>dp</a:t>
            </a:r>
            <a:r>
              <a:rPr lang="en-US" dirty="0"/>
              <a:t>) – </a:t>
            </a:r>
            <a:r>
              <a:rPr lang="en-US" dirty="0" err="1"/>
              <a:t>dp</a:t>
            </a:r>
            <a:r>
              <a:rPr lang="en-US" dirty="0"/>
              <a:t>: radians to degrees</a:t>
            </a:r>
          </a:p>
          <a:p>
            <a:r>
              <a:rPr lang="en-US" dirty="0"/>
              <a:t>radians(</a:t>
            </a:r>
            <a:r>
              <a:rPr lang="en-US" dirty="0" err="1"/>
              <a:t>dp</a:t>
            </a:r>
            <a:r>
              <a:rPr lang="en-US" dirty="0"/>
              <a:t>) – </a:t>
            </a:r>
            <a:r>
              <a:rPr lang="en-US" dirty="0" err="1"/>
              <a:t>dp</a:t>
            </a:r>
            <a:r>
              <a:rPr lang="en-US" dirty="0"/>
              <a:t>: degrees to radians</a:t>
            </a:r>
          </a:p>
          <a:p>
            <a:r>
              <a:rPr lang="en-US" dirty="0" err="1"/>
              <a:t>exp</a:t>
            </a:r>
            <a:r>
              <a:rPr lang="en-US" dirty="0"/>
              <a:t>(</a:t>
            </a:r>
            <a:r>
              <a:rPr lang="en-US" dirty="0" err="1"/>
              <a:t>dp</a:t>
            </a:r>
            <a:r>
              <a:rPr lang="en-US" dirty="0"/>
              <a:t> or numeric) - (same as input): exponential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C83B6-4585-43D0-A864-0981B6C75EA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830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ln(</a:t>
            </a:r>
            <a:r>
              <a:rPr lang="en-US" dirty="0" err="1"/>
              <a:t>dp</a:t>
            </a:r>
            <a:r>
              <a:rPr lang="en-US" dirty="0"/>
              <a:t> or numeric) - (same as input): 	natural logarithm</a:t>
            </a:r>
          </a:p>
          <a:p>
            <a:r>
              <a:rPr lang="en-US" dirty="0"/>
              <a:t>log(</a:t>
            </a:r>
            <a:r>
              <a:rPr lang="en-US" dirty="0" err="1"/>
              <a:t>dp</a:t>
            </a:r>
            <a:r>
              <a:rPr lang="en-US" dirty="0"/>
              <a:t> or numeric) - (same as input): base 10 logarithm</a:t>
            </a:r>
          </a:p>
          <a:p>
            <a:r>
              <a:rPr lang="en-US" dirty="0"/>
              <a:t>log(b numeric, x numeric)  - numeric: logarithm to base b </a:t>
            </a:r>
          </a:p>
          <a:p>
            <a:r>
              <a:rPr lang="en-US" dirty="0"/>
              <a:t>mod(y, x) - (same as argument types): remainder of y/x </a:t>
            </a:r>
          </a:p>
          <a:p>
            <a:r>
              <a:rPr lang="en-US" dirty="0"/>
              <a:t>pi() – </a:t>
            </a:r>
            <a:r>
              <a:rPr lang="en-US" dirty="0" err="1"/>
              <a:t>dp</a:t>
            </a:r>
            <a:r>
              <a:rPr lang="en-US" dirty="0"/>
              <a:t>: "π" constant pi() = 3.14159265358979</a:t>
            </a:r>
          </a:p>
          <a:p>
            <a:r>
              <a:rPr lang="en-US" dirty="0"/>
              <a:t>pow(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dirty="0" err="1"/>
              <a:t>dp</a:t>
            </a:r>
            <a:r>
              <a:rPr lang="en-US" dirty="0"/>
              <a:t>, </a:t>
            </a:r>
            <a:r>
              <a:rPr lang="en-US" i="1" dirty="0"/>
              <a:t>b </a:t>
            </a:r>
            <a:r>
              <a:rPr lang="en-US" dirty="0" err="1"/>
              <a:t>dp</a:t>
            </a:r>
            <a:r>
              <a:rPr lang="en-US" dirty="0"/>
              <a:t>) – </a:t>
            </a:r>
            <a:r>
              <a:rPr lang="en-US" dirty="0" err="1"/>
              <a:t>dp</a:t>
            </a:r>
            <a:r>
              <a:rPr lang="en-US" dirty="0"/>
              <a:t>: </a:t>
            </a:r>
            <a:r>
              <a:rPr lang="en-US" i="1" dirty="0"/>
              <a:t>a</a:t>
            </a:r>
            <a:r>
              <a:rPr lang="en-US" dirty="0"/>
              <a:t> raised to power of </a:t>
            </a:r>
            <a:r>
              <a:rPr lang="en-US" i="1" dirty="0"/>
              <a:t>b</a:t>
            </a:r>
            <a:endParaRPr lang="ro-RO" i="1" dirty="0"/>
          </a:p>
          <a:p>
            <a:r>
              <a:rPr lang="en-US" dirty="0"/>
              <a:t>pow(</a:t>
            </a:r>
            <a:r>
              <a:rPr lang="en-US" i="1" dirty="0"/>
              <a:t>a</a:t>
            </a:r>
            <a:r>
              <a:rPr lang="en-US" dirty="0"/>
              <a:t> numeric, </a:t>
            </a:r>
            <a:r>
              <a:rPr lang="en-US" i="1" dirty="0"/>
              <a:t>b </a:t>
            </a:r>
            <a:r>
              <a:rPr lang="en-US" dirty="0"/>
              <a:t>numeric) </a:t>
            </a:r>
            <a:r>
              <a:rPr lang="ro-RO" dirty="0"/>
              <a:t>– </a:t>
            </a:r>
            <a:r>
              <a:rPr lang="en-US" dirty="0"/>
              <a:t>numeric: </a:t>
            </a:r>
            <a:r>
              <a:rPr lang="en-US" i="1" dirty="0"/>
              <a:t>a </a:t>
            </a:r>
            <a:r>
              <a:rPr lang="en-US" dirty="0"/>
              <a:t>raised to power of </a:t>
            </a:r>
            <a:r>
              <a:rPr lang="en-US" i="1" dirty="0"/>
              <a:t>b</a:t>
            </a:r>
          </a:p>
          <a:p>
            <a:r>
              <a:rPr lang="en-US" dirty="0"/>
              <a:t>random() -	</a:t>
            </a:r>
            <a:r>
              <a:rPr lang="en-US" dirty="0" err="1"/>
              <a:t>dp</a:t>
            </a:r>
            <a:r>
              <a:rPr lang="en-US" dirty="0"/>
              <a:t>: random value between 0.0 and 1.0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C83B6-4585-43D0-A864-0981B6C75EA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7793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round(</a:t>
            </a:r>
            <a:r>
              <a:rPr lang="en-US" dirty="0" err="1"/>
              <a:t>dp</a:t>
            </a:r>
            <a:r>
              <a:rPr lang="en-US" dirty="0"/>
              <a:t> or numeric) - (same as input): round to nearest integer</a:t>
            </a:r>
          </a:p>
          <a:p>
            <a:r>
              <a:rPr lang="en-US" dirty="0"/>
              <a:t>round(</a:t>
            </a:r>
            <a:r>
              <a:rPr lang="en-US" i="1" dirty="0"/>
              <a:t>v</a:t>
            </a:r>
            <a:r>
              <a:rPr lang="en-US" dirty="0"/>
              <a:t> numeric, </a:t>
            </a:r>
            <a:r>
              <a:rPr lang="en-US" i="1" dirty="0"/>
              <a:t>s</a:t>
            </a:r>
            <a:r>
              <a:rPr lang="en-US" dirty="0"/>
              <a:t> integer) – numeric: round to </a:t>
            </a:r>
            <a:r>
              <a:rPr lang="en-US" i="1" dirty="0"/>
              <a:t>s </a:t>
            </a:r>
            <a:r>
              <a:rPr lang="en-US" dirty="0"/>
              <a:t>decimal places</a:t>
            </a:r>
          </a:p>
          <a:p>
            <a:r>
              <a:rPr lang="en-US" dirty="0" err="1"/>
              <a:t>setseed</a:t>
            </a:r>
            <a:r>
              <a:rPr lang="en-US" dirty="0"/>
              <a:t>(</a:t>
            </a:r>
            <a:r>
              <a:rPr lang="en-US" dirty="0" err="1"/>
              <a:t>dp</a:t>
            </a:r>
            <a:r>
              <a:rPr lang="en-US" dirty="0"/>
              <a:t>) - int32: set seed for subsequent random() calls</a:t>
            </a:r>
          </a:p>
          <a:p>
            <a:r>
              <a:rPr lang="en-US" dirty="0"/>
              <a:t>sign(</a:t>
            </a:r>
            <a:r>
              <a:rPr lang="en-US" dirty="0" err="1"/>
              <a:t>dp</a:t>
            </a:r>
            <a:r>
              <a:rPr lang="en-US" dirty="0"/>
              <a:t> or numeric) - (same as input): sign of argument</a:t>
            </a:r>
          </a:p>
          <a:p>
            <a:r>
              <a:rPr lang="en-US" dirty="0" err="1"/>
              <a:t>sqrt</a:t>
            </a:r>
            <a:r>
              <a:rPr lang="en-US" dirty="0"/>
              <a:t>(</a:t>
            </a:r>
            <a:r>
              <a:rPr lang="en-US" dirty="0" err="1"/>
              <a:t>dp</a:t>
            </a:r>
            <a:r>
              <a:rPr lang="en-US" dirty="0"/>
              <a:t> or numeric) - (same as input): square root</a:t>
            </a:r>
          </a:p>
          <a:p>
            <a:r>
              <a:rPr lang="en-US" dirty="0" err="1"/>
              <a:t>trunc</a:t>
            </a:r>
            <a:r>
              <a:rPr lang="en-US" dirty="0"/>
              <a:t>(</a:t>
            </a:r>
            <a:r>
              <a:rPr lang="en-US" dirty="0" err="1"/>
              <a:t>dp</a:t>
            </a:r>
            <a:r>
              <a:rPr lang="en-US" dirty="0"/>
              <a:t> or numeric) - (same as input): truncate toward zero</a:t>
            </a:r>
          </a:p>
          <a:p>
            <a:r>
              <a:rPr lang="en-US" dirty="0" err="1"/>
              <a:t>trunc</a:t>
            </a:r>
            <a:r>
              <a:rPr lang="en-US" dirty="0"/>
              <a:t>(</a:t>
            </a:r>
            <a:r>
              <a:rPr lang="en-US" i="1" dirty="0"/>
              <a:t>v</a:t>
            </a:r>
            <a:r>
              <a:rPr lang="en-US" dirty="0"/>
              <a:t> numeric, </a:t>
            </a:r>
            <a:r>
              <a:rPr lang="en-US" i="1" dirty="0"/>
              <a:t>s</a:t>
            </a:r>
            <a:r>
              <a:rPr lang="en-US" dirty="0"/>
              <a:t> integer) – numeric: truncate to </a:t>
            </a:r>
            <a:r>
              <a:rPr lang="en-US" i="1" dirty="0"/>
              <a:t>s </a:t>
            </a:r>
            <a:r>
              <a:rPr lang="en-US" dirty="0"/>
              <a:t>decimal places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C83B6-4585-43D0-A864-0981B6C75EA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688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 Running Total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select </a:t>
            </a:r>
            <a:r>
              <a:rPr lang="en-US" sz="3200" dirty="0" err="1"/>
              <a:t>e.ename</a:t>
            </a:r>
            <a:r>
              <a:rPr lang="en-US" sz="3200" dirty="0"/>
              <a:t>, </a:t>
            </a:r>
            <a:r>
              <a:rPr lang="en-US" sz="3200" dirty="0" err="1"/>
              <a:t>e.sal</a:t>
            </a:r>
            <a:r>
              <a:rPr lang="en-US" sz="3200" dirty="0"/>
              <a:t>,</a:t>
            </a:r>
          </a:p>
          <a:p>
            <a:r>
              <a:rPr lang="en-US" sz="3200" dirty="0"/>
              <a:t>(select sum(</a:t>
            </a:r>
            <a:r>
              <a:rPr lang="en-US" sz="3200" dirty="0" err="1"/>
              <a:t>d.sal</a:t>
            </a:r>
            <a:r>
              <a:rPr lang="en-US" sz="3200" dirty="0"/>
              <a:t>) from </a:t>
            </a:r>
            <a:r>
              <a:rPr lang="en-US" sz="3200" dirty="0" err="1"/>
              <a:t>emp</a:t>
            </a:r>
            <a:r>
              <a:rPr lang="en-US" sz="3200" dirty="0"/>
              <a:t> d</a:t>
            </a:r>
          </a:p>
          <a:p>
            <a:pPr lvl="1"/>
            <a:r>
              <a:rPr lang="en-US" sz="3000" dirty="0"/>
              <a:t>where </a:t>
            </a:r>
            <a:r>
              <a:rPr lang="en-US" sz="3000" dirty="0" err="1"/>
              <a:t>d.empno</a:t>
            </a:r>
            <a:r>
              <a:rPr lang="en-US" sz="3000" dirty="0"/>
              <a:t> &lt;= </a:t>
            </a:r>
            <a:r>
              <a:rPr lang="en-US" sz="3000" dirty="0" err="1"/>
              <a:t>e.empno</a:t>
            </a:r>
            <a:r>
              <a:rPr lang="en-US" sz="3000" dirty="0"/>
              <a:t>) as </a:t>
            </a:r>
            <a:r>
              <a:rPr lang="en-US" sz="3000" dirty="0" err="1"/>
              <a:t>running_total</a:t>
            </a:r>
            <a:endParaRPr lang="en-US" sz="3000" dirty="0"/>
          </a:p>
          <a:p>
            <a:r>
              <a:rPr lang="en-US" sz="3200" dirty="0"/>
              <a:t>from </a:t>
            </a:r>
            <a:r>
              <a:rPr lang="en-US" sz="3200" dirty="0" err="1"/>
              <a:t>emp</a:t>
            </a:r>
            <a:r>
              <a:rPr lang="en-US" sz="3200" dirty="0"/>
              <a:t> 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C83B6-4585-43D0-A864-0981B6C75EA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746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ENAME SAL RUNNING_TOTAL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SMITH 800 800</a:t>
            </a:r>
          </a:p>
          <a:p>
            <a:r>
              <a:rPr lang="en-US" dirty="0"/>
              <a:t>ALLEN 1600 2400</a:t>
            </a:r>
          </a:p>
          <a:p>
            <a:r>
              <a:rPr lang="en-US" dirty="0"/>
              <a:t>WARD 1250 3650</a:t>
            </a:r>
          </a:p>
          <a:p>
            <a:r>
              <a:rPr lang="en-US" dirty="0"/>
              <a:t>JONES 2975 6625</a:t>
            </a:r>
          </a:p>
          <a:p>
            <a:r>
              <a:rPr lang="en-US" dirty="0"/>
              <a:t>MARTIN 1250 7875</a:t>
            </a:r>
          </a:p>
          <a:p>
            <a:r>
              <a:rPr lang="en-US" dirty="0"/>
              <a:t>BLAKE 2850 10725</a:t>
            </a:r>
          </a:p>
          <a:p>
            <a:r>
              <a:rPr lang="en-US" dirty="0"/>
              <a:t>CLARK 2450 13175</a:t>
            </a:r>
          </a:p>
          <a:p>
            <a:r>
              <a:rPr lang="en-US" dirty="0"/>
              <a:t>SCOTT 3000 16175</a:t>
            </a:r>
          </a:p>
          <a:p>
            <a:r>
              <a:rPr lang="en-US" dirty="0"/>
              <a:t>KING 5000 21175</a:t>
            </a:r>
          </a:p>
          <a:p>
            <a:r>
              <a:rPr lang="en-US" dirty="0"/>
              <a:t>TURNER 1500 22675</a:t>
            </a:r>
          </a:p>
          <a:p>
            <a:r>
              <a:rPr lang="en-US" dirty="0"/>
              <a:t>ADAMS 1100 23775</a:t>
            </a:r>
          </a:p>
          <a:p>
            <a:r>
              <a:rPr lang="en-US" dirty="0"/>
              <a:t>JAMES 950 24725</a:t>
            </a:r>
          </a:p>
          <a:p>
            <a:r>
              <a:rPr lang="en-US" dirty="0"/>
              <a:t>FORD 3000 27725</a:t>
            </a:r>
          </a:p>
          <a:p>
            <a:r>
              <a:rPr lang="en-US" dirty="0"/>
              <a:t>MILLER 1300 29025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C83B6-4585-43D0-A864-0981B6C75EA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2371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Calculate Mode </a:t>
            </a:r>
            <a:br>
              <a:rPr lang="en-US" b="1" dirty="0"/>
            </a:br>
            <a:r>
              <a:rPr lang="en-US" dirty="0"/>
              <a:t>element that appears most frequently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select </a:t>
            </a:r>
            <a:r>
              <a:rPr lang="en-US" sz="3200" dirty="0" err="1"/>
              <a:t>sal</a:t>
            </a:r>
            <a:r>
              <a:rPr lang="en-US" sz="3200" dirty="0"/>
              <a:t> from </a:t>
            </a:r>
            <a:r>
              <a:rPr lang="en-US" sz="3200" dirty="0" err="1"/>
              <a:t>emp</a:t>
            </a:r>
            <a:endParaRPr lang="en-US" sz="3200" dirty="0"/>
          </a:p>
          <a:p>
            <a:r>
              <a:rPr lang="en-US" sz="3200" dirty="0"/>
              <a:t>group by </a:t>
            </a:r>
            <a:r>
              <a:rPr lang="en-US" sz="3200" dirty="0" err="1"/>
              <a:t>sal</a:t>
            </a:r>
            <a:endParaRPr lang="en-US" sz="3200" dirty="0"/>
          </a:p>
          <a:p>
            <a:r>
              <a:rPr lang="en-US" sz="3200" dirty="0"/>
              <a:t>having count(*) &gt;= all ( select count(*)</a:t>
            </a:r>
          </a:p>
          <a:p>
            <a:pPr lvl="1"/>
            <a:r>
              <a:rPr lang="en-US" sz="3000" dirty="0"/>
              <a:t>from </a:t>
            </a:r>
            <a:r>
              <a:rPr lang="en-US" sz="3000" dirty="0" err="1"/>
              <a:t>emp</a:t>
            </a:r>
            <a:endParaRPr lang="en-US" sz="3000" dirty="0"/>
          </a:p>
          <a:p>
            <a:pPr lvl="1"/>
            <a:r>
              <a:rPr lang="en-US" sz="3000" dirty="0"/>
              <a:t>group by </a:t>
            </a:r>
            <a:r>
              <a:rPr lang="en-US" sz="3000" dirty="0" err="1"/>
              <a:t>sal</a:t>
            </a:r>
            <a:r>
              <a:rPr lang="en-US" sz="3000" dirty="0"/>
              <a:t> )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C83B6-4585-43D0-A864-0981B6C75EA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7337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Compute Averages </a:t>
            </a:r>
            <a:br>
              <a:rPr lang="en-US" b="1" dirty="0"/>
            </a:br>
            <a:r>
              <a:rPr lang="en-US" dirty="0"/>
              <a:t>Without High and Low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select </a:t>
            </a:r>
            <a:r>
              <a:rPr lang="en-US" sz="3200" dirty="0" err="1"/>
              <a:t>avg</a:t>
            </a:r>
            <a:r>
              <a:rPr lang="en-US" sz="3200" dirty="0"/>
              <a:t>(</a:t>
            </a:r>
            <a:r>
              <a:rPr lang="en-US" sz="3200" dirty="0" err="1"/>
              <a:t>sal</a:t>
            </a:r>
            <a:r>
              <a:rPr lang="en-US" sz="3200" dirty="0"/>
              <a:t>) from </a:t>
            </a:r>
            <a:r>
              <a:rPr lang="en-US" sz="3200" dirty="0" err="1"/>
              <a:t>emp</a:t>
            </a:r>
            <a:r>
              <a:rPr lang="en-US" sz="3200" dirty="0"/>
              <a:t> where </a:t>
            </a:r>
            <a:r>
              <a:rPr lang="en-US" sz="3200" dirty="0" err="1"/>
              <a:t>sal</a:t>
            </a:r>
            <a:r>
              <a:rPr lang="en-US" sz="3200" dirty="0"/>
              <a:t> not in (</a:t>
            </a:r>
          </a:p>
          <a:p>
            <a:pPr lvl="1"/>
            <a:r>
              <a:rPr lang="en-US" sz="3000" dirty="0"/>
              <a:t>(select min(</a:t>
            </a:r>
            <a:r>
              <a:rPr lang="en-US" sz="3000" dirty="0" err="1"/>
              <a:t>sal</a:t>
            </a:r>
            <a:r>
              <a:rPr lang="en-US" sz="3000" dirty="0"/>
              <a:t>) from </a:t>
            </a:r>
            <a:r>
              <a:rPr lang="en-US" sz="3000" dirty="0" err="1"/>
              <a:t>emp</a:t>
            </a:r>
            <a:r>
              <a:rPr lang="en-US" sz="3000" dirty="0"/>
              <a:t>),</a:t>
            </a:r>
          </a:p>
          <a:p>
            <a:pPr lvl="1"/>
            <a:r>
              <a:rPr lang="en-US" sz="3000" dirty="0"/>
              <a:t>(select max(</a:t>
            </a:r>
            <a:r>
              <a:rPr lang="en-US" sz="3000" dirty="0" err="1"/>
              <a:t>sal</a:t>
            </a:r>
            <a:r>
              <a:rPr lang="en-US" sz="3000" dirty="0"/>
              <a:t>) from </a:t>
            </a:r>
            <a:r>
              <a:rPr lang="en-US" sz="3000" dirty="0" err="1"/>
              <a:t>emp</a:t>
            </a:r>
            <a:r>
              <a:rPr lang="en-US" sz="3000" dirty="0"/>
              <a:t>) )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C83B6-4585-43D0-A864-0981B6C75EA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4708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Date Arithmetic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C83B6-4585-43D0-A864-0981B6C75EA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2196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type counts dates starting from January 1</a:t>
            </a:r>
            <a:r>
              <a:rPr lang="en-US" baseline="30000" dirty="0"/>
              <a:t>st</a:t>
            </a:r>
            <a:r>
              <a:rPr lang="en-US" dirty="0"/>
              <a:t> 0001 up to December 31</a:t>
            </a:r>
            <a:r>
              <a:rPr lang="en-US" baseline="30000" dirty="0"/>
              <a:t>st</a:t>
            </a:r>
            <a:r>
              <a:rPr lang="en-US" dirty="0"/>
              <a:t> 9999</a:t>
            </a:r>
          </a:p>
          <a:p>
            <a:r>
              <a:rPr lang="en-US" dirty="0"/>
              <a:t>various rules you must follow to represent a date - can be checked in Date tab of Customize Regional Options accessible from Regional and Language Options of Control Panel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542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initialize DATE variable, use one of  following formulas</a:t>
            </a:r>
          </a:p>
          <a:p>
            <a:r>
              <a:rPr lang="en-US" dirty="0"/>
              <a:t>YYYYMMDD		YYYY-MM-DD</a:t>
            </a:r>
          </a:p>
          <a:p>
            <a:r>
              <a:rPr lang="en-US" dirty="0"/>
              <a:t>MM-DD-YY 		MM-DD-YYYY</a:t>
            </a:r>
          </a:p>
          <a:p>
            <a:r>
              <a:rPr lang="en-US" dirty="0"/>
              <a:t>MM/DD/YY		MM/DD/YYYY</a:t>
            </a:r>
          </a:p>
          <a:p>
            <a:r>
              <a:rPr lang="en-US" dirty="0"/>
              <a:t>DD-MMM-YY    	DD-MMMM-YY</a:t>
            </a:r>
          </a:p>
          <a:p>
            <a:r>
              <a:rPr lang="en-US" dirty="0"/>
              <a:t>DD-MMM-YYYY	DD-MMMM-YYYY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008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DECLARE @</a:t>
            </a:r>
            <a:r>
              <a:rPr lang="en-US" dirty="0" err="1"/>
              <a:t>OneDay</a:t>
            </a:r>
            <a:r>
              <a:rPr lang="en-US" dirty="0"/>
              <a:t> DATE;</a:t>
            </a:r>
          </a:p>
          <a:p>
            <a:r>
              <a:rPr lang="en-US" dirty="0"/>
              <a:t>SET @</a:t>
            </a:r>
            <a:r>
              <a:rPr lang="en-US" dirty="0" err="1"/>
              <a:t>OneDay</a:t>
            </a:r>
            <a:r>
              <a:rPr lang="en-US" dirty="0"/>
              <a:t> = N'19640119';</a:t>
            </a:r>
          </a:p>
          <a:p>
            <a:r>
              <a:rPr lang="en-US" dirty="0"/>
              <a:t>SELECT @</a:t>
            </a:r>
            <a:r>
              <a:rPr lang="en-US" dirty="0" err="1"/>
              <a:t>OneDay</a:t>
            </a:r>
            <a:r>
              <a:rPr lang="en-US" dirty="0"/>
              <a:t> AS [Birth Day];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3173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DATE DATEFROMPARTS(</a:t>
            </a:r>
            <a:r>
              <a:rPr lang="en-US" dirty="0" err="1"/>
              <a:t>int</a:t>
            </a:r>
            <a:r>
              <a:rPr lang="en-US" dirty="0"/>
              <a:t> year, </a:t>
            </a:r>
            <a:r>
              <a:rPr lang="en-US" dirty="0" err="1"/>
              <a:t>int</a:t>
            </a:r>
            <a:r>
              <a:rPr lang="en-US" dirty="0"/>
              <a:t> month, </a:t>
            </a:r>
            <a:r>
              <a:rPr lang="en-US" dirty="0" err="1"/>
              <a:t>int</a:t>
            </a:r>
            <a:r>
              <a:rPr lang="en-US" dirty="0"/>
              <a:t> day)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Creating a Date</a:t>
            </a:r>
          </a:p>
          <a:p>
            <a:r>
              <a:rPr lang="en-US" dirty="0"/>
              <a:t>function allows to create date if you have year, month, and day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9795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GETDATE(); </a:t>
            </a:r>
            <a:br>
              <a:rPr lang="en-US" dirty="0"/>
            </a:br>
            <a:r>
              <a:rPr lang="en-US" dirty="0"/>
              <a:t>SYSDATETIME();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System Date</a:t>
            </a:r>
          </a:p>
          <a:p>
            <a:r>
              <a:rPr lang="en-US" dirty="0"/>
              <a:t>get current date (and time) of the computer </a:t>
            </a:r>
          </a:p>
          <a:p>
            <a:r>
              <a:rPr lang="en-US" dirty="0"/>
              <a:t>get date with more precision, call SYSDATETIME function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140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Formatting &amp; Controlling Display of Dates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986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FORMAT(value, </a:t>
            </a:r>
            <a:r>
              <a:rPr lang="en-US" sz="4000" dirty="0" err="1"/>
              <a:t>nvarchar</a:t>
            </a:r>
            <a:r>
              <a:rPr lang="en-US" sz="4000" dirty="0"/>
              <a:t> format [, culture ] ) RETURNS </a:t>
            </a:r>
            <a:r>
              <a:rPr lang="en-US" sz="4000" dirty="0" err="1"/>
              <a:t>nvarchar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Displaying the Numeric Day</a:t>
            </a:r>
          </a:p>
          <a:p>
            <a:r>
              <a:rPr lang="en-US" sz="2800" dirty="0"/>
              <a:t>days of months are numbered from 1 to 31, depending on month</a:t>
            </a:r>
          </a:p>
          <a:p>
            <a:r>
              <a:rPr lang="en-US" sz="2800" dirty="0"/>
              <a:t>display day of month is to use d (lowercase) in combination that includes month and year</a:t>
            </a:r>
          </a:p>
          <a:p>
            <a:r>
              <a:rPr lang="en-US" sz="2800" dirty="0"/>
              <a:t>d produces day in 1 digit if number is between 1 and 9 (no leading 0) or in 2 digits</a:t>
            </a:r>
          </a:p>
          <a:p>
            <a:r>
              <a:rPr lang="en-US" sz="2800" dirty="0" err="1"/>
              <a:t>dd</a:t>
            </a:r>
            <a:r>
              <a:rPr lang="en-US" sz="2800" dirty="0"/>
              <a:t> produces day in 2 digits if number is between 1 and 9, it displays with leading 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9071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Displaying the Numeric Day</a:t>
            </a:r>
            <a:br>
              <a:rPr lang="en-US" dirty="0"/>
            </a:br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DECLARE @</a:t>
            </a:r>
            <a:r>
              <a:rPr lang="en-US" dirty="0" err="1"/>
              <a:t>DateValue</a:t>
            </a:r>
            <a:r>
              <a:rPr lang="en-US" dirty="0"/>
              <a:t> DATE, @</a:t>
            </a:r>
            <a:r>
              <a:rPr lang="en-US" dirty="0" err="1"/>
              <a:t>StrValue</a:t>
            </a:r>
            <a:r>
              <a:rPr lang="en-US" dirty="0"/>
              <a:t> </a:t>
            </a:r>
            <a:r>
              <a:rPr lang="en-US" dirty="0" err="1"/>
              <a:t>nvarchar</a:t>
            </a:r>
            <a:r>
              <a:rPr lang="en-US" dirty="0"/>
              <a:t>(50);</a:t>
            </a:r>
          </a:p>
          <a:p>
            <a:r>
              <a:rPr lang="en-US" dirty="0"/>
              <a:t>SET @</a:t>
            </a:r>
            <a:r>
              <a:rPr lang="en-US" dirty="0" err="1"/>
              <a:t>DateValue</a:t>
            </a:r>
            <a:r>
              <a:rPr lang="en-US" dirty="0"/>
              <a:t> = N'20120603';</a:t>
            </a:r>
          </a:p>
          <a:p>
            <a:r>
              <a:rPr lang="en-US" dirty="0"/>
              <a:t>SET @</a:t>
            </a:r>
            <a:r>
              <a:rPr lang="en-US" dirty="0" err="1"/>
              <a:t>StrValue</a:t>
            </a:r>
            <a:r>
              <a:rPr lang="en-US" dirty="0"/>
              <a:t> = FORMAT(@</a:t>
            </a:r>
            <a:r>
              <a:rPr lang="en-US" dirty="0" err="1"/>
              <a:t>DateValue</a:t>
            </a:r>
            <a:r>
              <a:rPr lang="en-US" dirty="0"/>
              <a:t>, </a:t>
            </a:r>
            <a:r>
              <a:rPr lang="en-US" dirty="0" err="1"/>
              <a:t>N'dd</a:t>
            </a:r>
            <a:r>
              <a:rPr lang="en-US" dirty="0"/>
              <a:t>');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82655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Displaying Weekday 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names of week use two formats: 3 letters or full name</a:t>
            </a:r>
          </a:p>
          <a:p>
            <a:r>
              <a:rPr lang="en-US" sz="2800" dirty="0"/>
              <a:t>to display name with 3 letters, use "</a:t>
            </a:r>
            <a:r>
              <a:rPr lang="en-US" sz="2800" dirty="0" err="1"/>
              <a:t>ddd</a:t>
            </a:r>
            <a:r>
              <a:rPr lang="en-US" sz="2800" dirty="0"/>
              <a:t>" in format argument (names will be Sun, Mon, Tue, Wed, Thu, Fri, or Sat)</a:t>
            </a:r>
          </a:p>
          <a:p>
            <a:r>
              <a:rPr lang="en-US" sz="2800" dirty="0"/>
              <a:t>to display complete name of weekday, pass "</a:t>
            </a:r>
            <a:r>
              <a:rPr lang="en-US" sz="2800" dirty="0" err="1"/>
              <a:t>dddd</a:t>
            </a:r>
            <a:r>
              <a:rPr lang="en-US" sz="2800" dirty="0"/>
              <a:t>"</a:t>
            </a:r>
          </a:p>
          <a:p>
            <a:r>
              <a:rPr lang="en-US" sz="2700" dirty="0"/>
              <a:t>SET @</a:t>
            </a:r>
            <a:r>
              <a:rPr lang="en-US" sz="2700" dirty="0" err="1"/>
              <a:t>DateValue</a:t>
            </a:r>
            <a:r>
              <a:rPr lang="en-US" sz="2700" dirty="0"/>
              <a:t> = N'20150406'; </a:t>
            </a:r>
            <a:r>
              <a:rPr lang="da-DK" sz="2700" dirty="0"/>
              <a:t>SET @</a:t>
            </a:r>
            <a:r>
              <a:rPr lang="da-DK" sz="2700" dirty="0" err="1"/>
              <a:t>StrValue</a:t>
            </a:r>
            <a:r>
              <a:rPr lang="da-DK" sz="2700" dirty="0"/>
              <a:t> = FORMAT(@</a:t>
            </a:r>
            <a:r>
              <a:rPr lang="da-DK" sz="2700" dirty="0" err="1"/>
              <a:t>DateValue</a:t>
            </a:r>
            <a:r>
              <a:rPr lang="da-DK" sz="2700" dirty="0"/>
              <a:t>, </a:t>
            </a:r>
            <a:r>
              <a:rPr lang="da-DK" sz="2700" dirty="0" err="1"/>
              <a:t>N'ddd</a:t>
            </a:r>
            <a:r>
              <a:rPr lang="da-DK" sz="2700" dirty="0"/>
              <a:t>'); --- / </a:t>
            </a:r>
            <a:r>
              <a:rPr lang="en-US" sz="2400" dirty="0"/>
              <a:t>"</a:t>
            </a:r>
            <a:r>
              <a:rPr lang="en-US" sz="2400" dirty="0" err="1"/>
              <a:t>dddd</a:t>
            </a:r>
            <a:r>
              <a:rPr lang="en-US" sz="2400" dirty="0"/>
              <a:t>"</a:t>
            </a:r>
          </a:p>
          <a:p>
            <a:r>
              <a:rPr lang="da-DK" sz="2700" dirty="0"/>
              <a:t>Mon / </a:t>
            </a:r>
            <a:r>
              <a:rPr lang="da-DK" sz="2700" dirty="0" err="1"/>
              <a:t>Monday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896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Displaying Numeric Months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to display number of month, pass format argument as </a:t>
            </a:r>
          </a:p>
          <a:p>
            <a:r>
              <a:rPr lang="en-US" sz="2800" dirty="0"/>
              <a:t>MM (uppercase) - month is provided as an integer with 2 digits; If number is between 1 and 9, it displays with leading 0</a:t>
            </a:r>
          </a:p>
          <a:p>
            <a:r>
              <a:rPr lang="en-US" sz="2800" dirty="0"/>
              <a:t>M (uppercase) - would produce number of month without leading 0</a:t>
            </a:r>
          </a:p>
          <a:p>
            <a:r>
              <a:rPr lang="en-US" sz="2800" dirty="0"/>
              <a:t>display month by its name using short / long name - pass format as MMM (uppercase) / MMM (uppercase)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2755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Displaying Numeric Months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@</a:t>
            </a:r>
            <a:r>
              <a:rPr lang="en-US" dirty="0" err="1"/>
              <a:t>DateValue</a:t>
            </a:r>
            <a:r>
              <a:rPr lang="en-US" dirty="0"/>
              <a:t> = N'20150406';</a:t>
            </a:r>
          </a:p>
          <a:p>
            <a:r>
              <a:rPr lang="en-US" dirty="0"/>
              <a:t>SET @</a:t>
            </a:r>
            <a:r>
              <a:rPr lang="en-US" dirty="0" err="1"/>
              <a:t>StrValue</a:t>
            </a:r>
            <a:r>
              <a:rPr lang="en-US" dirty="0"/>
              <a:t> = FORMAT(@</a:t>
            </a:r>
            <a:r>
              <a:rPr lang="en-US" dirty="0" err="1"/>
              <a:t>DateValue</a:t>
            </a:r>
            <a:r>
              <a:rPr lang="en-US" dirty="0"/>
              <a:t>, </a:t>
            </a:r>
            <a:r>
              <a:rPr lang="en-US" dirty="0" err="1"/>
              <a:t>N‘ddd</a:t>
            </a:r>
            <a:r>
              <a:rPr lang="en-US" dirty="0"/>
              <a:t>, </a:t>
            </a:r>
            <a:r>
              <a:rPr lang="en-US" dirty="0" err="1"/>
              <a:t>dd</a:t>
            </a:r>
            <a:r>
              <a:rPr lang="en-US" dirty="0"/>
              <a:t>-MMM');</a:t>
            </a:r>
          </a:p>
          <a:p>
            <a:r>
              <a:rPr lang="en-US" dirty="0"/>
              <a:t>Mon, 06-Apr</a:t>
            </a:r>
          </a:p>
          <a:p>
            <a:r>
              <a:rPr lang="en-US" dirty="0"/>
              <a:t>SET @</a:t>
            </a:r>
            <a:r>
              <a:rPr lang="en-US" dirty="0" err="1"/>
              <a:t>StrValue</a:t>
            </a:r>
            <a:r>
              <a:rPr lang="en-US" dirty="0"/>
              <a:t> = FORMAT(@</a:t>
            </a:r>
            <a:r>
              <a:rPr lang="en-US" dirty="0" err="1"/>
              <a:t>DateValue</a:t>
            </a:r>
            <a:r>
              <a:rPr lang="en-US" dirty="0"/>
              <a:t>, </a:t>
            </a:r>
            <a:r>
              <a:rPr lang="en-US" dirty="0" err="1"/>
              <a:t>N‘dddd</a:t>
            </a:r>
            <a:r>
              <a:rPr lang="en-US" dirty="0"/>
              <a:t>, </a:t>
            </a:r>
            <a:r>
              <a:rPr lang="en-US" dirty="0" err="1"/>
              <a:t>dd</a:t>
            </a:r>
            <a:r>
              <a:rPr lang="en-US" dirty="0"/>
              <a:t>-MMMM');</a:t>
            </a:r>
          </a:p>
          <a:p>
            <a:r>
              <a:rPr lang="en-US" dirty="0"/>
              <a:t>Monday, 06-April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26499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Displaying the Year of a 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want to display year in two digits, pass </a:t>
            </a:r>
            <a:r>
              <a:rPr lang="en-US" dirty="0" err="1"/>
              <a:t>yy</a:t>
            </a:r>
            <a:r>
              <a:rPr lang="en-US" dirty="0"/>
              <a:t> (lowercases) as format</a:t>
            </a:r>
          </a:p>
          <a:p>
            <a:r>
              <a:rPr lang="en-US" dirty="0"/>
              <a:t>year value represented with two digits is hardly explicit, unless you have good reason for using it - alternative is to use all four digits to display year - format is created with the </a:t>
            </a:r>
            <a:r>
              <a:rPr lang="en-US" dirty="0" err="1"/>
              <a:t>yyy</a:t>
            </a:r>
            <a:r>
              <a:rPr lang="en-US" dirty="0"/>
              <a:t> (lowercase) or </a:t>
            </a:r>
            <a:r>
              <a:rPr lang="en-US" dirty="0" err="1"/>
              <a:t>yyyy</a:t>
            </a:r>
            <a:r>
              <a:rPr lang="en-US" dirty="0"/>
              <a:t> (lowercase)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6297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on Dates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1281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DATEADD(</a:t>
            </a:r>
            <a:r>
              <a:rPr lang="en-US" sz="3600" dirty="0" err="1"/>
              <a:t>TypeOfValue</a:t>
            </a:r>
            <a:r>
              <a:rPr lang="en-US" sz="3600" dirty="0"/>
              <a:t>, </a:t>
            </a:r>
            <a:r>
              <a:rPr lang="en-US" sz="3600" dirty="0" err="1"/>
              <a:t>ValueToAdd</a:t>
            </a:r>
            <a:r>
              <a:rPr lang="en-US" sz="3600" dirty="0"/>
              <a:t>, </a:t>
            </a:r>
            <a:r>
              <a:rPr lang="en-US" sz="3600" dirty="0" err="1"/>
              <a:t>DateOrTimeReferenced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first argument specifies type of value that will be added</a:t>
            </a:r>
          </a:p>
          <a:p>
            <a:r>
              <a:rPr lang="en-US" sz="2800" dirty="0"/>
              <a:t>year, </a:t>
            </a:r>
            <a:r>
              <a:rPr lang="en-US" sz="2800" dirty="0" err="1"/>
              <a:t>yy</a:t>
            </a:r>
            <a:r>
              <a:rPr lang="en-US" sz="2800" dirty="0"/>
              <a:t>, </a:t>
            </a:r>
            <a:r>
              <a:rPr lang="en-US" sz="2800" dirty="0" err="1"/>
              <a:t>yyyy</a:t>
            </a:r>
            <a:r>
              <a:rPr lang="en-US" sz="2800" dirty="0"/>
              <a:t> - number of years will be added to date value</a:t>
            </a:r>
          </a:p>
          <a:p>
            <a:r>
              <a:rPr lang="en-US" sz="2800" dirty="0"/>
              <a:t>quarter, q, </a:t>
            </a:r>
            <a:r>
              <a:rPr lang="en-US" sz="2800" dirty="0" err="1"/>
              <a:t>qq</a:t>
            </a:r>
            <a:r>
              <a:rPr lang="en-US" sz="2800" dirty="0"/>
              <a:t> - number of quarters of a year will be added to date value</a:t>
            </a:r>
          </a:p>
          <a:p>
            <a:r>
              <a:rPr lang="en-US" sz="2800" dirty="0"/>
              <a:t>month, m, mm - number of months will be added to date value</a:t>
            </a:r>
          </a:p>
          <a:p>
            <a:r>
              <a:rPr lang="en-US" sz="2800" dirty="0" err="1"/>
              <a:t>dayofyear</a:t>
            </a:r>
            <a:r>
              <a:rPr lang="en-US" sz="2800" dirty="0"/>
              <a:t>, y, 	</a:t>
            </a:r>
            <a:r>
              <a:rPr lang="en-US" sz="2800" dirty="0" err="1"/>
              <a:t>dy</a:t>
            </a:r>
            <a:r>
              <a:rPr lang="en-US" sz="2800" dirty="0"/>
              <a:t> - number of days of year will be added to date value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2586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DATEADD(</a:t>
            </a:r>
            <a:r>
              <a:rPr lang="en-US" sz="3600" dirty="0" err="1"/>
              <a:t>TypeOfValue</a:t>
            </a:r>
            <a:r>
              <a:rPr lang="en-US" sz="3600" dirty="0"/>
              <a:t>, </a:t>
            </a:r>
            <a:r>
              <a:rPr lang="en-US" sz="3600" dirty="0" err="1"/>
              <a:t>ValueToAdd</a:t>
            </a:r>
            <a:r>
              <a:rPr lang="en-US" sz="3600" dirty="0"/>
              <a:t>, </a:t>
            </a:r>
            <a:r>
              <a:rPr lang="en-US" sz="3600" dirty="0" err="1"/>
              <a:t>DateOrTimeReferenced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day, d, </a:t>
            </a:r>
            <a:r>
              <a:rPr lang="en-US" sz="2800" dirty="0" err="1"/>
              <a:t>dd</a:t>
            </a:r>
            <a:r>
              <a:rPr lang="en-US" sz="2800" dirty="0"/>
              <a:t> - number of days will be added to date value</a:t>
            </a:r>
          </a:p>
          <a:p>
            <a:r>
              <a:rPr lang="en-US" sz="2800" dirty="0"/>
              <a:t>week, </a:t>
            </a:r>
            <a:r>
              <a:rPr lang="en-US" sz="2800" dirty="0" err="1"/>
              <a:t>wk</a:t>
            </a:r>
            <a:r>
              <a:rPr lang="en-US" sz="2800" dirty="0"/>
              <a:t>, </a:t>
            </a:r>
            <a:r>
              <a:rPr lang="en-US" sz="2800" dirty="0" err="1"/>
              <a:t>ww</a:t>
            </a:r>
            <a:r>
              <a:rPr lang="en-US" sz="2800" dirty="0"/>
              <a:t> - number of weeks will be added to date value</a:t>
            </a:r>
          </a:p>
          <a:p>
            <a:r>
              <a:rPr lang="da-DK" sz="2800" dirty="0"/>
              <a:t>SET @Original = N'20150406';</a:t>
            </a:r>
          </a:p>
          <a:p>
            <a:r>
              <a:rPr lang="da-DK" sz="2800" dirty="0"/>
              <a:t>SET @</a:t>
            </a:r>
            <a:r>
              <a:rPr lang="da-DK" sz="2800" dirty="0" err="1"/>
              <a:t>Result</a:t>
            </a:r>
            <a:r>
              <a:rPr lang="da-DK" sz="2800" dirty="0"/>
              <a:t> = DATEADD(</a:t>
            </a:r>
            <a:r>
              <a:rPr lang="da-DK" sz="2800" dirty="0" err="1"/>
              <a:t>wk</a:t>
            </a:r>
            <a:r>
              <a:rPr lang="da-DK" sz="2800" dirty="0"/>
              <a:t>, 2, @Original);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79934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DATEDIFF(</a:t>
            </a:r>
            <a:r>
              <a:rPr lang="en-US" dirty="0" err="1"/>
              <a:t>TypeOfValue</a:t>
            </a:r>
            <a:r>
              <a:rPr lang="en-US" dirty="0"/>
              <a:t>, </a:t>
            </a:r>
            <a:r>
              <a:rPr lang="en-US" dirty="0" err="1"/>
              <a:t>StartDate</a:t>
            </a:r>
            <a:r>
              <a:rPr lang="en-US" dirty="0"/>
              <a:t>, </a:t>
            </a:r>
            <a:r>
              <a:rPr lang="en-US" dirty="0" err="1"/>
              <a:t>EndDate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Finding the Difference of Two Date Values</a:t>
            </a:r>
          </a:p>
          <a:p>
            <a:r>
              <a:rPr lang="en-US" dirty="0"/>
              <a:t>first argument specifies type of value function must produce (uses same value as those of DATEADD() function) </a:t>
            </a:r>
          </a:p>
          <a:p>
            <a:r>
              <a:rPr lang="en-US" dirty="0"/>
              <a:t>second argument is starting date</a:t>
            </a:r>
          </a:p>
          <a:p>
            <a:r>
              <a:rPr lang="en-US" dirty="0"/>
              <a:t>third argument is end date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30617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DECLARE @</a:t>
            </a:r>
            <a:r>
              <a:rPr lang="en-US" dirty="0" err="1"/>
              <a:t>DateHired</a:t>
            </a:r>
            <a:r>
              <a:rPr lang="en-US" dirty="0"/>
              <a:t> As date, @</a:t>
            </a:r>
            <a:r>
              <a:rPr lang="en-US" dirty="0" err="1"/>
              <a:t>CurrentDate</a:t>
            </a:r>
            <a:r>
              <a:rPr lang="en-US" dirty="0"/>
              <a:t> As date;</a:t>
            </a:r>
          </a:p>
          <a:p>
            <a:r>
              <a:rPr lang="en-US" dirty="0"/>
              <a:t>SET @</a:t>
            </a:r>
            <a:r>
              <a:rPr lang="en-US" dirty="0" err="1"/>
              <a:t>DateHired</a:t>
            </a:r>
            <a:r>
              <a:rPr lang="en-US" dirty="0"/>
              <a:t> = N'2010/10/01';</a:t>
            </a:r>
          </a:p>
          <a:p>
            <a:r>
              <a:rPr lang="en-US" dirty="0"/>
              <a:t>SET @</a:t>
            </a:r>
            <a:r>
              <a:rPr lang="en-US" dirty="0" err="1"/>
              <a:t>CurrentDate</a:t>
            </a:r>
            <a:r>
              <a:rPr lang="en-US" dirty="0"/>
              <a:t>  = GETDATE();</a:t>
            </a:r>
          </a:p>
          <a:p>
            <a:r>
              <a:rPr lang="en-US" dirty="0"/>
              <a:t>SELECT DATEDIFF(</a:t>
            </a:r>
            <a:r>
              <a:rPr lang="en-US" dirty="0" err="1"/>
              <a:t>dd</a:t>
            </a:r>
            <a:r>
              <a:rPr lang="en-US" dirty="0"/>
              <a:t>, @</a:t>
            </a:r>
            <a:r>
              <a:rPr lang="en-US" dirty="0" err="1"/>
              <a:t>DateHired</a:t>
            </a:r>
            <a:r>
              <a:rPr lang="en-US" dirty="0"/>
              <a:t>, @</a:t>
            </a:r>
            <a:r>
              <a:rPr lang="en-US" dirty="0" err="1"/>
              <a:t>CurrentDate</a:t>
            </a:r>
            <a:r>
              <a:rPr lang="en-US" dirty="0"/>
              <a:t>) AS [Student Days];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99391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00" dirty="0"/>
              <a:t>DATEPART(</a:t>
            </a:r>
            <a:r>
              <a:rPr lang="en-US" sz="3700" dirty="0" err="1"/>
              <a:t>int</a:t>
            </a:r>
            <a:r>
              <a:rPr lang="en-US" sz="3700" dirty="0"/>
              <a:t> </a:t>
            </a:r>
            <a:r>
              <a:rPr lang="en-US" sz="3700" dirty="0" err="1"/>
              <a:t>DatePart</a:t>
            </a:r>
            <a:r>
              <a:rPr lang="en-US" sz="3700" dirty="0"/>
              <a:t>, date Value)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is part of date (a date or time value) for which an integer will be returned</a:t>
            </a:r>
          </a:p>
          <a:p>
            <a:r>
              <a:rPr lang="en-US" sz="2800" dirty="0"/>
              <a:t>year - </a:t>
            </a:r>
            <a:r>
              <a:rPr lang="en-US" sz="2800" dirty="0" err="1"/>
              <a:t>yy</a:t>
            </a:r>
            <a:r>
              <a:rPr lang="en-US" sz="2800" dirty="0"/>
              <a:t>, </a:t>
            </a:r>
            <a:r>
              <a:rPr lang="en-US" sz="2800" dirty="0" err="1"/>
              <a:t>yyyy</a:t>
            </a:r>
            <a:endParaRPr lang="en-US" sz="2800" dirty="0"/>
          </a:p>
          <a:p>
            <a:r>
              <a:rPr lang="en-US" sz="2800" dirty="0"/>
              <a:t>quarter - </a:t>
            </a:r>
            <a:r>
              <a:rPr lang="en-US" sz="2800" dirty="0" err="1"/>
              <a:t>qq</a:t>
            </a:r>
            <a:r>
              <a:rPr lang="en-US" sz="2800" dirty="0"/>
              <a:t>, q</a:t>
            </a:r>
          </a:p>
          <a:p>
            <a:r>
              <a:rPr lang="en-US" sz="2800" dirty="0"/>
              <a:t>month - mm, m</a:t>
            </a:r>
          </a:p>
          <a:p>
            <a:r>
              <a:rPr lang="en-US" sz="2800" dirty="0" err="1"/>
              <a:t>dayofyear</a:t>
            </a:r>
            <a:r>
              <a:rPr lang="en-US" sz="2800" dirty="0"/>
              <a:t> - </a:t>
            </a:r>
            <a:r>
              <a:rPr lang="en-US" sz="2800" dirty="0" err="1"/>
              <a:t>dy</a:t>
            </a:r>
            <a:r>
              <a:rPr lang="en-US" sz="2800" dirty="0"/>
              <a:t>, y</a:t>
            </a:r>
          </a:p>
          <a:p>
            <a:r>
              <a:rPr lang="en-US" sz="2800" dirty="0"/>
              <a:t>day - </a:t>
            </a:r>
            <a:r>
              <a:rPr lang="en-US" sz="2800" dirty="0" err="1"/>
              <a:t>dd</a:t>
            </a:r>
            <a:r>
              <a:rPr lang="en-US" sz="2800" dirty="0"/>
              <a:t> , d</a:t>
            </a:r>
          </a:p>
          <a:p>
            <a:r>
              <a:rPr lang="en-US" sz="2800" dirty="0"/>
              <a:t>week - </a:t>
            </a:r>
            <a:r>
              <a:rPr lang="en-US" sz="2800" dirty="0" err="1"/>
              <a:t>wk</a:t>
            </a:r>
            <a:r>
              <a:rPr lang="en-US" sz="2800" dirty="0"/>
              <a:t> , </a:t>
            </a:r>
            <a:r>
              <a:rPr lang="en-US" sz="2800" dirty="0" err="1"/>
              <a:t>ww</a:t>
            </a:r>
            <a:endParaRPr lang="en-US" sz="2800" dirty="0"/>
          </a:p>
          <a:p>
            <a:r>
              <a:rPr lang="en-US" sz="2800" dirty="0"/>
              <a:t>weekday - </a:t>
            </a:r>
            <a:r>
              <a:rPr lang="en-US" sz="2800" dirty="0" err="1"/>
              <a:t>dw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0481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00" dirty="0"/>
              <a:t>DATEPART(</a:t>
            </a:r>
            <a:r>
              <a:rPr lang="en-US" sz="3700" dirty="0" err="1"/>
              <a:t>int</a:t>
            </a:r>
            <a:r>
              <a:rPr lang="en-US" sz="3700" dirty="0"/>
              <a:t> </a:t>
            </a:r>
            <a:r>
              <a:rPr lang="en-US" sz="3700" dirty="0" err="1"/>
              <a:t>DatePart</a:t>
            </a:r>
            <a:r>
              <a:rPr lang="en-US" sz="3700" dirty="0"/>
              <a:t>, date Value)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hour - </a:t>
            </a:r>
            <a:r>
              <a:rPr lang="en-US" sz="2800" dirty="0" err="1"/>
              <a:t>hh</a:t>
            </a:r>
            <a:endParaRPr lang="en-US" sz="2800" dirty="0"/>
          </a:p>
          <a:p>
            <a:r>
              <a:rPr lang="en-US" sz="2800" dirty="0"/>
              <a:t>minute - mi, n</a:t>
            </a:r>
          </a:p>
          <a:p>
            <a:r>
              <a:rPr lang="en-US" sz="2800" dirty="0"/>
              <a:t>second - </a:t>
            </a:r>
            <a:r>
              <a:rPr lang="en-US" sz="2800" dirty="0" err="1"/>
              <a:t>ss</a:t>
            </a:r>
            <a:r>
              <a:rPr lang="en-US" sz="2800" dirty="0"/>
              <a:t> , s</a:t>
            </a:r>
          </a:p>
          <a:p>
            <a:r>
              <a:rPr lang="en-US" sz="2800" dirty="0"/>
              <a:t>millisecond - </a:t>
            </a:r>
            <a:r>
              <a:rPr lang="en-US" sz="2800" dirty="0" err="1"/>
              <a:t>ms</a:t>
            </a:r>
            <a:endParaRPr lang="en-US" sz="2800" dirty="0"/>
          </a:p>
          <a:p>
            <a:r>
              <a:rPr lang="en-US" sz="2800" dirty="0"/>
              <a:t>microsecond - </a:t>
            </a:r>
            <a:r>
              <a:rPr lang="en-US" sz="2800" dirty="0" err="1"/>
              <a:t>mcs</a:t>
            </a:r>
            <a:endParaRPr lang="en-US" sz="2800" dirty="0"/>
          </a:p>
          <a:p>
            <a:r>
              <a:rPr lang="en-US" sz="2800" dirty="0"/>
              <a:t>nanosecond - 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7610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</a:t>
            </a:r>
            <a:r>
              <a:rPr lang="en-US" dirty="0"/>
              <a:t> DAY(date Value);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DATEPART(d, @</a:t>
            </a:r>
            <a:r>
              <a:rPr lang="en-US" dirty="0" err="1"/>
              <a:t>DateValue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2923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</a:t>
            </a:r>
            <a:r>
              <a:rPr lang="en-US" dirty="0"/>
              <a:t> MONTH(date Value);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DATEPART(m, @</a:t>
            </a:r>
            <a:r>
              <a:rPr lang="en-US" dirty="0" err="1"/>
              <a:t>DateValue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6728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</a:t>
            </a:r>
            <a:r>
              <a:rPr lang="en-US" dirty="0"/>
              <a:t> YEAR(date Value);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DATEPART(y, @</a:t>
            </a:r>
            <a:r>
              <a:rPr lang="en-US" dirty="0" err="1"/>
              <a:t>DateValue</a:t>
            </a:r>
            <a:r>
              <a:rPr lang="en-US" dirty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6159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DATE – to the left of decimal point</a:t>
            </a:r>
          </a:p>
          <a:p>
            <a:r>
              <a:rPr lang="en-US" dirty="0"/>
              <a:t>TIME – to the right of decimal point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45088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TIMEFROMPARTS(</a:t>
            </a:r>
            <a:r>
              <a:rPr lang="en-US" sz="3600" dirty="0" err="1"/>
              <a:t>int</a:t>
            </a:r>
            <a:r>
              <a:rPr lang="en-US" sz="3600" dirty="0"/>
              <a:t> hour, </a:t>
            </a:r>
            <a:r>
              <a:rPr lang="en-US" sz="3600" dirty="0" err="1"/>
              <a:t>int</a:t>
            </a:r>
            <a:r>
              <a:rPr lang="en-US" sz="3600" dirty="0"/>
              <a:t> minute, </a:t>
            </a:r>
            <a:r>
              <a:rPr lang="en-US" sz="3600" dirty="0" err="1"/>
              <a:t>int</a:t>
            </a:r>
            <a:r>
              <a:rPr lang="en-US" sz="3600" dirty="0"/>
              <a:t> seconds, </a:t>
            </a:r>
            <a:r>
              <a:rPr lang="en-US" sz="3600" dirty="0" err="1"/>
              <a:t>int</a:t>
            </a:r>
            <a:r>
              <a:rPr lang="en-US" sz="3600" dirty="0"/>
              <a:t> fractions, </a:t>
            </a:r>
            <a:r>
              <a:rPr lang="en-US" sz="3600" dirty="0" err="1"/>
              <a:t>int</a:t>
            </a:r>
            <a:r>
              <a:rPr lang="en-US" sz="3600" dirty="0"/>
              <a:t> precision) RETURNS time;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Creating a Time From Parts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22907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85896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DATEADD(</a:t>
            </a:r>
            <a:r>
              <a:rPr lang="en-US" sz="3600" dirty="0" err="1"/>
              <a:t>TypeOfValue</a:t>
            </a:r>
            <a:r>
              <a:rPr lang="en-US" sz="3600" dirty="0"/>
              <a:t>, </a:t>
            </a:r>
            <a:r>
              <a:rPr lang="en-US" sz="3600" dirty="0" err="1"/>
              <a:t>ValueToAdd</a:t>
            </a:r>
            <a:r>
              <a:rPr lang="en-US" sz="3600" dirty="0"/>
              <a:t>, </a:t>
            </a:r>
            <a:r>
              <a:rPr lang="en-US" sz="3600" dirty="0" err="1"/>
              <a:t>DateOrTimeReferenced</a:t>
            </a:r>
            <a:r>
              <a:rPr lang="en-US" sz="3600" dirty="0"/>
              <a:t>) DATEDIFF(</a:t>
            </a:r>
            <a:r>
              <a:rPr lang="en-US" sz="3600" dirty="0" err="1"/>
              <a:t>TypeOfValue</a:t>
            </a:r>
            <a:r>
              <a:rPr lang="en-US" sz="3600" dirty="0"/>
              <a:t>, </a:t>
            </a:r>
            <a:r>
              <a:rPr lang="en-US" sz="3600" dirty="0" err="1"/>
              <a:t>StartDate</a:t>
            </a:r>
            <a:r>
              <a:rPr lang="en-US" sz="3600" dirty="0"/>
              <a:t>, </a:t>
            </a:r>
            <a:r>
              <a:rPr lang="en-US" sz="3600" dirty="0" err="1"/>
              <a:t>EndDate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hour -  	</a:t>
            </a:r>
            <a:r>
              <a:rPr lang="en-US" dirty="0" err="1"/>
              <a:t>hh</a:t>
            </a:r>
            <a:endParaRPr lang="en-US" dirty="0"/>
          </a:p>
          <a:p>
            <a:r>
              <a:rPr lang="en-US" dirty="0"/>
              <a:t>minute – n, mi</a:t>
            </a:r>
          </a:p>
          <a:p>
            <a:r>
              <a:rPr lang="en-US" dirty="0"/>
              <a:t>second – s, </a:t>
            </a:r>
            <a:r>
              <a:rPr lang="en-US" dirty="0" err="1"/>
              <a:t>ss</a:t>
            </a:r>
            <a:endParaRPr lang="en-US" dirty="0"/>
          </a:p>
          <a:p>
            <a:r>
              <a:rPr lang="en-US" dirty="0"/>
              <a:t>millisecond – </a:t>
            </a:r>
            <a:r>
              <a:rPr lang="en-US" dirty="0" err="1"/>
              <a:t>ms</a:t>
            </a:r>
            <a:endParaRPr lang="en-US" dirty="0"/>
          </a:p>
          <a:p>
            <a:r>
              <a:rPr lang="en-US" dirty="0"/>
              <a:t>microsecond – </a:t>
            </a:r>
            <a:r>
              <a:rPr lang="en-US" dirty="0" err="1"/>
              <a:t>mcs</a:t>
            </a:r>
            <a:endParaRPr lang="en-US" dirty="0"/>
          </a:p>
          <a:p>
            <a:r>
              <a:rPr lang="en-US" dirty="0"/>
              <a:t>nanosecond - 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20262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FC9EA-D233-49B5-BEE0-34E5E2998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2D01E-61AB-4AF9-8082-B07983048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8F189-CF13-487C-8C82-3F919D554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579E26-DF62-4842-A260-907989FBB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34913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Limiting the Number of Rows Returned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MySQL and PostgreSQL</a:t>
            </a:r>
          </a:p>
          <a:p>
            <a:r>
              <a:rPr lang="en-US" dirty="0"/>
              <a:t>select * from </a:t>
            </a:r>
            <a:r>
              <a:rPr lang="en-US" dirty="0" err="1"/>
              <a:t>emp</a:t>
            </a:r>
            <a:r>
              <a:rPr lang="en-US" dirty="0"/>
              <a:t> limit 5</a:t>
            </a:r>
          </a:p>
          <a:p>
            <a:r>
              <a:rPr lang="en-US" dirty="0"/>
              <a:t>SQL Server</a:t>
            </a:r>
          </a:p>
          <a:p>
            <a:r>
              <a:rPr lang="en-US" dirty="0"/>
              <a:t>select top 5 * from </a:t>
            </a:r>
            <a:r>
              <a:rPr lang="en-US" dirty="0" err="1"/>
              <a:t>emp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9857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Returning </a:t>
            </a:r>
            <a:r>
              <a:rPr lang="en-US" i="1" dirty="0"/>
              <a:t>n</a:t>
            </a:r>
            <a:r>
              <a:rPr lang="en-US" dirty="0"/>
              <a:t> Random Records from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000" dirty="0"/>
              <a:t>take any built-in function supported by your DBMS for returning random values</a:t>
            </a:r>
          </a:p>
          <a:p>
            <a:r>
              <a:rPr lang="en-US" sz="3000" dirty="0"/>
              <a:t>use function in ORDER BY clause to sort rows randomly</a:t>
            </a:r>
          </a:p>
          <a:p>
            <a:r>
              <a:rPr lang="en-US" sz="3000" dirty="0"/>
              <a:t>use previous recipe's technique to limit number of randomly sorted rows to return</a:t>
            </a:r>
          </a:p>
          <a:p>
            <a:endParaRPr lang="en-US" sz="1100" dirty="0"/>
          </a:p>
          <a:p>
            <a:r>
              <a:rPr lang="en-US" sz="3000" dirty="0"/>
              <a:t>select top 5 </a:t>
            </a:r>
            <a:r>
              <a:rPr lang="en-US" sz="3000" dirty="0" err="1"/>
              <a:t>ename</a:t>
            </a:r>
            <a:r>
              <a:rPr lang="en-US" sz="3000" dirty="0"/>
              <a:t>, job</a:t>
            </a:r>
          </a:p>
          <a:p>
            <a:pPr lvl="1"/>
            <a:r>
              <a:rPr lang="en-US" sz="3000" dirty="0"/>
              <a:t>from </a:t>
            </a:r>
            <a:r>
              <a:rPr lang="en-US" sz="3000" dirty="0" err="1"/>
              <a:t>emp</a:t>
            </a:r>
            <a:r>
              <a:rPr lang="en-US" sz="3000" dirty="0"/>
              <a:t> order by rand() </a:t>
            </a:r>
          </a:p>
          <a:p>
            <a:r>
              <a:rPr lang="en-US" sz="3000" dirty="0"/>
              <a:t>select top 5 </a:t>
            </a:r>
            <a:r>
              <a:rPr lang="en-US" sz="3000" dirty="0" err="1"/>
              <a:t>ename</a:t>
            </a:r>
            <a:r>
              <a:rPr lang="en-US" sz="3000" dirty="0"/>
              <a:t>, job</a:t>
            </a:r>
          </a:p>
          <a:p>
            <a:pPr lvl="1"/>
            <a:r>
              <a:rPr lang="en-US" sz="3000" dirty="0"/>
              <a:t>from </a:t>
            </a:r>
            <a:r>
              <a:rPr lang="en-US" sz="3000" dirty="0" err="1"/>
              <a:t>emp</a:t>
            </a:r>
            <a:r>
              <a:rPr lang="en-US" sz="3000" dirty="0"/>
              <a:t> order by </a:t>
            </a:r>
            <a:r>
              <a:rPr lang="en-US" sz="3000" dirty="0" err="1"/>
              <a:t>newid</a:t>
            </a:r>
            <a:r>
              <a:rPr lang="en-US" sz="3000" dirty="0"/>
              <a:t>()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0896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Transforming Nulls into Real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coalesce(comm,0) 2   from </a:t>
            </a:r>
            <a:r>
              <a:rPr lang="en-US" dirty="0" err="1"/>
              <a:t>emp</a:t>
            </a:r>
            <a:endParaRPr lang="en-US" dirty="0"/>
          </a:p>
          <a:p>
            <a:r>
              <a:rPr lang="en-US" dirty="0"/>
              <a:t>select case</a:t>
            </a:r>
          </a:p>
          <a:p>
            <a:pPr lvl="1"/>
            <a:r>
              <a:rPr lang="en-US" sz="3200" dirty="0"/>
              <a:t>when </a:t>
            </a:r>
            <a:r>
              <a:rPr lang="en-US" sz="3200" dirty="0" err="1"/>
              <a:t>comm</a:t>
            </a:r>
            <a:r>
              <a:rPr lang="en-US" sz="3200" dirty="0"/>
              <a:t> is null then 0</a:t>
            </a:r>
          </a:p>
          <a:p>
            <a:pPr lvl="1"/>
            <a:r>
              <a:rPr lang="en-US" sz="3200" dirty="0"/>
              <a:t>else </a:t>
            </a:r>
            <a:r>
              <a:rPr lang="en-US" sz="3200" dirty="0" err="1"/>
              <a:t>comm</a:t>
            </a:r>
            <a:r>
              <a:rPr lang="en-US" sz="3200" dirty="0"/>
              <a:t>	end</a:t>
            </a:r>
          </a:p>
          <a:p>
            <a:pPr lvl="1"/>
            <a:r>
              <a:rPr lang="en-US" sz="3200" dirty="0"/>
              <a:t>from </a:t>
            </a:r>
            <a:r>
              <a:rPr lang="en-US" sz="3200" dirty="0" err="1"/>
              <a:t>emp</a:t>
            </a:r>
            <a:endParaRPr lang="en-US" sz="3200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40213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Nulls when 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/* NON-NULL COMM SORTED ASCENDING, ALL NULLS LAST */</a:t>
            </a:r>
          </a:p>
          <a:p>
            <a:r>
              <a:rPr lang="en-US" dirty="0"/>
              <a:t>select </a:t>
            </a:r>
            <a:r>
              <a:rPr lang="en-US" dirty="0" err="1"/>
              <a:t>ename</a:t>
            </a:r>
            <a:r>
              <a:rPr lang="en-US" dirty="0"/>
              <a:t>, </a:t>
            </a:r>
            <a:r>
              <a:rPr lang="en-US" dirty="0" err="1"/>
              <a:t>sal</a:t>
            </a:r>
            <a:r>
              <a:rPr lang="en-US" dirty="0"/>
              <a:t>, </a:t>
            </a:r>
            <a:r>
              <a:rPr lang="en-US" dirty="0" err="1"/>
              <a:t>comm</a:t>
            </a:r>
            <a:r>
              <a:rPr lang="en-US" dirty="0"/>
              <a:t> from ( </a:t>
            </a:r>
          </a:p>
          <a:p>
            <a:r>
              <a:rPr lang="en-US" dirty="0"/>
              <a:t>select </a:t>
            </a:r>
            <a:r>
              <a:rPr lang="en-US" dirty="0" err="1"/>
              <a:t>ename</a:t>
            </a:r>
            <a:r>
              <a:rPr lang="en-US" dirty="0"/>
              <a:t>, </a:t>
            </a:r>
            <a:r>
              <a:rPr lang="en-US" dirty="0" err="1"/>
              <a:t>sal</a:t>
            </a:r>
            <a:r>
              <a:rPr lang="en-US" dirty="0"/>
              <a:t>, </a:t>
            </a:r>
            <a:r>
              <a:rPr lang="en-US" dirty="0" err="1"/>
              <a:t>comm</a:t>
            </a:r>
            <a:r>
              <a:rPr lang="en-US" dirty="0"/>
              <a:t>,</a:t>
            </a:r>
          </a:p>
          <a:p>
            <a:r>
              <a:rPr lang="en-US" sz="2800" dirty="0"/>
              <a:t>case when </a:t>
            </a:r>
            <a:r>
              <a:rPr lang="en-US" sz="2800" dirty="0" err="1"/>
              <a:t>comm</a:t>
            </a:r>
            <a:r>
              <a:rPr lang="en-US" sz="2800" dirty="0"/>
              <a:t> is null then 0 else 1 end as </a:t>
            </a:r>
            <a:r>
              <a:rPr lang="en-US" sz="2800" dirty="0" err="1"/>
              <a:t>is_null</a:t>
            </a:r>
            <a:r>
              <a:rPr lang="en-US" dirty="0"/>
              <a:t> </a:t>
            </a:r>
          </a:p>
          <a:p>
            <a:r>
              <a:rPr lang="en-US" dirty="0"/>
              <a:t>from </a:t>
            </a:r>
            <a:r>
              <a:rPr lang="en-US" dirty="0" err="1"/>
              <a:t>emp</a:t>
            </a:r>
            <a:r>
              <a:rPr lang="en-US" dirty="0"/>
              <a:t>)</a:t>
            </a:r>
          </a:p>
          <a:p>
            <a:r>
              <a:rPr lang="en-US" dirty="0"/>
              <a:t>order by </a:t>
            </a:r>
            <a:r>
              <a:rPr lang="en-US" dirty="0" err="1"/>
              <a:t>is_null</a:t>
            </a:r>
            <a:r>
              <a:rPr lang="en-US" dirty="0"/>
              <a:t> </a:t>
            </a:r>
            <a:r>
              <a:rPr lang="en-US" dirty="0" err="1"/>
              <a:t>desc</a:t>
            </a:r>
            <a:r>
              <a:rPr lang="en-US" dirty="0"/>
              <a:t>, </a:t>
            </a:r>
            <a:r>
              <a:rPr lang="en-US" dirty="0" err="1"/>
              <a:t>comm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05419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on Data Dependent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JOB is "SALESMAN" sort on COMM; </a:t>
            </a:r>
          </a:p>
          <a:p>
            <a:r>
              <a:rPr lang="en-US" dirty="0"/>
              <a:t>otherwise, sort by SAL</a:t>
            </a:r>
          </a:p>
          <a:p>
            <a:r>
              <a:rPr lang="en-US" dirty="0"/>
              <a:t>select </a:t>
            </a:r>
            <a:r>
              <a:rPr lang="en-US" dirty="0" err="1"/>
              <a:t>ename</a:t>
            </a:r>
            <a:r>
              <a:rPr lang="en-US" dirty="0"/>
              <a:t>, </a:t>
            </a:r>
            <a:r>
              <a:rPr lang="en-US" dirty="0" err="1"/>
              <a:t>sal</a:t>
            </a:r>
            <a:r>
              <a:rPr lang="en-US" dirty="0"/>
              <a:t>, job, </a:t>
            </a:r>
            <a:r>
              <a:rPr lang="en-US" dirty="0" err="1"/>
              <a:t>comm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emp</a:t>
            </a:r>
            <a:endParaRPr lang="en-US" dirty="0"/>
          </a:p>
          <a:p>
            <a:r>
              <a:rPr lang="en-US" dirty="0"/>
              <a:t>order by case</a:t>
            </a:r>
          </a:p>
          <a:p>
            <a:r>
              <a:rPr lang="en-US" dirty="0"/>
              <a:t>when job = 'SALESMAN' then </a:t>
            </a:r>
            <a:r>
              <a:rPr lang="en-US" dirty="0" err="1"/>
              <a:t>comm</a:t>
            </a:r>
            <a:endParaRPr lang="en-US" dirty="0"/>
          </a:p>
          <a:p>
            <a:r>
              <a:rPr lang="en-US" dirty="0"/>
              <a:t>else </a:t>
            </a:r>
            <a:r>
              <a:rPr lang="en-US" dirty="0" err="1"/>
              <a:t>sal</a:t>
            </a:r>
            <a:r>
              <a:rPr lang="en-US"/>
              <a:t> end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7488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Using NULLs in Operations &amp;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NULL is never equal to or not equal to any value, not even itself</a:t>
            </a:r>
          </a:p>
          <a:p>
            <a:r>
              <a:rPr lang="en-US" sz="2800" dirty="0"/>
              <a:t>if you want to evaluate values returned by nullable column like you would evaluate real values</a:t>
            </a:r>
          </a:p>
          <a:p>
            <a:endParaRPr lang="en-US" sz="1600" dirty="0"/>
          </a:p>
          <a:p>
            <a:r>
              <a:rPr lang="en-US" sz="2800" dirty="0"/>
              <a:t>find all employees in EMP whose commission (COMM) is less than the commission of employee "WARD"; employees with NULL commission should be included as well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28412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Using NULLs in Operations &amp;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function such as COALESCE to transform NULL value into real value that can be used in standard evaluation</a:t>
            </a:r>
          </a:p>
          <a:p>
            <a:r>
              <a:rPr lang="en-US" dirty="0"/>
              <a:t>select </a:t>
            </a:r>
            <a:r>
              <a:rPr lang="en-US" dirty="0" err="1"/>
              <a:t>ename</a:t>
            </a:r>
            <a:r>
              <a:rPr lang="en-US" dirty="0"/>
              <a:t>, </a:t>
            </a:r>
            <a:r>
              <a:rPr lang="en-US" dirty="0" err="1"/>
              <a:t>comm</a:t>
            </a:r>
            <a:r>
              <a:rPr lang="en-US" dirty="0"/>
              <a:t> from </a:t>
            </a:r>
            <a:r>
              <a:rPr lang="en-US" dirty="0" err="1"/>
              <a:t>emp</a:t>
            </a:r>
            <a:r>
              <a:rPr lang="en-US" dirty="0"/>
              <a:t> </a:t>
            </a:r>
          </a:p>
          <a:p>
            <a:r>
              <a:rPr lang="en-US" dirty="0"/>
              <a:t>where coalesce(comm,0) &lt; (select </a:t>
            </a:r>
            <a:r>
              <a:rPr lang="en-US" dirty="0" err="1"/>
              <a:t>comm</a:t>
            </a:r>
            <a:r>
              <a:rPr lang="en-US" dirty="0"/>
              <a:t> from </a:t>
            </a:r>
            <a:r>
              <a:rPr lang="en-US" dirty="0" err="1"/>
              <a:t>emp</a:t>
            </a:r>
            <a:r>
              <a:rPr lang="en-US" dirty="0"/>
              <a:t> where </a:t>
            </a:r>
            <a:r>
              <a:rPr lang="en-US" dirty="0" err="1"/>
              <a:t>ename</a:t>
            </a:r>
            <a:r>
              <a:rPr lang="en-US" dirty="0"/>
              <a:t> = 'WARD' 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41789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OVER(PARTITION BY ..)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Window function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76795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 </a:t>
            </a:r>
            <a:r>
              <a:rPr lang="en-US" dirty="0" err="1"/>
              <a:t>e.empno</a:t>
            </a:r>
            <a:r>
              <a:rPr lang="en-US" dirty="0"/>
              <a:t>, </a:t>
            </a:r>
            <a:r>
              <a:rPr lang="en-US" dirty="0" err="1"/>
              <a:t>e.ename</a:t>
            </a:r>
            <a:r>
              <a:rPr lang="en-US" dirty="0"/>
              <a:t>, </a:t>
            </a:r>
            <a:r>
              <a:rPr lang="en-US" dirty="0" err="1"/>
              <a:t>e.sal</a:t>
            </a:r>
            <a:r>
              <a:rPr lang="en-US" dirty="0"/>
              <a:t>, </a:t>
            </a:r>
            <a:r>
              <a:rPr lang="en-US" dirty="0" err="1"/>
              <a:t>e.deptno</a:t>
            </a:r>
            <a:r>
              <a:rPr lang="en-US" dirty="0"/>
              <a:t>, </a:t>
            </a:r>
            <a:r>
              <a:rPr lang="en-US" dirty="0" err="1"/>
              <a:t>e.sal</a:t>
            </a:r>
            <a:r>
              <a:rPr lang="en-US" dirty="0"/>
              <a:t>*case </a:t>
            </a:r>
          </a:p>
          <a:p>
            <a:pPr lvl="1"/>
            <a:r>
              <a:rPr lang="en-US" dirty="0"/>
              <a:t>when </a:t>
            </a:r>
            <a:r>
              <a:rPr lang="en-US" dirty="0" err="1"/>
              <a:t>eb.type</a:t>
            </a:r>
            <a:r>
              <a:rPr lang="en-US" dirty="0"/>
              <a:t> = 1 then .1</a:t>
            </a:r>
          </a:p>
          <a:p>
            <a:pPr lvl="1"/>
            <a:r>
              <a:rPr lang="en-US" dirty="0"/>
              <a:t>when </a:t>
            </a:r>
            <a:r>
              <a:rPr lang="en-US" dirty="0" err="1"/>
              <a:t>eb.type</a:t>
            </a:r>
            <a:r>
              <a:rPr lang="en-US" dirty="0"/>
              <a:t> = 2 then .2</a:t>
            </a:r>
          </a:p>
          <a:p>
            <a:pPr lvl="1"/>
            <a:r>
              <a:rPr lang="en-US" dirty="0"/>
              <a:t>else .3	end as bonus</a:t>
            </a:r>
          </a:p>
          <a:p>
            <a:r>
              <a:rPr lang="en-US" dirty="0"/>
              <a:t>from </a:t>
            </a:r>
            <a:r>
              <a:rPr lang="en-US" dirty="0" err="1"/>
              <a:t>emp</a:t>
            </a:r>
            <a:r>
              <a:rPr lang="en-US" dirty="0"/>
              <a:t> e, </a:t>
            </a:r>
            <a:r>
              <a:rPr lang="en-US" dirty="0" err="1"/>
              <a:t>emp_bonus</a:t>
            </a:r>
            <a:r>
              <a:rPr lang="en-US" dirty="0"/>
              <a:t> </a:t>
            </a:r>
            <a:r>
              <a:rPr lang="en-US" dirty="0" err="1"/>
              <a:t>eb</a:t>
            </a:r>
            <a:r>
              <a:rPr lang="en-US" dirty="0"/>
              <a:t> where </a:t>
            </a:r>
            <a:r>
              <a:rPr lang="en-US" dirty="0" err="1"/>
              <a:t>e.empno</a:t>
            </a:r>
            <a:r>
              <a:rPr lang="en-US" dirty="0"/>
              <a:t> = </a:t>
            </a:r>
            <a:r>
              <a:rPr lang="en-US" dirty="0" err="1"/>
              <a:t>eb.empno</a:t>
            </a:r>
            <a:r>
              <a:rPr lang="en-US" dirty="0"/>
              <a:t> and </a:t>
            </a:r>
            <a:r>
              <a:rPr lang="en-US" dirty="0" err="1"/>
              <a:t>e.deptno</a:t>
            </a:r>
            <a:r>
              <a:rPr lang="en-US" dirty="0"/>
              <a:t> = 10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1280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EMPNO ENAME SAL DEPTNO BONUS</a:t>
            </a:r>
          </a:p>
          <a:p>
            <a:r>
              <a:rPr lang="en-US" dirty="0"/>
              <a:t>------- ---------- ---------- ---------- ---------</a:t>
            </a:r>
          </a:p>
          <a:p>
            <a:r>
              <a:rPr lang="en-US" dirty="0"/>
              <a:t>7934 MILLER 1300 10 130</a:t>
            </a:r>
          </a:p>
          <a:p>
            <a:r>
              <a:rPr lang="en-US" dirty="0"/>
              <a:t>7934 MILLER 1300 10 260</a:t>
            </a:r>
          </a:p>
          <a:p>
            <a:r>
              <a:rPr lang="en-US" dirty="0"/>
              <a:t>7839 KING 5000 10 1500</a:t>
            </a:r>
          </a:p>
          <a:p>
            <a:r>
              <a:rPr lang="fr-FR" dirty="0"/>
              <a:t>7782 CLARK 2450 10 245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8731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select </a:t>
            </a:r>
            <a:r>
              <a:rPr lang="en-US" dirty="0" err="1"/>
              <a:t>deptno</a:t>
            </a:r>
            <a:r>
              <a:rPr lang="en-US" dirty="0"/>
              <a:t>,  sum(</a:t>
            </a:r>
            <a:r>
              <a:rPr lang="en-US" dirty="0" err="1"/>
              <a:t>sal</a:t>
            </a:r>
            <a:r>
              <a:rPr lang="en-US" dirty="0"/>
              <a:t>) as </a:t>
            </a:r>
            <a:r>
              <a:rPr lang="en-US" dirty="0" err="1"/>
              <a:t>total_sal</a:t>
            </a:r>
            <a:r>
              <a:rPr lang="en-US" dirty="0"/>
              <a:t>, sum(bonus) as </a:t>
            </a:r>
            <a:r>
              <a:rPr lang="en-US" dirty="0" err="1"/>
              <a:t>total_bonus</a:t>
            </a:r>
            <a:endParaRPr lang="en-US" dirty="0"/>
          </a:p>
          <a:p>
            <a:r>
              <a:rPr lang="en-US" dirty="0"/>
              <a:t>from ( … ) </a:t>
            </a:r>
            <a:r>
              <a:rPr lang="en-US" dirty="0" err="1"/>
              <a:t>tempx</a:t>
            </a:r>
            <a:endParaRPr lang="en-US" dirty="0"/>
          </a:p>
          <a:p>
            <a:r>
              <a:rPr lang="en-US" dirty="0"/>
              <a:t>group by </a:t>
            </a:r>
            <a:r>
              <a:rPr lang="en-US" dirty="0" err="1"/>
              <a:t>deptno</a:t>
            </a:r>
            <a:endParaRPr lang="en-US" dirty="0"/>
          </a:p>
          <a:p>
            <a:r>
              <a:rPr lang="en-US" dirty="0"/>
              <a:t>DEPTNO TOTAL_SAL TOTAL_BONUS</a:t>
            </a:r>
          </a:p>
          <a:p>
            <a:r>
              <a:rPr lang="en-US" dirty="0"/>
              <a:t>------ ----------- -----------</a:t>
            </a:r>
          </a:p>
          <a:p>
            <a:r>
              <a:rPr lang="en-US" dirty="0"/>
              <a:t>10 10050 2135</a:t>
            </a:r>
          </a:p>
          <a:p>
            <a:r>
              <a:rPr lang="en-US" dirty="0"/>
              <a:t>TOTAL_BONUS is correct, TOTAL_SAL is incorrect: sum of all salaries in department 10 is 8750</a:t>
            </a:r>
          </a:p>
          <a:p>
            <a:r>
              <a:rPr lang="en-US" dirty="0"/>
              <a:t>reason is duplicate rows in SAL column created by JOIN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4735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Perform SUM of only DISTINCT salaries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deptno</a:t>
            </a:r>
            <a:r>
              <a:rPr lang="en-US" dirty="0"/>
              <a:t>,  </a:t>
            </a:r>
          </a:p>
          <a:p>
            <a:r>
              <a:rPr lang="en-US" dirty="0"/>
              <a:t>sum(distinct </a:t>
            </a:r>
            <a:r>
              <a:rPr lang="en-US" dirty="0" err="1"/>
              <a:t>sal</a:t>
            </a:r>
            <a:r>
              <a:rPr lang="en-US" dirty="0"/>
              <a:t>) as </a:t>
            </a:r>
            <a:r>
              <a:rPr lang="en-US" dirty="0" err="1"/>
              <a:t>total_sal</a:t>
            </a:r>
            <a:r>
              <a:rPr lang="en-US" dirty="0"/>
              <a:t>, </a:t>
            </a:r>
          </a:p>
          <a:p>
            <a:r>
              <a:rPr lang="en-US" dirty="0"/>
              <a:t>sum(bonus) as </a:t>
            </a:r>
            <a:r>
              <a:rPr lang="en-US" dirty="0" err="1"/>
              <a:t>total_bonus</a:t>
            </a:r>
            <a:endParaRPr lang="en-US" dirty="0"/>
          </a:p>
          <a:p>
            <a:r>
              <a:rPr lang="en-US" dirty="0"/>
              <a:t>from ( … ) </a:t>
            </a:r>
            <a:r>
              <a:rPr lang="en-US" dirty="0" err="1"/>
              <a:t>tempx</a:t>
            </a:r>
            <a:endParaRPr lang="en-US" dirty="0"/>
          </a:p>
          <a:p>
            <a:r>
              <a:rPr lang="en-US" dirty="0"/>
              <a:t>group by </a:t>
            </a:r>
            <a:r>
              <a:rPr lang="en-US" dirty="0" err="1"/>
              <a:t>deptno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64801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window function SUM 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700" dirty="0"/>
              <a:t>select distinct </a:t>
            </a:r>
            <a:r>
              <a:rPr lang="en-US" sz="3700" dirty="0" err="1"/>
              <a:t>deptno</a:t>
            </a:r>
            <a:r>
              <a:rPr lang="en-US" sz="3700" dirty="0"/>
              <a:t>, </a:t>
            </a:r>
            <a:r>
              <a:rPr lang="en-US" sz="3700" dirty="0" err="1"/>
              <a:t>total_sal</a:t>
            </a:r>
            <a:r>
              <a:rPr lang="en-US" sz="3700" dirty="0"/>
              <a:t>, </a:t>
            </a:r>
            <a:r>
              <a:rPr lang="en-US" sz="3700" dirty="0" err="1"/>
              <a:t>total_bonus</a:t>
            </a:r>
            <a:r>
              <a:rPr lang="en-US" sz="3700" dirty="0"/>
              <a:t> from (</a:t>
            </a:r>
          </a:p>
          <a:p>
            <a:r>
              <a:rPr lang="en-US" sz="3700" dirty="0"/>
              <a:t>select </a:t>
            </a:r>
            <a:r>
              <a:rPr lang="en-US" sz="3700" dirty="0" err="1"/>
              <a:t>e.empno</a:t>
            </a:r>
            <a:r>
              <a:rPr lang="en-US" sz="3700" dirty="0"/>
              <a:t>, </a:t>
            </a:r>
            <a:r>
              <a:rPr lang="en-US" sz="3700" dirty="0" err="1"/>
              <a:t>e.ename</a:t>
            </a:r>
            <a:r>
              <a:rPr lang="en-US" sz="3700" dirty="0"/>
              <a:t>, </a:t>
            </a:r>
          </a:p>
          <a:p>
            <a:r>
              <a:rPr lang="en-US" sz="3700" dirty="0"/>
              <a:t>sum(distinct </a:t>
            </a:r>
            <a:r>
              <a:rPr lang="en-US" sz="3700" dirty="0" err="1"/>
              <a:t>e.sal</a:t>
            </a:r>
            <a:r>
              <a:rPr lang="en-US" sz="3700" dirty="0"/>
              <a:t>) over (partition by </a:t>
            </a:r>
            <a:r>
              <a:rPr lang="en-US" sz="3700" dirty="0" err="1"/>
              <a:t>e.deptno</a:t>
            </a:r>
            <a:r>
              <a:rPr lang="en-US" sz="3700" dirty="0"/>
              <a:t>) as </a:t>
            </a:r>
            <a:r>
              <a:rPr lang="en-US" sz="3700" dirty="0" err="1"/>
              <a:t>total_sal</a:t>
            </a:r>
            <a:r>
              <a:rPr lang="en-US" sz="3700" dirty="0"/>
              <a:t>,</a:t>
            </a:r>
          </a:p>
          <a:p>
            <a:r>
              <a:rPr lang="en-US" sz="3700" dirty="0" err="1"/>
              <a:t>e.deptno</a:t>
            </a:r>
            <a:r>
              <a:rPr lang="en-US" sz="3700" dirty="0"/>
              <a:t>,</a:t>
            </a:r>
          </a:p>
          <a:p>
            <a:r>
              <a:rPr lang="en-US" sz="3700" dirty="0"/>
              <a:t>sum(</a:t>
            </a:r>
            <a:r>
              <a:rPr lang="en-US" sz="3700" dirty="0" err="1"/>
              <a:t>e.sal</a:t>
            </a:r>
            <a:r>
              <a:rPr lang="en-US" sz="3700" dirty="0"/>
              <a:t>*case </a:t>
            </a:r>
          </a:p>
          <a:p>
            <a:pPr lvl="1"/>
            <a:r>
              <a:rPr lang="en-US" sz="3100" dirty="0"/>
              <a:t>when </a:t>
            </a:r>
            <a:r>
              <a:rPr lang="en-US" sz="3100" dirty="0" err="1"/>
              <a:t>eb.type</a:t>
            </a:r>
            <a:r>
              <a:rPr lang="en-US" sz="3100" dirty="0"/>
              <a:t> = 1 then .1</a:t>
            </a:r>
          </a:p>
          <a:p>
            <a:pPr lvl="1"/>
            <a:r>
              <a:rPr lang="en-US" sz="3100" dirty="0"/>
              <a:t>when </a:t>
            </a:r>
            <a:r>
              <a:rPr lang="en-US" sz="3100" dirty="0" err="1"/>
              <a:t>eb.type</a:t>
            </a:r>
            <a:r>
              <a:rPr lang="en-US" sz="3100" dirty="0"/>
              <a:t> = 2 then .2</a:t>
            </a:r>
          </a:p>
          <a:p>
            <a:pPr lvl="1"/>
            <a:r>
              <a:rPr lang="da-DK" sz="3100" dirty="0"/>
              <a:t>else .3 end) </a:t>
            </a:r>
            <a:r>
              <a:rPr lang="da-DK" sz="3600" dirty="0"/>
              <a:t>over </a:t>
            </a:r>
            <a:r>
              <a:rPr lang="en-US" sz="3600" dirty="0"/>
              <a:t>(partition by </a:t>
            </a:r>
            <a:r>
              <a:rPr lang="en-US" sz="3600" dirty="0" err="1"/>
              <a:t>deptno</a:t>
            </a:r>
            <a:r>
              <a:rPr lang="en-US" sz="3600" dirty="0"/>
              <a:t>) as </a:t>
            </a:r>
            <a:r>
              <a:rPr lang="en-US" sz="3600" dirty="0" err="1"/>
              <a:t>total_bonus</a:t>
            </a:r>
            <a:endParaRPr lang="en-US" sz="3600" dirty="0"/>
          </a:p>
          <a:p>
            <a:r>
              <a:rPr lang="en-US" sz="3700" dirty="0"/>
              <a:t>from </a:t>
            </a:r>
            <a:r>
              <a:rPr lang="en-US" sz="3700" dirty="0" err="1"/>
              <a:t>emp</a:t>
            </a:r>
            <a:r>
              <a:rPr lang="en-US" sz="3700" dirty="0"/>
              <a:t> e, </a:t>
            </a:r>
            <a:r>
              <a:rPr lang="en-US" sz="3700" dirty="0" err="1"/>
              <a:t>emp_bonus</a:t>
            </a:r>
            <a:r>
              <a:rPr lang="en-US" sz="3700" dirty="0"/>
              <a:t> </a:t>
            </a:r>
            <a:r>
              <a:rPr lang="en-US" sz="3700" dirty="0" err="1"/>
              <a:t>eb</a:t>
            </a:r>
            <a:r>
              <a:rPr lang="en-US" sz="3700" dirty="0"/>
              <a:t> where </a:t>
            </a:r>
            <a:r>
              <a:rPr lang="en-US" sz="3700" dirty="0" err="1"/>
              <a:t>e.empno</a:t>
            </a:r>
            <a:r>
              <a:rPr lang="en-US" sz="3700" dirty="0"/>
              <a:t> = </a:t>
            </a:r>
            <a:r>
              <a:rPr lang="en-US" sz="3700" dirty="0" err="1"/>
              <a:t>eb.empno</a:t>
            </a:r>
            <a:r>
              <a:rPr lang="en-US" sz="3700" dirty="0"/>
              <a:t> and </a:t>
            </a:r>
            <a:r>
              <a:rPr lang="en-US" sz="3700" dirty="0" err="1"/>
              <a:t>e.deptno</a:t>
            </a:r>
            <a:r>
              <a:rPr lang="en-US" sz="3700" dirty="0"/>
              <a:t> = 10</a:t>
            </a:r>
          </a:p>
          <a:p>
            <a:r>
              <a:rPr lang="en-US" sz="3700" dirty="0"/>
              <a:t>) </a:t>
            </a:r>
            <a:r>
              <a:rPr lang="en-US" sz="3700" dirty="0" err="1"/>
              <a:t>tempx</a:t>
            </a:r>
            <a:endParaRPr lang="en-US" sz="37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12203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windowing function, SUM OVER, is called twice</a:t>
            </a:r>
          </a:p>
          <a:p>
            <a:r>
              <a:rPr lang="en-US" dirty="0"/>
              <a:t>first to compute sum of distinct salaries for defined partition or group</a:t>
            </a:r>
          </a:p>
          <a:p>
            <a:r>
              <a:rPr lang="ro-RO" dirty="0"/>
              <a:t>i</a:t>
            </a:r>
            <a:r>
              <a:rPr lang="en-US" dirty="0"/>
              <a:t>n this case, partition is DEPTNO 10 and sum of distinct salaries for DEPTNO 10 is 8750</a:t>
            </a:r>
            <a:endParaRPr lang="ro-RO" dirty="0"/>
          </a:p>
          <a:p>
            <a:r>
              <a:rPr lang="en-US" dirty="0"/>
              <a:t>next computes sum of bonuses for same defined partition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18298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Window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belong to type of function known as ‘set function’, means function that applies to set of rows</a:t>
            </a:r>
          </a:p>
          <a:p>
            <a:r>
              <a:rPr lang="en-US" dirty="0"/>
              <a:t>word ‘window’ is used to refer to set of rows that function works on</a:t>
            </a:r>
          </a:p>
          <a:p>
            <a:r>
              <a:rPr lang="en-US" dirty="0"/>
              <a:t>function whose result for given row is derived from window frame of that row PARTITION BY clause is used to define window frame for row</a:t>
            </a:r>
          </a:p>
          <a:p>
            <a:r>
              <a:rPr lang="en-US"/>
              <a:t>unlike GROUP BY clause window </a:t>
            </a:r>
            <a:r>
              <a:rPr lang="en-US" dirty="0"/>
              <a:t>functions have no </a:t>
            </a:r>
            <a:r>
              <a:rPr lang="en-US"/>
              <a:t>grouping effect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99496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57200" y="304801"/>
            <a:ext cx="4040188" cy="1143000"/>
          </a:xfrm>
        </p:spPr>
        <p:txBody>
          <a:bodyPr>
            <a:normAutofit/>
          </a:bodyPr>
          <a:lstStyle/>
          <a:p>
            <a:r>
              <a:rPr lang="en-US" dirty="0"/>
              <a:t>SELECT * FROM  </a:t>
            </a:r>
            <a:r>
              <a:rPr lang="en-US" dirty="0" err="1"/>
              <a:t>TestAggregation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half" idx="2"/>
          </p:nvPr>
        </p:nvGraphicFramePr>
        <p:xfrm>
          <a:off x="457200" y="2174875"/>
          <a:ext cx="4040188" cy="365760"/>
        </p:xfrm>
        <a:graphic>
          <a:graphicData uri="http://schemas.openxmlformats.org/drawingml/2006/table">
            <a:tbl>
              <a:tblPr/>
              <a:tblGrid>
                <a:gridCol w="4040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>
                        <a:effectLst/>
                      </a:endParaRPr>
                    </a:p>
                  </a:txBody>
                  <a:tcPr marL="44891" marR="448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>
          <a:xfrm>
            <a:off x="4645025" y="304801"/>
            <a:ext cx="4041775" cy="1066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SELECT ID, SUM(Value)</a:t>
            </a:r>
          </a:p>
          <a:p>
            <a:r>
              <a:rPr lang="en-US" dirty="0"/>
              <a:t>FROM </a:t>
            </a:r>
            <a:r>
              <a:rPr lang="en-US" dirty="0" err="1"/>
              <a:t>TestAggregation</a:t>
            </a:r>
            <a:endParaRPr lang="en-US" dirty="0"/>
          </a:p>
          <a:p>
            <a:r>
              <a:rPr lang="en-US" dirty="0"/>
              <a:t>GROUP BY ID;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96</a:t>
            </a:fld>
            <a:endParaRPr lang="en-US"/>
          </a:p>
        </p:txBody>
      </p:sp>
      <p:pic>
        <p:nvPicPr>
          <p:cNvPr id="1026" name="Picture 2" descr="1378-image001.png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4" y="1554480"/>
            <a:ext cx="3516571" cy="4076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1378-image002.png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3349" y="2286000"/>
            <a:ext cx="4266666" cy="279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117582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Partitions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97</a:t>
            </a:fld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720" y="2468873"/>
            <a:ext cx="7068503" cy="3654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008650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163762"/>
          </a:xfrm>
        </p:spPr>
        <p:txBody>
          <a:bodyPr>
            <a:noAutofit/>
          </a:bodyPr>
          <a:lstStyle/>
          <a:p>
            <a:r>
              <a:rPr lang="en-US" sz="3200" dirty="0"/>
              <a:t>SELECT ID, Value, SUM(Value) AS "Sum", AVG(Value) AS "</a:t>
            </a:r>
            <a:r>
              <a:rPr lang="en-US" sz="3200" dirty="0" err="1"/>
              <a:t>Avg</a:t>
            </a:r>
            <a:r>
              <a:rPr lang="en-US" sz="3200" dirty="0"/>
              <a:t>", COUNT(Value) AS "Quantity" FROM </a:t>
            </a:r>
            <a:r>
              <a:rPr lang="en-US" sz="3200" dirty="0" err="1"/>
              <a:t>TestAggregation</a:t>
            </a:r>
            <a:br>
              <a:rPr lang="en-US" sz="3200" dirty="0"/>
            </a:br>
            <a:r>
              <a:rPr lang="en-US" sz="3200" dirty="0"/>
              <a:t>GROUP BY ID;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98</a:t>
            </a:fld>
            <a:endParaRPr lang="en-US"/>
          </a:p>
        </p:txBody>
      </p:sp>
      <p:pic>
        <p:nvPicPr>
          <p:cNvPr id="13" name="Picture 4" descr="1378-image004.png"/>
          <p:cNvPicPr>
            <a:picLocks noGrp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720" y="2468876"/>
            <a:ext cx="7288890" cy="3931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88763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99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SELECT TestAggregation.ID, </a:t>
            </a:r>
            <a:r>
              <a:rPr lang="en-US" dirty="0" err="1"/>
              <a:t>TestAggregation.Value</a:t>
            </a:r>
            <a:r>
              <a:rPr lang="en-US" dirty="0"/>
              <a:t>, </a:t>
            </a:r>
            <a:r>
              <a:rPr lang="en-US" dirty="0" err="1"/>
              <a:t>TabSum</a:t>
            </a:r>
            <a:r>
              <a:rPr lang="en-US" dirty="0"/>
              <a:t>."Sum", </a:t>
            </a:r>
            <a:r>
              <a:rPr lang="en-US" dirty="0" err="1"/>
              <a:t>TabAvg</a:t>
            </a:r>
            <a:r>
              <a:rPr lang="en-US" dirty="0"/>
              <a:t>."</a:t>
            </a:r>
            <a:r>
              <a:rPr lang="en-US" dirty="0" err="1"/>
              <a:t>Avg</a:t>
            </a:r>
            <a:r>
              <a:rPr lang="en-US" dirty="0"/>
              <a:t>", </a:t>
            </a:r>
            <a:r>
              <a:rPr lang="en-US" dirty="0" err="1"/>
              <a:t>TabCount</a:t>
            </a:r>
            <a:r>
              <a:rPr lang="en-US" dirty="0"/>
              <a:t>."Quantity" FROM </a:t>
            </a:r>
            <a:r>
              <a:rPr lang="en-US" dirty="0" err="1"/>
              <a:t>TestAggregation</a:t>
            </a:r>
            <a:endParaRPr lang="en-US" dirty="0"/>
          </a:p>
          <a:p>
            <a:r>
              <a:rPr lang="en-US" dirty="0"/>
              <a:t>INNER JOIN (SELECT ID, SUM(Value) AS "Sum" FROM </a:t>
            </a:r>
            <a:r>
              <a:rPr lang="en-US" dirty="0" err="1"/>
              <a:t>TestAggregation</a:t>
            </a:r>
            <a:endParaRPr lang="en-US" dirty="0"/>
          </a:p>
          <a:p>
            <a:pPr lvl="1"/>
            <a:r>
              <a:rPr lang="en-US" dirty="0"/>
              <a:t>GROUP BY ID) AS </a:t>
            </a:r>
            <a:r>
              <a:rPr lang="en-US" dirty="0" err="1"/>
              <a:t>TabSum</a:t>
            </a:r>
            <a:r>
              <a:rPr lang="en-US" dirty="0"/>
              <a:t> ON TabSum.ID = TestAggregation.ID</a:t>
            </a:r>
          </a:p>
          <a:p>
            <a:r>
              <a:rPr lang="en-US" dirty="0"/>
              <a:t>INNER JOIN (SELECT ID, AVG(Value) AS "</a:t>
            </a:r>
            <a:r>
              <a:rPr lang="en-US" dirty="0" err="1"/>
              <a:t>Avg</a:t>
            </a:r>
            <a:r>
              <a:rPr lang="en-US" dirty="0"/>
              <a:t>" FROM </a:t>
            </a:r>
            <a:r>
              <a:rPr lang="en-US" dirty="0" err="1"/>
              <a:t>TestAggregation</a:t>
            </a:r>
            <a:endParaRPr lang="en-US" dirty="0"/>
          </a:p>
          <a:p>
            <a:pPr lvl="1"/>
            <a:r>
              <a:rPr lang="en-US" dirty="0"/>
              <a:t>GROUP BY ID) AS </a:t>
            </a:r>
            <a:r>
              <a:rPr lang="en-US" dirty="0" err="1"/>
              <a:t>TabAvg</a:t>
            </a:r>
            <a:r>
              <a:rPr lang="en-US" dirty="0"/>
              <a:t> ON TabAvg.ID = TestAggregation.ID</a:t>
            </a:r>
          </a:p>
          <a:p>
            <a:r>
              <a:rPr lang="en-US" dirty="0"/>
              <a:t>INNER JOIN (SELECT ID, COUNT(Value) AS "Quantity" FROM </a:t>
            </a:r>
            <a:r>
              <a:rPr lang="en-US" dirty="0" err="1"/>
              <a:t>TestAggregation</a:t>
            </a:r>
            <a:endParaRPr lang="en-US" dirty="0"/>
          </a:p>
          <a:p>
            <a:pPr lvl="1"/>
            <a:r>
              <a:rPr lang="en-US" dirty="0"/>
              <a:t>GROUP BY ID) AS </a:t>
            </a:r>
            <a:r>
              <a:rPr lang="en-US" dirty="0" err="1"/>
              <a:t>TabCount</a:t>
            </a:r>
            <a:r>
              <a:rPr lang="en-US" dirty="0"/>
              <a:t> ON TabCount.ID = TestAggregation.ID</a:t>
            </a:r>
          </a:p>
        </p:txBody>
      </p:sp>
    </p:spTree>
    <p:extLst>
      <p:ext uri="{BB962C8B-B14F-4D97-AF65-F5344CB8AC3E}">
        <p14:creationId xmlns:p14="http://schemas.microsoft.com/office/powerpoint/2010/main" val="325748816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SELECT TestAggregation.ID, </a:t>
            </a:r>
            <a:r>
              <a:rPr lang="en-US" dirty="0" err="1"/>
              <a:t>TestAggregation.Value</a:t>
            </a:r>
            <a:r>
              <a:rPr lang="en-US" dirty="0"/>
              <a:t>, </a:t>
            </a:r>
            <a:r>
              <a:rPr lang="en-US" dirty="0" err="1"/>
              <a:t>AggregatedValues</a:t>
            </a:r>
            <a:r>
              <a:rPr lang="en-US" dirty="0"/>
              <a:t>.[Sum], </a:t>
            </a:r>
            <a:r>
              <a:rPr lang="en-US" dirty="0" err="1"/>
              <a:t>AggregatedValues</a:t>
            </a:r>
            <a:r>
              <a:rPr lang="en-US" dirty="0"/>
              <a:t>.[</a:t>
            </a:r>
            <a:r>
              <a:rPr lang="en-US" dirty="0" err="1"/>
              <a:t>Avg</a:t>
            </a:r>
            <a:r>
              <a:rPr lang="en-US" dirty="0"/>
              <a:t>], </a:t>
            </a:r>
            <a:r>
              <a:rPr lang="en-US" dirty="0" err="1"/>
              <a:t>AggregatedValues.Quantity</a:t>
            </a:r>
            <a:endParaRPr lang="en-US" dirty="0"/>
          </a:p>
          <a:p>
            <a:r>
              <a:rPr lang="en-US" dirty="0"/>
              <a:t>FROM   </a:t>
            </a:r>
            <a:r>
              <a:rPr lang="en-US" dirty="0" err="1"/>
              <a:t>TestAggregation</a:t>
            </a:r>
            <a:r>
              <a:rPr lang="en-US" dirty="0"/>
              <a:t> INNER JOIN (</a:t>
            </a:r>
          </a:p>
          <a:p>
            <a:r>
              <a:rPr lang="en-US" dirty="0"/>
              <a:t>SELECT ID, SUM(Value) AS "Sum", AVG(Value) AS "</a:t>
            </a:r>
            <a:r>
              <a:rPr lang="en-US" dirty="0" err="1"/>
              <a:t>Avg</a:t>
            </a:r>
            <a:r>
              <a:rPr lang="en-US" dirty="0"/>
              <a:t>", COUNT(Value) AS "Quantity" FROM </a:t>
            </a:r>
            <a:r>
              <a:rPr lang="en-US" dirty="0" err="1"/>
              <a:t>TestAggregation</a:t>
            </a:r>
            <a:r>
              <a:rPr lang="en-US" dirty="0"/>
              <a:t> GROUP BY ID) </a:t>
            </a:r>
            <a:r>
              <a:rPr lang="en-US" dirty="0" err="1"/>
              <a:t>AggregatedValues</a:t>
            </a:r>
            <a:r>
              <a:rPr lang="en-US" dirty="0"/>
              <a:t> ON AggregatedValues.ID=TestAggregation.ID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4228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ID, Value,</a:t>
            </a:r>
          </a:p>
          <a:p>
            <a:r>
              <a:rPr lang="en-US" dirty="0"/>
              <a:t>SUM(Value) OVER() AS "Sum"</a:t>
            </a:r>
          </a:p>
          <a:p>
            <a:r>
              <a:rPr lang="en-US" dirty="0"/>
              <a:t>AVG(Value) OVER() AS "</a:t>
            </a:r>
            <a:r>
              <a:rPr lang="en-US" dirty="0" err="1"/>
              <a:t>Avg</a:t>
            </a:r>
            <a:r>
              <a:rPr lang="en-US" dirty="0"/>
              <a:t>"</a:t>
            </a:r>
          </a:p>
          <a:p>
            <a:r>
              <a:rPr lang="en-US" dirty="0"/>
              <a:t>COUNT(Value) OVER() AS "Quantity„</a:t>
            </a:r>
            <a:endParaRPr lang="ro-RO" dirty="0"/>
          </a:p>
          <a:p>
            <a:r>
              <a:rPr lang="en-US" dirty="0"/>
              <a:t>FROM </a:t>
            </a:r>
            <a:r>
              <a:rPr lang="en-US" dirty="0" err="1"/>
              <a:t>TestAggregation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3673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102</a:t>
            </a:fld>
            <a:endParaRPr lang="en-US"/>
          </a:p>
        </p:txBody>
      </p:sp>
      <p:pic>
        <p:nvPicPr>
          <p:cNvPr id="4098" name="Picture 2" descr="1378-image005.png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54478"/>
            <a:ext cx="8206984" cy="464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390366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 ID,</a:t>
            </a:r>
            <a:r>
              <a:rPr lang="ro-RO" dirty="0"/>
              <a:t> </a:t>
            </a:r>
            <a:r>
              <a:rPr lang="en-US" dirty="0"/>
              <a:t>Value,</a:t>
            </a:r>
          </a:p>
          <a:p>
            <a:r>
              <a:rPr lang="en-US" dirty="0"/>
              <a:t>SUM(Value) OVER(PARTITION BY ID) AS "Sum"</a:t>
            </a:r>
          </a:p>
          <a:p>
            <a:r>
              <a:rPr lang="en-US" dirty="0"/>
              <a:t>AVG(Value) OVER(PARTITION BY ID) AS "</a:t>
            </a:r>
            <a:r>
              <a:rPr lang="en-US" dirty="0" err="1"/>
              <a:t>Avg</a:t>
            </a:r>
            <a:r>
              <a:rPr lang="en-US" dirty="0"/>
              <a:t>"</a:t>
            </a:r>
          </a:p>
          <a:p>
            <a:r>
              <a:rPr lang="en-US" dirty="0"/>
              <a:t>COUNT(Value) OVER(PARTITION BY ID) AS "Quantity"</a:t>
            </a:r>
          </a:p>
          <a:p>
            <a:r>
              <a:rPr lang="en-US" dirty="0"/>
              <a:t>FROM </a:t>
            </a:r>
            <a:r>
              <a:rPr lang="en-US" dirty="0" err="1"/>
              <a:t>TestAggregation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87728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104</a:t>
            </a:fld>
            <a:endParaRPr lang="en-US"/>
          </a:p>
        </p:txBody>
      </p:sp>
      <p:pic>
        <p:nvPicPr>
          <p:cNvPr id="6" name="Picture 2" descr="1378-image004.png"/>
          <p:cNvPicPr>
            <a:picLocks noGrp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" y="1554479"/>
            <a:ext cx="8017779" cy="4777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3116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1554480"/>
            <a:ext cx="8085011" cy="4486656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54311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SELECT id, SUM(value) FROM </a:t>
            </a:r>
            <a:r>
              <a:rPr lang="en-US" dirty="0" err="1"/>
              <a:t>TestAggregation</a:t>
            </a:r>
            <a:r>
              <a:rPr lang="en-US" dirty="0"/>
              <a:t> GROUP BY 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	(No column name)</a:t>
            </a:r>
          </a:p>
          <a:p>
            <a:r>
              <a:rPr lang="en-US" dirty="0"/>
              <a:t>1	306.5</a:t>
            </a:r>
          </a:p>
          <a:p>
            <a:r>
              <a:rPr lang="en-US" dirty="0"/>
              <a:t>2	395.4</a:t>
            </a:r>
          </a:p>
          <a:p>
            <a:r>
              <a:rPr lang="en-US" dirty="0"/>
              <a:t>3	173.6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1536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SELECT  id, SUM(value) OVER (PARTITION BY ID) FROM </a:t>
            </a:r>
            <a:r>
              <a:rPr lang="en-US" sz="3600" dirty="0" err="1"/>
              <a:t>TestAggregation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id	(No column name)</a:t>
            </a:r>
          </a:p>
          <a:p>
            <a:r>
              <a:rPr lang="en-US" dirty="0"/>
              <a:t>1	306.5</a:t>
            </a:r>
          </a:p>
          <a:p>
            <a:r>
              <a:rPr lang="en-US" dirty="0"/>
              <a:t>1	306.5</a:t>
            </a:r>
          </a:p>
          <a:p>
            <a:r>
              <a:rPr lang="en-US" dirty="0"/>
              <a:t>1	306.5</a:t>
            </a:r>
          </a:p>
          <a:p>
            <a:r>
              <a:rPr lang="en-US" dirty="0"/>
              <a:t>2	395.4</a:t>
            </a:r>
          </a:p>
          <a:p>
            <a:r>
              <a:rPr lang="en-US" dirty="0"/>
              <a:t>2	395.4</a:t>
            </a:r>
          </a:p>
          <a:p>
            <a:r>
              <a:rPr lang="en-US" dirty="0"/>
              <a:t>2	395.4</a:t>
            </a:r>
          </a:p>
          <a:p>
            <a:r>
              <a:rPr lang="en-US" dirty="0"/>
              <a:t>2	395.4</a:t>
            </a:r>
          </a:p>
          <a:p>
            <a:r>
              <a:rPr lang="en-US" dirty="0"/>
              <a:t>3	173.6</a:t>
            </a:r>
          </a:p>
          <a:p>
            <a:r>
              <a:rPr lang="en-US" dirty="0"/>
              <a:t>3	173.6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79713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300" dirty="0"/>
              <a:t>SELECT DISTINCT id, SUM(value) OVER(PARTITION BY ID) FROM </a:t>
            </a:r>
            <a:r>
              <a:rPr lang="en-US" sz="3300" dirty="0" err="1"/>
              <a:t>TestAggregation</a:t>
            </a:r>
            <a:endParaRPr lang="en-US" sz="33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	(No column name)</a:t>
            </a:r>
          </a:p>
          <a:p>
            <a:r>
              <a:rPr lang="en-US" dirty="0"/>
              <a:t>1	306.5</a:t>
            </a:r>
          </a:p>
          <a:p>
            <a:r>
              <a:rPr lang="en-US" dirty="0"/>
              <a:t>2	395.4</a:t>
            </a:r>
          </a:p>
          <a:p>
            <a:r>
              <a:rPr lang="en-US" dirty="0"/>
              <a:t>3	173.6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20263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Windows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Aggregate functions</a:t>
            </a:r>
          </a:p>
          <a:p>
            <a:r>
              <a:rPr lang="en-US" dirty="0"/>
              <a:t>Ranking functions</a:t>
            </a:r>
          </a:p>
          <a:p>
            <a:r>
              <a:rPr lang="en-US" dirty="0"/>
              <a:t>Analytic functions</a:t>
            </a:r>
          </a:p>
          <a:p>
            <a:r>
              <a:rPr lang="en-US" dirty="0"/>
              <a:t>NEXT VALUE FOR function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66081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Windows Functions</a:t>
            </a:r>
            <a:br>
              <a:rPr lang="en-US" dirty="0"/>
            </a:br>
            <a:r>
              <a:rPr lang="en-US" dirty="0"/>
              <a:t>Aggregate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AVG</a:t>
            </a:r>
            <a:endParaRPr lang="en-US" dirty="0"/>
          </a:p>
          <a:p>
            <a:r>
              <a:rPr lang="ro-RO" dirty="0"/>
              <a:t>SUM</a:t>
            </a:r>
            <a:endParaRPr lang="en-US" dirty="0"/>
          </a:p>
          <a:p>
            <a:r>
              <a:rPr lang="ro-RO" dirty="0"/>
              <a:t>COUNT</a:t>
            </a:r>
            <a:endParaRPr lang="en-US" dirty="0"/>
          </a:p>
          <a:p>
            <a:pPr lvl="1"/>
            <a:r>
              <a:rPr lang="ro-RO" dirty="0"/>
              <a:t>COUNT_BIG</a:t>
            </a:r>
            <a:r>
              <a:rPr lang="en-US" dirty="0"/>
              <a:t> (returns </a:t>
            </a:r>
            <a:r>
              <a:rPr lang="en-US" dirty="0" err="1"/>
              <a:t>BigInt</a:t>
            </a:r>
            <a:r>
              <a:rPr lang="en-US" dirty="0"/>
              <a:t>)</a:t>
            </a:r>
            <a:endParaRPr lang="ro-RO" dirty="0"/>
          </a:p>
          <a:p>
            <a:r>
              <a:rPr lang="ro-RO" dirty="0"/>
              <a:t>MIN</a:t>
            </a:r>
            <a:endParaRPr lang="en-US" dirty="0"/>
          </a:p>
          <a:p>
            <a:r>
              <a:rPr lang="ro-RO" dirty="0"/>
              <a:t>MAX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39737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Windows Functions</a:t>
            </a:r>
            <a:br>
              <a:rPr lang="en-US" dirty="0"/>
            </a:br>
            <a:r>
              <a:rPr lang="en-US" dirty="0"/>
              <a:t>Aggregate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CHECKSUM_AGG</a:t>
            </a:r>
            <a:r>
              <a:rPr lang="en-US" dirty="0"/>
              <a:t> - checksum of values in group</a:t>
            </a:r>
            <a:endParaRPr lang="ro-RO" dirty="0"/>
          </a:p>
          <a:p>
            <a:r>
              <a:rPr lang="ro-RO" dirty="0"/>
              <a:t>STDEV</a:t>
            </a:r>
            <a:r>
              <a:rPr lang="en-US" dirty="0"/>
              <a:t>, STDEVP - statistical standard deviation of all values in group</a:t>
            </a:r>
            <a:endParaRPr lang="ro-RO" dirty="0"/>
          </a:p>
          <a:p>
            <a:r>
              <a:rPr lang="ro-RO" dirty="0"/>
              <a:t>VAR</a:t>
            </a:r>
            <a:r>
              <a:rPr lang="en-US" dirty="0"/>
              <a:t>, </a:t>
            </a:r>
            <a:r>
              <a:rPr lang="ro-RO" dirty="0"/>
              <a:t>VARP</a:t>
            </a:r>
            <a:r>
              <a:rPr lang="en-US" dirty="0"/>
              <a:t> - statistical variance of all values in group</a:t>
            </a:r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15071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Windows Functions</a:t>
            </a:r>
            <a:br>
              <a:rPr lang="en-US" dirty="0"/>
            </a:br>
            <a:r>
              <a:rPr lang="en-US" dirty="0"/>
              <a:t>Aggregate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GROUPING - indicates whether specified column expression in GROUP BY list is aggregated or not</a:t>
            </a:r>
          </a:p>
          <a:p>
            <a:r>
              <a:rPr lang="en-US" dirty="0"/>
              <a:t>returns 1 for aggregated or 0 for not aggregated</a:t>
            </a:r>
          </a:p>
          <a:p>
            <a:r>
              <a:rPr lang="en-US" dirty="0"/>
              <a:t>can be used only in SELECT &lt;select&gt; list, HAVING, and ORDER BY clauses when GROUP BY is specified</a:t>
            </a:r>
          </a:p>
          <a:p>
            <a:r>
              <a:rPr lang="en-US" dirty="0"/>
              <a:t>GROUPING_ID - computes level of grouping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6396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SELECT </a:t>
            </a:r>
            <a:r>
              <a:rPr lang="en-US" dirty="0" err="1"/>
              <a:t>deptno</a:t>
            </a:r>
            <a:r>
              <a:rPr lang="en-US" dirty="0"/>
              <a:t>, </a:t>
            </a:r>
            <a:r>
              <a:rPr lang="en-US" dirty="0" err="1"/>
              <a:t>ename</a:t>
            </a:r>
            <a:r>
              <a:rPr lang="en-US" dirty="0"/>
              <a:t>, </a:t>
            </a:r>
            <a:r>
              <a:rPr lang="en-US" dirty="0" err="1"/>
              <a:t>sal</a:t>
            </a:r>
            <a:r>
              <a:rPr lang="en-US" dirty="0"/>
              <a:t>  </a:t>
            </a:r>
          </a:p>
          <a:p>
            <a:r>
              <a:rPr lang="en-US" dirty="0"/>
              <a:t>,ROW_NUMBER() OVER (ORDER BY </a:t>
            </a:r>
            <a:r>
              <a:rPr lang="en-US" dirty="0" err="1"/>
              <a:t>deptno</a:t>
            </a:r>
            <a:r>
              <a:rPr lang="en-US" dirty="0"/>
              <a:t>, </a:t>
            </a:r>
            <a:r>
              <a:rPr lang="en-US" dirty="0" err="1"/>
              <a:t>ename</a:t>
            </a:r>
            <a:r>
              <a:rPr lang="en-US" dirty="0"/>
              <a:t>) AS "Row Number“</a:t>
            </a:r>
          </a:p>
          <a:p>
            <a:r>
              <a:rPr lang="en-US" dirty="0"/>
              <a:t>,RANK() OVER (ORDER BY </a:t>
            </a:r>
            <a:r>
              <a:rPr lang="en-US" dirty="0" err="1"/>
              <a:t>sal</a:t>
            </a:r>
            <a:r>
              <a:rPr lang="en-US" dirty="0"/>
              <a:t>) AS Rank</a:t>
            </a:r>
          </a:p>
          <a:p>
            <a:r>
              <a:rPr lang="en-US" dirty="0"/>
              <a:t>,DENSE_RANK() OVER (ORDER BY </a:t>
            </a:r>
            <a:r>
              <a:rPr lang="en-US" dirty="0" err="1"/>
              <a:t>sal</a:t>
            </a:r>
            <a:r>
              <a:rPr lang="en-US" dirty="0"/>
              <a:t>) AS "Dense Rank“</a:t>
            </a:r>
          </a:p>
          <a:p>
            <a:r>
              <a:rPr lang="en-US" dirty="0"/>
              <a:t>,NTILE(4) OVER (ORDER BY </a:t>
            </a:r>
            <a:r>
              <a:rPr lang="en-US" dirty="0" err="1"/>
              <a:t>deptno</a:t>
            </a:r>
            <a:r>
              <a:rPr lang="en-US" dirty="0"/>
              <a:t>, </a:t>
            </a:r>
            <a:r>
              <a:rPr lang="en-US" dirty="0" err="1"/>
              <a:t>ename</a:t>
            </a:r>
            <a:r>
              <a:rPr lang="en-US" dirty="0"/>
              <a:t>) AS Quartile</a:t>
            </a:r>
          </a:p>
          <a:p>
            <a:r>
              <a:rPr lang="en-US" dirty="0"/>
              <a:t>FROM EMP order by </a:t>
            </a:r>
            <a:r>
              <a:rPr lang="en-US" dirty="0" err="1"/>
              <a:t>deptno</a:t>
            </a:r>
            <a:r>
              <a:rPr lang="en-US" dirty="0"/>
              <a:t>, </a:t>
            </a:r>
            <a:r>
              <a:rPr lang="en-US" dirty="0" err="1"/>
              <a:t>ename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65075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FROM EMP order by </a:t>
            </a:r>
            <a:r>
              <a:rPr lang="en-US" dirty="0" err="1"/>
              <a:t>deptno</a:t>
            </a:r>
            <a:r>
              <a:rPr lang="en-US" dirty="0"/>
              <a:t>, </a:t>
            </a:r>
            <a:r>
              <a:rPr lang="en-US" dirty="0" err="1"/>
              <a:t>ename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err="1"/>
              <a:t>deptno</a:t>
            </a:r>
            <a:r>
              <a:rPr lang="en-US" dirty="0"/>
              <a:t>   </a:t>
            </a:r>
            <a:r>
              <a:rPr lang="en-US" dirty="0" err="1"/>
              <a:t>ename</a:t>
            </a:r>
            <a:r>
              <a:rPr lang="en-US" dirty="0"/>
              <a:t>   </a:t>
            </a:r>
            <a:r>
              <a:rPr lang="en-US" dirty="0" err="1"/>
              <a:t>sal</a:t>
            </a:r>
            <a:r>
              <a:rPr lang="en-US" dirty="0"/>
              <a:t>   Row Number   Rank   Dense Rank   Quartile</a:t>
            </a:r>
          </a:p>
          <a:p>
            <a:r>
              <a:rPr lang="en-US" dirty="0"/>
              <a:t>10	CLARK	2450.00	1	9	8	1</a:t>
            </a:r>
          </a:p>
          <a:p>
            <a:r>
              <a:rPr lang="en-US" dirty="0"/>
              <a:t>10	KING	5000.00	2	14	12	1</a:t>
            </a:r>
          </a:p>
          <a:p>
            <a:r>
              <a:rPr lang="en-US" dirty="0"/>
              <a:t>10	MILLER	1300.00	3	6	5	1</a:t>
            </a:r>
          </a:p>
          <a:p>
            <a:r>
              <a:rPr lang="en-US" dirty="0"/>
              <a:t>20	ADAMS	1100.00	4	3	3	1</a:t>
            </a:r>
          </a:p>
          <a:p>
            <a:r>
              <a:rPr lang="en-US" dirty="0"/>
              <a:t>20	FORD	3000.00	5	12	11	2</a:t>
            </a:r>
          </a:p>
          <a:p>
            <a:r>
              <a:rPr lang="en-US" dirty="0"/>
              <a:t>20	JONES	2975.00	6	11	10	2</a:t>
            </a:r>
          </a:p>
          <a:p>
            <a:r>
              <a:rPr lang="en-US" dirty="0"/>
              <a:t>20	SCOTT	3000.00	7	12	11	2</a:t>
            </a:r>
          </a:p>
          <a:p>
            <a:r>
              <a:rPr lang="en-US" dirty="0"/>
              <a:t>20	SMITH	800.00	8	1	1	2</a:t>
            </a:r>
          </a:p>
          <a:p>
            <a:r>
              <a:rPr lang="en-US" dirty="0"/>
              <a:t>30	ALLEN	1600.00	9	8	7	3</a:t>
            </a:r>
          </a:p>
          <a:p>
            <a:r>
              <a:rPr lang="en-US" dirty="0"/>
              <a:t>30	BLAKE	2850.00	10	10	9	3</a:t>
            </a:r>
          </a:p>
          <a:p>
            <a:r>
              <a:rPr lang="en-US" dirty="0"/>
              <a:t>30	JAMES	950.00	11	2	2	3</a:t>
            </a:r>
          </a:p>
          <a:p>
            <a:r>
              <a:rPr lang="en-US" dirty="0"/>
              <a:t>30	MARTIN	1250.00	12	4	4	4</a:t>
            </a:r>
          </a:p>
          <a:p>
            <a:r>
              <a:rPr lang="en-US" dirty="0"/>
              <a:t>30	TURNER	1500.00	13	7	6	4</a:t>
            </a:r>
          </a:p>
          <a:p>
            <a:r>
              <a:rPr lang="en-US" dirty="0"/>
              <a:t>30	WARD	1250.00	14	4	4	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41612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EMP order by </a:t>
            </a:r>
            <a:r>
              <a:rPr lang="en-US" dirty="0" err="1"/>
              <a:t>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err="1"/>
              <a:t>deptno</a:t>
            </a:r>
            <a:r>
              <a:rPr lang="en-US" dirty="0"/>
              <a:t>   </a:t>
            </a:r>
            <a:r>
              <a:rPr lang="en-US" dirty="0" err="1"/>
              <a:t>ename</a:t>
            </a:r>
            <a:r>
              <a:rPr lang="en-US" dirty="0"/>
              <a:t>   </a:t>
            </a:r>
            <a:r>
              <a:rPr lang="en-US" dirty="0" err="1"/>
              <a:t>sal</a:t>
            </a:r>
            <a:r>
              <a:rPr lang="en-US" dirty="0"/>
              <a:t>   Row Number   Rank   Dense Rank   Quartile</a:t>
            </a:r>
          </a:p>
          <a:p>
            <a:r>
              <a:rPr lang="en-US" dirty="0"/>
              <a:t>20	SMITH	800.00	8	1	1	2</a:t>
            </a:r>
          </a:p>
          <a:p>
            <a:r>
              <a:rPr lang="en-US" dirty="0"/>
              <a:t>30	JAMES	950.00	11	2	2	3</a:t>
            </a:r>
          </a:p>
          <a:p>
            <a:r>
              <a:rPr lang="en-US" dirty="0"/>
              <a:t>20	ADAMS	1100.00	4	3	3	1</a:t>
            </a:r>
          </a:p>
          <a:p>
            <a:r>
              <a:rPr lang="en-US" dirty="0"/>
              <a:t>30	MARTIN	1250.00	12	4	4	4</a:t>
            </a:r>
          </a:p>
          <a:p>
            <a:r>
              <a:rPr lang="en-US" dirty="0"/>
              <a:t>30	WARD	1250.00	14	4	4	4</a:t>
            </a:r>
          </a:p>
          <a:p>
            <a:r>
              <a:rPr lang="en-US" dirty="0"/>
              <a:t>10	MILLER	1300.00	3	6	5	1</a:t>
            </a:r>
          </a:p>
          <a:p>
            <a:r>
              <a:rPr lang="en-US" dirty="0"/>
              <a:t>30	TURNER	1500.00	13	7	6	4</a:t>
            </a:r>
          </a:p>
          <a:p>
            <a:r>
              <a:rPr lang="en-US" dirty="0"/>
              <a:t>30	ALLEN	1600.00	9	8	7	3</a:t>
            </a:r>
          </a:p>
          <a:p>
            <a:r>
              <a:rPr lang="en-US" dirty="0"/>
              <a:t>10	CLARK	2450.00	1	9	8	1</a:t>
            </a:r>
          </a:p>
          <a:p>
            <a:r>
              <a:rPr lang="en-US" dirty="0"/>
              <a:t>30	BLAKE	2850.00	10	10	9	3</a:t>
            </a:r>
          </a:p>
          <a:p>
            <a:r>
              <a:rPr lang="en-US" dirty="0"/>
              <a:t>20	JONES	2975.00	6	11	10	2</a:t>
            </a:r>
          </a:p>
          <a:p>
            <a:r>
              <a:rPr lang="en-US" dirty="0"/>
              <a:t>20	SCOTT	3000.00	7	12	11	2</a:t>
            </a:r>
          </a:p>
          <a:p>
            <a:r>
              <a:rPr lang="en-US" dirty="0"/>
              <a:t>20	FORD	3000.00	5	12	11	2</a:t>
            </a:r>
          </a:p>
          <a:p>
            <a:r>
              <a:rPr lang="en-US" dirty="0"/>
              <a:t>10	KING	5000.00	2	14	12	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3479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Row_Number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generate sequence of numbers based in set in specific order</a:t>
            </a:r>
          </a:p>
          <a:p>
            <a:r>
              <a:rPr lang="en-US" dirty="0"/>
              <a:t>returns sequence number of each row inside set in order that you specify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2801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NTILE()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used for calculating summary statistics; distributes rows within an ordered partition into specified number of “buckets” or groups</a:t>
            </a:r>
          </a:p>
          <a:p>
            <a:r>
              <a:rPr lang="en-US" dirty="0"/>
              <a:t>groups are numbered, starting at one</a:t>
            </a:r>
          </a:p>
          <a:p>
            <a:r>
              <a:rPr lang="en-US" dirty="0"/>
              <a:t>for each row, NTILE returns number of group to which row belongs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7859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Rank() &amp; </a:t>
            </a:r>
            <a:r>
              <a:rPr lang="en-US" dirty="0" err="1"/>
              <a:t>Dense_Rank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return position in ranking for each row inside partition; calculated by 1 plus number of previews rows</a:t>
            </a:r>
          </a:p>
          <a:p>
            <a:r>
              <a:rPr lang="en-US" dirty="0"/>
              <a:t>RANK returns result with gap after tie, whereas DENSE_RANK doesn’t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5345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Queries Using Common Table Expressions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recursive WITH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33285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Create Delimited List from Table Rows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052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/>
              <a:t>10 CLARK</a:t>
            </a:r>
          </a:p>
          <a:p>
            <a:r>
              <a:rPr lang="en-US" sz="2400" dirty="0"/>
              <a:t>10 KING</a:t>
            </a:r>
          </a:p>
          <a:p>
            <a:r>
              <a:rPr lang="en-US" sz="2400" dirty="0"/>
              <a:t>10 MILLER</a:t>
            </a:r>
          </a:p>
          <a:p>
            <a:r>
              <a:rPr lang="en-US" sz="2400" dirty="0"/>
              <a:t>20 SMITH</a:t>
            </a:r>
          </a:p>
          <a:p>
            <a:r>
              <a:rPr lang="en-US" sz="2400" dirty="0"/>
              <a:t>20 ADAMS</a:t>
            </a:r>
          </a:p>
          <a:p>
            <a:r>
              <a:rPr lang="en-US" sz="2400" dirty="0"/>
              <a:t>20 FORD</a:t>
            </a:r>
          </a:p>
          <a:p>
            <a:r>
              <a:rPr lang="en-US" sz="2400" dirty="0"/>
              <a:t>20 SCOTT</a:t>
            </a:r>
          </a:p>
          <a:p>
            <a:r>
              <a:rPr lang="en-US" sz="2400" dirty="0"/>
              <a:t>20 JONES</a:t>
            </a:r>
          </a:p>
          <a:p>
            <a:r>
              <a:rPr lang="en-US" sz="2400" dirty="0"/>
              <a:t>30 ALLEN</a:t>
            </a:r>
          </a:p>
          <a:p>
            <a:r>
              <a:rPr lang="en-US" sz="2400" dirty="0"/>
              <a:t>30 BLAKE</a:t>
            </a:r>
          </a:p>
          <a:p>
            <a:r>
              <a:rPr lang="en-US" sz="2400" dirty="0"/>
              <a:t>30 MARTIN</a:t>
            </a:r>
          </a:p>
          <a:p>
            <a:r>
              <a:rPr lang="en-US" sz="2400" dirty="0"/>
              <a:t>30 JAMES</a:t>
            </a:r>
          </a:p>
          <a:p>
            <a:r>
              <a:rPr lang="en-US" sz="2400" dirty="0"/>
              <a:t>30 TURNER</a:t>
            </a:r>
          </a:p>
          <a:p>
            <a:r>
              <a:rPr lang="en-US" sz="2400" dirty="0"/>
              <a:t>30 WARD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2514600" y="1600200"/>
            <a:ext cx="61722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10 CLARK, KING, MILLER</a:t>
            </a:r>
          </a:p>
          <a:p>
            <a:r>
              <a:rPr lang="en-US" dirty="0"/>
              <a:t>20 SMITH, JONES, SCOTT, ADAMS, FORD</a:t>
            </a:r>
          </a:p>
          <a:p>
            <a:r>
              <a:rPr lang="en-US" dirty="0"/>
              <a:t>30 ALLEN, WARD, MARTIN, BLAKE, TURNER, JAMES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7403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with x (</a:t>
            </a:r>
            <a:r>
              <a:rPr lang="en-US" dirty="0" err="1"/>
              <a:t>deptno</a:t>
            </a:r>
            <a:r>
              <a:rPr lang="en-US" dirty="0"/>
              <a:t>, </a:t>
            </a:r>
            <a:r>
              <a:rPr lang="en-US" dirty="0" err="1"/>
              <a:t>cnt</a:t>
            </a:r>
            <a:r>
              <a:rPr lang="en-US" dirty="0"/>
              <a:t>, list, </a:t>
            </a:r>
            <a:r>
              <a:rPr lang="en-US" dirty="0" err="1"/>
              <a:t>empno</a:t>
            </a:r>
            <a:r>
              <a:rPr lang="en-US" dirty="0"/>
              <a:t>, </a:t>
            </a:r>
            <a:r>
              <a:rPr lang="en-US" dirty="0" err="1"/>
              <a:t>len</a:t>
            </a:r>
            <a:r>
              <a:rPr lang="en-US" dirty="0"/>
              <a:t>)</a:t>
            </a:r>
          </a:p>
          <a:p>
            <a:r>
              <a:rPr lang="en-US" dirty="0"/>
              <a:t>as (</a:t>
            </a:r>
          </a:p>
          <a:p>
            <a:r>
              <a:rPr lang="en-US" dirty="0"/>
              <a:t>select </a:t>
            </a:r>
            <a:r>
              <a:rPr lang="en-US" dirty="0" err="1"/>
              <a:t>deptno</a:t>
            </a:r>
            <a:r>
              <a:rPr lang="en-US" dirty="0"/>
              <a:t>, count(*) over (partition by </a:t>
            </a:r>
            <a:r>
              <a:rPr lang="en-US" dirty="0" err="1"/>
              <a:t>deptno</a:t>
            </a:r>
            <a:r>
              <a:rPr lang="en-US" dirty="0"/>
              <a:t>),</a:t>
            </a:r>
          </a:p>
          <a:p>
            <a:r>
              <a:rPr lang="en-US" dirty="0"/>
              <a:t>cast(</a:t>
            </a:r>
            <a:r>
              <a:rPr lang="en-US" dirty="0" err="1"/>
              <a:t>ename</a:t>
            </a:r>
            <a:r>
              <a:rPr lang="en-US" dirty="0"/>
              <a:t> as varchar(100)),</a:t>
            </a:r>
          </a:p>
          <a:p>
            <a:r>
              <a:rPr lang="en-US" dirty="0" err="1"/>
              <a:t>empno</a:t>
            </a:r>
            <a:r>
              <a:rPr lang="en-US" dirty="0"/>
              <a:t>,</a:t>
            </a:r>
          </a:p>
          <a:p>
            <a:r>
              <a:rPr lang="en-US" dirty="0"/>
              <a:t>1</a:t>
            </a:r>
          </a:p>
          <a:p>
            <a:r>
              <a:rPr lang="en-US" dirty="0"/>
              <a:t>from </a:t>
            </a:r>
            <a:r>
              <a:rPr lang="en-US" dirty="0" err="1"/>
              <a:t>emp</a:t>
            </a:r>
            <a:endParaRPr lang="en-US" dirty="0"/>
          </a:p>
          <a:p>
            <a:r>
              <a:rPr lang="en-US" dirty="0"/>
              <a:t>union all</a:t>
            </a:r>
          </a:p>
          <a:p>
            <a:r>
              <a:rPr lang="en-US" dirty="0"/>
              <a:t>select </a:t>
            </a:r>
            <a:r>
              <a:rPr lang="en-US" dirty="0" err="1"/>
              <a:t>x.deptno</a:t>
            </a:r>
            <a:r>
              <a:rPr lang="en-US" dirty="0"/>
              <a:t>, </a:t>
            </a:r>
            <a:r>
              <a:rPr lang="en-US" dirty="0" err="1"/>
              <a:t>x.cnt</a:t>
            </a:r>
            <a:r>
              <a:rPr lang="en-US" dirty="0"/>
              <a:t>,</a:t>
            </a:r>
          </a:p>
          <a:p>
            <a:r>
              <a:rPr lang="en-US" dirty="0"/>
              <a:t>cast(</a:t>
            </a:r>
            <a:r>
              <a:rPr lang="en-US" dirty="0" err="1"/>
              <a:t>x.list</a:t>
            </a:r>
            <a:r>
              <a:rPr lang="en-US" dirty="0"/>
              <a:t> + ', ' + </a:t>
            </a:r>
            <a:r>
              <a:rPr lang="en-US" dirty="0" err="1"/>
              <a:t>e.ename</a:t>
            </a:r>
            <a:r>
              <a:rPr lang="en-US" dirty="0"/>
              <a:t> as varchar(100)),</a:t>
            </a:r>
          </a:p>
          <a:p>
            <a:r>
              <a:rPr lang="en-US" dirty="0" err="1"/>
              <a:t>e.empno</a:t>
            </a:r>
            <a:r>
              <a:rPr lang="en-US" dirty="0"/>
              <a:t>, x.len+1</a:t>
            </a:r>
          </a:p>
          <a:p>
            <a:r>
              <a:rPr lang="en-US" dirty="0"/>
              <a:t>from </a:t>
            </a:r>
            <a:r>
              <a:rPr lang="en-US" dirty="0" err="1"/>
              <a:t>emp</a:t>
            </a:r>
            <a:r>
              <a:rPr lang="en-US" dirty="0"/>
              <a:t> e, x</a:t>
            </a:r>
          </a:p>
          <a:p>
            <a:r>
              <a:rPr lang="en-US" dirty="0"/>
              <a:t>where </a:t>
            </a:r>
            <a:r>
              <a:rPr lang="en-US" dirty="0" err="1"/>
              <a:t>e.deptno</a:t>
            </a:r>
            <a:r>
              <a:rPr lang="en-US" dirty="0"/>
              <a:t> = </a:t>
            </a:r>
            <a:r>
              <a:rPr lang="en-US" dirty="0" err="1"/>
              <a:t>x.deptno</a:t>
            </a:r>
            <a:endParaRPr lang="en-US" dirty="0"/>
          </a:p>
          <a:p>
            <a:r>
              <a:rPr lang="en-US" dirty="0"/>
              <a:t>and </a:t>
            </a:r>
            <a:r>
              <a:rPr lang="en-US" dirty="0" err="1"/>
              <a:t>e.empno</a:t>
            </a:r>
            <a:r>
              <a:rPr lang="en-US" dirty="0"/>
              <a:t> &gt; x. </a:t>
            </a:r>
            <a:r>
              <a:rPr lang="en-US" dirty="0" err="1"/>
              <a:t>empno</a:t>
            </a:r>
            <a:endParaRPr lang="en-US" dirty="0"/>
          </a:p>
          <a:p>
            <a:r>
              <a:rPr lang="en-US" dirty="0"/>
              <a:t>)</a:t>
            </a:r>
          </a:p>
          <a:p>
            <a:r>
              <a:rPr lang="en-US" dirty="0"/>
              <a:t>select </a:t>
            </a:r>
            <a:r>
              <a:rPr lang="en-US" dirty="0" err="1"/>
              <a:t>deptno,list</a:t>
            </a:r>
            <a:endParaRPr lang="en-US" dirty="0"/>
          </a:p>
          <a:p>
            <a:r>
              <a:rPr lang="en-US" dirty="0"/>
              <a:t>from x</a:t>
            </a:r>
          </a:p>
          <a:p>
            <a:r>
              <a:rPr lang="en-US" dirty="0"/>
              <a:t>where </a:t>
            </a:r>
            <a:r>
              <a:rPr lang="en-US" dirty="0" err="1"/>
              <a:t>len</a:t>
            </a:r>
            <a:r>
              <a:rPr lang="en-US" dirty="0"/>
              <a:t> = </a:t>
            </a:r>
            <a:r>
              <a:rPr lang="en-US" dirty="0" err="1"/>
              <a:t>cnt</a:t>
            </a:r>
            <a:endParaRPr lang="en-US" dirty="0"/>
          </a:p>
          <a:p>
            <a:r>
              <a:rPr lang="en-US" dirty="0"/>
              <a:t>order by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1645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with x (</a:t>
            </a:r>
            <a:r>
              <a:rPr lang="en-US" dirty="0" err="1"/>
              <a:t>deptno</a:t>
            </a:r>
            <a:r>
              <a:rPr lang="en-US" dirty="0"/>
              <a:t>, </a:t>
            </a:r>
            <a:r>
              <a:rPr lang="en-US" dirty="0" err="1"/>
              <a:t>cnt</a:t>
            </a:r>
            <a:r>
              <a:rPr lang="en-US" dirty="0"/>
              <a:t>, list, </a:t>
            </a:r>
            <a:r>
              <a:rPr lang="en-US" dirty="0" err="1"/>
              <a:t>empno</a:t>
            </a:r>
            <a:r>
              <a:rPr lang="en-US" dirty="0"/>
              <a:t>, </a:t>
            </a:r>
            <a:r>
              <a:rPr lang="en-US" dirty="0" err="1"/>
              <a:t>len</a:t>
            </a:r>
            <a:r>
              <a:rPr lang="en-US" dirty="0"/>
              <a:t>)</a:t>
            </a:r>
          </a:p>
          <a:p>
            <a:r>
              <a:rPr lang="en-US" dirty="0"/>
              <a:t>as (select </a:t>
            </a:r>
            <a:r>
              <a:rPr lang="en-US" dirty="0" err="1"/>
              <a:t>deptno</a:t>
            </a:r>
            <a:r>
              <a:rPr lang="en-US" dirty="0"/>
              <a:t>, count(*) over (partition by </a:t>
            </a:r>
            <a:r>
              <a:rPr lang="en-US" dirty="0" err="1"/>
              <a:t>deptno</a:t>
            </a:r>
            <a:r>
              <a:rPr lang="en-US" dirty="0"/>
              <a:t>), cast(</a:t>
            </a:r>
            <a:r>
              <a:rPr lang="en-US" dirty="0" err="1"/>
              <a:t>ename</a:t>
            </a:r>
            <a:r>
              <a:rPr lang="en-US" dirty="0"/>
              <a:t> as varchar(100)), </a:t>
            </a:r>
            <a:r>
              <a:rPr lang="en-US" dirty="0" err="1"/>
              <a:t>empno</a:t>
            </a:r>
            <a:r>
              <a:rPr lang="en-US" dirty="0"/>
              <a:t>, 1</a:t>
            </a:r>
          </a:p>
          <a:p>
            <a:r>
              <a:rPr lang="en-US" dirty="0"/>
              <a:t>from </a:t>
            </a:r>
            <a:r>
              <a:rPr lang="en-US" dirty="0" err="1"/>
              <a:t>emp</a:t>
            </a:r>
            <a:endParaRPr lang="en-US" dirty="0"/>
          </a:p>
          <a:p>
            <a:r>
              <a:rPr lang="en-US" dirty="0"/>
              <a:t>union all  select </a:t>
            </a:r>
            <a:r>
              <a:rPr lang="en-US" dirty="0" err="1"/>
              <a:t>x.deptno</a:t>
            </a:r>
            <a:r>
              <a:rPr lang="en-US" dirty="0"/>
              <a:t>, </a:t>
            </a:r>
            <a:r>
              <a:rPr lang="en-US" dirty="0" err="1"/>
              <a:t>x.cnt</a:t>
            </a:r>
            <a:r>
              <a:rPr lang="en-US" dirty="0"/>
              <a:t>, cast(</a:t>
            </a:r>
            <a:r>
              <a:rPr lang="en-US" dirty="0" err="1"/>
              <a:t>x.list</a:t>
            </a:r>
            <a:r>
              <a:rPr lang="en-US" dirty="0"/>
              <a:t> + ',' + </a:t>
            </a:r>
            <a:r>
              <a:rPr lang="en-US" dirty="0" err="1"/>
              <a:t>e.ename</a:t>
            </a:r>
            <a:r>
              <a:rPr lang="en-US" dirty="0"/>
              <a:t> as varchar(100)), </a:t>
            </a:r>
            <a:r>
              <a:rPr lang="en-US" dirty="0" err="1"/>
              <a:t>e.empno</a:t>
            </a:r>
            <a:r>
              <a:rPr lang="en-US" dirty="0"/>
              <a:t>, x.len+1</a:t>
            </a:r>
          </a:p>
          <a:p>
            <a:r>
              <a:rPr lang="en-US" dirty="0"/>
              <a:t>from </a:t>
            </a:r>
            <a:r>
              <a:rPr lang="en-US" dirty="0" err="1"/>
              <a:t>emp</a:t>
            </a:r>
            <a:r>
              <a:rPr lang="en-US" dirty="0"/>
              <a:t> e, x where </a:t>
            </a:r>
            <a:r>
              <a:rPr lang="en-US" dirty="0" err="1"/>
              <a:t>e.deptno</a:t>
            </a:r>
            <a:r>
              <a:rPr lang="en-US" dirty="0"/>
              <a:t> = </a:t>
            </a:r>
            <a:r>
              <a:rPr lang="en-US" dirty="0" err="1"/>
              <a:t>x.deptno</a:t>
            </a:r>
            <a:r>
              <a:rPr lang="en-US" dirty="0"/>
              <a:t> and </a:t>
            </a:r>
            <a:r>
              <a:rPr lang="en-US" dirty="0" err="1"/>
              <a:t>e.empno</a:t>
            </a:r>
            <a:r>
              <a:rPr lang="en-US" dirty="0"/>
              <a:t> &gt; x. </a:t>
            </a:r>
            <a:r>
              <a:rPr lang="en-US" dirty="0" err="1"/>
              <a:t>empno</a:t>
            </a:r>
            <a:r>
              <a:rPr lang="en-US" dirty="0"/>
              <a:t>) </a:t>
            </a:r>
          </a:p>
          <a:p>
            <a:r>
              <a:rPr lang="en-US" dirty="0"/>
              <a:t>select </a:t>
            </a:r>
            <a:r>
              <a:rPr lang="en-US" dirty="0" err="1"/>
              <a:t>deptno</a:t>
            </a:r>
            <a:r>
              <a:rPr lang="en-US" dirty="0"/>
              <a:t>, list from x where </a:t>
            </a:r>
            <a:r>
              <a:rPr lang="en-US" dirty="0" err="1"/>
              <a:t>len</a:t>
            </a:r>
            <a:r>
              <a:rPr lang="en-US" dirty="0"/>
              <a:t> = </a:t>
            </a:r>
            <a:r>
              <a:rPr lang="en-US" dirty="0" err="1"/>
              <a:t>cnt</a:t>
            </a:r>
            <a:r>
              <a:rPr lang="en-US" dirty="0"/>
              <a:t> </a:t>
            </a:r>
          </a:p>
          <a:p>
            <a:r>
              <a:rPr lang="en-US" dirty="0"/>
              <a:t>order by </a:t>
            </a:r>
            <a:r>
              <a:rPr lang="en-US" dirty="0" err="1"/>
              <a:t>deptno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8236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first query in WITH clause (upper portion of UNION ALL) returns following information about each employee: department, number of employees in that department, name, ID and constant 1 </a:t>
            </a:r>
            <a:r>
              <a:rPr lang="en-US" sz="2800" dirty="0"/>
              <a:t>(which at this point doesn't do anything)</a:t>
            </a:r>
            <a:endParaRPr lang="en-US" dirty="0"/>
          </a:p>
          <a:p>
            <a:r>
              <a:rPr lang="en-US" dirty="0"/>
              <a:t>recursion takes place in second query (lower half of the UNION ALL) to build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85566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examine third SELECT-list item from second query in union</a:t>
            </a:r>
          </a:p>
          <a:p>
            <a:r>
              <a:rPr lang="en-US" i="1" dirty="0"/>
              <a:t>cast(</a:t>
            </a:r>
            <a:r>
              <a:rPr lang="en-US" i="1" dirty="0" err="1"/>
              <a:t>x.list</a:t>
            </a:r>
            <a:r>
              <a:rPr lang="en-US" i="1" dirty="0"/>
              <a:t> + ', ' + </a:t>
            </a:r>
            <a:r>
              <a:rPr lang="en-US" i="1" dirty="0" err="1"/>
              <a:t>e.ename</a:t>
            </a:r>
            <a:r>
              <a:rPr lang="en-US" i="1" dirty="0"/>
              <a:t> as varchar(100)), </a:t>
            </a:r>
          </a:p>
          <a:p>
            <a:r>
              <a:rPr lang="en-US" dirty="0"/>
              <a:t>and WHERE clause from that same query</a:t>
            </a:r>
          </a:p>
          <a:p>
            <a:r>
              <a:rPr lang="en-US" i="1" dirty="0"/>
              <a:t>where </a:t>
            </a:r>
            <a:r>
              <a:rPr lang="en-US" i="1" dirty="0" err="1"/>
              <a:t>e.deptno</a:t>
            </a:r>
            <a:r>
              <a:rPr lang="en-US" i="1" dirty="0"/>
              <a:t> = </a:t>
            </a:r>
            <a:r>
              <a:rPr lang="en-US" i="1" dirty="0" err="1"/>
              <a:t>x.deptno</a:t>
            </a:r>
            <a:r>
              <a:rPr lang="en-US" i="1" dirty="0"/>
              <a:t>   and </a:t>
            </a:r>
            <a:r>
              <a:rPr lang="en-US" i="1" dirty="0" err="1"/>
              <a:t>e.empno</a:t>
            </a:r>
            <a:r>
              <a:rPr lang="en-US" i="1" dirty="0"/>
              <a:t> &gt; </a:t>
            </a:r>
            <a:r>
              <a:rPr lang="en-US" i="1" dirty="0" err="1"/>
              <a:t>x.empno</a:t>
            </a:r>
            <a:endParaRPr lang="en-US" i="1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8539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solution works by first ensuring employees are in same department</a:t>
            </a:r>
          </a:p>
          <a:p>
            <a:r>
              <a:rPr lang="en-US" dirty="0"/>
              <a:t>then, for every employee returned by upper portion of UNION ALL, append name of employees who have greater EMPNO</a:t>
            </a:r>
          </a:p>
          <a:p>
            <a:pPr lvl="1"/>
            <a:r>
              <a:rPr lang="en-US" dirty="0"/>
              <a:t>ensure that no employee will have his own name appended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009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i="1" dirty="0"/>
              <a:t>x.len+1</a:t>
            </a:r>
          </a:p>
          <a:p>
            <a:r>
              <a:rPr lang="en-US" dirty="0"/>
              <a:t>increments LEN (which starts at 1) every time an employee has been evaluated; when incremented value equals number of employees in department</a:t>
            </a:r>
          </a:p>
          <a:p>
            <a:r>
              <a:rPr lang="en-US" i="1" dirty="0"/>
              <a:t>where </a:t>
            </a:r>
            <a:r>
              <a:rPr lang="en-US" i="1" dirty="0" err="1"/>
              <a:t>len</a:t>
            </a:r>
            <a:r>
              <a:rPr lang="en-US" i="1" dirty="0"/>
              <a:t> = </a:t>
            </a:r>
            <a:r>
              <a:rPr lang="en-US" i="1" dirty="0" err="1"/>
              <a:t>cnt</a:t>
            </a:r>
            <a:endParaRPr lang="en-US" i="1" dirty="0"/>
          </a:p>
          <a:p>
            <a:r>
              <a:rPr lang="en-US" dirty="0"/>
              <a:t>you know you have evaluated all employees and have completed building list</a:t>
            </a:r>
          </a:p>
          <a:p>
            <a:r>
              <a:rPr lang="en-US" dirty="0"/>
              <a:t>crucial to query, signals when list is complete, stops recursion from running longer than necessary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5960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Table Expression (CTE)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significant advantage of being able to reference itself, thereby creating recursive common table expressions</a:t>
            </a:r>
          </a:p>
          <a:p>
            <a:r>
              <a:rPr lang="en-US" dirty="0"/>
              <a:t>initial CTE is repeatedly executed to return subsets of data until complete result set is obtained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78590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use of recursive queries; for example</a:t>
            </a:r>
          </a:p>
          <a:p>
            <a:r>
              <a:rPr lang="en-US" dirty="0"/>
              <a:t>displaying employees in an organizational chart</a:t>
            </a:r>
          </a:p>
          <a:p>
            <a:r>
              <a:rPr lang="en-US" dirty="0"/>
              <a:t>data in Bill of Materials scenario in which parent product has one or more components and those components may, in turn, have subcomponents or may be components of other parents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6172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Structure of Recursive CTE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similar to recursive routines in other programming languages; although recursive routine in other languages returns scalar value</a:t>
            </a:r>
          </a:p>
          <a:p>
            <a:r>
              <a:rPr lang="en-US" dirty="0"/>
              <a:t>recursive CTE can return multiple rows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Invocation of routine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Recursive invocation of routine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Termination check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70742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Invocation of routine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first invocation of recursive CTE consists of one or more CTE query definitions joined by UNION ALL, UNION, EXCEPT, or INTERSECT operators</a:t>
            </a:r>
          </a:p>
          <a:p>
            <a:r>
              <a:rPr lang="en-US" dirty="0"/>
              <a:t>query definitions form base result set of CTE structure, they are </a:t>
            </a:r>
            <a:r>
              <a:rPr lang="en-US" i="1" dirty="0"/>
              <a:t>referred to as anchor members</a:t>
            </a:r>
            <a:r>
              <a:rPr lang="en-US" dirty="0"/>
              <a:t>, unless they reference CTE itself</a:t>
            </a:r>
          </a:p>
          <a:p>
            <a:r>
              <a:rPr lang="en-US" dirty="0"/>
              <a:t>anchor-member query definitions must be positioned before first recursive member definition, and UNION ALL operator must be used to join last anchor member with first recursive member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79277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Recursive invocation of routine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includes one or more CTE query definitions joined by UNION ALL operators that reference CTE itself</a:t>
            </a:r>
          </a:p>
          <a:p>
            <a:r>
              <a:rPr lang="en-US" dirty="0"/>
              <a:t>these query definitions are </a:t>
            </a:r>
            <a:r>
              <a:rPr lang="en-US" i="1" dirty="0"/>
              <a:t>referred to as recursive members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69497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Termination check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implicit - recursion stops when no rows are returned from previous invocation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8699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Recursive CTE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WITH </a:t>
            </a:r>
            <a:r>
              <a:rPr lang="en-US" dirty="0" err="1"/>
              <a:t>cte_name</a:t>
            </a:r>
            <a:r>
              <a:rPr lang="en-US" dirty="0"/>
              <a:t> ( </a:t>
            </a:r>
            <a:r>
              <a:rPr lang="en-US" dirty="0" err="1"/>
              <a:t>column_name</a:t>
            </a:r>
            <a:r>
              <a:rPr lang="en-US" dirty="0"/>
              <a:t> [,...n] )</a:t>
            </a:r>
          </a:p>
          <a:p>
            <a:r>
              <a:rPr lang="en-US" dirty="0"/>
              <a:t>AS</a:t>
            </a:r>
          </a:p>
          <a:p>
            <a:r>
              <a:rPr lang="en-US" dirty="0"/>
              <a:t>( </a:t>
            </a:r>
          </a:p>
          <a:p>
            <a:r>
              <a:rPr lang="en-US" dirty="0"/>
              <a:t>CTE query definition - anchor member is defined</a:t>
            </a:r>
          </a:p>
          <a:p>
            <a:r>
              <a:rPr lang="en-US" dirty="0"/>
              <a:t>UNION ALL</a:t>
            </a:r>
          </a:p>
          <a:p>
            <a:r>
              <a:rPr lang="en-US" dirty="0"/>
              <a:t>CTE query definition - recursive member is defined referencing </a:t>
            </a:r>
            <a:r>
              <a:rPr lang="en-US" dirty="0" err="1"/>
              <a:t>cte_name</a:t>
            </a:r>
            <a:endParaRPr lang="en-US" dirty="0"/>
          </a:p>
          <a:p>
            <a:r>
              <a:rPr lang="en-US" dirty="0"/>
              <a:t>) -- Statement using CTE</a:t>
            </a:r>
          </a:p>
          <a:p>
            <a:r>
              <a:rPr lang="en-US" dirty="0"/>
              <a:t>SELECT * FROM </a:t>
            </a:r>
            <a:r>
              <a:rPr lang="en-US" dirty="0" err="1"/>
              <a:t>cte_name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2014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split CTE expression into anchor and recursive members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run anchor member(s) creating first invocation or base result set (T</a:t>
            </a:r>
            <a:r>
              <a:rPr lang="en-US" baseline="-25000" dirty="0"/>
              <a:t>0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run recursive member(s) with T</a:t>
            </a:r>
            <a:r>
              <a:rPr lang="en-US" baseline="-25000" dirty="0"/>
              <a:t>i</a:t>
            </a:r>
            <a:r>
              <a:rPr lang="en-US" dirty="0"/>
              <a:t> as input and T</a:t>
            </a:r>
            <a:r>
              <a:rPr lang="en-US" baseline="-25000" dirty="0"/>
              <a:t>i+1</a:t>
            </a:r>
            <a:r>
              <a:rPr lang="en-US" dirty="0"/>
              <a:t> as output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repeat step 3 until empty set is returned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return result set - UNION ALL of T</a:t>
            </a:r>
            <a:r>
              <a:rPr lang="en-US" baseline="-25000" dirty="0"/>
              <a:t>0</a:t>
            </a:r>
            <a:r>
              <a:rPr lang="en-US" dirty="0"/>
              <a:t> to </a:t>
            </a:r>
            <a:r>
              <a:rPr lang="en-US" dirty="0" err="1"/>
              <a:t>T</a:t>
            </a:r>
            <a:r>
              <a:rPr lang="en-US" baseline="-25000" dirty="0" err="1"/>
              <a:t>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56019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Anchor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err="1"/>
              <a:t>deptno</a:t>
            </a:r>
            <a:r>
              <a:rPr lang="en-US" dirty="0"/>
              <a:t>	</a:t>
            </a:r>
            <a:r>
              <a:rPr lang="en-US" dirty="0" err="1"/>
              <a:t>cnt</a:t>
            </a:r>
            <a:r>
              <a:rPr lang="en-US" dirty="0"/>
              <a:t>	list	</a:t>
            </a:r>
            <a:r>
              <a:rPr lang="en-US" dirty="0" err="1"/>
              <a:t>empno</a:t>
            </a:r>
            <a:r>
              <a:rPr lang="en-US" dirty="0"/>
              <a:t>	</a:t>
            </a:r>
            <a:r>
              <a:rPr lang="en-US" dirty="0" err="1"/>
              <a:t>len</a:t>
            </a:r>
            <a:endParaRPr lang="en-US" dirty="0"/>
          </a:p>
          <a:p>
            <a:r>
              <a:rPr lang="en-US" dirty="0"/>
              <a:t>10	3	CLARK	7782	1</a:t>
            </a:r>
          </a:p>
          <a:p>
            <a:r>
              <a:rPr lang="en-US" dirty="0"/>
              <a:t>10	3	KING	7839	1</a:t>
            </a:r>
          </a:p>
          <a:p>
            <a:r>
              <a:rPr lang="en-US" dirty="0"/>
              <a:t>10	3	MILLER	7934	1</a:t>
            </a:r>
          </a:p>
          <a:p>
            <a:r>
              <a:rPr lang="en-US" dirty="0"/>
              <a:t>20	5	FORD	7902	1</a:t>
            </a:r>
          </a:p>
          <a:p>
            <a:r>
              <a:rPr lang="en-US" dirty="0"/>
              <a:t>20	5	ADAMS	7876	1</a:t>
            </a:r>
          </a:p>
          <a:p>
            <a:r>
              <a:rPr lang="en-US" dirty="0"/>
              <a:t>20	5	SCOTT	7788	1</a:t>
            </a:r>
          </a:p>
          <a:p>
            <a:r>
              <a:rPr lang="en-US" dirty="0"/>
              <a:t>20	5	SMITH	7369	1</a:t>
            </a:r>
          </a:p>
          <a:p>
            <a:r>
              <a:rPr lang="en-US" dirty="0"/>
              <a:t>20	5	JONES	7566	1</a:t>
            </a:r>
          </a:p>
          <a:p>
            <a:r>
              <a:rPr lang="en-US" dirty="0"/>
              <a:t>30	6	MARTIN	7654	1</a:t>
            </a:r>
          </a:p>
          <a:p>
            <a:r>
              <a:rPr lang="en-US" dirty="0"/>
              <a:t>30	6	BLAKE	7698	1</a:t>
            </a:r>
          </a:p>
          <a:p>
            <a:r>
              <a:rPr lang="en-US" dirty="0"/>
              <a:t>30	6	ALLEN	7499	1</a:t>
            </a:r>
          </a:p>
          <a:p>
            <a:r>
              <a:rPr lang="en-US" dirty="0"/>
              <a:t>30	6	WARD	7521	1</a:t>
            </a:r>
          </a:p>
          <a:p>
            <a:r>
              <a:rPr lang="en-US" dirty="0"/>
              <a:t>30	6	TURNER	7844	1</a:t>
            </a:r>
          </a:p>
          <a:p>
            <a:r>
              <a:rPr lang="en-US" dirty="0"/>
              <a:t>30	6	JAMES	7900	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8584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Recursive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Anchor UNION ALL </a:t>
            </a:r>
          </a:p>
          <a:p>
            <a:r>
              <a:rPr lang="en-US" dirty="0" err="1"/>
              <a:t>deptno</a:t>
            </a:r>
            <a:r>
              <a:rPr lang="en-US" dirty="0"/>
              <a:t>	</a:t>
            </a:r>
            <a:r>
              <a:rPr lang="en-US" dirty="0" err="1"/>
              <a:t>cnt</a:t>
            </a:r>
            <a:r>
              <a:rPr lang="en-US" dirty="0"/>
              <a:t>	list	</a:t>
            </a:r>
            <a:r>
              <a:rPr lang="en-US" dirty="0" err="1"/>
              <a:t>empno</a:t>
            </a:r>
            <a:r>
              <a:rPr lang="en-US" dirty="0"/>
              <a:t>	</a:t>
            </a:r>
            <a:r>
              <a:rPr lang="en-US" dirty="0" err="1"/>
              <a:t>len</a:t>
            </a:r>
            <a:endParaRPr lang="en-US" dirty="0"/>
          </a:p>
          <a:p>
            <a:r>
              <a:rPr lang="en-US" dirty="0"/>
              <a:t>10	3	CLARK, KING	7839	2</a:t>
            </a:r>
          </a:p>
          <a:p>
            <a:r>
              <a:rPr lang="en-US" dirty="0"/>
              <a:t>10	3	CLARK, MILLER	7934	2</a:t>
            </a:r>
          </a:p>
          <a:p>
            <a:r>
              <a:rPr lang="en-US" dirty="0"/>
              <a:t>10	3	KING, MILLER	7934	2</a:t>
            </a:r>
          </a:p>
          <a:p>
            <a:r>
              <a:rPr lang="en-US" dirty="0"/>
              <a:t>20	5	ADAMS, FORD	7902	2</a:t>
            </a:r>
          </a:p>
          <a:p>
            <a:r>
              <a:rPr lang="en-US" dirty="0"/>
              <a:t>20	5	SCOTT, ADAMS	7876	2</a:t>
            </a:r>
          </a:p>
          <a:p>
            <a:r>
              <a:rPr lang="en-US" dirty="0"/>
              <a:t>20	5	SCOTT, FORD	7902	2</a:t>
            </a:r>
          </a:p>
          <a:p>
            <a:r>
              <a:rPr lang="en-US" dirty="0"/>
              <a:t>20	5	SMITH, JONES	7566	2</a:t>
            </a:r>
          </a:p>
          <a:p>
            <a:r>
              <a:rPr lang="en-US" dirty="0"/>
              <a:t>20	5	SMITH, SCOTT	7788	2</a:t>
            </a:r>
          </a:p>
          <a:p>
            <a:r>
              <a:rPr lang="en-US" dirty="0"/>
              <a:t>20	5	SMITH, ADAMS	7876	2</a:t>
            </a:r>
          </a:p>
          <a:p>
            <a:r>
              <a:rPr lang="en-US" dirty="0"/>
              <a:t>20	5	SMITH, FORD	7902	2</a:t>
            </a:r>
          </a:p>
          <a:p>
            <a:r>
              <a:rPr lang="en-US" dirty="0"/>
              <a:t>20	5	JONES, SCOTT	7788	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9668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Recursive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20	5	JONES, ADAMS	7876	2</a:t>
            </a:r>
          </a:p>
          <a:p>
            <a:r>
              <a:rPr lang="en-US" dirty="0"/>
              <a:t>20	5	JONES, FORD	7902	2</a:t>
            </a:r>
          </a:p>
          <a:p>
            <a:r>
              <a:rPr lang="en-US" dirty="0"/>
              <a:t>30	6	MARTIN, BLAKE	7698	2</a:t>
            </a:r>
          </a:p>
          <a:p>
            <a:r>
              <a:rPr lang="en-US" dirty="0"/>
              <a:t>30	6	MARTIN, TURNER	7844	2</a:t>
            </a:r>
          </a:p>
          <a:p>
            <a:r>
              <a:rPr lang="en-US" dirty="0"/>
              <a:t>30	6	MARTIN, JAMES	7900	2</a:t>
            </a:r>
          </a:p>
          <a:p>
            <a:r>
              <a:rPr lang="en-US" dirty="0"/>
              <a:t>30	6	BLAKE, TURNER	7844	2</a:t>
            </a:r>
          </a:p>
          <a:p>
            <a:r>
              <a:rPr lang="en-US" dirty="0"/>
              <a:t>30	6	BLAKE, JAMES	7900	2</a:t>
            </a:r>
          </a:p>
          <a:p>
            <a:r>
              <a:rPr lang="en-US" dirty="0"/>
              <a:t>30	6	ALLEN, WARD	7521	2</a:t>
            </a:r>
          </a:p>
          <a:p>
            <a:r>
              <a:rPr lang="en-US" dirty="0"/>
              <a:t>30	6	ALLEN, MARTIN	7654	2</a:t>
            </a:r>
          </a:p>
          <a:p>
            <a:r>
              <a:rPr lang="en-US" dirty="0"/>
              <a:t>30	6	ALLEN, BLAKE	7698	2</a:t>
            </a:r>
          </a:p>
          <a:p>
            <a:r>
              <a:rPr lang="en-US" dirty="0"/>
              <a:t>30	6	ALLEN, TURNER	7844	2</a:t>
            </a:r>
          </a:p>
          <a:p>
            <a:r>
              <a:rPr lang="en-US" dirty="0"/>
              <a:t>30	6	ALLEN, JAMES	7900	2</a:t>
            </a:r>
          </a:p>
          <a:p>
            <a:r>
              <a:rPr lang="en-US" dirty="0"/>
              <a:t>30	6	WARD, MARTIN	7654	2</a:t>
            </a:r>
          </a:p>
          <a:p>
            <a:r>
              <a:rPr lang="en-US" dirty="0"/>
              <a:t>30	6	WARD, BLAKE	7698	2</a:t>
            </a:r>
          </a:p>
          <a:p>
            <a:r>
              <a:rPr lang="en-US" dirty="0"/>
              <a:t>30	6	WARD, TURNER	7844	2</a:t>
            </a:r>
          </a:p>
          <a:p>
            <a:r>
              <a:rPr lang="en-US" dirty="0"/>
              <a:t>30	6	WARD, JAMES	7900	2</a:t>
            </a:r>
          </a:p>
          <a:p>
            <a:r>
              <a:rPr lang="en-US" dirty="0"/>
              <a:t>30	6	TURNER, JAMES	7900	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051342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Recursive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Anchor UNION ALL 1. Recursive UNION ALL</a:t>
            </a:r>
          </a:p>
          <a:p>
            <a:r>
              <a:rPr lang="en-US" dirty="0" err="1"/>
              <a:t>deptno</a:t>
            </a:r>
            <a:r>
              <a:rPr lang="en-US" dirty="0"/>
              <a:t>	</a:t>
            </a:r>
            <a:r>
              <a:rPr lang="en-US" dirty="0" err="1"/>
              <a:t>cnt</a:t>
            </a:r>
            <a:r>
              <a:rPr lang="en-US" dirty="0"/>
              <a:t>	list	</a:t>
            </a:r>
            <a:r>
              <a:rPr lang="en-US" dirty="0" err="1"/>
              <a:t>empno</a:t>
            </a:r>
            <a:r>
              <a:rPr lang="en-US" dirty="0"/>
              <a:t>	</a:t>
            </a:r>
            <a:r>
              <a:rPr lang="en-US" dirty="0" err="1"/>
              <a:t>cnt</a:t>
            </a:r>
            <a:endParaRPr lang="en-US" dirty="0"/>
          </a:p>
          <a:p>
            <a:r>
              <a:rPr lang="en-US" dirty="0"/>
              <a:t>10	3	CLARK, KING, MILLER	7934	3</a:t>
            </a:r>
          </a:p>
          <a:p>
            <a:r>
              <a:rPr lang="en-US" dirty="0"/>
              <a:t>20	5	SCOTT, ADAMS, FORD	7902	3</a:t>
            </a:r>
          </a:p>
          <a:p>
            <a:r>
              <a:rPr lang="en-US" dirty="0"/>
              <a:t>20	5	SMITH, JONES, SCOTT	7788	3</a:t>
            </a:r>
          </a:p>
          <a:p>
            <a:r>
              <a:rPr lang="en-US" dirty="0"/>
              <a:t>20	5	SMITH, JONES, ADAMS	7876	3</a:t>
            </a:r>
          </a:p>
          <a:p>
            <a:r>
              <a:rPr lang="en-US" dirty="0"/>
              <a:t>20	5	SMITH, SCOTT, ADAMS	7876	3</a:t>
            </a:r>
          </a:p>
          <a:p>
            <a:r>
              <a:rPr lang="en-US" dirty="0"/>
              <a:t>20	5	SMITH, JONES, FORD	7902	3</a:t>
            </a:r>
          </a:p>
          <a:p>
            <a:r>
              <a:rPr lang="en-US" dirty="0"/>
              <a:t>20	5	SMITH, SCOTT, FORD	7902	3</a:t>
            </a:r>
          </a:p>
          <a:p>
            <a:r>
              <a:rPr lang="en-US" dirty="0"/>
              <a:t>20	5	SMITH, ADAMS, FORD	7902	3</a:t>
            </a:r>
          </a:p>
          <a:p>
            <a:r>
              <a:rPr lang="en-US" dirty="0"/>
              <a:t>20	5	JONES, SCOTT, ADAMS	7876	3</a:t>
            </a:r>
          </a:p>
          <a:p>
            <a:r>
              <a:rPr lang="en-US" dirty="0"/>
              <a:t>20	5	JONES, SCOTT, FORD	7902	3</a:t>
            </a:r>
          </a:p>
          <a:p>
            <a:r>
              <a:rPr lang="en-US" dirty="0"/>
              <a:t>20	5	JONES, ADAMS, FORD	7902	3</a:t>
            </a:r>
          </a:p>
          <a:p>
            <a:r>
              <a:rPr lang="en-US" dirty="0"/>
              <a:t>30	6	MARTIN, BLAKE, JAMES	7900	3</a:t>
            </a:r>
          </a:p>
          <a:p>
            <a:r>
              <a:rPr lang="en-US" dirty="0"/>
              <a:t>30	6	MARTIN, TURNER, JAMES	7900	3</a:t>
            </a:r>
          </a:p>
          <a:p>
            <a:r>
              <a:rPr lang="en-US" dirty="0"/>
              <a:t>30	6	MARTIN, BLAKE, TURNER	7844	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8163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Recursive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30	6	BLAKE, TURNER, JAMES	7900	3</a:t>
            </a:r>
          </a:p>
          <a:p>
            <a:r>
              <a:rPr lang="en-US" sz="1400" dirty="0"/>
              <a:t>30	6	ALLEN, WARD, MARTIN	7654	3</a:t>
            </a:r>
          </a:p>
          <a:p>
            <a:r>
              <a:rPr lang="en-US" sz="1400" dirty="0"/>
              <a:t>30	6	ALLEN, WARD, BLAKE	7698	3</a:t>
            </a:r>
          </a:p>
          <a:p>
            <a:r>
              <a:rPr lang="en-US" sz="1400" dirty="0"/>
              <a:t>30	6	ALLEN, MARTIN, BLAKE	7698	3</a:t>
            </a:r>
          </a:p>
          <a:p>
            <a:r>
              <a:rPr lang="en-US" sz="1400" dirty="0"/>
              <a:t>30	6	ALLEN, MARTIN, JAMES	7900	3</a:t>
            </a:r>
          </a:p>
          <a:p>
            <a:r>
              <a:rPr lang="en-US" sz="1400" dirty="0"/>
              <a:t>30	6	ALLEN, BLAKE, JAMES	7900	3</a:t>
            </a:r>
          </a:p>
          <a:p>
            <a:r>
              <a:rPr lang="en-US" sz="1400" dirty="0"/>
              <a:t>30	6	ALLEN, TURNER, JAMES	7900	3</a:t>
            </a:r>
          </a:p>
          <a:p>
            <a:r>
              <a:rPr lang="en-US" sz="1400" dirty="0"/>
              <a:t>30	6	ALLEN, WARD, TURNER	7844	3</a:t>
            </a:r>
          </a:p>
          <a:p>
            <a:r>
              <a:rPr lang="en-US" sz="1400" dirty="0"/>
              <a:t>30	6	ALLEN, MARTIN, TURNER	7844	3</a:t>
            </a:r>
          </a:p>
          <a:p>
            <a:r>
              <a:rPr lang="en-US" sz="1400" dirty="0"/>
              <a:t>30	6	ALLEN, BLAKE, TURNER	7844	3</a:t>
            </a:r>
          </a:p>
          <a:p>
            <a:r>
              <a:rPr lang="en-US" sz="1400" dirty="0"/>
              <a:t>30	6	ALLEN, WARD, JAMES	7900	3</a:t>
            </a:r>
          </a:p>
          <a:p>
            <a:r>
              <a:rPr lang="en-US" sz="1400" dirty="0"/>
              <a:t>30	6	WARD, MARTIN, BLAKE	7698	3</a:t>
            </a:r>
          </a:p>
          <a:p>
            <a:r>
              <a:rPr lang="en-US" sz="1400" dirty="0"/>
              <a:t>30	6	WARD, MARTIN, JAMES	7900	3</a:t>
            </a:r>
          </a:p>
          <a:p>
            <a:r>
              <a:rPr lang="en-US" sz="1400" dirty="0"/>
              <a:t>30	6	WARD, BLAKE, JAMES	7900	3</a:t>
            </a:r>
          </a:p>
          <a:p>
            <a:r>
              <a:rPr lang="en-US" sz="1400" dirty="0"/>
              <a:t>30	6	WARD, TURNER, JAMES	7900	3</a:t>
            </a:r>
          </a:p>
          <a:p>
            <a:r>
              <a:rPr lang="en-US" sz="1400" dirty="0"/>
              <a:t>30	6	WARD, MARTIN, TURNER	7844	3</a:t>
            </a:r>
          </a:p>
          <a:p>
            <a:r>
              <a:rPr lang="en-US" sz="1400" dirty="0"/>
              <a:t>30	6	WARD, BLAKE, TURNER	7844	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8029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Recursive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2800" dirty="0"/>
              <a:t>Anchor UNION ALL 1. Recursive UNION ALL 2. Recursive UNION ALL … 4. Recursive UNION ALL</a:t>
            </a:r>
          </a:p>
          <a:p>
            <a:r>
              <a:rPr lang="en-US" sz="2800" dirty="0" err="1"/>
              <a:t>deptno</a:t>
            </a:r>
            <a:r>
              <a:rPr lang="en-US" sz="2800" dirty="0"/>
              <a:t>	</a:t>
            </a:r>
            <a:r>
              <a:rPr lang="en-US" sz="2800" dirty="0" err="1"/>
              <a:t>cnt</a:t>
            </a:r>
            <a:r>
              <a:rPr lang="en-US" sz="2800" dirty="0"/>
              <a:t>	list	</a:t>
            </a:r>
            <a:r>
              <a:rPr lang="en-US" sz="2800" dirty="0" err="1"/>
              <a:t>empno</a:t>
            </a:r>
            <a:r>
              <a:rPr lang="en-US" sz="2800" dirty="0"/>
              <a:t>	</a:t>
            </a:r>
            <a:r>
              <a:rPr lang="en-US" sz="2800" dirty="0" err="1"/>
              <a:t>len</a:t>
            </a:r>
            <a:endParaRPr lang="en-US" sz="2800" dirty="0"/>
          </a:p>
          <a:p>
            <a:r>
              <a:rPr lang="en-US" sz="2800" dirty="0"/>
              <a:t>10	3	CLARK	7782	1</a:t>
            </a:r>
          </a:p>
          <a:p>
            <a:r>
              <a:rPr lang="en-US" sz="2800" dirty="0"/>
              <a:t>10	3	KING	7839	1</a:t>
            </a:r>
          </a:p>
          <a:p>
            <a:r>
              <a:rPr lang="en-US" sz="2800" dirty="0"/>
              <a:t>10	3	MILLER	7934	1</a:t>
            </a:r>
          </a:p>
          <a:p>
            <a:r>
              <a:rPr lang="en-US" sz="2800" dirty="0"/>
              <a:t>20	5	SMITH	7369	1</a:t>
            </a:r>
          </a:p>
          <a:p>
            <a:r>
              <a:rPr lang="en-US" sz="2800" dirty="0"/>
              <a:t>20	5	JONES	7566	1</a:t>
            </a:r>
          </a:p>
          <a:p>
            <a:r>
              <a:rPr lang="en-US" sz="2800" dirty="0"/>
              <a:t>20	5	SCOTT	7788	1</a:t>
            </a:r>
          </a:p>
          <a:p>
            <a:r>
              <a:rPr lang="en-US" sz="2800" dirty="0"/>
              <a:t>20	5	ADAMS	7876	1</a:t>
            </a:r>
          </a:p>
          <a:p>
            <a:r>
              <a:rPr lang="en-US" sz="2800" dirty="0"/>
              <a:t>20	5	FORD	7902	1</a:t>
            </a:r>
          </a:p>
          <a:p>
            <a:r>
              <a:rPr lang="en-US" sz="2800" dirty="0"/>
              <a:t>30	6	ALLEN	7499	1</a:t>
            </a:r>
          </a:p>
          <a:p>
            <a:r>
              <a:rPr lang="en-US" sz="2800" dirty="0"/>
              <a:t>30	6	WARD	7521	1</a:t>
            </a:r>
          </a:p>
          <a:p>
            <a:r>
              <a:rPr lang="en-US" sz="2800" dirty="0"/>
              <a:t>30	6	MARTIN	7654	1</a:t>
            </a:r>
          </a:p>
          <a:p>
            <a:r>
              <a:rPr lang="en-US" sz="2800" dirty="0"/>
              <a:t>30	6	BLAKE	7698	1</a:t>
            </a:r>
          </a:p>
          <a:p>
            <a:r>
              <a:rPr lang="en-US" sz="2800" dirty="0"/>
              <a:t>30	6	TURNER	7844	1</a:t>
            </a:r>
          </a:p>
          <a:p>
            <a:r>
              <a:rPr lang="en-US" sz="2800" dirty="0"/>
              <a:t>30	6	JAMES	7900	1</a:t>
            </a:r>
          </a:p>
          <a:p>
            <a:r>
              <a:rPr lang="en-US" sz="2800" dirty="0"/>
              <a:t>10	3	CLARK, KING	7839	2</a:t>
            </a:r>
          </a:p>
          <a:p>
            <a:r>
              <a:rPr lang="en-US" sz="2800" dirty="0"/>
              <a:t>10	3	CLARK, MILLER	7934	2</a:t>
            </a:r>
          </a:p>
          <a:p>
            <a:r>
              <a:rPr lang="en-US" sz="2800" dirty="0"/>
              <a:t>10	3	KING, MILLER	7934	2</a:t>
            </a:r>
          </a:p>
          <a:p>
            <a:r>
              <a:rPr lang="en-US" sz="2800" dirty="0"/>
              <a:t>20	5	SMITH, JONES	7566	2</a:t>
            </a:r>
          </a:p>
          <a:p>
            <a:r>
              <a:rPr lang="en-US" sz="2800" dirty="0"/>
              <a:t>20	5	SMITH, SCOTT	7788	2</a:t>
            </a:r>
          </a:p>
          <a:p>
            <a:r>
              <a:rPr lang="en-US" sz="2800" dirty="0"/>
              <a:t>20	5	JONES, SCOTT	7788	2</a:t>
            </a:r>
          </a:p>
          <a:p>
            <a:r>
              <a:rPr lang="en-US" sz="2800" dirty="0"/>
              <a:t>20	5	JONES, ADAMS	7876	2</a:t>
            </a:r>
          </a:p>
          <a:p>
            <a:r>
              <a:rPr lang="en-US" sz="2800" dirty="0"/>
              <a:t>20	5	SMITH, ADAMS	7876	2</a:t>
            </a:r>
          </a:p>
          <a:p>
            <a:r>
              <a:rPr lang="en-US" sz="2800" dirty="0"/>
              <a:t>20	5	SCOTT, ADAMS	7876	2</a:t>
            </a:r>
          </a:p>
          <a:p>
            <a:r>
              <a:rPr lang="en-US" sz="2800" dirty="0"/>
              <a:t>20	5	SCOTT, FORD	7902	2</a:t>
            </a:r>
          </a:p>
          <a:p>
            <a:r>
              <a:rPr lang="en-US" sz="2800" dirty="0"/>
              <a:t>20	5	ADAMS, FORD	7902	2</a:t>
            </a:r>
          </a:p>
          <a:p>
            <a:r>
              <a:rPr lang="en-US" sz="2800" dirty="0"/>
              <a:t>20	5	SMITH, FORD	7902	2</a:t>
            </a:r>
          </a:p>
          <a:p>
            <a:r>
              <a:rPr lang="en-US" sz="2800" dirty="0"/>
              <a:t>20	5	JONES, FORD	7902	2</a:t>
            </a:r>
          </a:p>
          <a:p>
            <a:r>
              <a:rPr lang="en-US" sz="2800" dirty="0"/>
              <a:t>30	6	ALLEN, WARD	7521	2</a:t>
            </a:r>
          </a:p>
          <a:p>
            <a:r>
              <a:rPr lang="en-US" sz="2800" dirty="0"/>
              <a:t>30	6	ALLEN, MARTIN	7654	2</a:t>
            </a:r>
          </a:p>
          <a:p>
            <a:r>
              <a:rPr lang="en-US" sz="2800" dirty="0"/>
              <a:t>30	6	WARD, MARTIN	7654	2</a:t>
            </a:r>
          </a:p>
          <a:p>
            <a:r>
              <a:rPr lang="en-US" sz="2800" dirty="0"/>
              <a:t>30	6	WARD, BLAKE	7698	2</a:t>
            </a:r>
          </a:p>
          <a:p>
            <a:r>
              <a:rPr lang="en-US" sz="2800" dirty="0"/>
              <a:t>30	6	ALLEN, BLAKE	7698	2</a:t>
            </a:r>
          </a:p>
          <a:p>
            <a:r>
              <a:rPr lang="en-US" sz="2800" dirty="0"/>
              <a:t>30	6	MARTIN, BLAKE	7698	2</a:t>
            </a:r>
          </a:p>
          <a:p>
            <a:r>
              <a:rPr lang="en-US" sz="2800" dirty="0"/>
              <a:t>30	6	MARTIN, TURNER	7844	2</a:t>
            </a:r>
          </a:p>
          <a:p>
            <a:r>
              <a:rPr lang="en-US" sz="2800" dirty="0"/>
              <a:t>30	6	BLAKE, TURNER	7844	2</a:t>
            </a:r>
          </a:p>
          <a:p>
            <a:r>
              <a:rPr lang="en-US" sz="2800" dirty="0"/>
              <a:t>30	6	ALLEN, TURNER	7844	2</a:t>
            </a:r>
          </a:p>
          <a:p>
            <a:r>
              <a:rPr lang="en-US" sz="2800" dirty="0"/>
              <a:t>30	6	WARD, TURNER	7844	2</a:t>
            </a:r>
          </a:p>
          <a:p>
            <a:r>
              <a:rPr lang="en-US" sz="2800" dirty="0"/>
              <a:t>30	6	WARD, JAMES	7900	2</a:t>
            </a:r>
          </a:p>
          <a:p>
            <a:r>
              <a:rPr lang="en-US" sz="2800" dirty="0"/>
              <a:t>30	6	TURNER, JAMES	7900	2</a:t>
            </a:r>
          </a:p>
          <a:p>
            <a:r>
              <a:rPr lang="en-US" sz="2800" dirty="0"/>
              <a:t>30	6	ALLEN, JAMES	7900	2</a:t>
            </a:r>
          </a:p>
          <a:p>
            <a:r>
              <a:rPr lang="en-US" sz="2800" dirty="0"/>
              <a:t>30	6	BLAKE, JAMES	7900	2</a:t>
            </a:r>
          </a:p>
          <a:p>
            <a:r>
              <a:rPr lang="en-US" sz="2800" dirty="0"/>
              <a:t>30	6	MARTIN, JAMES	7900	2</a:t>
            </a:r>
          </a:p>
          <a:p>
            <a:r>
              <a:rPr lang="en-US" sz="2800" dirty="0"/>
              <a:t>10	3	CLARK, KING, MILLER	7934	3</a:t>
            </a:r>
          </a:p>
          <a:p>
            <a:r>
              <a:rPr lang="en-US" sz="2800" dirty="0"/>
              <a:t>20	5	SMITH, JONES, SCOTT	7788	3</a:t>
            </a:r>
          </a:p>
          <a:p>
            <a:r>
              <a:rPr lang="en-US" sz="2800" dirty="0"/>
              <a:t>20	5	SMITH, JONES, ADAMS	7876	3</a:t>
            </a:r>
          </a:p>
          <a:p>
            <a:r>
              <a:rPr lang="en-US" sz="2800" dirty="0"/>
              <a:t>20	5	SMITH, SCOTT, ADAMS	7876	3</a:t>
            </a:r>
          </a:p>
          <a:p>
            <a:r>
              <a:rPr lang="en-US" sz="2800" dirty="0"/>
              <a:t>20	5	JONES, SCOTT, ADAMS	7876	3</a:t>
            </a:r>
          </a:p>
          <a:p>
            <a:r>
              <a:rPr lang="en-US" sz="2800" dirty="0"/>
              <a:t>20	5	JONES, SCOTT, FORD	7902	3</a:t>
            </a:r>
          </a:p>
          <a:p>
            <a:r>
              <a:rPr lang="en-US" sz="2800" dirty="0"/>
              <a:t>20	5	JONES, ADAMS, FORD	7902	3</a:t>
            </a:r>
          </a:p>
          <a:p>
            <a:r>
              <a:rPr lang="en-US" sz="2800" dirty="0"/>
              <a:t>20	5	SMITH, SCOTT, FORD	7902	3</a:t>
            </a:r>
          </a:p>
          <a:p>
            <a:r>
              <a:rPr lang="en-US" sz="2800" dirty="0"/>
              <a:t>20	5	SCOTT, ADAMS, FORD	7902	3</a:t>
            </a:r>
          </a:p>
          <a:p>
            <a:r>
              <a:rPr lang="en-US" sz="2800" dirty="0"/>
              <a:t>20	5	SMITH, JONES, FORD	7902	3</a:t>
            </a:r>
          </a:p>
          <a:p>
            <a:r>
              <a:rPr lang="en-US" sz="2800" dirty="0"/>
              <a:t>20	5	SMITH, ADAMS, FORD	7902	3</a:t>
            </a:r>
          </a:p>
          <a:p>
            <a:r>
              <a:rPr lang="en-US" sz="2800" dirty="0"/>
              <a:t>30	6	ALLEN, WARD, MARTIN	7654	3</a:t>
            </a:r>
          </a:p>
          <a:p>
            <a:r>
              <a:rPr lang="en-US" sz="2800" dirty="0"/>
              <a:t>30	6	ALLEN, WARD, BLAKE	7698	3</a:t>
            </a:r>
          </a:p>
          <a:p>
            <a:r>
              <a:rPr lang="en-US" sz="2800" dirty="0"/>
              <a:t>30	6	ALLEN, MARTIN, BLAKE	7698	3</a:t>
            </a:r>
          </a:p>
          <a:p>
            <a:r>
              <a:rPr lang="en-US" sz="2800" dirty="0"/>
              <a:t>30	6	WARD, MARTIN, BLAKE	7698	3</a:t>
            </a:r>
          </a:p>
          <a:p>
            <a:r>
              <a:rPr lang="en-US" sz="2800" dirty="0"/>
              <a:t>30	6	WARD, MARTIN, TURNER	7844	3</a:t>
            </a:r>
          </a:p>
          <a:p>
            <a:r>
              <a:rPr lang="en-US" sz="2800" dirty="0"/>
              <a:t>30	6	WARD, BLAKE, TURNER	7844	3</a:t>
            </a:r>
          </a:p>
          <a:p>
            <a:r>
              <a:rPr lang="en-US" sz="2800" dirty="0"/>
              <a:t>30	6	ALLEN, BLAKE, TURNER	7844	3</a:t>
            </a:r>
          </a:p>
          <a:p>
            <a:r>
              <a:rPr lang="en-US" sz="2800" dirty="0"/>
              <a:t>30	6	ALLEN, MARTIN, TURNER	7844	3</a:t>
            </a:r>
          </a:p>
          <a:p>
            <a:r>
              <a:rPr lang="en-US" sz="2800" dirty="0"/>
              <a:t>30	6	ALLEN, WARD, TURNER	7844	3</a:t>
            </a:r>
          </a:p>
          <a:p>
            <a:r>
              <a:rPr lang="en-US" sz="2800" dirty="0"/>
              <a:t>30	6	MARTIN, BLAKE, TURNER	7844	3</a:t>
            </a:r>
          </a:p>
          <a:p>
            <a:r>
              <a:rPr lang="en-US" sz="2800" dirty="0"/>
              <a:t>30	6	MARTIN, BLAKE, JAMES	7900	3</a:t>
            </a:r>
          </a:p>
          <a:p>
            <a:r>
              <a:rPr lang="en-US" sz="2800" dirty="0"/>
              <a:t>30	6	MARTIN, TURNER, JAMES	7900	3</a:t>
            </a:r>
          </a:p>
          <a:p>
            <a:r>
              <a:rPr lang="en-US" sz="2800" dirty="0"/>
              <a:t>30	6	BLAKE, TURNER, JAMES	7900	3</a:t>
            </a:r>
          </a:p>
          <a:p>
            <a:r>
              <a:rPr lang="en-US" sz="2800" dirty="0"/>
              <a:t>30	6	ALLEN, WARD, JAMES	7900	3</a:t>
            </a:r>
          </a:p>
          <a:p>
            <a:r>
              <a:rPr lang="en-US" sz="2800" dirty="0"/>
              <a:t>30	6	ALLEN, MARTIN, JAMES	7900	3</a:t>
            </a:r>
          </a:p>
          <a:p>
            <a:r>
              <a:rPr lang="en-US" sz="2800" dirty="0"/>
              <a:t>30	6	ALLEN, BLAKE, JAMES	7900	3</a:t>
            </a:r>
          </a:p>
          <a:p>
            <a:r>
              <a:rPr lang="en-US" sz="2800" dirty="0"/>
              <a:t>30	6	ALLEN, TURNER, JAMES	7900	3</a:t>
            </a:r>
          </a:p>
          <a:p>
            <a:r>
              <a:rPr lang="en-US" sz="2800" dirty="0"/>
              <a:t>30	6	WARD, BLAKE, JAMES	7900	3</a:t>
            </a:r>
          </a:p>
          <a:p>
            <a:r>
              <a:rPr lang="en-US" sz="2800" dirty="0"/>
              <a:t>30	6	WARD, MARTIN, JAMES	7900	3</a:t>
            </a:r>
          </a:p>
          <a:p>
            <a:r>
              <a:rPr lang="en-US" sz="2800" dirty="0"/>
              <a:t>30	6	WARD, TURNER, JAMES	7900	3</a:t>
            </a:r>
          </a:p>
          <a:p>
            <a:r>
              <a:rPr lang="en-US" sz="2800" dirty="0"/>
              <a:t>20	5	SMITH, JONES, SCOTT, ADAMS	7876	4</a:t>
            </a:r>
          </a:p>
          <a:p>
            <a:r>
              <a:rPr lang="en-US" sz="2800" dirty="0"/>
              <a:t>20	5	SMITH, JONES, SCOTT, FORD	7902	4</a:t>
            </a:r>
          </a:p>
          <a:p>
            <a:r>
              <a:rPr lang="en-US" sz="2800" dirty="0"/>
              <a:t>20	5	SMITH, SCOTT, ADAMS, FORD	7902	4</a:t>
            </a:r>
          </a:p>
          <a:p>
            <a:r>
              <a:rPr lang="en-US" sz="2800" dirty="0"/>
              <a:t>20	5	SMITH, JONES, ADAMS, FORD	7902	4</a:t>
            </a:r>
          </a:p>
          <a:p>
            <a:r>
              <a:rPr lang="en-US" sz="2800" dirty="0"/>
              <a:t>20	5	JONES, SCOTT, ADAMS, FORD	7902	4</a:t>
            </a:r>
          </a:p>
          <a:p>
            <a:r>
              <a:rPr lang="en-US" sz="2800" dirty="0"/>
              <a:t>30	6	ALLEN, WARD, MARTIN, BLAKE	7698	4</a:t>
            </a:r>
          </a:p>
          <a:p>
            <a:r>
              <a:rPr lang="en-US" sz="2800" dirty="0"/>
              <a:t>30	6	ALLEN, WARD, MARTIN, TURNER	7844	4</a:t>
            </a:r>
          </a:p>
          <a:p>
            <a:r>
              <a:rPr lang="en-US" sz="2800" dirty="0"/>
              <a:t>30	6	ALLEN, MARTIN, BLAKE, TURNER	7844	4</a:t>
            </a:r>
          </a:p>
          <a:p>
            <a:r>
              <a:rPr lang="en-US" sz="2800" dirty="0"/>
              <a:t>30	6	ALLEN, WARD, BLAKE, TURNER	7844	4</a:t>
            </a:r>
          </a:p>
          <a:p>
            <a:r>
              <a:rPr lang="en-US" sz="2800" dirty="0"/>
              <a:t>30	6	WARD, MARTIN, BLAKE, TURNER	7844	4</a:t>
            </a:r>
          </a:p>
          <a:p>
            <a:r>
              <a:rPr lang="en-US" sz="2800" dirty="0"/>
              <a:t>30	6	WARD, MARTIN, BLAKE, JAMES	7900	4</a:t>
            </a:r>
          </a:p>
          <a:p>
            <a:r>
              <a:rPr lang="en-US" sz="2800" dirty="0"/>
              <a:t>30	6	ALLEN, BLAKE, TURNER, JAMES	7900	4</a:t>
            </a:r>
          </a:p>
          <a:p>
            <a:r>
              <a:rPr lang="en-US" sz="2800" dirty="0"/>
              <a:t>30	6	WARD, MARTIN, TURNER, JAMES	7900	4</a:t>
            </a:r>
          </a:p>
          <a:p>
            <a:r>
              <a:rPr lang="en-US" sz="2800" dirty="0"/>
              <a:t>30	6	WARD, BLAKE, TURNER, JAMES	7900	4</a:t>
            </a:r>
          </a:p>
          <a:p>
            <a:r>
              <a:rPr lang="en-US" sz="2800" dirty="0"/>
              <a:t>30	6	ALLEN, WARD, BLAKE, JAMES	7900	4</a:t>
            </a:r>
          </a:p>
          <a:p>
            <a:r>
              <a:rPr lang="en-US" sz="2800" dirty="0"/>
              <a:t>30	6	ALLEN, MARTIN, BLAKE, JAMES	7900	4</a:t>
            </a:r>
          </a:p>
          <a:p>
            <a:r>
              <a:rPr lang="en-US" sz="2800" dirty="0"/>
              <a:t>30	6	ALLEN, WARD, MARTIN, JAMES	7900	4</a:t>
            </a:r>
          </a:p>
          <a:p>
            <a:r>
              <a:rPr lang="en-US" sz="2800" dirty="0"/>
              <a:t>30	6	ALLEN, MARTIN, TURNER, JAMES	7900	4</a:t>
            </a:r>
          </a:p>
          <a:p>
            <a:r>
              <a:rPr lang="en-US" sz="2800" dirty="0"/>
              <a:t>30	6	ALLEN, WARD, TURNER, JAMES	7900	4</a:t>
            </a:r>
          </a:p>
          <a:p>
            <a:r>
              <a:rPr lang="en-US" sz="2800" dirty="0"/>
              <a:t>30	6	MARTIN, BLAKE, TURNER, JAMES	7900	4</a:t>
            </a:r>
          </a:p>
          <a:p>
            <a:r>
              <a:rPr lang="en-US" sz="2800" dirty="0"/>
              <a:t>20	5	SMITH, JONES, SCOTT, ADAMS, FORD	7902	5</a:t>
            </a:r>
          </a:p>
          <a:p>
            <a:r>
              <a:rPr lang="en-US" sz="2800" dirty="0"/>
              <a:t>30	6	ALLEN, WARD, MARTIN, BLAKE, TURNER	7844	5</a:t>
            </a:r>
          </a:p>
          <a:p>
            <a:r>
              <a:rPr lang="en-US" sz="2800" dirty="0"/>
              <a:t>30	6	ALLEN, WARD, MARTIN, BLAKE, JAMES	7900	5</a:t>
            </a:r>
          </a:p>
          <a:p>
            <a:r>
              <a:rPr lang="en-US" sz="2800" dirty="0"/>
              <a:t>30	6	ALLEN, WARD, MARTIN, TURNER, JAMES	7900	5</a:t>
            </a:r>
          </a:p>
          <a:p>
            <a:r>
              <a:rPr lang="en-US" sz="2800" dirty="0"/>
              <a:t>30	6	ALLEN, MARTIN, BLAKE, TURNER, JAMES	7900	5</a:t>
            </a:r>
          </a:p>
          <a:p>
            <a:r>
              <a:rPr lang="en-US" sz="2800" dirty="0"/>
              <a:t>30	6	ALLEN, WARD, BLAKE, TURNER, JAMES	7900	5</a:t>
            </a:r>
          </a:p>
          <a:p>
            <a:r>
              <a:rPr lang="en-US" sz="2800" dirty="0"/>
              <a:t>30	6	WARD, MARTIN, BLAKE, TURNER, JAMES	7900	5</a:t>
            </a:r>
          </a:p>
          <a:p>
            <a:r>
              <a:rPr lang="en-US" sz="2800" dirty="0"/>
              <a:t>30	6	ALLEN, WARD, MARTIN, BLAKE, TURNER, JAMES	7900	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8103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Recursive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1600" dirty="0"/>
              <a:t>Anchor UNION ALL 1. Recursive UNION ALL 2. Recursive UNION ALL … 4. Recursive UNION ALL</a:t>
            </a:r>
          </a:p>
          <a:p>
            <a:r>
              <a:rPr lang="en-US" sz="1600" dirty="0" err="1"/>
              <a:t>deptno</a:t>
            </a:r>
            <a:r>
              <a:rPr lang="en-US" sz="1600" dirty="0"/>
              <a:t>	</a:t>
            </a:r>
            <a:r>
              <a:rPr lang="en-US" sz="1600" dirty="0" err="1"/>
              <a:t>cnt</a:t>
            </a:r>
            <a:r>
              <a:rPr lang="en-US" sz="1600" dirty="0"/>
              <a:t>	list	</a:t>
            </a:r>
            <a:r>
              <a:rPr lang="en-US" sz="1600" dirty="0" err="1"/>
              <a:t>empno</a:t>
            </a:r>
            <a:r>
              <a:rPr lang="en-US" sz="1600" dirty="0"/>
              <a:t>	</a:t>
            </a:r>
            <a:r>
              <a:rPr lang="en-US" sz="1600" dirty="0" err="1"/>
              <a:t>len</a:t>
            </a:r>
            <a:endParaRPr lang="en-US" sz="1600" dirty="0"/>
          </a:p>
          <a:p>
            <a:r>
              <a:rPr lang="en-US" sz="1600" dirty="0"/>
              <a:t>10	3	CLARK	7782	1</a:t>
            </a:r>
          </a:p>
          <a:p>
            <a:r>
              <a:rPr lang="en-US" sz="1600" dirty="0"/>
              <a:t>10	3	KING	7839	1</a:t>
            </a:r>
          </a:p>
          <a:p>
            <a:r>
              <a:rPr lang="en-US" sz="1600" dirty="0"/>
              <a:t>10	3	MILLER	7934	1</a:t>
            </a:r>
          </a:p>
          <a:p>
            <a:r>
              <a:rPr lang="en-US" sz="1600" dirty="0"/>
              <a:t>20	5	SMITH	7369	1</a:t>
            </a:r>
          </a:p>
          <a:p>
            <a:r>
              <a:rPr lang="en-US" sz="1600" dirty="0"/>
              <a:t>20	5	JONES	7566	1</a:t>
            </a:r>
          </a:p>
          <a:p>
            <a:r>
              <a:rPr lang="en-US" sz="1600" dirty="0"/>
              <a:t>20	5	SCOTT	7788	1</a:t>
            </a:r>
          </a:p>
          <a:p>
            <a:r>
              <a:rPr lang="en-US" sz="1600" dirty="0"/>
              <a:t>20	5	ADAMS	7876	1</a:t>
            </a:r>
          </a:p>
          <a:p>
            <a:r>
              <a:rPr lang="en-US" sz="1600" dirty="0"/>
              <a:t>20	5	FORD	7902	1</a:t>
            </a:r>
          </a:p>
          <a:p>
            <a:r>
              <a:rPr lang="en-US" sz="1600" dirty="0"/>
              <a:t>30	6	ALLEN	7499	1</a:t>
            </a:r>
          </a:p>
          <a:p>
            <a:r>
              <a:rPr lang="en-US" sz="1600" dirty="0"/>
              <a:t>30	6	WARD	7521	1</a:t>
            </a:r>
          </a:p>
          <a:p>
            <a:r>
              <a:rPr lang="en-US" sz="1600" dirty="0"/>
              <a:t>30	6	MARTIN	7654	1</a:t>
            </a:r>
          </a:p>
          <a:p>
            <a:r>
              <a:rPr lang="en-US" sz="1600" dirty="0"/>
              <a:t>30	6	BLAKE	7698	1</a:t>
            </a:r>
          </a:p>
          <a:p>
            <a:r>
              <a:rPr lang="en-US" sz="1600" dirty="0"/>
              <a:t>30	6	TURNER	7844	1</a:t>
            </a:r>
          </a:p>
          <a:p>
            <a:r>
              <a:rPr lang="en-US" sz="1600" dirty="0"/>
              <a:t>30	6	JAMES	7900	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1457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Recursive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000" dirty="0"/>
              <a:t>10	3	CLARK, KING	7839	2</a:t>
            </a:r>
          </a:p>
          <a:p>
            <a:r>
              <a:rPr lang="en-US" sz="1000" dirty="0"/>
              <a:t>10	3	CLARK, MILLER	7934	2</a:t>
            </a:r>
          </a:p>
          <a:p>
            <a:r>
              <a:rPr lang="en-US" sz="1000" dirty="0"/>
              <a:t>10	3	KING, MILLER	7934	2</a:t>
            </a:r>
          </a:p>
          <a:p>
            <a:r>
              <a:rPr lang="en-US" sz="1000" dirty="0"/>
              <a:t>20	5	SMITH, JONES	7566	2</a:t>
            </a:r>
          </a:p>
          <a:p>
            <a:r>
              <a:rPr lang="en-US" sz="1000" dirty="0"/>
              <a:t>20	5	SMITH, SCOTT	7788	2</a:t>
            </a:r>
          </a:p>
          <a:p>
            <a:r>
              <a:rPr lang="en-US" sz="1000" dirty="0"/>
              <a:t>20	5	JONES, SCOTT	7788	2</a:t>
            </a:r>
          </a:p>
          <a:p>
            <a:r>
              <a:rPr lang="en-US" sz="1000" dirty="0"/>
              <a:t>20	5	JONES, ADAMS	7876	2</a:t>
            </a:r>
          </a:p>
          <a:p>
            <a:r>
              <a:rPr lang="en-US" sz="1000" dirty="0"/>
              <a:t>20	5	SMITH, ADAMS	7876	2</a:t>
            </a:r>
          </a:p>
          <a:p>
            <a:r>
              <a:rPr lang="en-US" sz="1000" dirty="0"/>
              <a:t>20	5	SCOTT, ADAMS	7876	2</a:t>
            </a:r>
          </a:p>
          <a:p>
            <a:r>
              <a:rPr lang="en-US" sz="1000" dirty="0"/>
              <a:t>20	5	SCOTT, FORD	7902	2</a:t>
            </a:r>
          </a:p>
          <a:p>
            <a:r>
              <a:rPr lang="en-US" sz="1000" dirty="0"/>
              <a:t>20	5	ADAMS, FORD	7902	2</a:t>
            </a:r>
          </a:p>
          <a:p>
            <a:r>
              <a:rPr lang="en-US" sz="1000" dirty="0"/>
              <a:t>20	5	SMITH, FORD	7902	2</a:t>
            </a:r>
          </a:p>
          <a:p>
            <a:r>
              <a:rPr lang="en-US" sz="1000" dirty="0"/>
              <a:t>20	5	JONES, FORD	7902	2</a:t>
            </a:r>
          </a:p>
          <a:p>
            <a:r>
              <a:rPr lang="en-US" sz="1000" dirty="0"/>
              <a:t>30	6	ALLEN, WARD	7521	2</a:t>
            </a:r>
          </a:p>
          <a:p>
            <a:r>
              <a:rPr lang="en-US" sz="1000" dirty="0"/>
              <a:t>30	6	ALLEN, MARTIN	7654	2</a:t>
            </a:r>
          </a:p>
          <a:p>
            <a:r>
              <a:rPr lang="en-US" sz="1000" dirty="0"/>
              <a:t>30	6	WARD, MARTIN	7654	2</a:t>
            </a:r>
          </a:p>
          <a:p>
            <a:r>
              <a:rPr lang="en-US" sz="1000" dirty="0"/>
              <a:t>30	6	WARD, BLAKE	7698	2</a:t>
            </a:r>
          </a:p>
          <a:p>
            <a:r>
              <a:rPr lang="en-US" sz="1000" dirty="0"/>
              <a:t>30	6	ALLEN, BLAKE	7698	2</a:t>
            </a:r>
          </a:p>
          <a:p>
            <a:r>
              <a:rPr lang="en-US" sz="1000" dirty="0"/>
              <a:t>30	6	MARTIN, BLAKE	7698	2</a:t>
            </a:r>
          </a:p>
          <a:p>
            <a:r>
              <a:rPr lang="en-US" sz="1000" dirty="0"/>
              <a:t>30	6	MARTIN, TURNER	7844	2</a:t>
            </a:r>
          </a:p>
          <a:p>
            <a:r>
              <a:rPr lang="en-US" sz="1000" dirty="0"/>
              <a:t>30	6	BLAKE, TURNER	7844	2</a:t>
            </a:r>
          </a:p>
          <a:p>
            <a:r>
              <a:rPr lang="en-US" sz="1000" dirty="0"/>
              <a:t>30	6	ALLEN, TURNER	7844	2</a:t>
            </a:r>
          </a:p>
          <a:p>
            <a:r>
              <a:rPr lang="en-US" sz="1000" dirty="0"/>
              <a:t>30	6	WARD, TURNER	7844	2</a:t>
            </a:r>
          </a:p>
          <a:p>
            <a:r>
              <a:rPr lang="en-US" sz="1000" dirty="0"/>
              <a:t>30	6	WARD, JAMES	7900	2</a:t>
            </a:r>
          </a:p>
          <a:p>
            <a:r>
              <a:rPr lang="en-US" sz="1000" dirty="0"/>
              <a:t>30	6	TURNER, JAMES	7900	2</a:t>
            </a:r>
          </a:p>
          <a:p>
            <a:r>
              <a:rPr lang="en-US" sz="1000" dirty="0"/>
              <a:t>30	6	ALLEN, JAMES	7900	2</a:t>
            </a:r>
          </a:p>
          <a:p>
            <a:r>
              <a:rPr lang="en-US" sz="1000" dirty="0"/>
              <a:t>30	6	BLAKE, JAMES	7900	2</a:t>
            </a:r>
          </a:p>
          <a:p>
            <a:r>
              <a:rPr lang="en-US" sz="1000" dirty="0"/>
              <a:t>30	6	MARTIN, JAMES	7900	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33001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Recursive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000" dirty="0"/>
              <a:t>10	3	CLARK, KING, MILLER	7934	3</a:t>
            </a:r>
          </a:p>
          <a:p>
            <a:r>
              <a:rPr lang="en-US" sz="1000" dirty="0"/>
              <a:t>20	5	SMITH, JONES, SCOTT	7788	3</a:t>
            </a:r>
          </a:p>
          <a:p>
            <a:r>
              <a:rPr lang="en-US" sz="1000" dirty="0"/>
              <a:t>20	5	SMITH, JONES, ADAMS	7876	3</a:t>
            </a:r>
          </a:p>
          <a:p>
            <a:r>
              <a:rPr lang="en-US" sz="1000" dirty="0"/>
              <a:t>20	5	SMITH, SCOTT, ADAMS	7876	3</a:t>
            </a:r>
          </a:p>
          <a:p>
            <a:r>
              <a:rPr lang="en-US" sz="1000" dirty="0"/>
              <a:t>20	5	JONES, SCOTT, ADAMS	7876	3</a:t>
            </a:r>
          </a:p>
          <a:p>
            <a:r>
              <a:rPr lang="en-US" sz="1000" dirty="0"/>
              <a:t>20	5	JONES, SCOTT, FORD	7902	3</a:t>
            </a:r>
          </a:p>
          <a:p>
            <a:r>
              <a:rPr lang="en-US" sz="1000" dirty="0"/>
              <a:t>20	5	JONES, ADAMS, FORD	7902	3</a:t>
            </a:r>
          </a:p>
          <a:p>
            <a:r>
              <a:rPr lang="en-US" sz="1000" dirty="0"/>
              <a:t>20	5	SMITH, SCOTT, FORD	7902	3</a:t>
            </a:r>
          </a:p>
          <a:p>
            <a:r>
              <a:rPr lang="en-US" sz="1000" dirty="0"/>
              <a:t>20	5	SCOTT, ADAMS, FORD	7902	3</a:t>
            </a:r>
          </a:p>
          <a:p>
            <a:r>
              <a:rPr lang="en-US" sz="1000" dirty="0"/>
              <a:t>20	5	SMITH, JONES, FORD	7902	3</a:t>
            </a:r>
          </a:p>
          <a:p>
            <a:r>
              <a:rPr lang="en-US" sz="1000" dirty="0"/>
              <a:t>20	5	SMITH, ADAMS, FORD	7902	3</a:t>
            </a:r>
          </a:p>
          <a:p>
            <a:r>
              <a:rPr lang="en-US" sz="1000" dirty="0"/>
              <a:t>30	6	ALLEN, WARD, MARTIN	7654	3</a:t>
            </a:r>
          </a:p>
          <a:p>
            <a:r>
              <a:rPr lang="en-US" sz="1000" dirty="0"/>
              <a:t>30	6	ALLEN, WARD, BLAKE	7698	3</a:t>
            </a:r>
          </a:p>
          <a:p>
            <a:r>
              <a:rPr lang="en-US" sz="1000" dirty="0"/>
              <a:t>30	6	ALLEN, MARTIN, BLAKE	7698	3</a:t>
            </a:r>
          </a:p>
          <a:p>
            <a:r>
              <a:rPr lang="en-US" sz="1000" dirty="0"/>
              <a:t>30	6	WARD, MARTIN, BLAKE	7698	3</a:t>
            </a:r>
          </a:p>
          <a:p>
            <a:r>
              <a:rPr lang="en-US" sz="1000" dirty="0"/>
              <a:t>30	6	WARD, MARTIN, TURNER	7844	3</a:t>
            </a:r>
          </a:p>
          <a:p>
            <a:r>
              <a:rPr lang="en-US" sz="1000" dirty="0"/>
              <a:t>30	6	WARD, BLAKE, TURNER	7844	3</a:t>
            </a:r>
          </a:p>
          <a:p>
            <a:r>
              <a:rPr lang="en-US" sz="1000" dirty="0"/>
              <a:t>30	6	ALLEN, BLAKE, TURNER	7844	3</a:t>
            </a:r>
          </a:p>
          <a:p>
            <a:r>
              <a:rPr lang="en-US" sz="1000" dirty="0"/>
              <a:t>30	6	ALLEN, MARTIN, TURNER	7844	3</a:t>
            </a:r>
          </a:p>
          <a:p>
            <a:r>
              <a:rPr lang="en-US" sz="1000" dirty="0"/>
              <a:t>30	6	ALLEN, WARD, TURNER	7844	3</a:t>
            </a:r>
          </a:p>
          <a:p>
            <a:r>
              <a:rPr lang="en-US" sz="1000" dirty="0"/>
              <a:t>30	6	MARTIN, BLAKE, TURNER	7844	3</a:t>
            </a:r>
          </a:p>
          <a:p>
            <a:r>
              <a:rPr lang="en-US" sz="1000" dirty="0"/>
              <a:t>30	6	MARTIN, BLAKE, JAMES	7900	3</a:t>
            </a:r>
          </a:p>
          <a:p>
            <a:r>
              <a:rPr lang="en-US" sz="1000" dirty="0"/>
              <a:t>30	6	MARTIN, TURNER, JAMES	7900	3</a:t>
            </a:r>
          </a:p>
          <a:p>
            <a:r>
              <a:rPr lang="en-US" sz="1000" dirty="0"/>
              <a:t>30	6	BLAKE, TURNER, JAMES	7900	3</a:t>
            </a:r>
          </a:p>
          <a:p>
            <a:r>
              <a:rPr lang="en-US" sz="1000" dirty="0"/>
              <a:t>30	6	ALLEN, WARD, JAMES	7900	3</a:t>
            </a:r>
          </a:p>
          <a:p>
            <a:r>
              <a:rPr lang="en-US" sz="1000" dirty="0"/>
              <a:t>30	6	ALLEN, MARTIN, JAMES	7900	3</a:t>
            </a:r>
          </a:p>
          <a:p>
            <a:r>
              <a:rPr lang="en-US" sz="1000" dirty="0"/>
              <a:t>30	6	ALLEN, BLAKE, JAMES	7900	3</a:t>
            </a:r>
          </a:p>
          <a:p>
            <a:r>
              <a:rPr lang="en-US" sz="1000" dirty="0"/>
              <a:t>30	6	ALLEN, TURNER, JAMES	7900	3</a:t>
            </a:r>
          </a:p>
          <a:p>
            <a:r>
              <a:rPr lang="en-US" sz="1000" dirty="0"/>
              <a:t>30	6	WARD, BLAKE, JAMES	7900	3</a:t>
            </a:r>
          </a:p>
          <a:p>
            <a:r>
              <a:rPr lang="en-US" sz="1000" dirty="0"/>
              <a:t>30	6	WARD, MARTIN, JAMES	7900	3</a:t>
            </a:r>
          </a:p>
          <a:p>
            <a:r>
              <a:rPr lang="en-US" sz="1000" dirty="0"/>
              <a:t>30	6	WARD, TURNER, JAMES	7900	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97928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Recursive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2800" dirty="0"/>
              <a:t>20	5	SMITH, JONES, SCOTT, ADAMS	7876	4</a:t>
            </a:r>
          </a:p>
          <a:p>
            <a:r>
              <a:rPr lang="en-US" sz="2800" dirty="0"/>
              <a:t>20	5	SMITH, JONES, SCOTT, FORD	7902	4</a:t>
            </a:r>
          </a:p>
          <a:p>
            <a:r>
              <a:rPr lang="en-US" sz="2800" dirty="0"/>
              <a:t>20	5	SMITH, SCOTT, ADAMS, FORD	7902	4</a:t>
            </a:r>
          </a:p>
          <a:p>
            <a:r>
              <a:rPr lang="en-US" sz="2800" dirty="0"/>
              <a:t>20	5	SMITH, JONES, ADAMS, FORD	7902	4</a:t>
            </a:r>
          </a:p>
          <a:p>
            <a:r>
              <a:rPr lang="en-US" sz="2800" dirty="0"/>
              <a:t>20	5	JONES, SCOTT, ADAMS, FORD	7902	4</a:t>
            </a:r>
          </a:p>
          <a:p>
            <a:r>
              <a:rPr lang="en-US" sz="2800" dirty="0"/>
              <a:t>30	6	ALLEN, WARD, MARTIN, BLAKE	7698	4</a:t>
            </a:r>
          </a:p>
          <a:p>
            <a:r>
              <a:rPr lang="en-US" sz="2800" dirty="0"/>
              <a:t>30	6	ALLEN, WARD, MARTIN, TURNER	7844	4</a:t>
            </a:r>
          </a:p>
          <a:p>
            <a:r>
              <a:rPr lang="en-US" sz="2800" dirty="0"/>
              <a:t>30	6	ALLEN, MARTIN, BLAKE, TURNER	7844	4</a:t>
            </a:r>
          </a:p>
          <a:p>
            <a:r>
              <a:rPr lang="en-US" sz="2800" dirty="0"/>
              <a:t>30	6	ALLEN, WARD, BLAKE, TURNER	7844	4</a:t>
            </a:r>
          </a:p>
          <a:p>
            <a:r>
              <a:rPr lang="en-US" sz="2800" dirty="0"/>
              <a:t>30	6	WARD, MARTIN, BLAKE, TURNER	7844	4</a:t>
            </a:r>
          </a:p>
          <a:p>
            <a:r>
              <a:rPr lang="en-US" sz="2800" dirty="0"/>
              <a:t>30	6	WARD, MARTIN, BLAKE, JAMES	7900	4</a:t>
            </a:r>
          </a:p>
          <a:p>
            <a:r>
              <a:rPr lang="en-US" sz="2800" dirty="0"/>
              <a:t>30	6	ALLEN, BLAKE, TURNER, JAMES	7900	4</a:t>
            </a:r>
          </a:p>
          <a:p>
            <a:r>
              <a:rPr lang="en-US" sz="2800" dirty="0"/>
              <a:t>30	6	WARD, MARTIN, TURNER, JAMES	7900	4</a:t>
            </a:r>
          </a:p>
          <a:p>
            <a:r>
              <a:rPr lang="en-US" sz="2800" dirty="0"/>
              <a:t>30	6	WARD, BLAKE, TURNER, JAMES	7900	4</a:t>
            </a:r>
          </a:p>
          <a:p>
            <a:r>
              <a:rPr lang="en-US" sz="2800" dirty="0"/>
              <a:t>30	6	ALLEN, WARD, BLAKE, JAMES	7900	4</a:t>
            </a:r>
          </a:p>
          <a:p>
            <a:r>
              <a:rPr lang="en-US" sz="2800" dirty="0"/>
              <a:t>30	6	ALLEN, MARTIN, BLAKE, JAMES	7900	4</a:t>
            </a:r>
          </a:p>
          <a:p>
            <a:r>
              <a:rPr lang="en-US" sz="2800" dirty="0"/>
              <a:t>30	6	ALLEN, WARD, MARTIN, JAMES	7900	4</a:t>
            </a:r>
          </a:p>
          <a:p>
            <a:r>
              <a:rPr lang="en-US" sz="2800" dirty="0"/>
              <a:t>30	6	ALLEN, MARTIN, TURNER, JAMES	7900	4</a:t>
            </a:r>
          </a:p>
          <a:p>
            <a:r>
              <a:rPr lang="en-US" sz="2800" dirty="0"/>
              <a:t>30	6	ALLEN, WARD, TURNER, JAMES	7900	4</a:t>
            </a:r>
          </a:p>
          <a:p>
            <a:r>
              <a:rPr lang="en-US" sz="2800" dirty="0"/>
              <a:t>30	6	MARTIN, BLAKE, TURNER, JAMES	7900	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4266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Recursive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20	5	SMITH, JONES, SCOTT, ADAMS, FORD	7902	5</a:t>
            </a:r>
          </a:p>
          <a:p>
            <a:r>
              <a:rPr lang="en-US" sz="2000" dirty="0"/>
              <a:t>30	6	ALLEN, WARD, MARTIN, BLAKE, TURNER	7844	5</a:t>
            </a:r>
          </a:p>
          <a:p>
            <a:r>
              <a:rPr lang="en-US" sz="2000" dirty="0"/>
              <a:t>30	6	ALLEN, WARD, MARTIN, BLAKE, JAMES	7900	5</a:t>
            </a:r>
          </a:p>
          <a:p>
            <a:r>
              <a:rPr lang="en-US" sz="2000" dirty="0"/>
              <a:t>30	6	ALLEN, WARD, MARTIN, TURNER, JAMES	7900	5</a:t>
            </a:r>
          </a:p>
          <a:p>
            <a:r>
              <a:rPr lang="en-US" sz="2000" dirty="0"/>
              <a:t>30	6	ALLEN, MARTIN, BLAKE, TURNER, JAMES	7900	5</a:t>
            </a:r>
          </a:p>
          <a:p>
            <a:r>
              <a:rPr lang="en-US" sz="2000" dirty="0"/>
              <a:t>30	6	ALLEN, WARD, BLAKE, TURNER, JAMES	7900	5</a:t>
            </a:r>
          </a:p>
          <a:p>
            <a:r>
              <a:rPr lang="en-US" sz="2000" dirty="0"/>
              <a:t>30	6	WARD, MARTIN, BLAKE, TURNER, JAMES	7900	5</a:t>
            </a:r>
          </a:p>
          <a:p>
            <a:r>
              <a:rPr lang="en-US" sz="1800" dirty="0"/>
              <a:t>30	6	ALLEN, WAD, MARTIN, BLAKE, TURNER, JAMES	7900	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6530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deptno</a:t>
            </a:r>
            <a:r>
              <a:rPr lang="en-US" dirty="0"/>
              <a:t>, list from x where </a:t>
            </a:r>
            <a:r>
              <a:rPr lang="en-US" dirty="0" err="1"/>
              <a:t>len</a:t>
            </a:r>
            <a:r>
              <a:rPr lang="en-US" dirty="0"/>
              <a:t> = </a:t>
            </a:r>
            <a:r>
              <a:rPr lang="en-US" dirty="0" err="1"/>
              <a:t>cnt</a:t>
            </a:r>
            <a:endParaRPr lang="en-US" dirty="0"/>
          </a:p>
          <a:p>
            <a:r>
              <a:rPr lang="en-US" dirty="0"/>
              <a:t>order by </a:t>
            </a:r>
            <a:r>
              <a:rPr lang="en-US" dirty="0" err="1"/>
              <a:t>deptno</a:t>
            </a:r>
            <a:endParaRPr lang="en-US" dirty="0"/>
          </a:p>
          <a:p>
            <a:r>
              <a:rPr lang="en-US" sz="2800" dirty="0"/>
              <a:t>10	CLARK, KING, MILLER</a:t>
            </a:r>
          </a:p>
          <a:p>
            <a:r>
              <a:rPr lang="en-US" sz="2800" dirty="0"/>
              <a:t>20	SMITH, ADAMS, FORD, SCOTT, JONES</a:t>
            </a:r>
          </a:p>
          <a:p>
            <a:r>
              <a:rPr lang="en-US" sz="2800" dirty="0"/>
              <a:t>30	ALLEN, BLAKE, MARTIN, JAMES, TURNER, WARD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555502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Working with Ranges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8108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common in everyday life</a:t>
            </a:r>
          </a:p>
          <a:p>
            <a:r>
              <a:rPr lang="en-US" dirty="0"/>
              <a:t>for example, projects that we work on range over consecutive periods of time</a:t>
            </a:r>
          </a:p>
          <a:p>
            <a:r>
              <a:rPr lang="en-US" dirty="0"/>
              <a:t>in SQL, it's often necessary to search for ranges, or to generate ranges, or to otherwise manipulate range-based data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72121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1992</a:t>
            </a:r>
            <a:r>
              <a:rPr lang="en-US" dirty="0"/>
              <a:t>:</a:t>
            </a:r>
            <a:r>
              <a:rPr lang="ro-RO" dirty="0"/>
              <a:t> Institutul Politehnic</a:t>
            </a:r>
            <a:br>
              <a:rPr lang="en-US" dirty="0"/>
            </a:br>
            <a:r>
              <a:rPr lang="ro-RO" dirty="0"/>
              <a:t>Universitatea Tehnica din Cluj-Napoca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1992-2030 </a:t>
            </a:r>
            <a:r>
              <a:rPr lang="ro-RO" dirty="0"/>
              <a:t>Automatică și Calculatoare</a:t>
            </a:r>
          </a:p>
          <a:p>
            <a:r>
              <a:rPr lang="en-US" dirty="0"/>
              <a:t>1992-2030 </a:t>
            </a:r>
            <a:r>
              <a:rPr lang="ro-RO" dirty="0"/>
              <a:t>Electronică, Telecomunicații și Tehnologia Informației</a:t>
            </a:r>
          </a:p>
          <a:p>
            <a:r>
              <a:rPr lang="en-US" dirty="0"/>
              <a:t>1992-2030 </a:t>
            </a:r>
            <a:r>
              <a:rPr lang="ro-RO" dirty="0"/>
              <a:t>Inginerie Electrică</a:t>
            </a:r>
          </a:p>
          <a:p>
            <a:r>
              <a:rPr lang="en-US" dirty="0"/>
              <a:t>1992-2030 </a:t>
            </a:r>
            <a:r>
              <a:rPr lang="ro-RO" dirty="0"/>
              <a:t>Construcții și Instalații</a:t>
            </a:r>
            <a:endParaRPr lang="en-US" dirty="0"/>
          </a:p>
          <a:p>
            <a:r>
              <a:rPr lang="en-US" i="1" dirty="0"/>
              <a:t>2007 Erase …</a:t>
            </a:r>
          </a:p>
          <a:p>
            <a:r>
              <a:rPr lang="en-US" dirty="0"/>
              <a:t>1992-2007 </a:t>
            </a:r>
            <a:r>
              <a:rPr lang="ro-RO" dirty="0"/>
              <a:t>Construcții și Instalații</a:t>
            </a:r>
            <a:endParaRPr lang="en-US" dirty="0"/>
          </a:p>
          <a:p>
            <a:r>
              <a:rPr lang="en-US" dirty="0"/>
              <a:t>2007-2030 </a:t>
            </a:r>
            <a:r>
              <a:rPr lang="ro-RO" dirty="0"/>
              <a:t>Construcții</a:t>
            </a:r>
            <a:endParaRPr lang="en-US" dirty="0"/>
          </a:p>
          <a:p>
            <a:r>
              <a:rPr lang="en-US" dirty="0"/>
              <a:t>2007-2030 </a:t>
            </a:r>
            <a:r>
              <a:rPr lang="ro-RO" dirty="0"/>
              <a:t>Construcții și Instalații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46215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1992</a:t>
            </a:r>
            <a:r>
              <a:rPr lang="en-US" dirty="0"/>
              <a:t>:</a:t>
            </a:r>
            <a:r>
              <a:rPr lang="ro-RO" dirty="0"/>
              <a:t> Institutul Politehnic</a:t>
            </a:r>
            <a:br>
              <a:rPr lang="en-US" dirty="0"/>
            </a:br>
            <a:r>
              <a:rPr lang="ro-RO" dirty="0"/>
              <a:t>Universitatea Tehnica din Cluj-Napoca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1992-2030 </a:t>
            </a:r>
            <a:r>
              <a:rPr lang="ro-RO" dirty="0"/>
              <a:t>Construcții de Mașini</a:t>
            </a:r>
          </a:p>
          <a:p>
            <a:r>
              <a:rPr lang="en-US" dirty="0"/>
              <a:t>1992-2030 </a:t>
            </a:r>
            <a:r>
              <a:rPr lang="ro-RO" dirty="0"/>
              <a:t>Mecanică</a:t>
            </a:r>
          </a:p>
          <a:p>
            <a:r>
              <a:rPr lang="en-US" dirty="0"/>
              <a:t>1992-2011 </a:t>
            </a:r>
            <a:r>
              <a:rPr lang="ro-RO" dirty="0"/>
              <a:t>Știința și Ingineria Materialelor</a:t>
            </a:r>
            <a:endParaRPr lang="en-US" dirty="0"/>
          </a:p>
          <a:p>
            <a:r>
              <a:rPr lang="en-US" dirty="0"/>
              <a:t>2011-2030 </a:t>
            </a:r>
            <a:r>
              <a:rPr lang="ro-RO" dirty="0"/>
              <a:t>Ingineria Materialelor și a Mediului</a:t>
            </a:r>
          </a:p>
          <a:p>
            <a:r>
              <a:rPr lang="en-US" dirty="0"/>
              <a:t>1998-2030 </a:t>
            </a:r>
            <a:r>
              <a:rPr lang="ro-RO" dirty="0"/>
              <a:t>Arhitectură și Urbanism</a:t>
            </a:r>
            <a:endParaRPr lang="en-US" dirty="0"/>
          </a:p>
          <a:p>
            <a:r>
              <a:rPr lang="en-US" dirty="0"/>
              <a:t>2011-2030</a:t>
            </a:r>
            <a:r>
              <a:rPr lang="ro-RO" dirty="0"/>
              <a:t> Inginerie</a:t>
            </a:r>
            <a:r>
              <a:rPr lang="en-US" dirty="0"/>
              <a:t> </a:t>
            </a:r>
            <a:r>
              <a:rPr lang="en-US" sz="3000" dirty="0"/>
              <a:t>CUN Baia-Mare</a:t>
            </a:r>
            <a:endParaRPr lang="ro-RO" dirty="0"/>
          </a:p>
          <a:p>
            <a:r>
              <a:rPr lang="en-US" dirty="0"/>
              <a:t>2011-2014</a:t>
            </a:r>
            <a:r>
              <a:rPr lang="ro-RO" dirty="0"/>
              <a:t> Resurse Minerale și Mediu </a:t>
            </a:r>
            <a:r>
              <a:rPr lang="en-US" sz="3000" dirty="0"/>
              <a:t>CUN Baia-Mare</a:t>
            </a:r>
            <a:endParaRPr lang="en-US" dirty="0"/>
          </a:p>
          <a:p>
            <a:r>
              <a:rPr lang="en-US" dirty="0"/>
              <a:t>2011-2030</a:t>
            </a:r>
            <a:r>
              <a:rPr lang="ro-RO" dirty="0"/>
              <a:t> Litere</a:t>
            </a:r>
            <a:r>
              <a:rPr lang="en-US" dirty="0"/>
              <a:t> </a:t>
            </a:r>
            <a:r>
              <a:rPr lang="en-US" sz="3000" dirty="0"/>
              <a:t>CUN Baia-Mare</a:t>
            </a:r>
            <a:endParaRPr lang="ro-RO" dirty="0"/>
          </a:p>
          <a:p>
            <a:r>
              <a:rPr lang="en-US" dirty="0"/>
              <a:t>2011-2030</a:t>
            </a:r>
            <a:r>
              <a:rPr lang="ro-RO" dirty="0"/>
              <a:t> </a:t>
            </a:r>
            <a:r>
              <a:rPr lang="ro-RO" dirty="0" err="1"/>
              <a:t>Stiinț</a:t>
            </a:r>
            <a:r>
              <a:rPr lang="en-US" dirty="0"/>
              <a:t>e </a:t>
            </a:r>
            <a:r>
              <a:rPr lang="en-US" sz="3000" dirty="0"/>
              <a:t>CUN Baia-Mare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691282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Temporal </a:t>
            </a:r>
            <a:r>
              <a:rPr lang="en-US" b="1" dirty="0" err="1"/>
              <a:t>DataBase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don’t delete anything from database</a:t>
            </a:r>
          </a:p>
          <a:p>
            <a:r>
              <a:rPr lang="en-US" b="1" dirty="0"/>
              <a:t>change range of time at which information was valid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32622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Locate Range of Consecutive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nl-NL" sz="2700" dirty="0"/>
              <a:t>PROJ_ID PROJ_START  PROJ_END</a:t>
            </a:r>
          </a:p>
          <a:p>
            <a:r>
              <a:rPr lang="nl-NL" sz="2700" dirty="0"/>
              <a:t>1 01-JAN-2005 02-JAN-2005</a:t>
            </a:r>
          </a:p>
          <a:p>
            <a:r>
              <a:rPr lang="nl-NL" sz="2700" dirty="0"/>
              <a:t>2 02-JAN-2005 03-JAN-2005</a:t>
            </a:r>
          </a:p>
          <a:p>
            <a:r>
              <a:rPr lang="nl-NL" sz="2700" dirty="0"/>
              <a:t>3 03-JAN-2005 04-JAN-2005</a:t>
            </a:r>
          </a:p>
          <a:p>
            <a:r>
              <a:rPr lang="nl-NL" sz="2700" dirty="0"/>
              <a:t>4 04-JAN-2005 05-JAN-2005</a:t>
            </a:r>
          </a:p>
          <a:p>
            <a:r>
              <a:rPr lang="nl-NL" sz="2700" dirty="0"/>
              <a:t>5 06-JAN-2005 07-JAN-2005</a:t>
            </a:r>
          </a:p>
          <a:p>
            <a:r>
              <a:rPr lang="nl-NL" sz="1000" b="1" dirty="0"/>
              <a:t>...</a:t>
            </a:r>
          </a:p>
          <a:p>
            <a:r>
              <a:rPr lang="nl-NL" sz="2700" dirty="0"/>
              <a:t>12 27-JAN-2005 28-JAN-2005</a:t>
            </a:r>
          </a:p>
          <a:p>
            <a:r>
              <a:rPr lang="nl-NL" sz="2700" dirty="0"/>
              <a:t>13 28-JAN-2005 29-JAN-2005</a:t>
            </a:r>
          </a:p>
          <a:p>
            <a:r>
              <a:rPr lang="nl-NL" sz="2700" dirty="0"/>
              <a:t>14 29-JAN-2005 30-JAN-2005</a:t>
            </a:r>
            <a:endParaRPr lang="en-US" sz="27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20744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Locate Range of Consecutive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excluding first row, each row's PROJ_START should equal PROJ_END of row before it</a:t>
            </a:r>
          </a:p>
          <a:p>
            <a:pPr lvl="1"/>
            <a:r>
              <a:rPr lang="en-US" dirty="0"/>
              <a:t>"before" is defined as PROJ_ID-1 for current row</a:t>
            </a:r>
          </a:p>
          <a:p>
            <a:r>
              <a:rPr lang="en-US" dirty="0"/>
              <a:t>want to find range of dates for consecutive projects, return all rows where current PROJ_END equals next row's PROJ_START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00060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v1.proj_id, v1.proj_start, v1.proj_end</a:t>
            </a:r>
          </a:p>
          <a:p>
            <a:r>
              <a:rPr lang="en-US" dirty="0"/>
              <a:t>FROM V v1, V v2 </a:t>
            </a:r>
          </a:p>
          <a:p>
            <a:r>
              <a:rPr lang="en-US" dirty="0"/>
              <a:t>WHERE v1.proj_end = v2.proj_start</a:t>
            </a:r>
          </a:p>
          <a:p>
            <a:endParaRPr lang="en-US" dirty="0"/>
          </a:p>
          <a:p>
            <a:r>
              <a:rPr lang="en-US" dirty="0"/>
              <a:t>ALTER TABLE V</a:t>
            </a:r>
          </a:p>
          <a:p>
            <a:r>
              <a:rPr lang="en-US" dirty="0"/>
              <a:t>CONSTRAINT </a:t>
            </a:r>
            <a:r>
              <a:rPr lang="en-US" dirty="0" err="1"/>
              <a:t>CHK_StartEnd</a:t>
            </a:r>
            <a:endParaRPr lang="en-US" dirty="0"/>
          </a:p>
          <a:p>
            <a:r>
              <a:rPr lang="en-US" dirty="0"/>
              <a:t>CHECK (</a:t>
            </a:r>
            <a:r>
              <a:rPr lang="en-US" dirty="0" err="1"/>
              <a:t>proj_start</a:t>
            </a:r>
            <a:r>
              <a:rPr lang="en-US" dirty="0"/>
              <a:t> &lt; </a:t>
            </a:r>
            <a:r>
              <a:rPr lang="en-US" dirty="0" err="1"/>
              <a:t>proj_end</a:t>
            </a:r>
            <a:r>
              <a:rPr lang="en-US" dirty="0"/>
              <a:t>);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1025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Locate Beginning and End of Range of Consecutive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l-NL" sz="1900" dirty="0"/>
              <a:t>PROJ_ID PROJ_START  PROJ_END </a:t>
            </a:r>
          </a:p>
          <a:p>
            <a:r>
              <a:rPr lang="nl-NL" sz="2000" dirty="0"/>
              <a:t>1 01-JAN-2005 02-JAN-2005</a:t>
            </a:r>
          </a:p>
          <a:p>
            <a:r>
              <a:rPr lang="nl-NL" sz="2000" dirty="0"/>
              <a:t>2 02-JAN-2005 03-JAN-2005</a:t>
            </a:r>
          </a:p>
          <a:p>
            <a:r>
              <a:rPr lang="nl-NL" sz="2000" dirty="0"/>
              <a:t>3 03-JAN-2005 04-JAN-2005</a:t>
            </a:r>
          </a:p>
          <a:p>
            <a:r>
              <a:rPr lang="nl-NL" sz="2000" dirty="0"/>
              <a:t>4 04-JAN-2005 05-JAN-2005</a:t>
            </a:r>
          </a:p>
          <a:p>
            <a:r>
              <a:rPr lang="nl-NL" sz="2000" dirty="0"/>
              <a:t>5 06-JAN-2005 07-JAN-2005</a:t>
            </a:r>
          </a:p>
          <a:p>
            <a:r>
              <a:rPr lang="nl-NL" sz="2000" dirty="0"/>
              <a:t>6 16-JAN-2005 17-JAN-2005</a:t>
            </a:r>
          </a:p>
          <a:p>
            <a:r>
              <a:rPr lang="nl-NL" sz="2000" dirty="0"/>
              <a:t>7 17-JAN-2005 18-JAN-2005</a:t>
            </a:r>
          </a:p>
          <a:p>
            <a:r>
              <a:rPr lang="nl-NL" sz="2000" dirty="0"/>
              <a:t>8 18-JAN-2005 19-JAN-2005</a:t>
            </a:r>
          </a:p>
          <a:p>
            <a:r>
              <a:rPr lang="nl-NL" sz="2000" dirty="0"/>
              <a:t>9 19-JAN-2005 20-JAN-2005</a:t>
            </a:r>
          </a:p>
          <a:p>
            <a:r>
              <a:rPr lang="nl-NL" sz="2000" dirty="0"/>
              <a:t>10 21-JAN-2005 22-JAN-2005</a:t>
            </a:r>
          </a:p>
          <a:p>
            <a:r>
              <a:rPr lang="nl-NL" sz="2000" dirty="0"/>
              <a:t>11 26-JAN-2005 27-JAN-2005</a:t>
            </a:r>
          </a:p>
          <a:p>
            <a:r>
              <a:rPr lang="nl-NL" sz="2000" dirty="0"/>
              <a:t>12 27-JAN-2005 28-JAN-2005</a:t>
            </a:r>
          </a:p>
          <a:p>
            <a:r>
              <a:rPr lang="nl-NL" sz="2000" dirty="0"/>
              <a:t>13 28-JAN-2005 29-JAN-2005</a:t>
            </a:r>
          </a:p>
          <a:p>
            <a:r>
              <a:rPr lang="nl-NL" sz="2000" dirty="0"/>
              <a:t>14 29-JAN-2005 30-JAN-2005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7051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Locate Beginning and End of Range of Consecutive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nl-NL" sz="1900" dirty="0"/>
              <a:t>PROJ_ID PROJ_START  PROJ_END </a:t>
            </a:r>
          </a:p>
          <a:p>
            <a:r>
              <a:rPr lang="nl-NL" sz="2000" dirty="0"/>
              <a:t>1 01-JAN-2005 02-JAN-2005</a:t>
            </a:r>
          </a:p>
          <a:p>
            <a:r>
              <a:rPr lang="nl-NL" sz="2000" dirty="0"/>
              <a:t>2 02-JAN-2005 03-JAN-2005</a:t>
            </a:r>
          </a:p>
          <a:p>
            <a:r>
              <a:rPr lang="nl-NL" sz="2000" dirty="0"/>
              <a:t>3 03-JAN-2005 04-JAN-2005</a:t>
            </a:r>
          </a:p>
          <a:p>
            <a:r>
              <a:rPr lang="nl-NL" sz="2000" dirty="0"/>
              <a:t>4 04-JAN-2005 05-JAN-2005</a:t>
            </a:r>
          </a:p>
          <a:p>
            <a:endParaRPr lang="nl-NL" sz="1300" dirty="0"/>
          </a:p>
          <a:p>
            <a:r>
              <a:rPr lang="nl-NL" sz="2000" dirty="0"/>
              <a:t>5 06-JAN-2005 07-JAN-2005</a:t>
            </a:r>
          </a:p>
          <a:p>
            <a:endParaRPr lang="nl-NL" sz="1200" dirty="0"/>
          </a:p>
          <a:p>
            <a:r>
              <a:rPr lang="nl-NL" sz="2000" dirty="0"/>
              <a:t>6 16-JAN-2005 17-JAN-2005</a:t>
            </a:r>
          </a:p>
          <a:p>
            <a:r>
              <a:rPr lang="nl-NL" sz="2000" dirty="0"/>
              <a:t>7 17-JAN-2005 18-JAN-2005</a:t>
            </a:r>
          </a:p>
          <a:p>
            <a:r>
              <a:rPr lang="nl-NL" sz="2000" dirty="0"/>
              <a:t>8 18-JAN-2005 19-JAN-2005</a:t>
            </a:r>
          </a:p>
          <a:p>
            <a:r>
              <a:rPr lang="nl-NL" sz="2000" dirty="0"/>
              <a:t>9 19-JAN-2005 20-JAN-2005</a:t>
            </a:r>
          </a:p>
          <a:p>
            <a:endParaRPr lang="nl-NL" sz="1200" dirty="0"/>
          </a:p>
          <a:p>
            <a:r>
              <a:rPr lang="nl-NL" sz="2000" dirty="0"/>
              <a:t>10 21-JAN-2005 22-JAN-2005</a:t>
            </a:r>
          </a:p>
          <a:p>
            <a:endParaRPr lang="nl-NL" sz="1200" dirty="0"/>
          </a:p>
          <a:p>
            <a:r>
              <a:rPr lang="nl-NL" sz="2000" dirty="0"/>
              <a:t>11 26-JAN-2005 27-JAN-2005</a:t>
            </a:r>
          </a:p>
          <a:p>
            <a:r>
              <a:rPr lang="nl-NL" sz="2000" dirty="0"/>
              <a:t>12 27-JAN-2005 28-JAN-2005</a:t>
            </a:r>
          </a:p>
          <a:p>
            <a:r>
              <a:rPr lang="nl-NL" sz="2000" dirty="0"/>
              <a:t>13 28-JAN-2005 29-JAN-2005</a:t>
            </a:r>
          </a:p>
          <a:p>
            <a:r>
              <a:rPr lang="nl-NL" sz="2000" dirty="0"/>
              <a:t>14 29-JAN-2005 30-JAN-2005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403923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Locate Beginning and End of Range of Consecutive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nl-NL" sz="2800" dirty="0"/>
              <a:t>GROUP_PROJ_ID PROJ_START  PROJ_END </a:t>
            </a:r>
          </a:p>
          <a:p>
            <a:r>
              <a:rPr lang="nl-NL" dirty="0"/>
              <a:t>1 01-JAN-2005 05-JAN-2005</a:t>
            </a:r>
          </a:p>
          <a:p>
            <a:r>
              <a:rPr lang="nl-NL" dirty="0"/>
              <a:t>2 06-JAN-2005 07-JAN-2005</a:t>
            </a:r>
          </a:p>
          <a:p>
            <a:r>
              <a:rPr lang="nl-NL" dirty="0"/>
              <a:t>3 16-JAN-2005 20-JAN-2005</a:t>
            </a:r>
          </a:p>
          <a:p>
            <a:r>
              <a:rPr lang="nl-NL" dirty="0"/>
              <a:t>4 21-JAN-2005 22-JAN-2005</a:t>
            </a:r>
          </a:p>
          <a:p>
            <a:r>
              <a:rPr lang="nl-NL" dirty="0"/>
              <a:t>5 26-JAN-2005 30-JAN-2005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61500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select V.*,</a:t>
            </a:r>
          </a:p>
          <a:p>
            <a:r>
              <a:rPr lang="en-US" dirty="0"/>
              <a:t>case	</a:t>
            </a:r>
          </a:p>
          <a:p>
            <a:r>
              <a:rPr lang="en-US" dirty="0"/>
              <a:t>when (select </a:t>
            </a:r>
            <a:r>
              <a:rPr lang="en-US" dirty="0" err="1"/>
              <a:t>b.proj_id</a:t>
            </a:r>
            <a:r>
              <a:rPr lang="en-US" dirty="0"/>
              <a:t> from V b where </a:t>
            </a:r>
            <a:r>
              <a:rPr lang="en-US" dirty="0" err="1"/>
              <a:t>V.proj_start</a:t>
            </a:r>
            <a:r>
              <a:rPr lang="en-US" dirty="0"/>
              <a:t> = </a:t>
            </a:r>
            <a:r>
              <a:rPr lang="en-US" dirty="0" err="1"/>
              <a:t>b.proj_end</a:t>
            </a:r>
            <a:r>
              <a:rPr lang="en-US" dirty="0"/>
              <a:t>) is not null </a:t>
            </a:r>
          </a:p>
          <a:p>
            <a:r>
              <a:rPr lang="en-US" dirty="0"/>
              <a:t>then 0 else 1 end as flag </a:t>
            </a:r>
          </a:p>
          <a:p>
            <a:r>
              <a:rPr lang="en-US" dirty="0"/>
              <a:t>from V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58610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V2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l-NL" sz="1900" dirty="0"/>
              <a:t>PROJ_ID PROJ_START  PROJ_END FLAG</a:t>
            </a:r>
          </a:p>
          <a:p>
            <a:r>
              <a:rPr lang="nl-NL" sz="2000" dirty="0"/>
              <a:t>1 01-JAN-2005 02-JAN-2005	1 </a:t>
            </a:r>
          </a:p>
          <a:p>
            <a:r>
              <a:rPr lang="nl-NL" sz="2000" dirty="0"/>
              <a:t>2 02-JAN-2005 03-JAN-2005	0</a:t>
            </a:r>
          </a:p>
          <a:p>
            <a:r>
              <a:rPr lang="nl-NL" sz="2000" dirty="0"/>
              <a:t>3 03-JAN-2005 04-JAN-2005	0</a:t>
            </a:r>
          </a:p>
          <a:p>
            <a:r>
              <a:rPr lang="nl-NL" sz="2000" dirty="0"/>
              <a:t>4 04-JAN-2005 05-JAN-2005	0</a:t>
            </a:r>
          </a:p>
          <a:p>
            <a:r>
              <a:rPr lang="nl-NL" sz="2000" dirty="0"/>
              <a:t>5 06-JAN-2005 07-JAN-2005	1</a:t>
            </a:r>
          </a:p>
          <a:p>
            <a:r>
              <a:rPr lang="nl-NL" sz="2000" dirty="0"/>
              <a:t>6 16-JAN-2005 17-JAN-2005	1</a:t>
            </a:r>
          </a:p>
          <a:p>
            <a:r>
              <a:rPr lang="nl-NL" sz="2000" dirty="0"/>
              <a:t>7 17-JAN-2005 18-JAN-2005	0</a:t>
            </a:r>
          </a:p>
          <a:p>
            <a:r>
              <a:rPr lang="nl-NL" sz="2000" dirty="0"/>
              <a:t>8 18-JAN-2005 19-JAN-2005	0</a:t>
            </a:r>
          </a:p>
          <a:p>
            <a:r>
              <a:rPr lang="nl-NL" sz="2000" dirty="0"/>
              <a:t>9 19-JAN-2005 20-JAN-2005	0</a:t>
            </a:r>
          </a:p>
          <a:p>
            <a:r>
              <a:rPr lang="nl-NL" sz="2000" dirty="0"/>
              <a:t>10 21-JAN-2005 22-JAN-2005	1</a:t>
            </a:r>
          </a:p>
          <a:p>
            <a:r>
              <a:rPr lang="nl-NL" sz="2000" dirty="0"/>
              <a:t>11 26-JAN-2005 27-JAN-2005	1</a:t>
            </a:r>
          </a:p>
          <a:p>
            <a:r>
              <a:rPr lang="nl-NL" sz="2000" dirty="0"/>
              <a:t>12 27-JAN-2005 28-JAN-2005	0</a:t>
            </a:r>
          </a:p>
          <a:p>
            <a:r>
              <a:rPr lang="nl-NL" sz="2000" dirty="0"/>
              <a:t>13 28-JAN-2005 29-JAN-2005	0</a:t>
            </a:r>
          </a:p>
          <a:p>
            <a:r>
              <a:rPr lang="nl-NL" sz="2000" dirty="0"/>
              <a:t>14 29-JAN-2005 30-JAN-2005	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656580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view V2 uses scalar subquery in CASE expression to determine whether or not particular row is part of set of consecutive values; aliased FLAG, returns 0 if current row is part of consecutive set or 1 if it is not </a:t>
            </a:r>
          </a:p>
          <a:p>
            <a:pPr lvl="1"/>
            <a:r>
              <a:rPr lang="en-US" dirty="0"/>
              <a:t>membership in consecutive set is determined by whether or not there is record with PROJ_END value that matches current row's PROJ_START value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05852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select </a:t>
            </a:r>
            <a:r>
              <a:rPr lang="en-US" dirty="0" err="1"/>
              <a:t>proj_grp</a:t>
            </a:r>
            <a:r>
              <a:rPr lang="en-US" dirty="0"/>
              <a:t>, </a:t>
            </a:r>
          </a:p>
          <a:p>
            <a:r>
              <a:rPr lang="en-US" dirty="0"/>
              <a:t>min(</a:t>
            </a:r>
            <a:r>
              <a:rPr lang="en-US" dirty="0" err="1"/>
              <a:t>proj_start</a:t>
            </a:r>
            <a:r>
              <a:rPr lang="en-US" dirty="0"/>
              <a:t>) as </a:t>
            </a:r>
            <a:r>
              <a:rPr lang="en-US" dirty="0" err="1"/>
              <a:t>proj_start</a:t>
            </a:r>
            <a:r>
              <a:rPr lang="en-US" dirty="0"/>
              <a:t>, </a:t>
            </a:r>
          </a:p>
          <a:p>
            <a:r>
              <a:rPr lang="en-US" dirty="0"/>
              <a:t>max(</a:t>
            </a:r>
            <a:r>
              <a:rPr lang="en-US" dirty="0" err="1"/>
              <a:t>proj_end</a:t>
            </a:r>
            <a:r>
              <a:rPr lang="en-US" dirty="0"/>
              <a:t>) as </a:t>
            </a:r>
            <a:r>
              <a:rPr lang="en-US" dirty="0" err="1"/>
              <a:t>proj_end</a:t>
            </a:r>
            <a:endParaRPr lang="en-US" dirty="0"/>
          </a:p>
          <a:p>
            <a:r>
              <a:rPr lang="en-US" dirty="0"/>
              <a:t>from (select </a:t>
            </a:r>
            <a:r>
              <a:rPr lang="en-US" dirty="0" err="1"/>
              <a:t>a.proj_id</a:t>
            </a:r>
            <a:r>
              <a:rPr lang="en-US" dirty="0"/>
              <a:t>, </a:t>
            </a:r>
            <a:r>
              <a:rPr lang="en-US" dirty="0" err="1"/>
              <a:t>a.proj_start</a:t>
            </a:r>
            <a:r>
              <a:rPr lang="en-US" dirty="0"/>
              <a:t>, </a:t>
            </a:r>
            <a:r>
              <a:rPr lang="en-US" dirty="0" err="1"/>
              <a:t>a.proj_end</a:t>
            </a:r>
            <a:r>
              <a:rPr lang="en-US" dirty="0"/>
              <a:t>, (select sum(</a:t>
            </a:r>
            <a:r>
              <a:rPr lang="en-US" dirty="0" err="1"/>
              <a:t>b.flag</a:t>
            </a:r>
            <a:r>
              <a:rPr lang="en-US" dirty="0"/>
              <a:t>) from V2 b</a:t>
            </a:r>
          </a:p>
          <a:p>
            <a:r>
              <a:rPr lang="en-US" dirty="0"/>
              <a:t>where </a:t>
            </a:r>
            <a:r>
              <a:rPr lang="en-US" dirty="0" err="1"/>
              <a:t>b.proj_id</a:t>
            </a:r>
            <a:r>
              <a:rPr lang="en-US" dirty="0"/>
              <a:t> &lt;= V2.proj_id) as </a:t>
            </a:r>
            <a:r>
              <a:rPr lang="en-US" dirty="0" err="1"/>
              <a:t>proj_grp</a:t>
            </a:r>
            <a:endParaRPr lang="en-US" dirty="0"/>
          </a:p>
          <a:p>
            <a:r>
              <a:rPr lang="en-US" dirty="0"/>
              <a:t>from V2) x </a:t>
            </a:r>
          </a:p>
          <a:p>
            <a:r>
              <a:rPr lang="en-US" dirty="0"/>
              <a:t>group by </a:t>
            </a:r>
            <a:r>
              <a:rPr lang="en-US" dirty="0" err="1"/>
              <a:t>proj_grp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239595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select </a:t>
            </a:r>
            <a:r>
              <a:rPr lang="en-US" dirty="0" err="1"/>
              <a:t>a.proj_id</a:t>
            </a:r>
            <a:r>
              <a:rPr lang="en-US" dirty="0"/>
              <a:t>, </a:t>
            </a:r>
            <a:r>
              <a:rPr lang="en-US" dirty="0" err="1"/>
              <a:t>a.proj_start</a:t>
            </a:r>
            <a:r>
              <a:rPr lang="en-US" dirty="0"/>
              <a:t>, </a:t>
            </a:r>
            <a:r>
              <a:rPr lang="en-US" dirty="0" err="1"/>
              <a:t>a.proj_end</a:t>
            </a:r>
            <a:r>
              <a:rPr lang="en-US" dirty="0"/>
              <a:t>,</a:t>
            </a:r>
          </a:p>
          <a:p>
            <a:r>
              <a:rPr lang="en-US" dirty="0"/>
              <a:t>(select sum(</a:t>
            </a:r>
            <a:r>
              <a:rPr lang="en-US" dirty="0" err="1"/>
              <a:t>b.flag</a:t>
            </a:r>
            <a:r>
              <a:rPr lang="en-US" dirty="0"/>
              <a:t>) from v2 b where </a:t>
            </a:r>
            <a:r>
              <a:rPr lang="en-US" dirty="0" err="1"/>
              <a:t>b.proj_id</a:t>
            </a:r>
            <a:r>
              <a:rPr lang="en-US" dirty="0"/>
              <a:t> &lt;= V2.proj_id) as </a:t>
            </a:r>
            <a:r>
              <a:rPr lang="en-US" dirty="0" err="1"/>
              <a:t>proj_grp</a:t>
            </a:r>
            <a:r>
              <a:rPr lang="en-US" dirty="0"/>
              <a:t> from V2</a:t>
            </a:r>
          </a:p>
          <a:p>
            <a:endParaRPr lang="en-US" dirty="0"/>
          </a:p>
          <a:p>
            <a:r>
              <a:rPr lang="en-US" dirty="0"/>
              <a:t>returns all rows from view V2 along with running total on FLAG; this running total is what creates our groups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38717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l-NL" sz="1900" dirty="0"/>
              <a:t>PROJ_ID PROJ_START  PROJ_END FLAG</a:t>
            </a:r>
          </a:p>
          <a:p>
            <a:r>
              <a:rPr lang="nl-NL" sz="2000" dirty="0"/>
              <a:t>1 01-JAN-2005 02-JAN-2005	1 </a:t>
            </a:r>
          </a:p>
          <a:p>
            <a:r>
              <a:rPr lang="nl-NL" sz="2000" dirty="0"/>
              <a:t>2 02-JAN-2005 03-JAN-2005	1</a:t>
            </a:r>
          </a:p>
          <a:p>
            <a:r>
              <a:rPr lang="nl-NL" sz="2000" dirty="0"/>
              <a:t>3 03-JAN-2005 04-JAN-2005	1</a:t>
            </a:r>
          </a:p>
          <a:p>
            <a:r>
              <a:rPr lang="nl-NL" sz="2000" dirty="0"/>
              <a:t>4 04-JAN-2005 05-JAN-2005	1</a:t>
            </a:r>
          </a:p>
          <a:p>
            <a:r>
              <a:rPr lang="nl-NL" sz="2000" dirty="0"/>
              <a:t>5 06-JAN-2005 07-JAN-2005	2</a:t>
            </a:r>
          </a:p>
          <a:p>
            <a:r>
              <a:rPr lang="nl-NL" sz="2000" dirty="0"/>
              <a:t>6 16-JAN-2005 17-JAN-2005	3</a:t>
            </a:r>
          </a:p>
          <a:p>
            <a:r>
              <a:rPr lang="nl-NL" sz="2000" dirty="0"/>
              <a:t>7 17-JAN-2005 18-JAN-2005	3</a:t>
            </a:r>
          </a:p>
          <a:p>
            <a:r>
              <a:rPr lang="nl-NL" sz="2000" dirty="0"/>
              <a:t>8 18-JAN-2005 19-JAN-2005	3</a:t>
            </a:r>
          </a:p>
          <a:p>
            <a:r>
              <a:rPr lang="nl-NL" sz="2000" dirty="0"/>
              <a:t>9 19-JAN-2005 20-JAN-2005	3</a:t>
            </a:r>
          </a:p>
          <a:p>
            <a:r>
              <a:rPr lang="nl-NL" sz="2000" dirty="0"/>
              <a:t>10 21-JAN-2005 22-JAN-2005	4</a:t>
            </a:r>
          </a:p>
          <a:p>
            <a:r>
              <a:rPr lang="nl-NL" sz="2000" dirty="0"/>
              <a:t>11 26-JAN-2005 27-JAN-2005	5</a:t>
            </a:r>
          </a:p>
          <a:p>
            <a:r>
              <a:rPr lang="nl-NL" sz="2000" dirty="0"/>
              <a:t>12 27-JAN-2005 28-JAN-2005	5</a:t>
            </a:r>
          </a:p>
          <a:p>
            <a:r>
              <a:rPr lang="nl-NL" sz="2000" dirty="0"/>
              <a:t>13 28-JAN-2005 29-JAN-2005	5</a:t>
            </a:r>
          </a:p>
          <a:p>
            <a:r>
              <a:rPr lang="nl-NL" sz="2000" dirty="0"/>
              <a:t>14 29-JAN-2005 30-JAN-2005	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64261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 Differences Between Rows in Same Group or Partition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return DEPTNO, ENAME, and SAL of each employee along with difference in SAL between employees in same department  - difference should be between each current employee and employee hired immediately afterwards; for each employee hired last in his department, return "N/A" for difference</a:t>
            </a:r>
          </a:p>
          <a:p>
            <a:r>
              <a:rPr lang="en-US" dirty="0"/>
              <a:t>correlation between seniority and salary on "per department" basis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309762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deptno</a:t>
            </a:r>
            <a:r>
              <a:rPr lang="en-US" dirty="0"/>
              <a:t>, </a:t>
            </a:r>
            <a:r>
              <a:rPr lang="en-US" dirty="0" err="1"/>
              <a:t>ename</a:t>
            </a:r>
            <a:r>
              <a:rPr lang="en-US" dirty="0"/>
              <a:t>, </a:t>
            </a:r>
            <a:r>
              <a:rPr lang="en-US" dirty="0" err="1"/>
              <a:t>hiredate</a:t>
            </a:r>
            <a:r>
              <a:rPr lang="en-US" dirty="0"/>
              <a:t>, </a:t>
            </a:r>
            <a:r>
              <a:rPr lang="en-US" dirty="0" err="1"/>
              <a:t>sal</a:t>
            </a:r>
            <a:r>
              <a:rPr lang="en-US" dirty="0"/>
              <a:t>, </a:t>
            </a:r>
          </a:p>
          <a:p>
            <a:r>
              <a:rPr lang="en-US" dirty="0"/>
              <a:t>coalesce( cast ( </a:t>
            </a:r>
            <a:r>
              <a:rPr lang="en-US" dirty="0" err="1"/>
              <a:t>sal</a:t>
            </a:r>
            <a:r>
              <a:rPr lang="en-US" dirty="0"/>
              <a:t> - </a:t>
            </a:r>
            <a:r>
              <a:rPr lang="en-US" dirty="0" err="1"/>
              <a:t>next_sal</a:t>
            </a:r>
            <a:r>
              <a:rPr lang="en-US" dirty="0"/>
              <a:t> as char(10)), 'N/A') as diff</a:t>
            </a:r>
          </a:p>
          <a:p>
            <a:r>
              <a:rPr lang="en-US" dirty="0"/>
              <a:t>FROM ( …)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48004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 </a:t>
            </a:r>
            <a:r>
              <a:rPr lang="en-US" dirty="0" err="1"/>
              <a:t>e.deptno</a:t>
            </a:r>
            <a:r>
              <a:rPr lang="en-US" dirty="0"/>
              <a:t>, </a:t>
            </a:r>
            <a:r>
              <a:rPr lang="en-US" dirty="0" err="1"/>
              <a:t>e.ename</a:t>
            </a:r>
            <a:r>
              <a:rPr lang="en-US" dirty="0"/>
              <a:t>, </a:t>
            </a:r>
            <a:r>
              <a:rPr lang="en-US" dirty="0" err="1"/>
              <a:t>e.hiredate</a:t>
            </a:r>
            <a:r>
              <a:rPr lang="en-US" dirty="0"/>
              <a:t>, </a:t>
            </a:r>
            <a:r>
              <a:rPr lang="en-US" dirty="0" err="1"/>
              <a:t>e.sal</a:t>
            </a:r>
            <a:r>
              <a:rPr lang="en-US" dirty="0"/>
              <a:t>, (select min(</a:t>
            </a:r>
            <a:r>
              <a:rPr lang="en-US" dirty="0" err="1"/>
              <a:t>hiredate</a:t>
            </a:r>
            <a:r>
              <a:rPr lang="en-US" dirty="0"/>
              <a:t>) from </a:t>
            </a:r>
            <a:r>
              <a:rPr lang="en-US" dirty="0" err="1"/>
              <a:t>emp</a:t>
            </a:r>
            <a:r>
              <a:rPr lang="en-US" dirty="0"/>
              <a:t> d where </a:t>
            </a:r>
            <a:r>
              <a:rPr lang="en-US" dirty="0" err="1"/>
              <a:t>e.deptno</a:t>
            </a:r>
            <a:r>
              <a:rPr lang="en-US" dirty="0"/>
              <a:t> = </a:t>
            </a:r>
            <a:r>
              <a:rPr lang="en-US" dirty="0" err="1"/>
              <a:t>d.deptno</a:t>
            </a:r>
            <a:r>
              <a:rPr lang="en-US" dirty="0"/>
              <a:t> and </a:t>
            </a:r>
            <a:r>
              <a:rPr lang="en-US" dirty="0" err="1"/>
              <a:t>d.hiredate</a:t>
            </a:r>
            <a:r>
              <a:rPr lang="en-US" dirty="0"/>
              <a:t> &gt; </a:t>
            </a:r>
            <a:r>
              <a:rPr lang="en-US" dirty="0" err="1"/>
              <a:t>e.hiredate</a:t>
            </a:r>
            <a:r>
              <a:rPr lang="en-US" dirty="0"/>
              <a:t>) as </a:t>
            </a:r>
            <a:r>
              <a:rPr lang="en-US" dirty="0" err="1"/>
              <a:t>next_hire</a:t>
            </a:r>
            <a:r>
              <a:rPr lang="en-US" dirty="0"/>
              <a:t> from </a:t>
            </a:r>
            <a:r>
              <a:rPr lang="en-US" dirty="0" err="1"/>
              <a:t>emp</a:t>
            </a:r>
            <a:r>
              <a:rPr lang="en-US" dirty="0"/>
              <a:t> e order by </a:t>
            </a:r>
            <a:r>
              <a:rPr lang="en-US" dirty="0" err="1"/>
              <a:t>deptno</a:t>
            </a:r>
            <a:r>
              <a:rPr lang="en-US" dirty="0"/>
              <a:t>, </a:t>
            </a:r>
            <a:r>
              <a:rPr lang="en-US" dirty="0" err="1"/>
              <a:t>hiredate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52677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000" dirty="0"/>
              <a:t>DEPTNO ENAME      HIREDATE           SAL NEXT_HIRE</a:t>
            </a:r>
          </a:p>
          <a:p>
            <a:r>
              <a:rPr lang="en-US" sz="2000" dirty="0"/>
              <a:t>10 CLARK      09-JUN-1981       2450 17-NOV-1981</a:t>
            </a:r>
          </a:p>
          <a:p>
            <a:r>
              <a:rPr lang="en-US" sz="2000" dirty="0"/>
              <a:t>10 KING       17-NOV-1981       5000 23-JAN-1982</a:t>
            </a:r>
          </a:p>
          <a:p>
            <a:r>
              <a:rPr lang="en-US" sz="2000" dirty="0"/>
              <a:t>10 MILLER     23-JAN-1982       1300     </a:t>
            </a:r>
          </a:p>
          <a:p>
            <a:r>
              <a:rPr lang="en-US" sz="2000" dirty="0"/>
              <a:t>20 SMITH      17-DEC-1980        800 02-APR-1981</a:t>
            </a:r>
          </a:p>
          <a:p>
            <a:r>
              <a:rPr lang="en-US" sz="2000" dirty="0"/>
              <a:t>20 JONES      02-APR-1981       2975 03-DEC-1981</a:t>
            </a:r>
          </a:p>
          <a:p>
            <a:r>
              <a:rPr lang="en-US" sz="2000" dirty="0"/>
              <a:t>20 FORD       03-DEC-1981       3000 09-DEC-1982</a:t>
            </a:r>
          </a:p>
          <a:p>
            <a:r>
              <a:rPr lang="en-US" sz="2000" dirty="0"/>
              <a:t>20 SCOTT      09-DEC-1982       3000 12-JAN-1983</a:t>
            </a:r>
          </a:p>
          <a:p>
            <a:r>
              <a:rPr lang="en-US" sz="2000" dirty="0"/>
              <a:t>20 ADAMS      12-JAN-1983       1100     </a:t>
            </a:r>
          </a:p>
          <a:p>
            <a:r>
              <a:rPr lang="en-US" sz="2000" dirty="0"/>
              <a:t>30 ALLEN      20-FEB-1981       1600 22-FEB-1981</a:t>
            </a:r>
          </a:p>
          <a:p>
            <a:r>
              <a:rPr lang="en-US" sz="2000" dirty="0"/>
              <a:t>30 WARD       22-FEB-1981       1250 01-MAY-1981</a:t>
            </a:r>
          </a:p>
          <a:p>
            <a:r>
              <a:rPr lang="en-US" sz="2000" dirty="0"/>
              <a:t>30 BLAKE      01-MAY-1981       2850 08-SEP-1981</a:t>
            </a:r>
          </a:p>
          <a:p>
            <a:r>
              <a:rPr lang="en-US" sz="2000" dirty="0"/>
              <a:t>30 TURNER     08-SEP-1981       1500 28-SEP-1981</a:t>
            </a:r>
          </a:p>
          <a:p>
            <a:r>
              <a:rPr lang="en-US" sz="2000" dirty="0"/>
              <a:t>30 MARTIN     28-SEP-1981       1250 03-DEC-1981</a:t>
            </a:r>
          </a:p>
          <a:p>
            <a:r>
              <a:rPr lang="en-US" sz="2000" dirty="0"/>
              <a:t>30 JAMES      03-DEC-1981        950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73759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e.deptno</a:t>
            </a:r>
            <a:r>
              <a:rPr lang="en-US" dirty="0"/>
              <a:t>, </a:t>
            </a:r>
            <a:r>
              <a:rPr lang="en-US" dirty="0" err="1"/>
              <a:t>e.ename</a:t>
            </a:r>
            <a:r>
              <a:rPr lang="en-US" dirty="0"/>
              <a:t>, </a:t>
            </a:r>
            <a:r>
              <a:rPr lang="en-US" dirty="0" err="1"/>
              <a:t>e.hiredate</a:t>
            </a:r>
            <a:r>
              <a:rPr lang="en-US" dirty="0"/>
              <a:t>, </a:t>
            </a:r>
            <a:r>
              <a:rPr lang="en-US" dirty="0" err="1"/>
              <a:t>e.sal</a:t>
            </a:r>
            <a:r>
              <a:rPr lang="en-US" dirty="0"/>
              <a:t>,</a:t>
            </a:r>
          </a:p>
          <a:p>
            <a:r>
              <a:rPr lang="en-US" dirty="0"/>
              <a:t>(select min(</a:t>
            </a:r>
            <a:r>
              <a:rPr lang="en-US" dirty="0" err="1"/>
              <a:t>sal</a:t>
            </a:r>
            <a:r>
              <a:rPr lang="en-US" dirty="0"/>
              <a:t>) from </a:t>
            </a:r>
            <a:r>
              <a:rPr lang="en-US" dirty="0" err="1"/>
              <a:t>emp</a:t>
            </a:r>
            <a:r>
              <a:rPr lang="en-US" dirty="0"/>
              <a:t> d where </a:t>
            </a:r>
            <a:r>
              <a:rPr lang="en-US" dirty="0" err="1"/>
              <a:t>d.deptno</a:t>
            </a:r>
            <a:r>
              <a:rPr lang="en-US" dirty="0"/>
              <a:t> = </a:t>
            </a:r>
            <a:r>
              <a:rPr lang="en-US" dirty="0" err="1"/>
              <a:t>e.deptno</a:t>
            </a:r>
            <a:r>
              <a:rPr lang="en-US" dirty="0"/>
              <a:t> and </a:t>
            </a:r>
            <a:r>
              <a:rPr lang="en-US" dirty="0" err="1"/>
              <a:t>d.hiredate</a:t>
            </a:r>
            <a:r>
              <a:rPr lang="en-US" dirty="0"/>
              <a:t> = </a:t>
            </a:r>
          </a:p>
          <a:p>
            <a:r>
              <a:rPr lang="en-US" dirty="0"/>
              <a:t>(select min(</a:t>
            </a:r>
            <a:r>
              <a:rPr lang="en-US" dirty="0" err="1"/>
              <a:t>hiredate</a:t>
            </a:r>
            <a:r>
              <a:rPr lang="en-US" dirty="0"/>
              <a:t>) from </a:t>
            </a:r>
            <a:r>
              <a:rPr lang="en-US" dirty="0" err="1"/>
              <a:t>emp</a:t>
            </a:r>
            <a:r>
              <a:rPr lang="en-US" dirty="0"/>
              <a:t> c</a:t>
            </a:r>
          </a:p>
          <a:p>
            <a:r>
              <a:rPr lang="en-US" dirty="0"/>
              <a:t>where </a:t>
            </a:r>
            <a:r>
              <a:rPr lang="en-US" dirty="0" err="1"/>
              <a:t>e.deptno</a:t>
            </a:r>
            <a:r>
              <a:rPr lang="en-US" dirty="0"/>
              <a:t> = </a:t>
            </a:r>
            <a:r>
              <a:rPr lang="en-US" dirty="0" err="1"/>
              <a:t>c.deptno</a:t>
            </a:r>
            <a:r>
              <a:rPr lang="en-US" dirty="0"/>
              <a:t> and </a:t>
            </a:r>
            <a:r>
              <a:rPr lang="en-US" dirty="0" err="1"/>
              <a:t>c.hiredate</a:t>
            </a:r>
            <a:r>
              <a:rPr lang="en-US" dirty="0"/>
              <a:t> &gt; </a:t>
            </a:r>
            <a:r>
              <a:rPr lang="en-US" dirty="0" err="1"/>
              <a:t>e.hiredate</a:t>
            </a:r>
            <a:r>
              <a:rPr lang="en-US" dirty="0"/>
              <a:t>)) as </a:t>
            </a:r>
            <a:r>
              <a:rPr lang="en-US" dirty="0" err="1"/>
              <a:t>next_sal</a:t>
            </a:r>
            <a:r>
              <a:rPr lang="en-US" dirty="0"/>
              <a:t> </a:t>
            </a:r>
          </a:p>
          <a:p>
            <a:r>
              <a:rPr lang="en-US" dirty="0"/>
              <a:t>from </a:t>
            </a:r>
            <a:r>
              <a:rPr lang="en-US" dirty="0" err="1"/>
              <a:t>emp</a:t>
            </a:r>
            <a:r>
              <a:rPr lang="en-US" dirty="0"/>
              <a:t> 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387386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Generate Consecutive Numeric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x (id) as (</a:t>
            </a:r>
          </a:p>
          <a:p>
            <a:r>
              <a:rPr lang="en-US" dirty="0"/>
              <a:t>select 1 from t1</a:t>
            </a:r>
          </a:p>
          <a:p>
            <a:r>
              <a:rPr lang="en-US" dirty="0"/>
              <a:t>union all</a:t>
            </a:r>
          </a:p>
          <a:p>
            <a:r>
              <a:rPr lang="en-US" dirty="0"/>
              <a:t>select id+1 from x where id+1 &lt;= 10) </a:t>
            </a:r>
          </a:p>
          <a:p>
            <a:r>
              <a:rPr lang="en-US" dirty="0"/>
              <a:t>select * from 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5975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Advanced Searching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60575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Paginate Through Result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is no concept of first, last, or next in SQL, impose order on rows you are working with</a:t>
            </a:r>
          </a:p>
          <a:p>
            <a:r>
              <a:rPr lang="en-US" dirty="0"/>
              <a:t>use window function ROW_NUMBER OVER to impose order, and specify window of records that you want returned in your WHERE clause</a:t>
            </a:r>
          </a:p>
          <a:p>
            <a:r>
              <a:rPr lang="en-US" dirty="0"/>
              <a:t>for example, to return rows 1 through 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928809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 </a:t>
            </a:r>
            <a:r>
              <a:rPr lang="en-US" dirty="0" err="1"/>
              <a:t>ename</a:t>
            </a:r>
            <a:r>
              <a:rPr lang="en-US" dirty="0"/>
              <a:t>, </a:t>
            </a:r>
            <a:r>
              <a:rPr lang="en-US" dirty="0" err="1"/>
              <a:t>sal</a:t>
            </a:r>
            <a:r>
              <a:rPr lang="en-US" dirty="0"/>
              <a:t> from ( select </a:t>
            </a:r>
            <a:r>
              <a:rPr lang="en-US" dirty="0" err="1"/>
              <a:t>row_number</a:t>
            </a:r>
            <a:r>
              <a:rPr lang="en-US" dirty="0"/>
              <a:t>( ) over (order by </a:t>
            </a:r>
            <a:r>
              <a:rPr lang="en-US" dirty="0" err="1"/>
              <a:t>sal</a:t>
            </a:r>
            <a:r>
              <a:rPr lang="en-US" dirty="0"/>
              <a:t>) as </a:t>
            </a:r>
            <a:r>
              <a:rPr lang="en-US" dirty="0" err="1"/>
              <a:t>rn</a:t>
            </a:r>
            <a:r>
              <a:rPr lang="en-US" dirty="0"/>
              <a:t>, </a:t>
            </a:r>
            <a:r>
              <a:rPr lang="en-US" dirty="0" err="1"/>
              <a:t>ename</a:t>
            </a:r>
            <a:r>
              <a:rPr lang="en-US" dirty="0"/>
              <a:t>, </a:t>
            </a:r>
            <a:r>
              <a:rPr lang="en-US" dirty="0" err="1"/>
              <a:t>sal</a:t>
            </a:r>
            <a:r>
              <a:rPr lang="en-US" dirty="0"/>
              <a:t> from </a:t>
            </a:r>
            <a:r>
              <a:rPr lang="en-US" dirty="0" err="1"/>
              <a:t>emp</a:t>
            </a:r>
            <a:r>
              <a:rPr lang="en-US" dirty="0"/>
              <a:t>) x</a:t>
            </a:r>
          </a:p>
          <a:p>
            <a:r>
              <a:rPr lang="en-US" dirty="0"/>
              <a:t>where </a:t>
            </a:r>
            <a:r>
              <a:rPr lang="en-US" dirty="0" err="1"/>
              <a:t>rn</a:t>
            </a:r>
            <a:r>
              <a:rPr lang="en-US" dirty="0"/>
              <a:t> between 1 and 5</a:t>
            </a:r>
          </a:p>
          <a:p>
            <a:r>
              <a:rPr lang="en-US" dirty="0"/>
              <a:t>where </a:t>
            </a:r>
            <a:r>
              <a:rPr lang="en-US" dirty="0" err="1"/>
              <a:t>rn</a:t>
            </a:r>
            <a:r>
              <a:rPr lang="en-US" dirty="0"/>
              <a:t> between 6 and 10</a:t>
            </a:r>
          </a:p>
          <a:p>
            <a:r>
              <a:rPr lang="en-US" dirty="0"/>
              <a:t>window function ROW_NUMBER OVER will assign unique number to each data item in increasing order starting from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195807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Skip Rows from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ename</a:t>
            </a:r>
            <a:r>
              <a:rPr lang="en-US" dirty="0"/>
              <a:t>, </a:t>
            </a:r>
            <a:r>
              <a:rPr lang="en-US" dirty="0" err="1"/>
              <a:t>sal</a:t>
            </a:r>
            <a:r>
              <a:rPr lang="en-US" dirty="0"/>
              <a:t> from (</a:t>
            </a:r>
          </a:p>
          <a:p>
            <a:r>
              <a:rPr lang="en-US" dirty="0"/>
              <a:t>select </a:t>
            </a:r>
            <a:r>
              <a:rPr lang="en-US" dirty="0" err="1"/>
              <a:t>row_number</a:t>
            </a:r>
            <a:r>
              <a:rPr lang="en-US" dirty="0"/>
              <a:t>( ) over (order by </a:t>
            </a:r>
            <a:r>
              <a:rPr lang="en-US" dirty="0" err="1"/>
              <a:t>ename</a:t>
            </a:r>
            <a:r>
              <a:rPr lang="en-US" dirty="0"/>
              <a:t>) </a:t>
            </a:r>
            <a:r>
              <a:rPr lang="en-US" dirty="0" err="1"/>
              <a:t>rn</a:t>
            </a:r>
            <a:r>
              <a:rPr lang="en-US" dirty="0"/>
              <a:t>, </a:t>
            </a:r>
            <a:r>
              <a:rPr lang="en-US" dirty="0" err="1"/>
              <a:t>ename</a:t>
            </a:r>
            <a:r>
              <a:rPr lang="en-US" dirty="0"/>
              <a:t>, </a:t>
            </a:r>
            <a:r>
              <a:rPr lang="en-US" dirty="0" err="1"/>
              <a:t>sal</a:t>
            </a:r>
            <a:r>
              <a:rPr lang="en-US" dirty="0"/>
              <a:t> from </a:t>
            </a:r>
            <a:r>
              <a:rPr lang="en-US" dirty="0" err="1"/>
              <a:t>emp</a:t>
            </a:r>
            <a:r>
              <a:rPr lang="en-US" dirty="0"/>
              <a:t>) x</a:t>
            </a:r>
          </a:p>
          <a:p>
            <a:r>
              <a:rPr lang="en-US" dirty="0"/>
              <a:t>where mod(rn,2) = 1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952215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 Records with High &amp; Low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ename</a:t>
            </a:r>
            <a:r>
              <a:rPr lang="en-US" dirty="0"/>
              <a:t>, </a:t>
            </a:r>
            <a:r>
              <a:rPr lang="en-US" dirty="0" err="1"/>
              <a:t>sal</a:t>
            </a:r>
            <a:r>
              <a:rPr lang="en-US" dirty="0"/>
              <a:t> from (</a:t>
            </a:r>
          </a:p>
          <a:p>
            <a:r>
              <a:rPr lang="en-US" dirty="0"/>
              <a:t>select </a:t>
            </a:r>
            <a:r>
              <a:rPr lang="en-US" dirty="0" err="1"/>
              <a:t>ename</a:t>
            </a:r>
            <a:r>
              <a:rPr lang="en-US" dirty="0"/>
              <a:t>, </a:t>
            </a:r>
            <a:r>
              <a:rPr lang="en-US" dirty="0" err="1"/>
              <a:t>sal</a:t>
            </a:r>
            <a:r>
              <a:rPr lang="en-US" dirty="0"/>
              <a:t>, </a:t>
            </a:r>
          </a:p>
          <a:p>
            <a:r>
              <a:rPr lang="en-US" dirty="0"/>
              <a:t>min(</a:t>
            </a:r>
            <a:r>
              <a:rPr lang="en-US" dirty="0" err="1"/>
              <a:t>sal</a:t>
            </a:r>
            <a:r>
              <a:rPr lang="en-US" dirty="0"/>
              <a:t>)over( ) </a:t>
            </a:r>
            <a:r>
              <a:rPr lang="en-US" dirty="0" err="1"/>
              <a:t>min_sal</a:t>
            </a:r>
            <a:r>
              <a:rPr lang="en-US" dirty="0"/>
              <a:t>,</a:t>
            </a:r>
          </a:p>
          <a:p>
            <a:r>
              <a:rPr lang="en-US" dirty="0"/>
              <a:t>max(</a:t>
            </a:r>
            <a:r>
              <a:rPr lang="en-US" dirty="0" err="1"/>
              <a:t>sal</a:t>
            </a:r>
            <a:r>
              <a:rPr lang="en-US" dirty="0"/>
              <a:t>)over( ) </a:t>
            </a:r>
            <a:r>
              <a:rPr lang="en-US" dirty="0" err="1"/>
              <a:t>max_sal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emp</a:t>
            </a:r>
            <a:r>
              <a:rPr lang="en-US" dirty="0"/>
              <a:t>) x </a:t>
            </a:r>
          </a:p>
          <a:p>
            <a:r>
              <a:rPr lang="en-US" dirty="0"/>
              <a:t>where </a:t>
            </a:r>
            <a:r>
              <a:rPr lang="en-US" dirty="0" err="1"/>
              <a:t>sal</a:t>
            </a:r>
            <a:r>
              <a:rPr lang="en-US" dirty="0"/>
              <a:t> in (</a:t>
            </a:r>
            <a:r>
              <a:rPr lang="en-US" dirty="0" err="1"/>
              <a:t>min_sal</a:t>
            </a:r>
            <a:r>
              <a:rPr lang="en-US" dirty="0"/>
              <a:t>, </a:t>
            </a:r>
            <a:r>
              <a:rPr lang="en-US" dirty="0" err="1"/>
              <a:t>max_sal</a:t>
            </a:r>
            <a:r>
              <a:rPr lang="en-US" dirty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70373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select </a:t>
            </a:r>
            <a:r>
              <a:rPr lang="en-US" dirty="0" err="1"/>
              <a:t>e.ename</a:t>
            </a:r>
            <a:r>
              <a:rPr lang="en-US" dirty="0"/>
              <a:t>, </a:t>
            </a:r>
            <a:r>
              <a:rPr lang="en-US" dirty="0" err="1"/>
              <a:t>e.sal</a:t>
            </a:r>
            <a:r>
              <a:rPr lang="en-US" dirty="0"/>
              <a:t>,</a:t>
            </a:r>
          </a:p>
          <a:p>
            <a:r>
              <a:rPr lang="en-US" dirty="0"/>
              <a:t>(select min(</a:t>
            </a:r>
            <a:r>
              <a:rPr lang="en-US" dirty="0" err="1"/>
              <a:t>sal</a:t>
            </a:r>
            <a:r>
              <a:rPr lang="en-US" dirty="0"/>
              <a:t>) from </a:t>
            </a:r>
            <a:r>
              <a:rPr lang="en-US" dirty="0" err="1"/>
              <a:t>emp</a:t>
            </a:r>
            <a:r>
              <a:rPr lang="en-US" dirty="0"/>
              <a:t> d where </a:t>
            </a:r>
            <a:r>
              <a:rPr lang="en-US" dirty="0" err="1"/>
              <a:t>d.sal</a:t>
            </a:r>
            <a:r>
              <a:rPr lang="en-US" dirty="0"/>
              <a:t> &gt; </a:t>
            </a:r>
            <a:r>
              <a:rPr lang="en-US" dirty="0" err="1"/>
              <a:t>e.sal</a:t>
            </a:r>
            <a:r>
              <a:rPr lang="en-US" dirty="0"/>
              <a:t>) as forward,</a:t>
            </a:r>
          </a:p>
          <a:p>
            <a:r>
              <a:rPr lang="en-US" dirty="0"/>
              <a:t>(select max(</a:t>
            </a:r>
            <a:r>
              <a:rPr lang="en-US" dirty="0" err="1"/>
              <a:t>sal</a:t>
            </a:r>
            <a:r>
              <a:rPr lang="en-US" dirty="0"/>
              <a:t>) from </a:t>
            </a:r>
            <a:r>
              <a:rPr lang="en-US" dirty="0" err="1"/>
              <a:t>emp</a:t>
            </a:r>
            <a:r>
              <a:rPr lang="en-US" dirty="0"/>
              <a:t> d where </a:t>
            </a:r>
            <a:r>
              <a:rPr lang="en-US" dirty="0" err="1"/>
              <a:t>d.sal</a:t>
            </a:r>
            <a:r>
              <a:rPr lang="en-US" dirty="0"/>
              <a:t> &lt; </a:t>
            </a:r>
            <a:r>
              <a:rPr lang="en-US" dirty="0" err="1"/>
              <a:t>e.sal</a:t>
            </a:r>
            <a:r>
              <a:rPr lang="en-US" dirty="0"/>
              <a:t>) as rewind</a:t>
            </a:r>
          </a:p>
          <a:p>
            <a:r>
              <a:rPr lang="en-US" dirty="0"/>
              <a:t>from </a:t>
            </a:r>
            <a:r>
              <a:rPr lang="en-US" dirty="0" err="1"/>
              <a:t>emp</a:t>
            </a:r>
            <a:r>
              <a:rPr lang="en-US" dirty="0"/>
              <a:t> e order by </a:t>
            </a:r>
            <a:r>
              <a:rPr lang="en-US" dirty="0" err="1"/>
              <a:t>sal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672338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SMITH           800        950 </a:t>
            </a:r>
          </a:p>
          <a:p>
            <a:r>
              <a:rPr lang="en-US" dirty="0"/>
              <a:t>JAMES           950       1100        800</a:t>
            </a:r>
          </a:p>
          <a:p>
            <a:r>
              <a:rPr lang="en-US" dirty="0"/>
              <a:t>ADAMS       1100       1250        950</a:t>
            </a:r>
          </a:p>
          <a:p>
            <a:r>
              <a:rPr lang="en-US" dirty="0"/>
              <a:t>WARD         1250       1250       1100</a:t>
            </a:r>
          </a:p>
          <a:p>
            <a:r>
              <a:rPr lang="en-US" dirty="0"/>
              <a:t>MARTIN      1250       1300       1250</a:t>
            </a:r>
          </a:p>
          <a:p>
            <a:r>
              <a:rPr lang="en-US" dirty="0"/>
              <a:t>MILLER        1300       1500      1250</a:t>
            </a:r>
          </a:p>
          <a:p>
            <a:r>
              <a:rPr lang="en-US" dirty="0"/>
              <a:t>TURNER      1500       1600      1300</a:t>
            </a:r>
          </a:p>
          <a:p>
            <a:r>
              <a:rPr lang="en-US" dirty="0"/>
              <a:t>ALLEN          1600       2450      1500</a:t>
            </a:r>
          </a:p>
          <a:p>
            <a:r>
              <a:rPr lang="en-US" dirty="0"/>
              <a:t>CLARK          2450       2850      1600</a:t>
            </a:r>
          </a:p>
          <a:p>
            <a:r>
              <a:rPr lang="en-US" dirty="0"/>
              <a:t>BLAKE          2850       2975      2450</a:t>
            </a:r>
          </a:p>
          <a:p>
            <a:r>
              <a:rPr lang="en-US" dirty="0"/>
              <a:t>JONES          2975       3000      2850</a:t>
            </a:r>
          </a:p>
          <a:p>
            <a:r>
              <a:rPr lang="en-US" dirty="0"/>
              <a:t>SCOTT          3000       3000      2975</a:t>
            </a:r>
          </a:p>
          <a:p>
            <a:r>
              <a:rPr lang="en-US" dirty="0"/>
              <a:t>FORD            3000      5000       3000</a:t>
            </a:r>
          </a:p>
          <a:p>
            <a:r>
              <a:rPr lang="en-US" dirty="0"/>
              <a:t>KING             5000        800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70454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Rank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rank salaries in table EMP while allowing for ties</a:t>
            </a:r>
          </a:p>
          <a:p>
            <a:r>
              <a:rPr lang="en-US" dirty="0"/>
              <a:t>select </a:t>
            </a:r>
            <a:r>
              <a:rPr lang="en-US" dirty="0" err="1"/>
              <a:t>dense_rank</a:t>
            </a:r>
            <a:r>
              <a:rPr lang="en-US" dirty="0"/>
              <a:t>() over(order by </a:t>
            </a:r>
            <a:r>
              <a:rPr lang="en-US" dirty="0" err="1"/>
              <a:t>sal</a:t>
            </a:r>
            <a:r>
              <a:rPr lang="en-US" dirty="0"/>
              <a:t>) </a:t>
            </a:r>
            <a:r>
              <a:rPr lang="en-US" dirty="0" err="1"/>
              <a:t>rnk</a:t>
            </a:r>
            <a:r>
              <a:rPr lang="en-US" dirty="0"/>
              <a:t>, </a:t>
            </a:r>
            <a:r>
              <a:rPr lang="en-US" dirty="0" err="1"/>
              <a:t>ename</a:t>
            </a:r>
            <a:r>
              <a:rPr lang="en-US" dirty="0"/>
              <a:t>, </a:t>
            </a:r>
            <a:r>
              <a:rPr lang="en-US" dirty="0" err="1"/>
              <a:t>sal</a:t>
            </a:r>
            <a:r>
              <a:rPr lang="en-US" dirty="0"/>
              <a:t> from </a:t>
            </a:r>
            <a:r>
              <a:rPr lang="en-US" dirty="0" err="1"/>
              <a:t>emp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05199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1	SMITH           800</a:t>
            </a:r>
          </a:p>
          <a:p>
            <a:r>
              <a:rPr lang="en-US" dirty="0"/>
              <a:t>2	JAMES           950</a:t>
            </a:r>
          </a:p>
          <a:p>
            <a:r>
              <a:rPr lang="en-US" dirty="0"/>
              <a:t>3	ADAMS       1100</a:t>
            </a:r>
          </a:p>
          <a:p>
            <a:r>
              <a:rPr lang="en-US" dirty="0"/>
              <a:t>4	WARD         1250</a:t>
            </a:r>
          </a:p>
          <a:p>
            <a:r>
              <a:rPr lang="en-US" dirty="0"/>
              <a:t>4	MARTIN      1250</a:t>
            </a:r>
          </a:p>
          <a:p>
            <a:r>
              <a:rPr lang="en-US" dirty="0"/>
              <a:t>5	MILLER        1300</a:t>
            </a:r>
          </a:p>
          <a:p>
            <a:r>
              <a:rPr lang="en-US" dirty="0"/>
              <a:t>6	TURNER      1500</a:t>
            </a:r>
          </a:p>
          <a:p>
            <a:r>
              <a:rPr lang="en-US" dirty="0"/>
              <a:t>7	ALLEN          1600</a:t>
            </a:r>
          </a:p>
          <a:p>
            <a:r>
              <a:rPr lang="en-US" dirty="0"/>
              <a:t>8	CLARK          2450</a:t>
            </a:r>
          </a:p>
          <a:p>
            <a:r>
              <a:rPr lang="en-US" dirty="0"/>
              <a:t>9	BLAKE          2850</a:t>
            </a:r>
          </a:p>
          <a:p>
            <a:r>
              <a:rPr lang="en-US" dirty="0"/>
              <a:t>10	JONES          2975</a:t>
            </a:r>
          </a:p>
          <a:p>
            <a:r>
              <a:rPr lang="en-US" dirty="0"/>
              <a:t>11	SCOTT          3000</a:t>
            </a:r>
          </a:p>
          <a:p>
            <a:r>
              <a:rPr lang="en-US" dirty="0"/>
              <a:t>11	FORD            3000</a:t>
            </a:r>
          </a:p>
          <a:p>
            <a:r>
              <a:rPr lang="en-US" dirty="0"/>
              <a:t>11	KING             5000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276331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Reporting and Warehousing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314411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Pivot Result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DEPTNO</a:t>
            </a:r>
            <a:r>
              <a:rPr lang="en-US" dirty="0"/>
              <a:t>		</a:t>
            </a:r>
            <a:r>
              <a:rPr lang="pl-PL" dirty="0"/>
              <a:t>CNT </a:t>
            </a:r>
            <a:endParaRPr lang="en-US" dirty="0"/>
          </a:p>
          <a:p>
            <a:r>
              <a:rPr lang="pl-PL" dirty="0"/>
              <a:t>10</a:t>
            </a:r>
            <a:r>
              <a:rPr lang="en-US" dirty="0"/>
              <a:t>			</a:t>
            </a:r>
            <a:r>
              <a:rPr lang="pl-PL" dirty="0"/>
              <a:t>3</a:t>
            </a:r>
            <a:endParaRPr lang="en-US" dirty="0"/>
          </a:p>
          <a:p>
            <a:r>
              <a:rPr lang="pl-PL" dirty="0"/>
              <a:t>20</a:t>
            </a:r>
            <a:r>
              <a:rPr lang="en-US" dirty="0"/>
              <a:t>			</a:t>
            </a:r>
            <a:r>
              <a:rPr lang="pl-PL" dirty="0"/>
              <a:t>5</a:t>
            </a:r>
            <a:endParaRPr lang="en-US" dirty="0"/>
          </a:p>
          <a:p>
            <a:r>
              <a:rPr lang="pl-PL" dirty="0"/>
              <a:t>30</a:t>
            </a:r>
            <a:r>
              <a:rPr lang="en-US" dirty="0"/>
              <a:t>			</a:t>
            </a:r>
            <a:r>
              <a:rPr lang="pl-PL" dirty="0"/>
              <a:t>6</a:t>
            </a:r>
          </a:p>
          <a:p>
            <a:endParaRPr lang="en-US" sz="1600" dirty="0"/>
          </a:p>
          <a:p>
            <a:r>
              <a:rPr lang="en-US" dirty="0"/>
              <a:t>Dept_No_10	Dept_No_20	Dept_No_30</a:t>
            </a:r>
          </a:p>
          <a:p>
            <a:r>
              <a:rPr lang="en-US" dirty="0"/>
              <a:t>3			5			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319509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 </a:t>
            </a:r>
            <a:r>
              <a:rPr lang="en-US" dirty="0" err="1"/>
              <a:t>deptno</a:t>
            </a:r>
            <a:r>
              <a:rPr lang="en-US" dirty="0"/>
              <a:t>,</a:t>
            </a:r>
          </a:p>
          <a:p>
            <a:r>
              <a:rPr lang="en-US" dirty="0"/>
              <a:t>case when </a:t>
            </a:r>
            <a:r>
              <a:rPr lang="en-US" dirty="0" err="1"/>
              <a:t>deptno</a:t>
            </a:r>
            <a:r>
              <a:rPr lang="en-US" dirty="0"/>
              <a:t>=10 then 1 else 0 end as dept_no_10,</a:t>
            </a:r>
          </a:p>
          <a:p>
            <a:r>
              <a:rPr lang="en-US" dirty="0"/>
              <a:t>case when </a:t>
            </a:r>
            <a:r>
              <a:rPr lang="en-US" dirty="0" err="1"/>
              <a:t>deptno</a:t>
            </a:r>
            <a:r>
              <a:rPr lang="en-US" dirty="0"/>
              <a:t>=20 then 1 else 0 end as dept_no_20,</a:t>
            </a:r>
          </a:p>
          <a:p>
            <a:r>
              <a:rPr lang="en-US" dirty="0"/>
              <a:t>case when </a:t>
            </a:r>
            <a:r>
              <a:rPr lang="en-US" dirty="0" err="1"/>
              <a:t>deptno</a:t>
            </a:r>
            <a:r>
              <a:rPr lang="en-US" dirty="0"/>
              <a:t>=30 then 1 else 0 end as dept_no_30</a:t>
            </a:r>
          </a:p>
          <a:p>
            <a:r>
              <a:rPr lang="en-US" dirty="0"/>
              <a:t>from </a:t>
            </a:r>
            <a:r>
              <a:rPr lang="en-US" dirty="0" err="1"/>
              <a:t>emp</a:t>
            </a:r>
            <a:r>
              <a:rPr lang="en-US" dirty="0"/>
              <a:t>  order by </a:t>
            </a:r>
            <a:r>
              <a:rPr lang="en-US" dirty="0" err="1"/>
              <a:t>deptno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126255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 </a:t>
            </a:r>
          </a:p>
          <a:p>
            <a:r>
              <a:rPr lang="en-US" dirty="0"/>
              <a:t>sum(case when </a:t>
            </a:r>
            <a:r>
              <a:rPr lang="en-US" dirty="0" err="1"/>
              <a:t>deptno</a:t>
            </a:r>
            <a:r>
              <a:rPr lang="en-US" dirty="0"/>
              <a:t>=10 then 1 else 0 end) as dept_no_10,</a:t>
            </a:r>
          </a:p>
          <a:p>
            <a:r>
              <a:rPr lang="en-US" dirty="0"/>
              <a:t>sum(case when </a:t>
            </a:r>
            <a:r>
              <a:rPr lang="en-US" dirty="0" err="1"/>
              <a:t>deptno</a:t>
            </a:r>
            <a:r>
              <a:rPr lang="en-US" dirty="0"/>
              <a:t>=20 then 1 else 0 end) as dept_no_20,</a:t>
            </a:r>
          </a:p>
          <a:p>
            <a:r>
              <a:rPr lang="en-US" dirty="0"/>
              <a:t>sum(case when </a:t>
            </a:r>
            <a:r>
              <a:rPr lang="en-US" dirty="0" err="1"/>
              <a:t>deptno</a:t>
            </a:r>
            <a:r>
              <a:rPr lang="en-US" dirty="0"/>
              <a:t>=30 then 1 else 0 end) as dept_no_30</a:t>
            </a:r>
          </a:p>
          <a:p>
            <a:r>
              <a:rPr lang="en-US" dirty="0"/>
              <a:t>from </a:t>
            </a:r>
            <a:r>
              <a:rPr lang="en-US" dirty="0" err="1"/>
              <a:t>emp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47263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 select </a:t>
            </a:r>
          </a:p>
          <a:p>
            <a:r>
              <a:rPr lang="en-US" dirty="0"/>
              <a:t>max(case when </a:t>
            </a:r>
            <a:r>
              <a:rPr lang="en-US" dirty="0" err="1"/>
              <a:t>deptno</a:t>
            </a:r>
            <a:r>
              <a:rPr lang="en-US" dirty="0"/>
              <a:t>=10 then </a:t>
            </a:r>
            <a:r>
              <a:rPr lang="en-US" dirty="0" err="1"/>
              <a:t>empcount</a:t>
            </a:r>
            <a:r>
              <a:rPr lang="en-US" dirty="0"/>
              <a:t> else null end) as dept_no_10</a:t>
            </a:r>
          </a:p>
          <a:p>
            <a:r>
              <a:rPr lang="en-US" dirty="0"/>
              <a:t>max(case when </a:t>
            </a:r>
            <a:r>
              <a:rPr lang="en-US" dirty="0" err="1"/>
              <a:t>deptno</a:t>
            </a:r>
            <a:r>
              <a:rPr lang="en-US" dirty="0"/>
              <a:t>=20 then </a:t>
            </a:r>
            <a:r>
              <a:rPr lang="en-US" dirty="0" err="1"/>
              <a:t>empcount</a:t>
            </a:r>
            <a:r>
              <a:rPr lang="en-US" dirty="0"/>
              <a:t> else null end) as dept_no_20,</a:t>
            </a:r>
          </a:p>
          <a:p>
            <a:r>
              <a:rPr lang="en-US" dirty="0"/>
              <a:t>max(case when </a:t>
            </a:r>
            <a:r>
              <a:rPr lang="en-US" dirty="0" err="1"/>
              <a:t>deptno</a:t>
            </a:r>
            <a:r>
              <a:rPr lang="en-US" dirty="0"/>
              <a:t>=10 then </a:t>
            </a:r>
            <a:r>
              <a:rPr lang="en-US" dirty="0" err="1"/>
              <a:t>empcount</a:t>
            </a:r>
            <a:r>
              <a:rPr lang="en-US" dirty="0"/>
              <a:t> else null end) as dept_no_30</a:t>
            </a:r>
          </a:p>
          <a:p>
            <a:r>
              <a:rPr lang="en-US" dirty="0"/>
              <a:t>from ( select </a:t>
            </a:r>
            <a:r>
              <a:rPr lang="en-US" dirty="0" err="1"/>
              <a:t>deptno</a:t>
            </a:r>
            <a:r>
              <a:rPr lang="en-US" dirty="0"/>
              <a:t>, count(*) as </a:t>
            </a:r>
            <a:r>
              <a:rPr lang="en-US" dirty="0" err="1"/>
              <a:t>empcount</a:t>
            </a:r>
            <a:r>
              <a:rPr lang="en-US" dirty="0"/>
              <a:t>   from </a:t>
            </a:r>
            <a:r>
              <a:rPr lang="en-US" dirty="0" err="1"/>
              <a:t>emp</a:t>
            </a:r>
            <a:r>
              <a:rPr lang="en-US" dirty="0"/>
              <a:t>  group by </a:t>
            </a:r>
            <a:r>
              <a:rPr lang="en-US" dirty="0" err="1"/>
              <a:t>deptno</a:t>
            </a:r>
            <a:r>
              <a:rPr lang="en-US" dirty="0"/>
              <a:t>) 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82209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10	3		NULL		NULL</a:t>
            </a:r>
          </a:p>
          <a:p>
            <a:r>
              <a:rPr lang="it-IT" dirty="0"/>
              <a:t>20	NULL		5		NULL</a:t>
            </a:r>
          </a:p>
          <a:p>
            <a:r>
              <a:rPr lang="it-IT" dirty="0"/>
              <a:t>30	NULL		NULL		6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495633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Pivot Result Set in Multiple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CLERKS	ANALYSTS	MGRS	PREZ	SALES</a:t>
            </a:r>
          </a:p>
          <a:p>
            <a:r>
              <a:rPr lang="en-US" dirty="0"/>
              <a:t>MILLER	FORD	CLARK	KING	TURNER</a:t>
            </a:r>
          </a:p>
          <a:p>
            <a:r>
              <a:rPr lang="en-US" dirty="0"/>
              <a:t>JAMES	SCOTT	BLAKE		MARTIN</a:t>
            </a:r>
          </a:p>
          <a:p>
            <a:r>
              <a:rPr lang="en-US" dirty="0"/>
              <a:t>ADAMS			JONES		WARD</a:t>
            </a:r>
          </a:p>
          <a:p>
            <a:r>
              <a:rPr lang="en-US" dirty="0"/>
              <a:t>SMITH						ALLEN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88933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000" dirty="0"/>
              <a:t>select</a:t>
            </a:r>
          </a:p>
          <a:p>
            <a:r>
              <a:rPr lang="en-US" sz="2500" dirty="0"/>
              <a:t>max(case when job='CLERK' then </a:t>
            </a:r>
            <a:r>
              <a:rPr lang="en-US" sz="2500" dirty="0" err="1"/>
              <a:t>ename</a:t>
            </a:r>
            <a:r>
              <a:rPr lang="en-US" sz="2500" dirty="0"/>
              <a:t> else null end) as clerks,</a:t>
            </a:r>
          </a:p>
          <a:p>
            <a:r>
              <a:rPr lang="en-US" sz="2500" dirty="0"/>
              <a:t>max(case when job='ANALYST' then </a:t>
            </a:r>
            <a:r>
              <a:rPr lang="en-US" sz="2500" dirty="0" err="1"/>
              <a:t>ename</a:t>
            </a:r>
            <a:r>
              <a:rPr lang="en-US" sz="2500" dirty="0"/>
              <a:t> else null end) as analysts,</a:t>
            </a:r>
          </a:p>
          <a:p>
            <a:r>
              <a:rPr lang="en-US" sz="2500" dirty="0"/>
              <a:t>max(case when job='MANAGER'  then </a:t>
            </a:r>
            <a:r>
              <a:rPr lang="en-US" sz="2500" dirty="0" err="1"/>
              <a:t>ename</a:t>
            </a:r>
            <a:r>
              <a:rPr lang="en-US" sz="2500" dirty="0"/>
              <a:t> else null end) as </a:t>
            </a:r>
            <a:r>
              <a:rPr lang="en-US" sz="2500" dirty="0" err="1"/>
              <a:t>mgrs</a:t>
            </a:r>
            <a:r>
              <a:rPr lang="en-US" sz="2500" dirty="0"/>
              <a:t>,</a:t>
            </a:r>
          </a:p>
          <a:p>
            <a:r>
              <a:rPr lang="en-US" sz="2500" dirty="0"/>
              <a:t>max(case when job='PRESIDENT' then </a:t>
            </a:r>
            <a:r>
              <a:rPr lang="en-US" sz="2500" dirty="0" err="1"/>
              <a:t>ename</a:t>
            </a:r>
            <a:r>
              <a:rPr lang="en-US" sz="2500" dirty="0"/>
              <a:t> else null end) as </a:t>
            </a:r>
            <a:r>
              <a:rPr lang="en-US" sz="2500" dirty="0" err="1"/>
              <a:t>prez</a:t>
            </a:r>
            <a:r>
              <a:rPr lang="en-US" sz="2500" dirty="0"/>
              <a:t>,</a:t>
            </a:r>
          </a:p>
          <a:p>
            <a:r>
              <a:rPr lang="en-US" sz="2500" dirty="0"/>
              <a:t>max(case when job='SALESMAN' then </a:t>
            </a:r>
            <a:r>
              <a:rPr lang="en-US" sz="2500" dirty="0" err="1"/>
              <a:t>ename</a:t>
            </a:r>
            <a:r>
              <a:rPr lang="en-US" sz="2500" dirty="0"/>
              <a:t> else null end) as sales </a:t>
            </a:r>
          </a:p>
          <a:p>
            <a:r>
              <a:rPr lang="en-US" sz="3000" dirty="0"/>
              <a:t>from (select job, </a:t>
            </a:r>
            <a:r>
              <a:rPr lang="en-US" sz="3000" dirty="0" err="1"/>
              <a:t>ename</a:t>
            </a:r>
            <a:r>
              <a:rPr lang="en-US" sz="3000" dirty="0"/>
              <a:t>, </a:t>
            </a:r>
            <a:r>
              <a:rPr lang="en-US" sz="3000" dirty="0" err="1"/>
              <a:t>row_number</a:t>
            </a:r>
            <a:r>
              <a:rPr lang="en-US" sz="3000" dirty="0"/>
              <a:t>()over(partition by job order by </a:t>
            </a:r>
            <a:r>
              <a:rPr lang="en-US" sz="3000" dirty="0" err="1"/>
              <a:t>ename</a:t>
            </a:r>
            <a:r>
              <a:rPr lang="en-US" sz="3000" dirty="0"/>
              <a:t>) </a:t>
            </a:r>
            <a:r>
              <a:rPr lang="en-US" sz="3000" dirty="0" err="1"/>
              <a:t>rn</a:t>
            </a:r>
            <a:r>
              <a:rPr lang="en-US" sz="3000" dirty="0"/>
              <a:t> from </a:t>
            </a:r>
            <a:r>
              <a:rPr lang="en-US" sz="3000" dirty="0" err="1"/>
              <a:t>emp</a:t>
            </a:r>
            <a:r>
              <a:rPr lang="en-US" sz="3000" dirty="0"/>
              <a:t>) group by </a:t>
            </a:r>
            <a:r>
              <a:rPr lang="en-US" sz="3000" dirty="0" err="1"/>
              <a:t>rn</a:t>
            </a:r>
            <a:endParaRPr lang="en-US" sz="3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493890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400" dirty="0"/>
              <a:t>ANALYST	FORD		1</a:t>
            </a:r>
          </a:p>
          <a:p>
            <a:r>
              <a:rPr lang="en-US" sz="2400" dirty="0"/>
              <a:t>ANALYST	SCOTT		2</a:t>
            </a:r>
          </a:p>
          <a:p>
            <a:r>
              <a:rPr lang="en-US" sz="2400" dirty="0"/>
              <a:t>CLERK	ADAMS		1</a:t>
            </a:r>
          </a:p>
          <a:p>
            <a:r>
              <a:rPr lang="en-US" sz="2400" dirty="0"/>
              <a:t>CLERK	JAMES		2</a:t>
            </a:r>
          </a:p>
          <a:p>
            <a:r>
              <a:rPr lang="en-US" sz="2400" dirty="0"/>
              <a:t>CLERK	MILLER		3</a:t>
            </a:r>
          </a:p>
          <a:p>
            <a:r>
              <a:rPr lang="en-US" sz="2400" dirty="0"/>
              <a:t>CLERK	SMITH		4</a:t>
            </a:r>
          </a:p>
          <a:p>
            <a:r>
              <a:rPr lang="en-US" sz="2400" dirty="0"/>
              <a:t>MANAGER	BLAKE		1</a:t>
            </a:r>
          </a:p>
          <a:p>
            <a:r>
              <a:rPr lang="en-US" sz="2400" dirty="0"/>
              <a:t>MANAGER	CLARK		2</a:t>
            </a:r>
          </a:p>
          <a:p>
            <a:r>
              <a:rPr lang="en-US" sz="2400" dirty="0"/>
              <a:t>MANAGER	JONES		3</a:t>
            </a:r>
          </a:p>
          <a:p>
            <a:r>
              <a:rPr lang="en-US" sz="2400" dirty="0"/>
              <a:t>PRESIDENT	KING		1</a:t>
            </a:r>
          </a:p>
          <a:p>
            <a:r>
              <a:rPr lang="en-US" sz="2400" dirty="0"/>
              <a:t>SALESMAN	ALLEN		1</a:t>
            </a:r>
          </a:p>
          <a:p>
            <a:r>
              <a:rPr lang="en-US" sz="2400" dirty="0"/>
              <a:t>SALESMAN	MARTIN		2</a:t>
            </a:r>
          </a:p>
          <a:p>
            <a:r>
              <a:rPr lang="en-US" sz="2400" dirty="0"/>
              <a:t>SALESMAN	TURNER		3</a:t>
            </a:r>
          </a:p>
          <a:p>
            <a:r>
              <a:rPr lang="en-US" sz="2400" dirty="0"/>
              <a:t>SALESMAN	WARD		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93052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000" dirty="0"/>
              <a:t>RN	CLERKS	ANALYSTS	MGRS	PREZ	SALES</a:t>
            </a:r>
          </a:p>
          <a:p>
            <a:r>
              <a:rPr lang="en-US" sz="2000" dirty="0"/>
              <a:t>1	FORD</a:t>
            </a:r>
          </a:p>
          <a:p>
            <a:r>
              <a:rPr lang="en-US" sz="2000" dirty="0"/>
              <a:t>2	SCOTT</a:t>
            </a:r>
          </a:p>
          <a:p>
            <a:r>
              <a:rPr lang="en-US" sz="2000" dirty="0"/>
              <a:t>1		ADAMS</a:t>
            </a:r>
          </a:p>
          <a:p>
            <a:r>
              <a:rPr lang="en-US" sz="2000" dirty="0"/>
              <a:t>2		JAMES</a:t>
            </a:r>
          </a:p>
          <a:p>
            <a:r>
              <a:rPr lang="en-US" sz="2000" dirty="0"/>
              <a:t>3		MILLER</a:t>
            </a:r>
          </a:p>
          <a:p>
            <a:r>
              <a:rPr lang="en-US" sz="2000" dirty="0"/>
              <a:t>4		SMITH</a:t>
            </a:r>
          </a:p>
          <a:p>
            <a:r>
              <a:rPr lang="en-US" sz="2000" dirty="0"/>
              <a:t>1				BLAKE</a:t>
            </a:r>
          </a:p>
          <a:p>
            <a:r>
              <a:rPr lang="en-US" sz="2000" dirty="0"/>
              <a:t>2				CLARK</a:t>
            </a:r>
          </a:p>
          <a:p>
            <a:r>
              <a:rPr lang="en-US" sz="2000" dirty="0"/>
              <a:t>3				JONES</a:t>
            </a:r>
          </a:p>
          <a:p>
            <a:r>
              <a:rPr lang="en-US" sz="2000" dirty="0"/>
              <a:t>1					KING</a:t>
            </a:r>
          </a:p>
          <a:p>
            <a:r>
              <a:rPr lang="en-US" sz="2000" dirty="0"/>
              <a:t>1						ALLEN</a:t>
            </a:r>
          </a:p>
          <a:p>
            <a:r>
              <a:rPr lang="en-US" sz="2000" dirty="0"/>
              <a:t>2						MARTIN</a:t>
            </a:r>
          </a:p>
          <a:p>
            <a:r>
              <a:rPr lang="en-US" sz="2000" dirty="0"/>
              <a:t>3						TURNER</a:t>
            </a:r>
          </a:p>
          <a:p>
            <a:r>
              <a:rPr lang="en-US" sz="2000" dirty="0"/>
              <a:t>4						WARD</a:t>
            </a:r>
          </a:p>
          <a:p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55103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Calculate Simple Subtotals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900" dirty="0"/>
              <a:t>simple subtotal defined as result set that contains values from aggregation of one column along with grand total value for table</a:t>
            </a:r>
          </a:p>
          <a:p>
            <a:r>
              <a:rPr lang="en-US" sz="3900" dirty="0"/>
              <a:t>example would be result set that sums salaries in table EMP by JOB, and that also includes sum of all salaries</a:t>
            </a:r>
          </a:p>
          <a:p>
            <a:r>
              <a:rPr lang="en-US" sz="3400" dirty="0"/>
              <a:t>JOB			SAL</a:t>
            </a:r>
          </a:p>
          <a:p>
            <a:r>
              <a:rPr lang="en-US" sz="3400" dirty="0"/>
              <a:t>ANALYST		 6000</a:t>
            </a:r>
          </a:p>
          <a:p>
            <a:r>
              <a:rPr lang="en-US" sz="3400" dirty="0"/>
              <a:t>CLERK		 4150</a:t>
            </a:r>
          </a:p>
          <a:p>
            <a:r>
              <a:rPr lang="en-US" sz="3400" dirty="0"/>
              <a:t>MANAGER		 8275</a:t>
            </a:r>
          </a:p>
          <a:p>
            <a:r>
              <a:rPr lang="en-US" sz="3400" dirty="0"/>
              <a:t>PRESIDENT		 5000</a:t>
            </a:r>
          </a:p>
          <a:p>
            <a:r>
              <a:rPr lang="en-US" sz="3400" dirty="0"/>
              <a:t>SALESMAN		 5600</a:t>
            </a:r>
          </a:p>
          <a:p>
            <a:r>
              <a:rPr lang="en-US" sz="3400" dirty="0"/>
              <a:t>TOTAL		29025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282033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with rollup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coalesce(</a:t>
            </a:r>
            <a:r>
              <a:rPr lang="en-US" dirty="0" err="1"/>
              <a:t>job,'TOTAL</a:t>
            </a:r>
            <a:r>
              <a:rPr lang="en-US" dirty="0"/>
              <a:t>') job,</a:t>
            </a:r>
          </a:p>
          <a:p>
            <a:r>
              <a:rPr lang="en-US" dirty="0"/>
              <a:t>sum(</a:t>
            </a:r>
            <a:r>
              <a:rPr lang="en-US" dirty="0" err="1"/>
              <a:t>sal</a:t>
            </a:r>
            <a:r>
              <a:rPr lang="en-US" dirty="0"/>
              <a:t>) </a:t>
            </a:r>
            <a:r>
              <a:rPr lang="en-US" dirty="0" err="1"/>
              <a:t>sal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emp</a:t>
            </a:r>
            <a:endParaRPr lang="en-US" dirty="0"/>
          </a:p>
          <a:p>
            <a:r>
              <a:rPr lang="en-US" dirty="0"/>
              <a:t>group by job</a:t>
            </a:r>
          </a:p>
          <a:p>
            <a:r>
              <a:rPr lang="en-US" dirty="0"/>
              <a:t>with rollup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17682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Server Pivot Operator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PIVOT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37625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Cross-Tab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[10] as dept_10, [20] as dept_20,</a:t>
            </a:r>
          </a:p>
          <a:p>
            <a:r>
              <a:rPr lang="en-US" dirty="0"/>
              <a:t>[30] as dept_30, [40] as dept_40</a:t>
            </a:r>
          </a:p>
          <a:p>
            <a:r>
              <a:rPr lang="en-US" dirty="0"/>
              <a:t>from (select </a:t>
            </a:r>
            <a:r>
              <a:rPr lang="en-US" dirty="0" err="1"/>
              <a:t>deptno</a:t>
            </a:r>
            <a:r>
              <a:rPr lang="en-US" dirty="0"/>
              <a:t>, </a:t>
            </a:r>
            <a:r>
              <a:rPr lang="en-US" dirty="0" err="1"/>
              <a:t>empno</a:t>
            </a:r>
            <a:r>
              <a:rPr lang="en-US" dirty="0"/>
              <a:t> from </a:t>
            </a:r>
            <a:r>
              <a:rPr lang="en-US" dirty="0" err="1"/>
              <a:t>emp</a:t>
            </a:r>
            <a:r>
              <a:rPr lang="en-US" dirty="0"/>
              <a:t>) driver </a:t>
            </a:r>
          </a:p>
          <a:p>
            <a:r>
              <a:rPr lang="en-US" dirty="0"/>
              <a:t>pivot (count(</a:t>
            </a:r>
            <a:r>
              <a:rPr lang="en-US" dirty="0" err="1"/>
              <a:t>driver.empno</a:t>
            </a:r>
            <a:r>
              <a:rPr lang="en-US" dirty="0"/>
              <a:t>) for </a:t>
            </a:r>
            <a:r>
              <a:rPr lang="en-US" dirty="0" err="1"/>
              <a:t>driver.deptno</a:t>
            </a:r>
            <a:r>
              <a:rPr lang="en-US" dirty="0"/>
              <a:t> in ( [10], [20], [30], [40] )) as </a:t>
            </a:r>
            <a:r>
              <a:rPr lang="en-US" dirty="0" err="1"/>
              <a:t>empPivot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86399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If there are any DEPTNOs with a value of 10, perform aggregate operation defined ( COUNT(DRIVER.EMPNO) ) for those rows</a:t>
            </a:r>
          </a:p>
          <a:p>
            <a:r>
              <a:rPr lang="en-US" dirty="0"/>
              <a:t>Repeat for DEPTNOs 20, 30, and 40.</a:t>
            </a:r>
          </a:p>
          <a:p>
            <a:r>
              <a:rPr lang="en-US" dirty="0"/>
              <a:t>items listed in brackets serve not only to define values for which aggregation is performed; items also become column names in result set (without square brackets)</a:t>
            </a:r>
          </a:p>
          <a:p>
            <a:r>
              <a:rPr lang="en-US" dirty="0"/>
              <a:t>in SELECT clause of solution, items in FOR list are referenced and aliased</a:t>
            </a:r>
          </a:p>
          <a:p>
            <a:r>
              <a:rPr lang="en-US" dirty="0"/>
              <a:t>inline view DRIVER is just that, an inline view, you may put more complex SQL in there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17324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for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SELECT &lt;non-pivoted column&gt;,</a:t>
            </a:r>
          </a:p>
          <a:p>
            <a:r>
              <a:rPr lang="en-US" dirty="0"/>
              <a:t>    [first pivoted column] AS &lt;column name&gt;,</a:t>
            </a:r>
          </a:p>
          <a:p>
            <a:r>
              <a:rPr lang="en-US" dirty="0"/>
              <a:t>    [second pivoted column] AS &lt;column name&gt;,</a:t>
            </a:r>
          </a:p>
          <a:p>
            <a:r>
              <a:rPr lang="en-US" dirty="0"/>
              <a:t>    ...</a:t>
            </a:r>
          </a:p>
          <a:p>
            <a:r>
              <a:rPr lang="en-US" dirty="0"/>
              <a:t>    [last pivoted column] AS &lt;column name&gt;</a:t>
            </a:r>
          </a:p>
          <a:p>
            <a:r>
              <a:rPr lang="en-US" dirty="0"/>
              <a:t>FROM</a:t>
            </a:r>
          </a:p>
          <a:p>
            <a:r>
              <a:rPr lang="en-US" dirty="0"/>
              <a:t>    (&lt;SELECT query that produces the data&gt;) </a:t>
            </a:r>
          </a:p>
          <a:p>
            <a:r>
              <a:rPr lang="en-US" dirty="0"/>
              <a:t>    AS &lt;alias for the source query&gt;</a:t>
            </a:r>
          </a:p>
          <a:p>
            <a:r>
              <a:rPr lang="en-US" dirty="0"/>
              <a:t>PIVOT</a:t>
            </a:r>
          </a:p>
          <a:p>
            <a:r>
              <a:rPr lang="en-US" dirty="0"/>
              <a:t>(</a:t>
            </a:r>
          </a:p>
          <a:p>
            <a:r>
              <a:rPr lang="en-US" dirty="0"/>
              <a:t>    &lt;aggregation function&gt;(&lt;column being aggregated&gt;)</a:t>
            </a:r>
          </a:p>
          <a:p>
            <a:r>
              <a:rPr lang="en-US" dirty="0"/>
              <a:t>FOR </a:t>
            </a:r>
          </a:p>
          <a:p>
            <a:r>
              <a:rPr lang="en-US" dirty="0"/>
              <a:t>[&lt;column that contains the values that will become column headers&gt;] </a:t>
            </a:r>
          </a:p>
          <a:p>
            <a:r>
              <a:rPr lang="en-US" dirty="0"/>
              <a:t>    IN ( [first pivoted column], [second pivoted column],</a:t>
            </a:r>
          </a:p>
          <a:p>
            <a:r>
              <a:rPr lang="en-US" dirty="0"/>
              <a:t>    ... [last pivoted column])</a:t>
            </a:r>
          </a:p>
          <a:p>
            <a:r>
              <a:rPr lang="en-US" dirty="0"/>
              <a:t>) AS &lt;alias for the pivot table&gt;</a:t>
            </a:r>
          </a:p>
          <a:p>
            <a:r>
              <a:rPr lang="en-US" dirty="0"/>
              <a:t>&lt;optional ORDER BY clause&gt;;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61727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for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 &lt;non-pivoted column&gt;,</a:t>
            </a:r>
          </a:p>
          <a:p>
            <a:r>
              <a:rPr lang="en-US" dirty="0"/>
              <a:t>[first pivoted column] AS &lt;column name&gt;,</a:t>
            </a:r>
          </a:p>
          <a:p>
            <a:r>
              <a:rPr lang="en-US" dirty="0"/>
              <a:t>[second pivoted column] AS &lt;column name&gt;,</a:t>
            </a:r>
          </a:p>
          <a:p>
            <a:r>
              <a:rPr lang="en-US" dirty="0"/>
              <a:t>    ...</a:t>
            </a:r>
          </a:p>
          <a:p>
            <a:r>
              <a:rPr lang="en-US" dirty="0"/>
              <a:t>[last pivoted column] AS &lt;column name&gt;</a:t>
            </a:r>
          </a:p>
          <a:p>
            <a:r>
              <a:rPr lang="en-US" dirty="0"/>
              <a:t>FROM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167827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for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SELECT</a:t>
            </a:r>
          </a:p>
          <a:p>
            <a:r>
              <a:rPr lang="en-US" dirty="0"/>
              <a:t>    ...</a:t>
            </a:r>
          </a:p>
          <a:p>
            <a:r>
              <a:rPr lang="en-US" sz="3800" dirty="0"/>
              <a:t>FROM</a:t>
            </a:r>
          </a:p>
          <a:p>
            <a:r>
              <a:rPr lang="en-US" sz="3800" dirty="0"/>
              <a:t>    (&lt;SELECT query that produces the data&gt;) </a:t>
            </a:r>
          </a:p>
          <a:p>
            <a:r>
              <a:rPr lang="en-US" sz="3800" dirty="0"/>
              <a:t>    AS &lt;alias for the source query&gt;</a:t>
            </a:r>
            <a:endParaRPr lang="en-US" dirty="0"/>
          </a:p>
          <a:p>
            <a:r>
              <a:rPr lang="en-US" dirty="0"/>
              <a:t>PIVOT</a:t>
            </a:r>
          </a:p>
          <a:p>
            <a:r>
              <a:rPr lang="en-US" dirty="0"/>
              <a:t>(</a:t>
            </a:r>
          </a:p>
          <a:p>
            <a:r>
              <a:rPr lang="en-US" dirty="0"/>
              <a:t>    ...)</a:t>
            </a:r>
          </a:p>
          <a:p>
            <a:r>
              <a:rPr lang="en-US" dirty="0"/>
              <a:t>) AS &lt;alias for the pivot table&gt;</a:t>
            </a:r>
          </a:p>
          <a:p>
            <a:r>
              <a:rPr lang="en-US" dirty="0"/>
              <a:t>&lt;optional ORDER BY clause&gt;;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739254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for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3400" dirty="0"/>
              <a:t>SELECT</a:t>
            </a:r>
          </a:p>
          <a:p>
            <a:r>
              <a:rPr lang="en-US" sz="3400" dirty="0"/>
              <a:t>    ...</a:t>
            </a:r>
          </a:p>
          <a:p>
            <a:r>
              <a:rPr lang="en-US" sz="3400" dirty="0"/>
              <a:t>FROM</a:t>
            </a:r>
          </a:p>
          <a:p>
            <a:r>
              <a:rPr lang="en-US" sz="3400" dirty="0"/>
              <a:t>    (&lt;SELECT query that produces the data&gt;) </a:t>
            </a:r>
          </a:p>
          <a:p>
            <a:r>
              <a:rPr lang="en-US" sz="3400" dirty="0"/>
              <a:t>    AS &lt;alias for the source query&gt;</a:t>
            </a:r>
          </a:p>
          <a:p>
            <a:r>
              <a:rPr lang="en-US" sz="5100" b="1" dirty="0"/>
              <a:t>PIVOT</a:t>
            </a:r>
          </a:p>
          <a:p>
            <a:r>
              <a:rPr lang="en-US" sz="5100" b="1" dirty="0"/>
              <a:t>(</a:t>
            </a:r>
          </a:p>
          <a:p>
            <a:r>
              <a:rPr lang="en-US" sz="5100" b="1" dirty="0"/>
              <a:t>    &lt;aggregation function&gt;(&lt;column being aggregated&gt;)</a:t>
            </a:r>
          </a:p>
          <a:p>
            <a:r>
              <a:rPr lang="en-US" sz="5100" b="1" dirty="0"/>
              <a:t>FOR </a:t>
            </a:r>
          </a:p>
          <a:p>
            <a:r>
              <a:rPr lang="en-US" sz="3400" dirty="0"/>
              <a:t>[&lt;column that contains the values that will become column headers&gt;] </a:t>
            </a:r>
          </a:p>
          <a:p>
            <a:r>
              <a:rPr lang="en-US" sz="3400" dirty="0"/>
              <a:t>    IN ( [first pivoted column], [second pivoted column],</a:t>
            </a:r>
          </a:p>
          <a:p>
            <a:r>
              <a:rPr lang="en-US" sz="3400" dirty="0"/>
              <a:t>    ... [last pivoted column])</a:t>
            </a:r>
          </a:p>
          <a:p>
            <a:r>
              <a:rPr lang="en-US" sz="3400" dirty="0"/>
              <a:t>) AS &lt;alias for the pivot table&gt;</a:t>
            </a:r>
          </a:p>
          <a:p>
            <a:r>
              <a:rPr lang="en-US" sz="3400" dirty="0"/>
              <a:t>&lt;optional ORDER BY clause&gt;;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749196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for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PIVOT (</a:t>
            </a:r>
          </a:p>
          <a:p>
            <a:r>
              <a:rPr lang="en-US" sz="2800" dirty="0"/>
              <a:t> &lt;aggregation function&gt;(&lt;column being aggregated&gt;)</a:t>
            </a:r>
          </a:p>
          <a:p>
            <a:r>
              <a:rPr lang="en-US" sz="2800" dirty="0"/>
              <a:t>FOR </a:t>
            </a:r>
          </a:p>
          <a:p>
            <a:r>
              <a:rPr lang="en-US" sz="2800" dirty="0"/>
              <a:t>[&lt;column that contains the values that will become column headers&gt;] </a:t>
            </a:r>
          </a:p>
          <a:p>
            <a:r>
              <a:rPr lang="en-US" sz="2800" dirty="0"/>
              <a:t>IN ( [first pivoted column], [second pivoted column],</a:t>
            </a:r>
          </a:p>
          <a:p>
            <a:r>
              <a:rPr lang="en-US" sz="2800" dirty="0"/>
              <a:t>    ... [last pivoted column])</a:t>
            </a:r>
          </a:p>
          <a:p>
            <a:r>
              <a:rPr lang="en-US" sz="2800" dirty="0"/>
              <a:t>) AS &lt;alias for the pivot table&gt;</a:t>
            </a:r>
          </a:p>
          <a:p>
            <a:r>
              <a:rPr lang="en-US" sz="2800" dirty="0"/>
              <a:t>&lt;optional ORDER BY clause&gt;;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45498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select </a:t>
            </a:r>
            <a:r>
              <a:rPr lang="en-US" dirty="0" err="1"/>
              <a:t>deptno</a:t>
            </a:r>
            <a:r>
              <a:rPr lang="en-US" dirty="0"/>
              <a:t>, </a:t>
            </a:r>
            <a:r>
              <a:rPr lang="en-US" dirty="0" err="1"/>
              <a:t>avg</a:t>
            </a:r>
            <a:r>
              <a:rPr lang="en-US" dirty="0"/>
              <a:t>(</a:t>
            </a:r>
            <a:r>
              <a:rPr lang="en-US" dirty="0" err="1"/>
              <a:t>sal</a:t>
            </a:r>
            <a:r>
              <a:rPr lang="en-US" dirty="0"/>
              <a:t>) </a:t>
            </a:r>
            <a:br>
              <a:rPr lang="en-US" dirty="0"/>
            </a:br>
            <a:r>
              <a:rPr lang="en-US" dirty="0"/>
              <a:t>from </a:t>
            </a:r>
            <a:r>
              <a:rPr lang="en-US" dirty="0" err="1"/>
              <a:t>emp</a:t>
            </a:r>
            <a:r>
              <a:rPr lang="en-US" dirty="0"/>
              <a:t>  group by </a:t>
            </a:r>
            <a:r>
              <a:rPr lang="en-US" dirty="0" err="1"/>
              <a:t>deptno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		2916.666666</a:t>
            </a:r>
          </a:p>
          <a:p>
            <a:r>
              <a:rPr lang="en-US" dirty="0"/>
              <a:t>20		2175.000000</a:t>
            </a:r>
          </a:p>
          <a:p>
            <a:r>
              <a:rPr lang="en-US" dirty="0"/>
              <a:t>30		1566.666666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36608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select job, </a:t>
            </a:r>
            <a:r>
              <a:rPr lang="en-US" dirty="0" err="1"/>
              <a:t>avg</a:t>
            </a:r>
            <a:r>
              <a:rPr lang="en-US" dirty="0"/>
              <a:t>(</a:t>
            </a:r>
            <a:r>
              <a:rPr lang="en-US" dirty="0" err="1"/>
              <a:t>sal</a:t>
            </a:r>
            <a:r>
              <a:rPr lang="en-US" dirty="0"/>
              <a:t>) </a:t>
            </a:r>
            <a:br>
              <a:rPr lang="en-US" dirty="0"/>
            </a:br>
            <a:r>
              <a:rPr lang="en-US" dirty="0"/>
              <a:t>from </a:t>
            </a:r>
            <a:r>
              <a:rPr lang="en-US" dirty="0" err="1"/>
              <a:t>emp</a:t>
            </a:r>
            <a:r>
              <a:rPr lang="en-US" dirty="0"/>
              <a:t> group by job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ANALYST		3000.000000</a:t>
            </a:r>
          </a:p>
          <a:p>
            <a:r>
              <a:rPr lang="en-US" dirty="0"/>
              <a:t>CLERK		1037.500000</a:t>
            </a:r>
          </a:p>
          <a:p>
            <a:r>
              <a:rPr lang="en-US" dirty="0"/>
              <a:t>MANAGER	2758.333333</a:t>
            </a:r>
          </a:p>
          <a:p>
            <a:r>
              <a:rPr lang="en-US" dirty="0"/>
              <a:t>PRESIDENT	5000.000000</a:t>
            </a:r>
          </a:p>
          <a:p>
            <a:r>
              <a:rPr lang="en-US" dirty="0"/>
              <a:t>SALESMAN	1400.000000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036830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SELECT 'Average Sal' AS </a:t>
            </a:r>
            <a:r>
              <a:rPr lang="en-US" dirty="0" err="1"/>
              <a:t>Average_Sal_by_Dept_No</a:t>
            </a:r>
            <a:r>
              <a:rPr lang="en-US" dirty="0"/>
              <a:t>, </a:t>
            </a:r>
          </a:p>
          <a:p>
            <a:r>
              <a:rPr lang="en-US" dirty="0"/>
              <a:t>[10], [20], [30], [40]</a:t>
            </a:r>
          </a:p>
          <a:p>
            <a:r>
              <a:rPr lang="en-US" dirty="0"/>
              <a:t>FROM</a:t>
            </a:r>
          </a:p>
          <a:p>
            <a:r>
              <a:rPr lang="en-US" dirty="0"/>
              <a:t>(SELECT </a:t>
            </a:r>
            <a:r>
              <a:rPr lang="en-US" dirty="0" err="1"/>
              <a:t>DeptNo</a:t>
            </a:r>
            <a:r>
              <a:rPr lang="en-US" dirty="0"/>
              <a:t>, Sal </a:t>
            </a:r>
          </a:p>
          <a:p>
            <a:r>
              <a:rPr lang="en-US" dirty="0"/>
              <a:t>    FROM </a:t>
            </a:r>
            <a:r>
              <a:rPr lang="en-US" dirty="0" err="1"/>
              <a:t>Emp</a:t>
            </a:r>
            <a:r>
              <a:rPr lang="en-US" dirty="0"/>
              <a:t>) AS </a:t>
            </a:r>
            <a:r>
              <a:rPr lang="en-US" dirty="0" err="1"/>
              <a:t>SourceTable</a:t>
            </a:r>
            <a:endParaRPr lang="en-US" dirty="0"/>
          </a:p>
          <a:p>
            <a:r>
              <a:rPr lang="en-US" dirty="0"/>
              <a:t>PIVOT</a:t>
            </a:r>
          </a:p>
          <a:p>
            <a:r>
              <a:rPr lang="en-US" dirty="0"/>
              <a:t>(</a:t>
            </a:r>
          </a:p>
          <a:p>
            <a:r>
              <a:rPr lang="en-US" dirty="0"/>
              <a:t>AVG(Sal)</a:t>
            </a:r>
          </a:p>
          <a:p>
            <a:r>
              <a:rPr lang="en-US" dirty="0"/>
              <a:t>FOR </a:t>
            </a:r>
            <a:r>
              <a:rPr lang="en-US" dirty="0" err="1"/>
              <a:t>DeptNo</a:t>
            </a:r>
            <a:r>
              <a:rPr lang="en-US" dirty="0"/>
              <a:t> IN ([10], [20], [30], [40])</a:t>
            </a:r>
          </a:p>
          <a:p>
            <a:r>
              <a:rPr lang="en-US" dirty="0"/>
              <a:t>) AS PivotTable;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52367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Average_Sal_by_Dept_No</a:t>
            </a:r>
            <a:r>
              <a:rPr lang="en-US" sz="2800" dirty="0"/>
              <a:t>	10	20	30	40</a:t>
            </a:r>
          </a:p>
          <a:p>
            <a:r>
              <a:rPr lang="en-US" sz="2800" dirty="0"/>
              <a:t>Average Sal	2916.66	2175.00	1566.66	NULL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80776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SELECT *</a:t>
            </a:r>
          </a:p>
          <a:p>
            <a:r>
              <a:rPr lang="en-US" dirty="0"/>
              <a:t>FROM</a:t>
            </a:r>
          </a:p>
          <a:p>
            <a:r>
              <a:rPr lang="en-US" dirty="0"/>
              <a:t>(SELECT Job, Sal </a:t>
            </a:r>
          </a:p>
          <a:p>
            <a:r>
              <a:rPr lang="en-US" dirty="0"/>
              <a:t>    FROM </a:t>
            </a:r>
            <a:r>
              <a:rPr lang="en-US" dirty="0" err="1"/>
              <a:t>Emp</a:t>
            </a:r>
            <a:r>
              <a:rPr lang="en-US" dirty="0"/>
              <a:t>) AS </a:t>
            </a:r>
            <a:r>
              <a:rPr lang="en-US" dirty="0" err="1"/>
              <a:t>SourceTable</a:t>
            </a:r>
            <a:endParaRPr lang="en-US" dirty="0"/>
          </a:p>
          <a:p>
            <a:r>
              <a:rPr lang="en-US" dirty="0"/>
              <a:t>PIVOT</a:t>
            </a:r>
          </a:p>
          <a:p>
            <a:r>
              <a:rPr lang="en-US" dirty="0"/>
              <a:t>(</a:t>
            </a:r>
          </a:p>
          <a:p>
            <a:r>
              <a:rPr lang="en-US" dirty="0"/>
              <a:t>AVG(Sal)</a:t>
            </a:r>
          </a:p>
          <a:p>
            <a:r>
              <a:rPr lang="en-US" dirty="0"/>
              <a:t>FOR Job IN ([ANALYST], [CLERK], [MANAGER], [PRESIDENT], [SALESMAN])</a:t>
            </a:r>
          </a:p>
          <a:p>
            <a:r>
              <a:rPr lang="en-US" dirty="0"/>
              <a:t>) AS PivotTable;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730404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ANALYST	CLERK	MANAGER	PRESIDENT	SALESMAN</a:t>
            </a:r>
          </a:p>
          <a:p>
            <a:r>
              <a:rPr lang="en-US" sz="2800" dirty="0"/>
              <a:t>3000.00	1037.50	2758.33	5000.00 1400.00</a:t>
            </a:r>
          </a:p>
          <a:p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52236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Hierarchical Queries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37953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Express Parent-Child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e.ename</a:t>
            </a:r>
            <a:r>
              <a:rPr lang="en-US" dirty="0"/>
              <a:t>, </a:t>
            </a:r>
            <a:r>
              <a:rPr lang="en-US" dirty="0" err="1"/>
              <a:t>m.ename</a:t>
            </a:r>
            <a:r>
              <a:rPr lang="en-US" dirty="0"/>
              <a:t> as manager </a:t>
            </a:r>
          </a:p>
          <a:p>
            <a:r>
              <a:rPr lang="en-US" dirty="0"/>
              <a:t>FROM </a:t>
            </a:r>
            <a:r>
              <a:rPr lang="en-US" dirty="0" err="1"/>
              <a:t>emp</a:t>
            </a:r>
            <a:r>
              <a:rPr lang="en-US" dirty="0"/>
              <a:t> e LEFT OUTER JOIN </a:t>
            </a:r>
            <a:r>
              <a:rPr lang="en-US" dirty="0" err="1"/>
              <a:t>emp</a:t>
            </a:r>
            <a:r>
              <a:rPr lang="en-US" dirty="0"/>
              <a:t> m </a:t>
            </a:r>
          </a:p>
          <a:p>
            <a:r>
              <a:rPr lang="en-US" dirty="0"/>
              <a:t>ON </a:t>
            </a:r>
            <a:r>
              <a:rPr lang="en-US" dirty="0" err="1"/>
              <a:t>e.mgr</a:t>
            </a:r>
            <a:r>
              <a:rPr lang="en-US" dirty="0"/>
              <a:t> = </a:t>
            </a:r>
            <a:r>
              <a:rPr lang="en-US" dirty="0" err="1"/>
              <a:t>m.empno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39882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Child-Parent-Grandparent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</a:t>
            </a:r>
          </a:p>
          <a:p>
            <a:r>
              <a:rPr lang="en-US" dirty="0" err="1"/>
              <a:t>c.ename</a:t>
            </a:r>
            <a:r>
              <a:rPr lang="en-US" dirty="0"/>
              <a:t> as Child,</a:t>
            </a:r>
          </a:p>
          <a:p>
            <a:r>
              <a:rPr lang="en-US" dirty="0" err="1"/>
              <a:t>p.ename</a:t>
            </a:r>
            <a:r>
              <a:rPr lang="en-US" dirty="0"/>
              <a:t> as Parent,</a:t>
            </a:r>
          </a:p>
          <a:p>
            <a:r>
              <a:rPr lang="en-US" dirty="0" err="1"/>
              <a:t>g.ename</a:t>
            </a:r>
            <a:r>
              <a:rPr lang="en-US" dirty="0"/>
              <a:t> as Grandparent</a:t>
            </a:r>
          </a:p>
          <a:p>
            <a:r>
              <a:rPr lang="en-US" dirty="0"/>
              <a:t>FROM </a:t>
            </a:r>
            <a:r>
              <a:rPr lang="en-US" dirty="0" err="1"/>
              <a:t>emp</a:t>
            </a:r>
            <a:r>
              <a:rPr lang="en-US" dirty="0"/>
              <a:t> c </a:t>
            </a:r>
          </a:p>
          <a:p>
            <a:r>
              <a:rPr lang="en-US" dirty="0"/>
              <a:t>LEFT OUTER JOIN </a:t>
            </a:r>
            <a:r>
              <a:rPr lang="en-US" dirty="0" err="1"/>
              <a:t>emp</a:t>
            </a:r>
            <a:r>
              <a:rPr lang="en-US" dirty="0"/>
              <a:t> p ON </a:t>
            </a:r>
            <a:r>
              <a:rPr lang="en-US" dirty="0" err="1"/>
              <a:t>c.mgr</a:t>
            </a:r>
            <a:r>
              <a:rPr lang="en-US" dirty="0"/>
              <a:t> = </a:t>
            </a:r>
            <a:r>
              <a:rPr lang="en-US" dirty="0" err="1"/>
              <a:t>p.empno</a:t>
            </a:r>
            <a:endParaRPr lang="en-US" dirty="0"/>
          </a:p>
          <a:p>
            <a:r>
              <a:rPr lang="en-US" dirty="0"/>
              <a:t>LEFT OUTER JOIN </a:t>
            </a:r>
            <a:r>
              <a:rPr lang="en-US" dirty="0" err="1"/>
              <a:t>emp</a:t>
            </a:r>
            <a:r>
              <a:rPr lang="en-US" dirty="0"/>
              <a:t> g ON </a:t>
            </a:r>
            <a:r>
              <a:rPr lang="en-US" dirty="0" err="1"/>
              <a:t>p.mgr</a:t>
            </a:r>
            <a:r>
              <a:rPr lang="en-US" dirty="0"/>
              <a:t> = </a:t>
            </a:r>
            <a:r>
              <a:rPr lang="en-US" dirty="0" err="1"/>
              <a:t>g.empno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597078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Child		Parent	Grandparent</a:t>
            </a:r>
          </a:p>
          <a:p>
            <a:r>
              <a:rPr lang="en-US" dirty="0"/>
              <a:t>SMITH	FORD	JONES</a:t>
            </a:r>
          </a:p>
          <a:p>
            <a:r>
              <a:rPr lang="en-US" dirty="0"/>
              <a:t>ALLEN	BLAKE	KING</a:t>
            </a:r>
          </a:p>
          <a:p>
            <a:r>
              <a:rPr lang="en-US" dirty="0"/>
              <a:t>WARD	BLAKE	KING</a:t>
            </a:r>
          </a:p>
          <a:p>
            <a:r>
              <a:rPr lang="en-US" dirty="0"/>
              <a:t>JONES	KING	NULL</a:t>
            </a:r>
          </a:p>
          <a:p>
            <a:r>
              <a:rPr lang="en-US" dirty="0"/>
              <a:t>MARTIN	BLAKE	KING</a:t>
            </a:r>
          </a:p>
          <a:p>
            <a:r>
              <a:rPr lang="en-US" dirty="0"/>
              <a:t>BLAKE	KING	NULL</a:t>
            </a:r>
          </a:p>
          <a:p>
            <a:r>
              <a:rPr lang="en-US" dirty="0"/>
              <a:t>CLARK	KING	NULL</a:t>
            </a:r>
          </a:p>
          <a:p>
            <a:r>
              <a:rPr lang="en-US" dirty="0"/>
              <a:t>SCOTT	JONES	KING</a:t>
            </a:r>
          </a:p>
          <a:p>
            <a:r>
              <a:rPr lang="en-US" dirty="0"/>
              <a:t>KING		NULL	NULL</a:t>
            </a:r>
          </a:p>
          <a:p>
            <a:r>
              <a:rPr lang="en-US" dirty="0"/>
              <a:t>TURNER	BLAKE	KING</a:t>
            </a:r>
          </a:p>
          <a:p>
            <a:r>
              <a:rPr lang="en-US" dirty="0"/>
              <a:t>ADAMS	SCOTT	JONES</a:t>
            </a:r>
          </a:p>
          <a:p>
            <a:r>
              <a:rPr lang="en-US" dirty="0"/>
              <a:t>JAMES	BLAKE	KING</a:t>
            </a:r>
          </a:p>
          <a:p>
            <a:r>
              <a:rPr lang="en-US" dirty="0"/>
              <a:t>FORD		JONES	KING</a:t>
            </a:r>
          </a:p>
          <a:p>
            <a:r>
              <a:rPr lang="en-US" dirty="0"/>
              <a:t>MILLER	CLARK	KING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81902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 with  x (</a:t>
            </a:r>
            <a:r>
              <a:rPr lang="en-US" dirty="0" err="1"/>
              <a:t>tree,mgr,depth</a:t>
            </a:r>
            <a:r>
              <a:rPr lang="en-US" dirty="0"/>
              <a:t>)</a:t>
            </a:r>
          </a:p>
          <a:p>
            <a:r>
              <a:rPr lang="en-US" dirty="0"/>
              <a:t> as  ( </a:t>
            </a:r>
          </a:p>
          <a:p>
            <a:r>
              <a:rPr lang="en-US" dirty="0"/>
              <a:t> select  cast(</a:t>
            </a:r>
            <a:r>
              <a:rPr lang="en-US" dirty="0" err="1"/>
              <a:t>ename</a:t>
            </a:r>
            <a:r>
              <a:rPr lang="en-US" dirty="0"/>
              <a:t> as varchar(100)), </a:t>
            </a:r>
            <a:r>
              <a:rPr lang="en-US" dirty="0" err="1"/>
              <a:t>mgr</a:t>
            </a:r>
            <a:r>
              <a:rPr lang="en-US" dirty="0"/>
              <a:t>, 0</a:t>
            </a:r>
          </a:p>
          <a:p>
            <a:r>
              <a:rPr lang="en-US" dirty="0"/>
              <a:t> from  </a:t>
            </a:r>
            <a:r>
              <a:rPr lang="en-US" dirty="0" err="1"/>
              <a:t>emp</a:t>
            </a:r>
            <a:r>
              <a:rPr lang="en-US" dirty="0"/>
              <a:t> </a:t>
            </a:r>
          </a:p>
          <a:p>
            <a:r>
              <a:rPr lang="en-US" dirty="0"/>
              <a:t> union  all </a:t>
            </a:r>
          </a:p>
          <a:p>
            <a:r>
              <a:rPr lang="en-US" dirty="0"/>
              <a:t> select  cast(</a:t>
            </a:r>
            <a:r>
              <a:rPr lang="en-US" dirty="0" err="1"/>
              <a:t>x.tree</a:t>
            </a:r>
            <a:r>
              <a:rPr lang="en-US" dirty="0"/>
              <a:t>+'--&gt;'+</a:t>
            </a:r>
            <a:r>
              <a:rPr lang="en-US" dirty="0" err="1"/>
              <a:t>e.ename</a:t>
            </a:r>
            <a:r>
              <a:rPr lang="en-US" dirty="0"/>
              <a:t> as varchar(100)), </a:t>
            </a:r>
            <a:r>
              <a:rPr lang="en-US" dirty="0" err="1"/>
              <a:t>e.mgr</a:t>
            </a:r>
            <a:r>
              <a:rPr lang="en-US" dirty="0"/>
              <a:t>, x.depth+1</a:t>
            </a:r>
          </a:p>
          <a:p>
            <a:r>
              <a:rPr lang="en-US" dirty="0"/>
              <a:t> from  </a:t>
            </a:r>
            <a:r>
              <a:rPr lang="en-US" dirty="0" err="1"/>
              <a:t>emp</a:t>
            </a:r>
            <a:r>
              <a:rPr lang="en-US" dirty="0"/>
              <a:t> e, x where </a:t>
            </a:r>
            <a:r>
              <a:rPr lang="en-US" dirty="0" err="1"/>
              <a:t>x.mgr</a:t>
            </a:r>
            <a:r>
              <a:rPr lang="en-US" dirty="0"/>
              <a:t> = </a:t>
            </a:r>
            <a:r>
              <a:rPr lang="en-US" dirty="0" err="1"/>
              <a:t>e.empno</a:t>
            </a:r>
            <a:r>
              <a:rPr lang="en-US" dirty="0"/>
              <a:t> ) </a:t>
            </a:r>
          </a:p>
          <a:p>
            <a:endParaRPr lang="en-US" sz="1900" dirty="0"/>
          </a:p>
          <a:p>
            <a:r>
              <a:rPr lang="en-US" dirty="0"/>
              <a:t>select tree </a:t>
            </a:r>
            <a:r>
              <a:rPr lang="en-US" dirty="0" err="1"/>
              <a:t>leaf___branch___root</a:t>
            </a:r>
            <a:r>
              <a:rPr lang="en-US" dirty="0"/>
              <a:t> from x</a:t>
            </a:r>
          </a:p>
          <a:p>
            <a:r>
              <a:rPr lang="en-US" dirty="0"/>
              <a:t>where depth =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054950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tree					</a:t>
            </a:r>
            <a:r>
              <a:rPr lang="en-US" dirty="0" err="1"/>
              <a:t>mgr</a:t>
            </a:r>
            <a:r>
              <a:rPr lang="en-US" dirty="0"/>
              <a:t>	depth</a:t>
            </a:r>
          </a:p>
          <a:p>
            <a:r>
              <a:rPr lang="en-US" dirty="0"/>
              <a:t>MILLER--&gt;CLARK--&gt;KING		NULL	2</a:t>
            </a:r>
          </a:p>
          <a:p>
            <a:r>
              <a:rPr lang="en-US" dirty="0"/>
              <a:t>FORD--&gt;JONES--&gt;KING		NULL	2</a:t>
            </a:r>
          </a:p>
          <a:p>
            <a:r>
              <a:rPr lang="en-US" dirty="0"/>
              <a:t>JAMES--&gt;BLAKE--&gt;KING		NULL	2</a:t>
            </a:r>
          </a:p>
          <a:p>
            <a:r>
              <a:rPr lang="en-US" dirty="0"/>
              <a:t>ADAMS--&gt;SCOTT--&gt;JONES	7839	2</a:t>
            </a:r>
          </a:p>
          <a:p>
            <a:r>
              <a:rPr lang="en-US" dirty="0"/>
              <a:t>TURNER--&gt;BLAKE--&gt;KING		NULL	2</a:t>
            </a:r>
          </a:p>
          <a:p>
            <a:r>
              <a:rPr lang="en-US" dirty="0"/>
              <a:t>SCOTT--&gt;JONES--&gt;KING		NULL	2</a:t>
            </a:r>
          </a:p>
          <a:p>
            <a:r>
              <a:rPr lang="en-US" dirty="0"/>
              <a:t>MARTIN--&gt;BLAKE--&gt;KING		NULL	2</a:t>
            </a:r>
          </a:p>
          <a:p>
            <a:r>
              <a:rPr lang="en-US" dirty="0"/>
              <a:t>WARD--&gt;BLAKE--&gt;KING		NULL	2</a:t>
            </a:r>
          </a:p>
          <a:p>
            <a:r>
              <a:rPr lang="en-US" dirty="0"/>
              <a:t>ALLEN--&gt;BLAKE--&gt;KING		NULL	2</a:t>
            </a:r>
          </a:p>
          <a:p>
            <a:r>
              <a:rPr lang="en-US" dirty="0"/>
              <a:t>SMITH--&gt;FORD--&gt;JONES		7839	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43022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where depth =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tree					</a:t>
            </a:r>
            <a:r>
              <a:rPr lang="en-US" dirty="0" err="1"/>
              <a:t>mgr</a:t>
            </a:r>
            <a:r>
              <a:rPr lang="en-US" dirty="0"/>
              <a:t>	depth</a:t>
            </a:r>
          </a:p>
          <a:p>
            <a:r>
              <a:rPr lang="en-US" dirty="0"/>
              <a:t>ADAMS--&gt;SCOTT--&gt;JONES--&gt;KING	NULL	3</a:t>
            </a:r>
          </a:p>
          <a:p>
            <a:r>
              <a:rPr lang="en-US" dirty="0"/>
              <a:t>SMITH--&gt;FORD--&gt;JONES--&gt;KING	NULL	3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095269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Create Hierarchical View of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 with  x (</a:t>
            </a:r>
            <a:r>
              <a:rPr lang="en-US" dirty="0" err="1"/>
              <a:t>ename,tree,mgr,depth</a:t>
            </a:r>
            <a:r>
              <a:rPr lang="en-US" dirty="0"/>
              <a:t>)</a:t>
            </a:r>
          </a:p>
          <a:p>
            <a:r>
              <a:rPr lang="en-US" dirty="0"/>
              <a:t> as  ( </a:t>
            </a:r>
          </a:p>
          <a:p>
            <a:r>
              <a:rPr lang="en-US" dirty="0"/>
              <a:t> select  </a:t>
            </a:r>
            <a:r>
              <a:rPr lang="en-US" dirty="0" err="1"/>
              <a:t>ename</a:t>
            </a:r>
            <a:r>
              <a:rPr lang="en-US" dirty="0"/>
              <a:t>, cast(</a:t>
            </a:r>
            <a:r>
              <a:rPr lang="en-US" dirty="0" err="1"/>
              <a:t>ename</a:t>
            </a:r>
            <a:r>
              <a:rPr lang="en-US" dirty="0"/>
              <a:t> as varchar(100)), </a:t>
            </a:r>
            <a:r>
              <a:rPr lang="en-US" dirty="0" err="1"/>
              <a:t>mgr</a:t>
            </a:r>
            <a:r>
              <a:rPr lang="en-US" dirty="0"/>
              <a:t>, 0</a:t>
            </a:r>
          </a:p>
          <a:p>
            <a:r>
              <a:rPr lang="en-US" dirty="0"/>
              <a:t> from  </a:t>
            </a:r>
            <a:r>
              <a:rPr lang="en-US" dirty="0" err="1"/>
              <a:t>emp</a:t>
            </a:r>
            <a:r>
              <a:rPr lang="en-US" dirty="0"/>
              <a:t> </a:t>
            </a:r>
          </a:p>
          <a:p>
            <a:r>
              <a:rPr lang="en-US" dirty="0"/>
              <a:t> union  all </a:t>
            </a:r>
          </a:p>
          <a:p>
            <a:r>
              <a:rPr lang="en-US" dirty="0"/>
              <a:t> select  </a:t>
            </a:r>
            <a:r>
              <a:rPr lang="en-US" dirty="0" err="1"/>
              <a:t>x.ename</a:t>
            </a:r>
            <a:r>
              <a:rPr lang="en-US" dirty="0"/>
              <a:t>, cast(</a:t>
            </a:r>
            <a:r>
              <a:rPr lang="en-US" dirty="0" err="1"/>
              <a:t>x.tree</a:t>
            </a:r>
            <a:r>
              <a:rPr lang="en-US" dirty="0"/>
              <a:t>+'--&gt;'+</a:t>
            </a:r>
            <a:r>
              <a:rPr lang="en-US" dirty="0" err="1"/>
              <a:t>e.ename</a:t>
            </a:r>
            <a:r>
              <a:rPr lang="en-US" dirty="0"/>
              <a:t> as varchar(100)), </a:t>
            </a:r>
            <a:r>
              <a:rPr lang="en-US" dirty="0" err="1"/>
              <a:t>e.mgr</a:t>
            </a:r>
            <a:r>
              <a:rPr lang="en-US" dirty="0"/>
              <a:t>, x.depth+1</a:t>
            </a:r>
          </a:p>
          <a:p>
            <a:r>
              <a:rPr lang="en-US" dirty="0"/>
              <a:t> from  </a:t>
            </a:r>
            <a:r>
              <a:rPr lang="en-US" dirty="0" err="1"/>
              <a:t>emp</a:t>
            </a:r>
            <a:r>
              <a:rPr lang="en-US" dirty="0"/>
              <a:t> e, x where </a:t>
            </a:r>
            <a:r>
              <a:rPr lang="en-US" dirty="0" err="1"/>
              <a:t>x.mgr</a:t>
            </a:r>
            <a:r>
              <a:rPr lang="en-US" dirty="0"/>
              <a:t> = </a:t>
            </a:r>
            <a:r>
              <a:rPr lang="en-US" dirty="0" err="1"/>
              <a:t>e.empno</a:t>
            </a:r>
            <a:r>
              <a:rPr lang="en-US" dirty="0"/>
              <a:t> ) </a:t>
            </a:r>
          </a:p>
          <a:p>
            <a:r>
              <a:rPr lang="en-US" sz="1900" dirty="0"/>
              <a:t> </a:t>
            </a:r>
          </a:p>
          <a:p>
            <a:r>
              <a:rPr lang="en-US" dirty="0"/>
              <a:t>  select </a:t>
            </a:r>
            <a:r>
              <a:rPr lang="en-US" dirty="0" err="1"/>
              <a:t>ename</a:t>
            </a:r>
            <a:r>
              <a:rPr lang="en-US" dirty="0"/>
              <a:t>, </a:t>
            </a:r>
            <a:r>
              <a:rPr lang="en-US" dirty="0" err="1"/>
              <a:t>tree,depth</a:t>
            </a:r>
            <a:r>
              <a:rPr lang="en-US" dirty="0"/>
              <a:t> from x where </a:t>
            </a:r>
            <a:r>
              <a:rPr lang="en-US" dirty="0" err="1"/>
              <a:t>mgr</a:t>
            </a:r>
            <a:r>
              <a:rPr lang="en-US" dirty="0"/>
              <a:t> is null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455454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000" dirty="0" err="1"/>
              <a:t>ename</a:t>
            </a:r>
            <a:r>
              <a:rPr lang="en-US" sz="2000" dirty="0"/>
              <a:t>	tree				depth</a:t>
            </a:r>
          </a:p>
          <a:p>
            <a:r>
              <a:rPr lang="en-US" sz="2000" dirty="0"/>
              <a:t>KING		KING				0</a:t>
            </a:r>
          </a:p>
          <a:p>
            <a:r>
              <a:rPr lang="en-US" sz="2000" dirty="0"/>
              <a:t>MILLER	MILLER--&gt;CLARK--&gt;KING		2</a:t>
            </a:r>
          </a:p>
          <a:p>
            <a:r>
              <a:rPr lang="en-US" sz="2000" dirty="0"/>
              <a:t>FORD		FORD--&gt;JONES--&gt;KING		2</a:t>
            </a:r>
          </a:p>
          <a:p>
            <a:r>
              <a:rPr lang="en-US" sz="2000" dirty="0"/>
              <a:t>JAMES	JAMES--&gt;BLAKE--&gt;KING		2</a:t>
            </a:r>
          </a:p>
          <a:p>
            <a:r>
              <a:rPr lang="en-US" sz="2000" dirty="0"/>
              <a:t>ADAMS	ADAMS--&gt;SCOTT--&gt;JONES--&gt;KING	3</a:t>
            </a:r>
          </a:p>
          <a:p>
            <a:r>
              <a:rPr lang="en-US" sz="2000" dirty="0"/>
              <a:t>TURNER	TURNER--&gt;BLAKE--&gt;KING		2</a:t>
            </a:r>
          </a:p>
          <a:p>
            <a:r>
              <a:rPr lang="en-US" sz="2000" dirty="0"/>
              <a:t>SCOTT	SCOTT--&gt;JONES--&gt;KING		2</a:t>
            </a:r>
          </a:p>
          <a:p>
            <a:r>
              <a:rPr lang="en-US" sz="2000" dirty="0"/>
              <a:t>CLARK	CLARK--&gt;KING			1</a:t>
            </a:r>
          </a:p>
          <a:p>
            <a:r>
              <a:rPr lang="en-US" sz="2000" dirty="0"/>
              <a:t>BLAKE	BLAKE--&gt;KING			1</a:t>
            </a:r>
          </a:p>
          <a:p>
            <a:r>
              <a:rPr lang="en-US" sz="2000" dirty="0"/>
              <a:t>MARTIN	MARTIN--&gt;BLAKE--&gt;KING		2</a:t>
            </a:r>
          </a:p>
          <a:p>
            <a:r>
              <a:rPr lang="en-US" sz="2000" dirty="0"/>
              <a:t>JONES	JONES--&gt;KING			1</a:t>
            </a:r>
          </a:p>
          <a:p>
            <a:r>
              <a:rPr lang="en-US" sz="2000" dirty="0"/>
              <a:t>WARD	WARD--&gt;BLAKE--&gt;KING		2</a:t>
            </a:r>
          </a:p>
          <a:p>
            <a:r>
              <a:rPr lang="en-US" sz="2000" dirty="0"/>
              <a:t>ALLEN	ALLEN--&gt;BLAKE--&gt;KING		2</a:t>
            </a:r>
          </a:p>
          <a:p>
            <a:r>
              <a:rPr lang="en-US" sz="2000" dirty="0"/>
              <a:t>SMITH	SMITH--&gt;FORD--&gt;JONES--&gt;KING	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62900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It's good to be the </a:t>
            </a:r>
            <a:r>
              <a:rPr lang="en-US" b="1" dirty="0">
                <a:hlinkClick r:id="rId2"/>
              </a:rPr>
              <a:t>King!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150351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Course    Notes    05    –    beyond SELECT Structured Query Language </a:t>
            </a:r>
            <a:endParaRPr lang="en-US" dirty="0"/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</a:t>
            </a:r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endParaRPr lang="en-US" sz="3600" b="1" dirty="0"/>
          </a:p>
          <a:p>
            <a:pPr>
              <a:buFont typeface="Wingdings" pitchFamily="2" charset="2"/>
              <a:buNone/>
            </a:pPr>
            <a:endParaRPr lang="en-US" sz="3600" b="1" dirty="0"/>
          </a:p>
          <a:p>
            <a:pPr>
              <a:buFont typeface="Wingdings" pitchFamily="2" charset="2"/>
              <a:buNone/>
            </a:pPr>
            <a:r>
              <a:rPr lang="en-US" sz="3600" b="1" dirty="0"/>
              <a:t>Thank    you    for    your    kindly    attention!</a:t>
            </a:r>
          </a:p>
          <a:p>
            <a:endParaRPr lang="en-US" dirty="0"/>
          </a:p>
        </p:txBody>
      </p:sp>
      <p:sp>
        <p:nvSpPr>
          <p:cNvPr id="7066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F3BE32D-54EC-42AB-88FA-D0013CCE5E85}" type="slidenum">
              <a:rPr lang="en-US" smtClean="0"/>
              <a:pPr/>
              <a:t>215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10057</Words>
  <Application>Microsoft Office PowerPoint</Application>
  <PresentationFormat>On-screen Show (4:3)</PresentationFormat>
  <Paragraphs>1927</Paragraphs>
  <Slides>215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215</vt:i4>
      </vt:variant>
    </vt:vector>
  </HeadingPairs>
  <TitlesOfParts>
    <vt:vector size="219" baseType="lpstr">
      <vt:lpstr>Arial</vt:lpstr>
      <vt:lpstr>Calibri</vt:lpstr>
      <vt:lpstr>Wingdings</vt:lpstr>
      <vt:lpstr>Office Theme</vt:lpstr>
      <vt:lpstr> Structured    Query    Language</vt:lpstr>
      <vt:lpstr>select    *    from    emp;</vt:lpstr>
      <vt:lpstr>select * from dept;</vt:lpstr>
      <vt:lpstr>select * from emp_bonus</vt:lpstr>
      <vt:lpstr>select id from t10;</vt:lpstr>
      <vt:lpstr>PowerPoint Presentation</vt:lpstr>
      <vt:lpstr>INSERT</vt:lpstr>
      <vt:lpstr>Copy rows from one table into another</vt:lpstr>
      <vt:lpstr>Block Insert to certain columns</vt:lpstr>
      <vt:lpstr>PowerPoint Presentation</vt:lpstr>
      <vt:lpstr>UPDATE</vt:lpstr>
      <vt:lpstr>Update when corresponding rows exist</vt:lpstr>
      <vt:lpstr>Update with values from another table</vt:lpstr>
      <vt:lpstr>Update with values from another table</vt:lpstr>
      <vt:lpstr>Delete records from table</vt:lpstr>
      <vt:lpstr>PowerPoint Presentation</vt:lpstr>
      <vt:lpstr>OBJECT_ID('[ database_name . [ schema_name ] .] object_name' [ ,'object_type' ]);</vt:lpstr>
      <vt:lpstr>DB_ID ( [ 'database_name' ] ) RETURNS int;</vt:lpstr>
      <vt:lpstr>DB_NAME ( [ database_id ] ) RETURNS nvarchar(128);</vt:lpstr>
      <vt:lpstr>USER_NAME ( [ server_user_id ] ) RETURNS nvarchar(128);</vt:lpstr>
      <vt:lpstr>HOST_NAME() RETURNS nvarchar(128);</vt:lpstr>
      <vt:lpstr>List Tables in Schema</vt:lpstr>
      <vt:lpstr>List Table’s Columns (Indexed)</vt:lpstr>
      <vt:lpstr>List Constraints on Table</vt:lpstr>
      <vt:lpstr>PowerPoint Presentation</vt:lpstr>
      <vt:lpstr>PARSE ( string_value AS data_type [ USING culture ] )</vt:lpstr>
      <vt:lpstr>PARSE ( string_value AS data_type [ USING culture ] )</vt:lpstr>
      <vt:lpstr>TRY_PARSE ( string_value AS data_type [ USING culture ] ) </vt:lpstr>
      <vt:lpstr>CAST ( Expression AS DataType [ ( length ) ] )</vt:lpstr>
      <vt:lpstr>CONVERT(DataType [ ( length ) ] , Expression [ , style ])</vt:lpstr>
      <vt:lpstr>int LEN(String)</vt:lpstr>
      <vt:lpstr>CONCAT(string string_value1, string str_val2 [, string str_val_N]) RETURNS string;</vt:lpstr>
      <vt:lpstr>int ASCII(String)</vt:lpstr>
      <vt:lpstr>CHAR(int value) RETURNS char;</vt:lpstr>
      <vt:lpstr>LOWER(String) RETURNS varchar; / UPPER(String) RETURNS varchar;</vt:lpstr>
      <vt:lpstr>LEFT(String, NumberOfCharacters) RETURNS varchar / RIGHT(String, NumberOfCharacters) RETURNS varchar</vt:lpstr>
      <vt:lpstr>REPLACE(String, FindString, ReplaceWith) RETURNS varchar;</vt:lpstr>
      <vt:lpstr>Embed Quotes Within String Literals</vt:lpstr>
      <vt:lpstr>Remove Unwanted Characters from String</vt:lpstr>
      <vt:lpstr>Extracting Initials from Name</vt:lpstr>
      <vt:lpstr>Extracting nth Delimited Substring Parsing an IP Address</vt:lpstr>
      <vt:lpstr>PowerPoint Presentation</vt:lpstr>
      <vt:lpstr>Mathematical Functions and Operators</vt:lpstr>
      <vt:lpstr>Arithmetic Functions</vt:lpstr>
      <vt:lpstr>Arithmetic Functions</vt:lpstr>
      <vt:lpstr>Trigonometric Functions</vt:lpstr>
      <vt:lpstr>Mathematical Functions</vt:lpstr>
      <vt:lpstr>Mathematical Functions</vt:lpstr>
      <vt:lpstr>Mathematical Functions</vt:lpstr>
      <vt:lpstr>Generate Running Total</vt:lpstr>
      <vt:lpstr>ENAME SAL RUNNING_TOTAL</vt:lpstr>
      <vt:lpstr>Calculate Mode  element that appears most frequently</vt:lpstr>
      <vt:lpstr>Compute Averages  Without High and Low Values</vt:lpstr>
      <vt:lpstr>PowerPoint Presentation</vt:lpstr>
      <vt:lpstr>DATE</vt:lpstr>
      <vt:lpstr>DATE</vt:lpstr>
      <vt:lpstr>DATE</vt:lpstr>
      <vt:lpstr>DATE DATEFROMPARTS(int year, int month, int day)</vt:lpstr>
      <vt:lpstr>GETDATE();  SYSDATETIME();</vt:lpstr>
      <vt:lpstr>Formatting &amp; Controlling Display of Dates</vt:lpstr>
      <vt:lpstr>FORMAT(value, nvarchar format [, culture ] ) RETURNS nvarchar</vt:lpstr>
      <vt:lpstr>Displaying the Numeric Day example</vt:lpstr>
      <vt:lpstr>Displaying Weekday Names</vt:lpstr>
      <vt:lpstr>Displaying Numeric Months</vt:lpstr>
      <vt:lpstr>Displaying Numeric Months</vt:lpstr>
      <vt:lpstr>Displaying the Year of a Date</vt:lpstr>
      <vt:lpstr>Operations on Dates </vt:lpstr>
      <vt:lpstr>DATEADD(TypeOfValue, ValueToAdd, DateOrTimeReferenced)</vt:lpstr>
      <vt:lpstr>DATEADD(TypeOfValue, ValueToAdd, DateOrTimeReferenced)</vt:lpstr>
      <vt:lpstr>DATEDIFF(TypeOfValue, StartDate, EndDate)</vt:lpstr>
      <vt:lpstr>PowerPoint Presentation</vt:lpstr>
      <vt:lpstr>DATEPART(int DatePart, date Value)</vt:lpstr>
      <vt:lpstr>DATEPART(int DatePart, date Value)</vt:lpstr>
      <vt:lpstr>int DAY(date Value);</vt:lpstr>
      <vt:lpstr>int MONTH(date Value);</vt:lpstr>
      <vt:lpstr>int YEAR(date Value);</vt:lpstr>
      <vt:lpstr>PowerPoint Presentation</vt:lpstr>
      <vt:lpstr>TIMEFROMPARTS(int hour, int minute, int seconds, int fractions, int precision) RETURNS time;</vt:lpstr>
      <vt:lpstr>DATEADD(TypeOfValue, ValueToAdd, DateOrTimeReferenced) DATEDIFF(TypeOfValue, StartDate, EndDate)</vt:lpstr>
      <vt:lpstr>PowerPoint Presentation</vt:lpstr>
      <vt:lpstr>Limiting the Number of Rows Returned</vt:lpstr>
      <vt:lpstr>Returning n Random Records from Table</vt:lpstr>
      <vt:lpstr>Transforming Nulls into Real Values</vt:lpstr>
      <vt:lpstr>Dealing with Nulls when Sorting</vt:lpstr>
      <vt:lpstr>Sorting on Data Dependent Key</vt:lpstr>
      <vt:lpstr>Using NULLs in Operations &amp; Comparisons</vt:lpstr>
      <vt:lpstr>Using NULLs in Operations &amp; Comparisons</vt:lpstr>
      <vt:lpstr>OVER(PARTITION BY ..)</vt:lpstr>
      <vt:lpstr>PowerPoint Presentation</vt:lpstr>
      <vt:lpstr>PowerPoint Presentation</vt:lpstr>
      <vt:lpstr>PowerPoint Presentation</vt:lpstr>
      <vt:lpstr>Perform SUM of only DISTINCT salaries</vt:lpstr>
      <vt:lpstr>using window function SUM OVER</vt:lpstr>
      <vt:lpstr>Window function</vt:lpstr>
      <vt:lpstr>Window function</vt:lpstr>
      <vt:lpstr> </vt:lpstr>
      <vt:lpstr>Partitions</vt:lpstr>
      <vt:lpstr>SELECT ID, Value, SUM(Value) AS "Sum", AVG(Value) AS "Avg", COUNT(Value) AS "Quantity" FROM TestAggregation GROUP BY ID;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SELECT id, SUM(value) FROM TestAggregation GROUP BY id</vt:lpstr>
      <vt:lpstr>SELECT  id, SUM(value) OVER (PARTITION BY ID) FROM TestAggregation</vt:lpstr>
      <vt:lpstr>SELECT DISTINCT id, SUM(value) OVER(PARTITION BY ID) FROM TestAggregation</vt:lpstr>
      <vt:lpstr>Windows Functions</vt:lpstr>
      <vt:lpstr>Windows Functions Aggregate Functions</vt:lpstr>
      <vt:lpstr>Windows Functions Aggregate Functions</vt:lpstr>
      <vt:lpstr>Windows Functions Aggregate Functions</vt:lpstr>
      <vt:lpstr>PowerPoint Presentation</vt:lpstr>
      <vt:lpstr>FROM EMP order by deptno, ename</vt:lpstr>
      <vt:lpstr>FROM EMP order by sal</vt:lpstr>
      <vt:lpstr>Row_Number()</vt:lpstr>
      <vt:lpstr>NTILE()</vt:lpstr>
      <vt:lpstr>Rank() &amp; Dense_Rank()</vt:lpstr>
      <vt:lpstr>Recursive Queries Using Common Table Expressions</vt:lpstr>
      <vt:lpstr>Create Delimited List from Table Rows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Common Table Expression (CTE)</vt:lpstr>
      <vt:lpstr>Hierarchical Data</vt:lpstr>
      <vt:lpstr>Structure of Recursive CTE</vt:lpstr>
      <vt:lpstr>Invocation of routine</vt:lpstr>
      <vt:lpstr>Recursive invocation of routine</vt:lpstr>
      <vt:lpstr>Termination check </vt:lpstr>
      <vt:lpstr>Structure of Recursive CTE</vt:lpstr>
      <vt:lpstr>PowerPoint Presentation</vt:lpstr>
      <vt:lpstr>Anchor</vt:lpstr>
      <vt:lpstr>1. Recursive </vt:lpstr>
      <vt:lpstr>1. Recursive </vt:lpstr>
      <vt:lpstr>2. Recursive</vt:lpstr>
      <vt:lpstr>2. Recursive</vt:lpstr>
      <vt:lpstr>5. Recursive</vt:lpstr>
      <vt:lpstr>5. Recursive</vt:lpstr>
      <vt:lpstr>5. Recursive</vt:lpstr>
      <vt:lpstr>5. Recursive</vt:lpstr>
      <vt:lpstr>5. Recursive</vt:lpstr>
      <vt:lpstr>5. Recursive</vt:lpstr>
      <vt:lpstr>PowerPoint Presentation</vt:lpstr>
      <vt:lpstr>PowerPoint Presentation</vt:lpstr>
      <vt:lpstr>Ranges</vt:lpstr>
      <vt:lpstr>1992: Institutul Politehnic Universitatea Tehnica din Cluj-Napoca</vt:lpstr>
      <vt:lpstr>1992: Institutul Politehnic Universitatea Tehnica din Cluj-Napoca</vt:lpstr>
      <vt:lpstr>Temporal DataBase</vt:lpstr>
      <vt:lpstr>Locate Range of Consecutive Values</vt:lpstr>
      <vt:lpstr>Locate Range of Consecutive Values</vt:lpstr>
      <vt:lpstr>PowerPoint Presentation</vt:lpstr>
      <vt:lpstr> Locate Beginning and End of Range of Consecutive Values</vt:lpstr>
      <vt:lpstr> Locate Beginning and End of Range of Consecutive Values</vt:lpstr>
      <vt:lpstr> Locate Beginning and End of Range of Consecutive Values</vt:lpstr>
      <vt:lpstr>PowerPoint Presentation</vt:lpstr>
      <vt:lpstr> V2</vt:lpstr>
      <vt:lpstr>PowerPoint Presentation</vt:lpstr>
      <vt:lpstr>PowerPoint Presentation</vt:lpstr>
      <vt:lpstr>PowerPoint Presentation</vt:lpstr>
      <vt:lpstr> </vt:lpstr>
      <vt:lpstr>Find Differences Between Rows in Same Group or Partition</vt:lpstr>
      <vt:lpstr>PowerPoint Presentation</vt:lpstr>
      <vt:lpstr>PowerPoint Presentation</vt:lpstr>
      <vt:lpstr>PowerPoint Presentation</vt:lpstr>
      <vt:lpstr>PowerPoint Presentation</vt:lpstr>
      <vt:lpstr> Generate Consecutive Numeric Values</vt:lpstr>
      <vt:lpstr>PowerPoint Presentation</vt:lpstr>
      <vt:lpstr>Paginate Through Result Set</vt:lpstr>
      <vt:lpstr>PowerPoint Presentation</vt:lpstr>
      <vt:lpstr>Skip Rows from Table</vt:lpstr>
      <vt:lpstr>Find Records with High &amp; Low Values</vt:lpstr>
      <vt:lpstr>PowerPoint Presentation</vt:lpstr>
      <vt:lpstr>PowerPoint Presentation</vt:lpstr>
      <vt:lpstr>Rank Results</vt:lpstr>
      <vt:lpstr>PowerPoint Presentation</vt:lpstr>
      <vt:lpstr>PowerPoint Presentation</vt:lpstr>
      <vt:lpstr>Pivot Result Set</vt:lpstr>
      <vt:lpstr>PowerPoint Presentation</vt:lpstr>
      <vt:lpstr>PowerPoint Presentation</vt:lpstr>
      <vt:lpstr>PowerPoint Presentation</vt:lpstr>
      <vt:lpstr>PowerPoint Presentation</vt:lpstr>
      <vt:lpstr>Pivot Result Set in Multiple Rows</vt:lpstr>
      <vt:lpstr>PowerPoint Presentation</vt:lpstr>
      <vt:lpstr>PowerPoint Presentation</vt:lpstr>
      <vt:lpstr>PowerPoint Presentation</vt:lpstr>
      <vt:lpstr> Calculate Simple Subtotals</vt:lpstr>
      <vt:lpstr>with rollup</vt:lpstr>
      <vt:lpstr>SQL Server Pivot Operator</vt:lpstr>
      <vt:lpstr>Create Cross-Tab Reports</vt:lpstr>
      <vt:lpstr>PowerPoint Presentation</vt:lpstr>
      <vt:lpstr>syntax for PIVOT</vt:lpstr>
      <vt:lpstr>syntax for PIVOT</vt:lpstr>
      <vt:lpstr>syntax for PIVOT</vt:lpstr>
      <vt:lpstr>syntax for PIVOT</vt:lpstr>
      <vt:lpstr>syntax for PIVOT</vt:lpstr>
      <vt:lpstr>select deptno, avg(sal)  from emp  group by deptno</vt:lpstr>
      <vt:lpstr>select job, avg(sal)  from emp group by job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Express Parent-Child Relationship</vt:lpstr>
      <vt:lpstr>Child-Parent-Grandparent </vt:lpstr>
      <vt:lpstr>PowerPoint Presentation</vt:lpstr>
      <vt:lpstr>PowerPoint Presentation</vt:lpstr>
      <vt:lpstr>PowerPoint Presentation</vt:lpstr>
      <vt:lpstr>where depth = 3</vt:lpstr>
      <vt:lpstr> Create Hierarchical View of Table</vt:lpstr>
      <vt:lpstr>PowerPoint Presentation</vt:lpstr>
      <vt:lpstr>PowerPoint Presentation</vt:lpstr>
      <vt:lpstr>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Structured Query Language</dc:title>
  <dc:creator>User</dc:creator>
  <cp:lastModifiedBy>Calin CENAN</cp:lastModifiedBy>
  <cp:revision>111</cp:revision>
  <dcterms:created xsi:type="dcterms:W3CDTF">2006-08-16T00:00:00Z</dcterms:created>
  <dcterms:modified xsi:type="dcterms:W3CDTF">2017-11-21T16:36:40Z</dcterms:modified>
</cp:coreProperties>
</file>