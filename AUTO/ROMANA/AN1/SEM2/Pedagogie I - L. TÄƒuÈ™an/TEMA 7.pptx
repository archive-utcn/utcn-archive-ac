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8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F0D9BFD-5AA6-4DE1-8434-309AB83671D4}" type="datetimeFigureOut">
              <a:rPr lang="en-US" smtClean="0"/>
              <a:pPr/>
              <a:t>11/3/2017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2168608-CA66-44C1-9722-E03B1E02D54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390FE8-0422-4549-AB2E-42EF35AB88AE}" type="slidenum">
              <a:rPr lang="ro-RO"/>
              <a:pPr/>
              <a:t>14</a:t>
            </a:fld>
            <a:endParaRPr lang="ro-RO"/>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BE5D7F4-D396-47F6-B0C4-CE4EBB6224A2}" type="datetimeFigureOut">
              <a:rPr lang="en-US" smtClean="0"/>
              <a:pPr/>
              <a:t>11/3/2017</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E5D7F4-D396-47F6-B0C4-CE4EBB6224A2}" type="datetimeFigureOut">
              <a:rPr lang="en-US" smtClean="0"/>
              <a:pPr/>
              <a:t>11/3/2017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BE5D7F4-D396-47F6-B0C4-CE4EBB6224A2}" type="datetimeFigureOut">
              <a:rPr lang="en-US" smtClean="0"/>
              <a:pPr/>
              <a:t>11/3/2017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E5D7F4-D396-47F6-B0C4-CE4EBB6224A2}" type="datetimeFigureOut">
              <a:rPr lang="en-US" smtClean="0"/>
              <a:pPr/>
              <a:t>11/3/2017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BE5D7F4-D396-47F6-B0C4-CE4EBB6224A2}" type="datetimeFigureOut">
              <a:rPr lang="en-US" smtClean="0"/>
              <a:pPr/>
              <a:t>11/3/2017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E5D7F4-D396-47F6-B0C4-CE4EBB6224A2}" type="datetimeFigureOut">
              <a:rPr lang="en-US" smtClean="0"/>
              <a:pPr/>
              <a:t>11/3/2017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E5D7F4-D396-47F6-B0C4-CE4EBB6224A2}" type="datetimeFigureOut">
              <a:rPr lang="en-US" smtClean="0"/>
              <a:pPr/>
              <a:t>11/3/2017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E5D7F4-D396-47F6-B0C4-CE4EBB6224A2}" type="datetimeFigureOut">
              <a:rPr lang="en-US" smtClean="0"/>
              <a:pPr/>
              <a:t>11/3/2017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E5D7F4-D396-47F6-B0C4-CE4EBB6224A2}" type="datetimeFigureOut">
              <a:rPr lang="en-US" smtClean="0"/>
              <a:pPr/>
              <a:t>11/3/2017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60B5A1C9-05F3-4A51-A179-DEED95BCC365}"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E5D7F4-D396-47F6-B0C4-CE4EBB6224A2}" type="datetimeFigureOut">
              <a:rPr lang="en-US" smtClean="0"/>
              <a:pPr/>
              <a:t>11/3/2017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E5D7F4-D396-47F6-B0C4-CE4EBB6224A2}" type="datetimeFigureOut">
              <a:rPr lang="en-US" smtClean="0"/>
              <a:pPr/>
              <a:t>11/3/2017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BE5D7F4-D396-47F6-B0C4-CE4EBB6224A2}" type="datetimeFigureOut">
              <a:rPr lang="en-US" smtClean="0"/>
              <a:pPr/>
              <a:t>11/3/2017</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60B5A1C9-05F3-4A51-A179-DEED95BCC365}"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ro-RO" sz="2800" dirty="0" smtClean="0"/>
              <a:t> </a:t>
            </a:r>
            <a:r>
              <a:rPr lang="ro-RO" sz="2800" smtClean="0"/>
              <a:t>TEMA 7</a:t>
            </a:r>
            <a:r>
              <a:rPr lang="ro-RO" sz="2800" dirty="0" smtClean="0"/>
              <a:t/>
            </a:r>
            <a:br>
              <a:rPr lang="ro-RO" sz="2800" dirty="0" smtClean="0"/>
            </a:br>
            <a:r>
              <a:rPr lang="ro-RO" sz="2800" dirty="0" smtClean="0"/>
              <a:t>CURRICULUM – UN CONCEPT PEDAGOGIC INTEGRATOR</a:t>
            </a:r>
            <a:endParaRPr lang="en-US" sz="2800" dirty="0"/>
          </a:p>
        </p:txBody>
      </p:sp>
      <p:sp>
        <p:nvSpPr>
          <p:cNvPr id="3" name="Subtitle 2"/>
          <p:cNvSpPr>
            <a:spLocks noGrp="1"/>
          </p:cNvSpPr>
          <p:nvPr>
            <p:ph type="subTitle" idx="1"/>
          </p:nvPr>
        </p:nvSpPr>
        <p:spPr/>
        <p:txBody>
          <a:bodyPr>
            <a:normAutofit/>
          </a:bodyPr>
          <a:lstStyle/>
          <a:p>
            <a:endParaRPr lang="ro-RO" sz="2000" dirty="0" smtClean="0"/>
          </a:p>
          <a:p>
            <a:endParaRPr lang="ro-RO" sz="2000" dirty="0" smtClean="0"/>
          </a:p>
          <a:p>
            <a:endParaRPr lang="ro-RO" sz="2000" dirty="0" smtClean="0"/>
          </a:p>
          <a:p>
            <a:r>
              <a:rPr lang="ro-RO" dirty="0" smtClean="0"/>
              <a:t>Conf. univ. dr.  LIANA TĂUȘAN</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76640"/>
          </a:xfrm>
        </p:spPr>
        <p:txBody>
          <a:bodyPr>
            <a:normAutofit fontScale="90000"/>
          </a:bodyPr>
          <a:lstStyle/>
          <a:p>
            <a:endParaRPr lang="ro-RO" dirty="0"/>
          </a:p>
        </p:txBody>
      </p:sp>
      <p:sp>
        <p:nvSpPr>
          <p:cNvPr id="3" name="Content Placeholder 2"/>
          <p:cNvSpPr>
            <a:spLocks noGrp="1"/>
          </p:cNvSpPr>
          <p:nvPr>
            <p:ph idx="1"/>
          </p:nvPr>
        </p:nvSpPr>
        <p:spPr>
          <a:xfrm>
            <a:off x="539552" y="1052736"/>
            <a:ext cx="8229600" cy="5199856"/>
          </a:xfrm>
        </p:spPr>
        <p:txBody>
          <a:bodyPr/>
          <a:lstStyle/>
          <a:p>
            <a:r>
              <a:rPr lang="ro-RO" dirty="0" smtClean="0"/>
              <a:t>Traseul evoluției semantice a termenului de curriculum:</a:t>
            </a:r>
          </a:p>
          <a:p>
            <a:pPr>
              <a:buNone/>
            </a:pPr>
            <a:endParaRPr lang="ro-RO" dirty="0" smtClean="0"/>
          </a:p>
          <a:p>
            <a:pPr lvl="1"/>
            <a:r>
              <a:rPr lang="ro-RO" sz="2000" dirty="0" smtClean="0"/>
              <a:t>Activitate cu caracter competițional (întrecere sportivă);</a:t>
            </a:r>
          </a:p>
          <a:p>
            <a:pPr lvl="1"/>
            <a:r>
              <a:rPr lang="ro-RO" sz="2000" dirty="0" smtClean="0"/>
              <a:t>Disciplinele studiate într-o instituție de învățământ;</a:t>
            </a:r>
          </a:p>
          <a:p>
            <a:pPr lvl="1"/>
            <a:r>
              <a:rPr lang="ro-RO" sz="2000" dirty="0" smtClean="0"/>
              <a:t>Documentele oficiale cuprinzând disciplinele de studiu (planuri de învățământ, programe școlare, proiecte);</a:t>
            </a:r>
          </a:p>
          <a:p>
            <a:pPr lvl="1"/>
            <a:r>
              <a:rPr lang="ro-RO" sz="2000" dirty="0" smtClean="0"/>
              <a:t>Experiența de învățare a celor instruiți și modul de organizare a procesului de asimilare a cunoștințelor;</a:t>
            </a:r>
          </a:p>
          <a:p>
            <a:pPr lvl="1"/>
            <a:r>
              <a:rPr lang="ro-RO" sz="2000" dirty="0" smtClean="0"/>
              <a:t>Conținutul procesului de învățământ;</a:t>
            </a:r>
          </a:p>
          <a:p>
            <a:pPr lvl="1"/>
            <a:r>
              <a:rPr lang="ro-RO" sz="2000" dirty="0" smtClean="0"/>
              <a:t>Programul integral al activităților educaționale, incluzând articularea componentelor care alcătuiesc structura unui curriculum: obiective educaționale, conținuturi, organizarea învățării – strategii instructiv-educative, evaluarea rezultatelor.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2000" b="1" dirty="0" smtClean="0">
                <a:solidFill>
                  <a:schemeClr val="accent3">
                    <a:lumMod val="75000"/>
                  </a:schemeClr>
                </a:solidFill>
              </a:rPr>
              <a:t>Reforma curriculară și Curriculum Național</a:t>
            </a:r>
            <a:br>
              <a:rPr lang="ro-RO" sz="2000" b="1" dirty="0" smtClean="0">
                <a:solidFill>
                  <a:schemeClr val="accent3">
                    <a:lumMod val="75000"/>
                  </a:schemeClr>
                </a:solidFill>
              </a:rPr>
            </a:br>
            <a:endParaRPr lang="en-US" sz="2000" dirty="0"/>
          </a:p>
        </p:txBody>
      </p:sp>
      <p:sp>
        <p:nvSpPr>
          <p:cNvPr id="3" name="Content Placeholder 2"/>
          <p:cNvSpPr>
            <a:spLocks noGrp="1"/>
          </p:cNvSpPr>
          <p:nvPr>
            <p:ph idx="1"/>
          </p:nvPr>
        </p:nvSpPr>
        <p:spPr>
          <a:xfrm>
            <a:off x="457200" y="1643050"/>
            <a:ext cx="8229600" cy="4681550"/>
          </a:xfrm>
        </p:spPr>
        <p:txBody>
          <a:bodyPr/>
          <a:lstStyle/>
          <a:p>
            <a:pPr lvl="0"/>
            <a:r>
              <a:rPr lang="ro-RO" sz="1800" dirty="0" smtClean="0"/>
              <a:t>În prezent, </a:t>
            </a:r>
            <a:r>
              <a:rPr lang="ro-RO" sz="1800" b="1" dirty="0" smtClean="0"/>
              <a:t>curriculumul</a:t>
            </a:r>
            <a:r>
              <a:rPr lang="ro-RO" sz="1800" dirty="0" smtClean="0"/>
              <a:t> reprezintă teorie şi practică ce articulează şi integrează în manieră sistemică multiplele şi complexele interdependenţe dintre următoarele  componente:</a:t>
            </a:r>
          </a:p>
          <a:p>
            <a:pPr lvl="1">
              <a:buFont typeface="Wingdings" pitchFamily="2" charset="2"/>
              <a:buChar char="q"/>
            </a:pPr>
            <a:r>
              <a:rPr lang="ro-RO" sz="1800" b="1" i="1" dirty="0" smtClean="0"/>
              <a:t>finalităţile educaţionale</a:t>
            </a:r>
            <a:r>
              <a:rPr lang="ro-RO" sz="1800" dirty="0" smtClean="0"/>
              <a:t>;</a:t>
            </a:r>
          </a:p>
          <a:p>
            <a:pPr lvl="1">
              <a:buFont typeface="Wingdings" pitchFamily="2" charset="2"/>
              <a:buChar char="q"/>
            </a:pPr>
            <a:r>
              <a:rPr lang="ro-RO" sz="1800" b="1" i="1" dirty="0" smtClean="0"/>
              <a:t>conţinutul învăţământului</a:t>
            </a:r>
            <a:r>
              <a:rPr lang="ro-RO" sz="1800" dirty="0" smtClean="0"/>
              <a:t> (fixat în planurile de învăţământ, în programele şcolare şi în manuale);</a:t>
            </a:r>
          </a:p>
          <a:p>
            <a:pPr lvl="1">
              <a:buFont typeface="Wingdings" pitchFamily="2" charset="2"/>
              <a:buChar char="q"/>
            </a:pPr>
            <a:r>
              <a:rPr lang="ro-RO" sz="1800" b="1" i="1" dirty="0" smtClean="0"/>
              <a:t>strategiile de instruire</a:t>
            </a:r>
            <a:r>
              <a:rPr lang="ro-RO" sz="1800" dirty="0" smtClean="0"/>
              <a:t> în şcoală şi în afara ei (în contexte formale, nonformale şi chiar informale);</a:t>
            </a:r>
          </a:p>
          <a:p>
            <a:pPr lvl="1">
              <a:buFont typeface="Wingdings" pitchFamily="2" charset="2"/>
              <a:buChar char="q"/>
            </a:pPr>
            <a:r>
              <a:rPr lang="ro-RO" sz="1800" b="1" i="1" dirty="0" smtClean="0"/>
              <a:t>strategiile de evaluare</a:t>
            </a:r>
            <a:r>
              <a:rPr lang="ro-RO" sz="1800" dirty="0" smtClean="0"/>
              <a:t> a eficienţei activităţii educaţionale;</a:t>
            </a:r>
          </a:p>
          <a:p>
            <a:pPr lvl="1">
              <a:buFont typeface="Wingdings" pitchFamily="2" charset="2"/>
              <a:buChar char="q"/>
            </a:pPr>
            <a:r>
              <a:rPr lang="ro-RO" sz="1800" b="1" i="1" dirty="0" smtClean="0"/>
              <a:t>timpul de instruire</a:t>
            </a:r>
            <a:r>
              <a:rPr lang="ro-RO" sz="1800" dirty="0" smtClean="0"/>
              <a:t>.</a:t>
            </a:r>
          </a:p>
          <a:p>
            <a:r>
              <a:rPr lang="ro-RO" sz="1800" b="1" dirty="0" smtClean="0"/>
              <a:t>Curriculum</a:t>
            </a:r>
            <a:r>
              <a:rPr lang="ro-RO" sz="1800" b="1" i="1" dirty="0" smtClean="0"/>
              <a:t> </a:t>
            </a:r>
            <a:r>
              <a:rPr lang="ro-RO" sz="1800" dirty="0" smtClean="0"/>
              <a:t>reprezintă sistemul experienţelor de învăţare şi formare directe şi indirecte oferite educaţilor şi trăite de aceştia în contexte formale, neformale şi chiar informale.</a:t>
            </a:r>
          </a:p>
          <a:p>
            <a:pPr>
              <a:buNone/>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53144"/>
          </a:xfrm>
        </p:spPr>
        <p:txBody>
          <a:bodyPr>
            <a:normAutofit fontScale="90000"/>
          </a:bodyPr>
          <a:lstStyle/>
          <a:p>
            <a:endParaRPr lang="en-US" dirty="0"/>
          </a:p>
        </p:txBody>
      </p:sp>
      <p:sp>
        <p:nvSpPr>
          <p:cNvPr id="3" name="Content Placeholder 2"/>
          <p:cNvSpPr>
            <a:spLocks noGrp="1"/>
          </p:cNvSpPr>
          <p:nvPr>
            <p:ph idx="1"/>
          </p:nvPr>
        </p:nvSpPr>
        <p:spPr>
          <a:xfrm>
            <a:off x="457200" y="928670"/>
            <a:ext cx="8229600" cy="5395930"/>
          </a:xfrm>
        </p:spPr>
        <p:txBody>
          <a:bodyPr>
            <a:normAutofit/>
          </a:bodyPr>
          <a:lstStyle/>
          <a:p>
            <a:r>
              <a:rPr lang="ro-RO" sz="1800" dirty="0" smtClean="0"/>
              <a:t>Elaborarea </a:t>
            </a:r>
            <a:r>
              <a:rPr lang="ro-RO" sz="1800" b="1" dirty="0" smtClean="0"/>
              <a:t>noului Curriculum Național (1998</a:t>
            </a:r>
            <a:r>
              <a:rPr lang="ro-RO" sz="1800" dirty="0" smtClean="0"/>
              <a:t>) reprezintă un moment marcant al reformei curriculare din România. Astfel, începând din anul școlar 1998-1999, </a:t>
            </a:r>
            <a:r>
              <a:rPr lang="ro-RO" sz="1800" b="1" dirty="0" smtClean="0"/>
              <a:t>Curriculum Național </a:t>
            </a:r>
            <a:r>
              <a:rPr lang="ro-RO" sz="1800" dirty="0" smtClean="0"/>
              <a:t>cuprinde:</a:t>
            </a:r>
          </a:p>
          <a:p>
            <a:pPr>
              <a:buNone/>
            </a:pPr>
            <a:endParaRPr lang="en-US" sz="1800" dirty="0" smtClean="0"/>
          </a:p>
          <a:p>
            <a:pPr lvl="1">
              <a:buFont typeface="Wingdings" pitchFamily="2" charset="2"/>
              <a:buChar char="Ø"/>
            </a:pPr>
            <a:r>
              <a:rPr lang="ro-RO" sz="1800" i="1" dirty="0" smtClean="0"/>
              <a:t>Curriculum Național pentru învățământul obligatoriu. Cadru de referință </a:t>
            </a:r>
            <a:r>
              <a:rPr lang="ro-RO" sz="1800" dirty="0" smtClean="0"/>
              <a:t>(document reglator care asigură coerența componentelor sistemului curricular, în termeni de procese și de produse);</a:t>
            </a:r>
            <a:endParaRPr lang="en-US" sz="1800" dirty="0" smtClean="0"/>
          </a:p>
          <a:p>
            <a:pPr lvl="1">
              <a:buFont typeface="Wingdings" pitchFamily="2" charset="2"/>
              <a:buChar char="Ø"/>
            </a:pPr>
            <a:r>
              <a:rPr lang="ro-RO" sz="1800" i="1" dirty="0" smtClean="0"/>
              <a:t>Planurile-cadru de învățământ pentru clasele I-XII/XIII, </a:t>
            </a:r>
            <a:r>
              <a:rPr lang="ro-RO" sz="1800" dirty="0" smtClean="0"/>
              <a:t>document care stabilește ariile curriculare, obiectele de studiu și resursele de timp necesare abordării acestora;</a:t>
            </a:r>
            <a:endParaRPr lang="en-US" sz="1800" dirty="0" smtClean="0"/>
          </a:p>
          <a:p>
            <a:pPr lvl="1">
              <a:buFont typeface="Wingdings" pitchFamily="2" charset="2"/>
              <a:buChar char="Ø"/>
            </a:pPr>
            <a:r>
              <a:rPr lang="ro-RO" sz="1800" i="1" dirty="0" smtClean="0"/>
              <a:t>Programele școlare, </a:t>
            </a:r>
            <a:r>
              <a:rPr lang="ro-RO" sz="1800" dirty="0" smtClean="0"/>
              <a:t>care stabilesc obiectivele cadru, obiectivele de referință, exemplele de activități de învățare, conținuturile învățării, precum și standardele curriculare de performanță prevăzute pentru fiecare disciplină existentă în planurile-cadru de învățământ;</a:t>
            </a:r>
            <a:endParaRPr lang="en-US" sz="1800" dirty="0" smtClean="0"/>
          </a:p>
          <a:p>
            <a:pPr lvl="1">
              <a:buFont typeface="Wingdings" pitchFamily="2" charset="2"/>
              <a:buChar char="Ø"/>
            </a:pPr>
            <a:r>
              <a:rPr lang="ro-RO" sz="1800" i="1" dirty="0" smtClean="0"/>
              <a:t>Ghiduri, norme metodologice și materiale suport </a:t>
            </a:r>
            <a:r>
              <a:rPr lang="ro-RO" sz="1800" dirty="0" smtClean="0"/>
              <a:t>care descriu condițiile de aplicare și de monitorizare ale procesului curricular;</a:t>
            </a:r>
            <a:endParaRPr lang="en-US" sz="1800" dirty="0" smtClean="0"/>
          </a:p>
          <a:p>
            <a:pPr lvl="1">
              <a:buFont typeface="Wingdings" pitchFamily="2" charset="2"/>
              <a:buChar char="Ø"/>
            </a:pPr>
            <a:r>
              <a:rPr lang="ro-RO" sz="1800" i="1" dirty="0" smtClean="0"/>
              <a:t>Manualele alternative.</a:t>
            </a:r>
            <a:endParaRPr lang="en-US" sz="1800" dirty="0" smtClean="0"/>
          </a:p>
          <a:p>
            <a:pPr>
              <a:buNone/>
            </a:pPr>
            <a:endParaRPr lang="en-US" sz="1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24582"/>
          </a:xfrm>
        </p:spPr>
        <p:txBody>
          <a:bodyPr>
            <a:normAutofit fontScale="90000"/>
          </a:bodyPr>
          <a:lstStyle/>
          <a:p>
            <a:endParaRPr lang="en-US" dirty="0"/>
          </a:p>
        </p:txBody>
      </p:sp>
      <p:sp>
        <p:nvSpPr>
          <p:cNvPr id="3" name="Content Placeholder 2"/>
          <p:cNvSpPr>
            <a:spLocks noGrp="1"/>
          </p:cNvSpPr>
          <p:nvPr>
            <p:ph idx="1"/>
          </p:nvPr>
        </p:nvSpPr>
        <p:spPr>
          <a:xfrm>
            <a:off x="457200" y="1071546"/>
            <a:ext cx="8229600" cy="5253054"/>
          </a:xfrm>
        </p:spPr>
        <p:txBody>
          <a:bodyPr>
            <a:normAutofit/>
          </a:bodyPr>
          <a:lstStyle/>
          <a:p>
            <a:endParaRPr lang="ro-RO" sz="2000" dirty="0" smtClean="0"/>
          </a:p>
          <a:p>
            <a:r>
              <a:rPr lang="ro-RO" sz="2000" dirty="0" smtClean="0"/>
              <a:t>Modernitatea și caracterul inovativ al </a:t>
            </a:r>
            <a:r>
              <a:rPr lang="ro-RO" sz="2000" b="1" dirty="0" smtClean="0"/>
              <a:t>Curriculum-ului Național </a:t>
            </a:r>
            <a:r>
              <a:rPr lang="ro-RO" sz="2000" dirty="0" smtClean="0"/>
              <a:t>se regăsesc la nivelul următoarelor </a:t>
            </a:r>
            <a:r>
              <a:rPr lang="ro-RO" sz="2000" b="1" dirty="0" smtClean="0"/>
              <a:t>trăsături definitorii </a:t>
            </a:r>
            <a:r>
              <a:rPr lang="ro-RO" sz="2000" dirty="0" smtClean="0"/>
              <a:t>ale acestuia: </a:t>
            </a:r>
          </a:p>
          <a:p>
            <a:pPr>
              <a:buNone/>
            </a:pPr>
            <a:endParaRPr lang="ro-RO" sz="2000" dirty="0" smtClean="0"/>
          </a:p>
          <a:p>
            <a:pPr lvl="1">
              <a:buFont typeface="Wingdings" pitchFamily="2" charset="2"/>
              <a:buChar char="q"/>
            </a:pPr>
            <a:r>
              <a:rPr lang="ro-RO" sz="2000" dirty="0" smtClean="0"/>
              <a:t>plasarea învățării în centrul demersurilor educaționale; </a:t>
            </a:r>
          </a:p>
          <a:p>
            <a:pPr lvl="1">
              <a:buFont typeface="Wingdings" pitchFamily="2" charset="2"/>
              <a:buChar char="q"/>
            </a:pPr>
            <a:r>
              <a:rPr lang="ro-RO" sz="2000" dirty="0" smtClean="0"/>
              <a:t>orientarea învățării spre formarea de capacități și competențe; </a:t>
            </a:r>
          </a:p>
          <a:p>
            <a:pPr lvl="1">
              <a:buFont typeface="Wingdings" pitchFamily="2" charset="2"/>
              <a:buChar char="q"/>
            </a:pPr>
            <a:r>
              <a:rPr lang="ro-RO" sz="2000" dirty="0" smtClean="0"/>
              <a:t>transformarea școlii centrate pe profesor într-o școală centrată pe elev prin promovarea metodelor interactive de învățare; </a:t>
            </a:r>
          </a:p>
          <a:p>
            <a:pPr lvl="1">
              <a:buFont typeface="Wingdings" pitchFamily="2" charset="2"/>
              <a:buChar char="q"/>
            </a:pPr>
            <a:r>
              <a:rPr lang="ro-RO" sz="2000" dirty="0" smtClean="0"/>
              <a:t>dezvoltarea spiritului critic, interogativ; stimularea gândirii creative; </a:t>
            </a:r>
          </a:p>
          <a:p>
            <a:pPr lvl="1">
              <a:buFont typeface="Wingdings" pitchFamily="2" charset="2"/>
              <a:buChar char="q"/>
            </a:pPr>
            <a:r>
              <a:rPr lang="ro-RO" sz="2000" dirty="0" smtClean="0"/>
              <a:t>structurarea unui învățământ pentru fiecare prin flexibilizarea parcursurilor școlare; </a:t>
            </a:r>
          </a:p>
          <a:p>
            <a:pPr lvl="1">
              <a:buFont typeface="Wingdings" pitchFamily="2" charset="2"/>
              <a:buChar char="q"/>
            </a:pPr>
            <a:r>
              <a:rPr lang="ro-RO" sz="2000" dirty="0" smtClean="0"/>
              <a:t>adaptarea conținuturilor învățării la interesele, aptitudinile elevului, la problemele și cerințele vieții sociale.</a:t>
            </a:r>
            <a:endParaRPr lang="en-US" sz="2000" dirty="0" smtClean="0"/>
          </a:p>
          <a:p>
            <a:endParaRPr lang="en-US" sz="1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53144"/>
          </a:xfrm>
        </p:spPr>
        <p:txBody>
          <a:bodyPr>
            <a:normAutofit fontScale="90000"/>
          </a:bodyPr>
          <a:lstStyle/>
          <a:p>
            <a:endParaRPr lang="en-US" dirty="0"/>
          </a:p>
        </p:txBody>
      </p:sp>
      <p:sp>
        <p:nvSpPr>
          <p:cNvPr id="3" name="Content Placeholder 2"/>
          <p:cNvSpPr>
            <a:spLocks noGrp="1"/>
          </p:cNvSpPr>
          <p:nvPr>
            <p:ph idx="1"/>
          </p:nvPr>
        </p:nvSpPr>
        <p:spPr>
          <a:xfrm>
            <a:off x="457200" y="1000108"/>
            <a:ext cx="8229600" cy="5324492"/>
          </a:xfrm>
        </p:spPr>
        <p:txBody>
          <a:bodyPr>
            <a:normAutofit lnSpcReduction="10000"/>
          </a:bodyPr>
          <a:lstStyle/>
          <a:p>
            <a:r>
              <a:rPr lang="ro-RO" sz="1800" b="1" dirty="0" smtClean="0"/>
              <a:t>Planurile-cadru </a:t>
            </a:r>
            <a:r>
              <a:rPr lang="ro-RO" sz="1800" dirty="0" smtClean="0"/>
              <a:t>pentru învățământul primar, gimanzial și liceal, au la bază o serie de principii de politică educațională:</a:t>
            </a:r>
          </a:p>
          <a:p>
            <a:pPr>
              <a:buNone/>
            </a:pPr>
            <a:r>
              <a:rPr lang="ro-RO" sz="1800" b="1" dirty="0" smtClean="0"/>
              <a:t>1. </a:t>
            </a:r>
            <a:r>
              <a:rPr lang="ro-RO" sz="1800" b="1" i="1" dirty="0" smtClean="0"/>
              <a:t>Principiul descentralizării și al flexibilizării curriculum-ului:</a:t>
            </a:r>
          </a:p>
          <a:p>
            <a:pPr>
              <a:buFont typeface="Wingdings" pitchFamily="2" charset="2"/>
              <a:buChar char="q"/>
            </a:pPr>
            <a:r>
              <a:rPr lang="ro-RO" sz="1800" dirty="0" smtClean="0"/>
              <a:t>posibilitatea structurării unor parcursuri de învățare diferențiate, personalizate, prin intermediul segmentului de </a:t>
            </a:r>
            <a:r>
              <a:rPr lang="ro-RO" sz="1800" i="1" dirty="0" smtClean="0"/>
              <a:t>curriculum la decizia școlii</a:t>
            </a:r>
            <a:r>
              <a:rPr lang="ro-RO" sz="1800" dirty="0" smtClean="0"/>
              <a:t>, asigurându-se în același timp coerența și unitatea demersului educativ la nivel național, prin intermediul </a:t>
            </a:r>
            <a:r>
              <a:rPr lang="ro-RO" sz="1800" i="1" dirty="0" smtClean="0"/>
              <a:t>curriculum-ului nucleu.</a:t>
            </a:r>
          </a:p>
          <a:p>
            <a:pPr>
              <a:buFont typeface="Wingdings" pitchFamily="2" charset="2"/>
              <a:buChar char="q"/>
            </a:pPr>
            <a:r>
              <a:rPr lang="ro-RO" sz="1800" dirty="0" smtClean="0"/>
              <a:t>Planurile-cadru pentru învățământul obligatoriu și cel liceal prevăd numărul minim și maxim de ore pentru programul săptămânal al fiecărui an de studiu, pe baza cărora, fiecare instituție școlară (împreună cu părinții elevilor și reprezentanții comunității locale) își va elabora propria schemă orară.</a:t>
            </a:r>
          </a:p>
          <a:p>
            <a:pPr>
              <a:buNone/>
            </a:pPr>
            <a:endParaRPr lang="ro-RO" sz="1800" dirty="0" smtClean="0"/>
          </a:p>
          <a:p>
            <a:pPr>
              <a:buNone/>
            </a:pPr>
            <a:r>
              <a:rPr lang="ro-RO" sz="1800" b="1" dirty="0" smtClean="0"/>
              <a:t>2. </a:t>
            </a:r>
            <a:r>
              <a:rPr lang="ro-RO" sz="1800" b="1" i="1" dirty="0" smtClean="0"/>
              <a:t>Principiul selecției și ierarhizării culturale</a:t>
            </a:r>
          </a:p>
          <a:p>
            <a:pPr>
              <a:buFont typeface="Wingdings" pitchFamily="2" charset="2"/>
              <a:buChar char="q"/>
            </a:pPr>
            <a:r>
              <a:rPr lang="ro-RO" sz="1800" dirty="0" smtClean="0"/>
              <a:t>stabilirea și gruparea disciplinelor școlare pe categorii de discipline, denumite </a:t>
            </a:r>
            <a:r>
              <a:rPr lang="ro-RO" sz="1800" i="1" dirty="0" smtClean="0"/>
              <a:t>arii curriculare</a:t>
            </a:r>
            <a:r>
              <a:rPr lang="ro-RO" sz="1800" dirty="0" smtClean="0"/>
              <a:t>, în vederea asigurării unei viziuni multi și interdisciplinare asupra obiectelor de studiu.  </a:t>
            </a:r>
          </a:p>
          <a:p>
            <a:pPr>
              <a:buFont typeface="Wingdings" pitchFamily="2" charset="2"/>
              <a:buChar char="q"/>
            </a:pPr>
            <a:r>
              <a:rPr lang="ro-RO" sz="1800" dirty="0" smtClean="0"/>
              <a:t>Curriculum Național din România cuprinde șapte arii curriculare: Limbă și comunicare, Matematică și Științe ale naturii, Om și societate, Arte, Educație fizică și sport, Educație tehnologică, Consiliere și orientare.</a:t>
            </a:r>
            <a:endParaRPr lang="en-US" sz="1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53144"/>
          </a:xfrm>
        </p:spPr>
        <p:txBody>
          <a:bodyPr>
            <a:normAutofit fontScale="90000"/>
          </a:bodyPr>
          <a:lstStyle/>
          <a:p>
            <a:endParaRPr lang="en-US" dirty="0"/>
          </a:p>
        </p:txBody>
      </p:sp>
      <p:sp>
        <p:nvSpPr>
          <p:cNvPr id="3" name="Content Placeholder 2"/>
          <p:cNvSpPr>
            <a:spLocks noGrp="1"/>
          </p:cNvSpPr>
          <p:nvPr>
            <p:ph idx="1"/>
          </p:nvPr>
        </p:nvSpPr>
        <p:spPr>
          <a:xfrm>
            <a:off x="457200" y="857232"/>
            <a:ext cx="8229600" cy="5467368"/>
          </a:xfrm>
        </p:spPr>
        <p:txBody>
          <a:bodyPr>
            <a:normAutofit/>
          </a:bodyPr>
          <a:lstStyle/>
          <a:p>
            <a:pPr>
              <a:buNone/>
            </a:pPr>
            <a:r>
              <a:rPr lang="ro-RO" sz="1800" b="1" dirty="0" smtClean="0"/>
              <a:t>3. </a:t>
            </a:r>
            <a:r>
              <a:rPr lang="ro-RO" sz="1800" b="1" i="1" dirty="0" smtClean="0"/>
              <a:t>Principiul funcționalității:</a:t>
            </a:r>
          </a:p>
          <a:p>
            <a:pPr>
              <a:buFont typeface="Wingdings" pitchFamily="2" charset="2"/>
              <a:buChar char="q"/>
            </a:pPr>
            <a:r>
              <a:rPr lang="ro-RO" sz="1800" dirty="0" smtClean="0"/>
              <a:t>adaptarea  conținuturilor disciplinelor de învățământ la particularitățile de vârstă și individuale ale elevilor;</a:t>
            </a:r>
          </a:p>
          <a:p>
            <a:pPr>
              <a:buFont typeface="Wingdings" pitchFamily="2" charset="2"/>
              <a:buChar char="q"/>
            </a:pPr>
            <a:r>
              <a:rPr lang="ro-RO" sz="1800" dirty="0" smtClean="0"/>
              <a:t>structurarea curriculum-ului pe </a:t>
            </a:r>
            <a:r>
              <a:rPr lang="ro-RO" sz="1800" i="1" dirty="0" smtClean="0"/>
              <a:t>cicluri curriculare, </a:t>
            </a:r>
            <a:r>
              <a:rPr lang="ro-RO" sz="1800" dirty="0" smtClean="0"/>
              <a:t>ca periodizări ale școlarității, care au în comun obiective specifice și grupează mai mulți ani de studiu ce aparțin unor niveluri școlare diferite</a:t>
            </a:r>
          </a:p>
          <a:p>
            <a:pPr lvl="1">
              <a:buFont typeface="Wingdings" pitchFamily="2" charset="2"/>
              <a:buChar char="v"/>
            </a:pPr>
            <a:r>
              <a:rPr lang="ro-RO" sz="1600" i="1" dirty="0" smtClean="0"/>
              <a:t>Ciclul curricular al achizițiilor </a:t>
            </a:r>
            <a:r>
              <a:rPr lang="ro-RO" sz="1600" i="1" smtClean="0"/>
              <a:t>fundamentale </a:t>
            </a:r>
            <a:r>
              <a:rPr lang="ro-RO" sz="1600" smtClean="0"/>
              <a:t>(clasa 0 și </a:t>
            </a:r>
            <a:r>
              <a:rPr lang="ro-RO" sz="1600" dirty="0" smtClean="0"/>
              <a:t>clasele I și a II-a)</a:t>
            </a:r>
          </a:p>
          <a:p>
            <a:pPr lvl="1">
              <a:buFont typeface="Wingdings" pitchFamily="2" charset="2"/>
              <a:buChar char="v"/>
            </a:pPr>
            <a:r>
              <a:rPr lang="ro-RO" sz="1600" i="1" dirty="0" smtClean="0"/>
              <a:t>Ciclul curricular de dezvoltare </a:t>
            </a:r>
            <a:r>
              <a:rPr lang="ro-RO" sz="1600" dirty="0" smtClean="0"/>
              <a:t>(clasele a III-a – a VI-a)</a:t>
            </a:r>
          </a:p>
          <a:p>
            <a:pPr lvl="1">
              <a:buFont typeface="Wingdings" pitchFamily="2" charset="2"/>
              <a:buChar char="v"/>
            </a:pPr>
            <a:r>
              <a:rPr lang="ro-RO" sz="1600" i="1" dirty="0" smtClean="0"/>
              <a:t>Ciclul curricular de observare și orientare</a:t>
            </a:r>
            <a:r>
              <a:rPr lang="ro-RO" sz="1600" dirty="0" smtClean="0"/>
              <a:t> (clasele a VII-a – a IX-a)</a:t>
            </a:r>
          </a:p>
          <a:p>
            <a:pPr lvl="1">
              <a:buFont typeface="Wingdings" pitchFamily="2" charset="2"/>
              <a:buChar char="v"/>
            </a:pPr>
            <a:r>
              <a:rPr lang="ro-RO" sz="1600" i="1" dirty="0" smtClean="0"/>
              <a:t>Ciclul curricular de aprofundare </a:t>
            </a:r>
            <a:r>
              <a:rPr lang="ro-RO" sz="1600" dirty="0" smtClean="0"/>
              <a:t>(clasele a X-a și a XI-a)</a:t>
            </a:r>
          </a:p>
          <a:p>
            <a:pPr lvl="1">
              <a:buFont typeface="Wingdings" pitchFamily="2" charset="2"/>
              <a:buChar char="v"/>
            </a:pPr>
            <a:r>
              <a:rPr lang="ro-RO" sz="1600" i="1" dirty="0" smtClean="0"/>
              <a:t>Ciclul curricular de specializare </a:t>
            </a:r>
            <a:r>
              <a:rPr lang="ro-RO" sz="1600" dirty="0" smtClean="0"/>
              <a:t>(clasa a XII-a și, după caz, clasa a XIII-a)</a:t>
            </a:r>
          </a:p>
          <a:p>
            <a:pPr>
              <a:buNone/>
            </a:pPr>
            <a:endParaRPr lang="ro-RO" sz="1800" i="1" dirty="0" smtClean="0"/>
          </a:p>
          <a:p>
            <a:pPr>
              <a:buNone/>
            </a:pPr>
            <a:r>
              <a:rPr lang="ro-RO" sz="1800" b="1" i="1" dirty="0" smtClean="0"/>
              <a:t>4. Principiul egalității șanselor:</a:t>
            </a:r>
          </a:p>
          <a:p>
            <a:pPr>
              <a:buFont typeface="Wingdings" pitchFamily="2" charset="2"/>
              <a:buChar char="q"/>
            </a:pPr>
            <a:r>
              <a:rPr lang="ro-RO" sz="1800" dirty="0" smtClean="0"/>
              <a:t>asigură dreptul fiecărui elev la o educație comună, prin obligativitatea învățământului general și existența trunchiului comun.</a:t>
            </a:r>
            <a:endParaRPr lang="ro-RO" sz="1800" i="1"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53144"/>
          </a:xfrm>
        </p:spPr>
        <p:txBody>
          <a:bodyPr>
            <a:normAutofit fontScale="90000"/>
          </a:bodyPr>
          <a:lstStyle/>
          <a:p>
            <a:endParaRPr lang="en-US" dirty="0"/>
          </a:p>
        </p:txBody>
      </p:sp>
      <p:sp>
        <p:nvSpPr>
          <p:cNvPr id="3" name="Content Placeholder 2"/>
          <p:cNvSpPr>
            <a:spLocks noGrp="1"/>
          </p:cNvSpPr>
          <p:nvPr>
            <p:ph idx="1"/>
          </p:nvPr>
        </p:nvSpPr>
        <p:spPr>
          <a:xfrm>
            <a:off x="457200" y="785794"/>
            <a:ext cx="8229600" cy="5538806"/>
          </a:xfrm>
        </p:spPr>
        <p:txBody>
          <a:bodyPr>
            <a:normAutofit/>
          </a:bodyPr>
          <a:lstStyle/>
          <a:p>
            <a:endParaRPr lang="ro-RO" sz="1800" dirty="0" smtClean="0"/>
          </a:p>
          <a:p>
            <a:r>
              <a:rPr lang="ro-RO" sz="1800" b="1" dirty="0" smtClean="0"/>
              <a:t>Programele școlare</a:t>
            </a:r>
            <a:r>
              <a:rPr lang="ro-RO" sz="1800" dirty="0" smtClean="0"/>
              <a:t>:</a:t>
            </a:r>
          </a:p>
          <a:p>
            <a:r>
              <a:rPr lang="ro-RO" sz="1800" dirty="0" smtClean="0"/>
              <a:t>componente de bază ale Curriculum-ului Național, au fost elaborate în baza noi concepții și culturi curriculare;</a:t>
            </a:r>
          </a:p>
          <a:p>
            <a:r>
              <a:rPr lang="ro-RO" sz="1800" dirty="0" smtClean="0"/>
              <a:t>cuprind: </a:t>
            </a:r>
          </a:p>
          <a:p>
            <a:pPr lvl="1">
              <a:buFont typeface="Wingdings" pitchFamily="2" charset="2"/>
              <a:buChar char="Ø"/>
            </a:pPr>
            <a:r>
              <a:rPr lang="ro-RO" sz="1800" i="1" dirty="0" smtClean="0"/>
              <a:t>o notă de prezentare</a:t>
            </a:r>
            <a:endParaRPr lang="ro-RO" sz="1800" dirty="0" smtClean="0"/>
          </a:p>
          <a:p>
            <a:pPr lvl="1">
              <a:buFont typeface="Wingdings" pitchFamily="2" charset="2"/>
              <a:buChar char="Ø"/>
            </a:pPr>
            <a:r>
              <a:rPr lang="ro-RO" sz="1800" i="1" dirty="0" smtClean="0"/>
              <a:t>obiective-cadru/competențe generale: </a:t>
            </a:r>
            <a:r>
              <a:rPr lang="ro-RO" sz="1800" dirty="0" smtClean="0"/>
              <a:t>caracterizate printr-un grad înalt de generalitate, centrate pe formarea unor capacități și atitudini specifice unei discipline școlare, fiind urmărite pe parcursul mai multor ani de studiu;</a:t>
            </a:r>
          </a:p>
          <a:p>
            <a:pPr lvl="1">
              <a:buFont typeface="Wingdings" pitchFamily="2" charset="2"/>
              <a:buChar char="Ø"/>
            </a:pPr>
            <a:r>
              <a:rPr lang="ro-RO" sz="1800" i="1" dirty="0" smtClean="0"/>
              <a:t>obiective de referință/competențe specifice: </a:t>
            </a:r>
            <a:r>
              <a:rPr lang="ro-RO" sz="1800" dirty="0" smtClean="0"/>
              <a:t>se referă la progresele înregistrate la nivelul performanțelor elevilor (capacități, cunoștințe) de la un an de studiu la altul;</a:t>
            </a:r>
          </a:p>
          <a:p>
            <a:pPr lvl="1">
              <a:buFont typeface="Wingdings" pitchFamily="2" charset="2"/>
              <a:buChar char="Ø"/>
            </a:pPr>
            <a:r>
              <a:rPr lang="ro-RO" sz="1800" i="1" dirty="0" smtClean="0"/>
              <a:t>exemple de activități de învățare</a:t>
            </a:r>
            <a:endParaRPr lang="ro-RO" sz="1800" dirty="0" smtClean="0"/>
          </a:p>
          <a:p>
            <a:pPr lvl="1">
              <a:buFont typeface="Wingdings" pitchFamily="2" charset="2"/>
              <a:buChar char="Ø"/>
            </a:pPr>
            <a:r>
              <a:rPr lang="ro-RO" sz="1800" i="1" dirty="0" smtClean="0"/>
              <a:t>conținuturi</a:t>
            </a:r>
          </a:p>
          <a:p>
            <a:pPr lvl="1">
              <a:buFont typeface="Wingdings" pitchFamily="2" charset="2"/>
              <a:buChar char="Ø"/>
            </a:pPr>
            <a:r>
              <a:rPr lang="ro-RO" sz="1800" i="1" dirty="0" smtClean="0"/>
              <a:t>standarde curriculare de performanță</a:t>
            </a:r>
            <a:r>
              <a:rPr lang="ro-RO" sz="1800" dirty="0" smtClean="0"/>
              <a:t>: criterii de evaluare a calității procesului de învățământ, specificări de performanțe ale elevilor (competențe, comportamente, cunoștințe), vizând finalul unei trepte de școlaritate. </a:t>
            </a:r>
            <a:endParaRPr lang="en-US" sz="1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67524"/>
          </a:xfrm>
        </p:spPr>
        <p:txBody>
          <a:bodyPr>
            <a:normAutofit/>
          </a:bodyPr>
          <a:lstStyle/>
          <a:p>
            <a:r>
              <a:rPr lang="ro-RO" sz="2000" b="1" dirty="0" smtClean="0">
                <a:solidFill>
                  <a:schemeClr val="accent3">
                    <a:lumMod val="75000"/>
                  </a:schemeClr>
                </a:solidFill>
              </a:rPr>
              <a:t>3.2. Curriculum nucleu și curriculum la decizia școlii</a:t>
            </a:r>
            <a:br>
              <a:rPr lang="ro-RO" sz="2000" b="1" dirty="0" smtClean="0">
                <a:solidFill>
                  <a:schemeClr val="accent3">
                    <a:lumMod val="75000"/>
                  </a:schemeClr>
                </a:solidFill>
              </a:rPr>
            </a:br>
            <a:endParaRPr lang="en-US" sz="2000" dirty="0"/>
          </a:p>
        </p:txBody>
      </p:sp>
      <p:sp>
        <p:nvSpPr>
          <p:cNvPr id="3" name="Content Placeholder 2"/>
          <p:cNvSpPr>
            <a:spLocks noGrp="1"/>
          </p:cNvSpPr>
          <p:nvPr>
            <p:ph idx="1"/>
          </p:nvPr>
        </p:nvSpPr>
        <p:spPr>
          <a:xfrm>
            <a:off x="457200" y="1357298"/>
            <a:ext cx="8229600" cy="4967302"/>
          </a:xfrm>
        </p:spPr>
        <p:txBody>
          <a:bodyPr>
            <a:normAutofit/>
          </a:bodyPr>
          <a:lstStyle/>
          <a:p>
            <a:r>
              <a:rPr lang="ro-RO" sz="1800" dirty="0" smtClean="0"/>
              <a:t>Conform </a:t>
            </a:r>
            <a:r>
              <a:rPr lang="ro-RO" sz="1800" i="1" dirty="0" smtClean="0"/>
              <a:t>Planului-cadru de învățământ</a:t>
            </a:r>
            <a:r>
              <a:rPr lang="ro-RO" sz="1800" dirty="0" smtClean="0"/>
              <a:t>, Curriculum-ul Național este stucturat pe două secvențe principale: curriculum nucleu și curriculum la decizia școlii.</a:t>
            </a:r>
          </a:p>
          <a:p>
            <a:r>
              <a:rPr lang="ro-RO" sz="1800" b="1" dirty="0" smtClean="0"/>
              <a:t>Curriculum nucleu:</a:t>
            </a:r>
            <a:endParaRPr lang="en-US" sz="1800" dirty="0" smtClean="0"/>
          </a:p>
          <a:p>
            <a:pPr>
              <a:lnSpc>
                <a:spcPct val="80000"/>
              </a:lnSpc>
              <a:buFont typeface="Wingdings" pitchFamily="2" charset="2"/>
              <a:buChar char="Ø"/>
            </a:pPr>
            <a:r>
              <a:rPr lang="ro-RO" sz="1800" dirty="0" smtClean="0"/>
              <a:t>Corespunde </a:t>
            </a:r>
            <a:r>
              <a:rPr lang="ro-RO" sz="1800" i="1" dirty="0" smtClean="0"/>
              <a:t>trunchiului comun,</a:t>
            </a:r>
            <a:r>
              <a:rPr lang="ro-RO" sz="1800" dirty="0" smtClean="0"/>
              <a:t> obligatoriu de pregătire a elevilor;</a:t>
            </a:r>
          </a:p>
          <a:p>
            <a:pPr>
              <a:lnSpc>
                <a:spcPct val="80000"/>
              </a:lnSpc>
              <a:buFont typeface="Wingdings" pitchFamily="2" charset="2"/>
              <a:buChar char="Ø"/>
            </a:pPr>
            <a:r>
              <a:rPr lang="ro-RO" sz="1800" dirty="0" smtClean="0"/>
              <a:t>Cuprinde:</a:t>
            </a:r>
          </a:p>
          <a:p>
            <a:pPr lvl="1">
              <a:lnSpc>
                <a:spcPct val="80000"/>
              </a:lnSpc>
              <a:buFont typeface="Wingdings" pitchFamily="2" charset="2"/>
              <a:buChar char="§"/>
            </a:pPr>
            <a:r>
              <a:rPr lang="ro-RO" sz="1800" i="1" dirty="0" smtClean="0"/>
              <a:t>disciplinele obligatorii</a:t>
            </a:r>
            <a:r>
              <a:rPr lang="ro-RO" sz="1800" dirty="0" smtClean="0"/>
              <a:t> prevăzute în fiecare arie curriculară;</a:t>
            </a:r>
          </a:p>
          <a:p>
            <a:pPr lvl="1">
              <a:lnSpc>
                <a:spcPct val="80000"/>
              </a:lnSpc>
              <a:buFont typeface="Wingdings" pitchFamily="2" charset="2"/>
              <a:buChar char="§"/>
            </a:pPr>
            <a:r>
              <a:rPr lang="ro-RO" sz="1800" i="1" dirty="0" smtClean="0"/>
              <a:t>conținutul obligatoriu</a:t>
            </a:r>
            <a:r>
              <a:rPr lang="ro-RO" sz="1800" dirty="0" smtClean="0"/>
              <a:t> din programele școlare ale disciplinelor obligatorii;</a:t>
            </a:r>
          </a:p>
          <a:p>
            <a:pPr lvl="1">
              <a:lnSpc>
                <a:spcPct val="80000"/>
              </a:lnSpc>
              <a:buFont typeface="Wingdings" pitchFamily="2" charset="2"/>
              <a:buChar char="§"/>
            </a:pPr>
            <a:r>
              <a:rPr lang="ro-RO" sz="1800" i="1" dirty="0" smtClean="0"/>
              <a:t>numărul de ore minim</a:t>
            </a:r>
            <a:r>
              <a:rPr lang="ro-RO" sz="1800" dirty="0" smtClean="0"/>
              <a:t> pentru fiecare disciplină obligatorie;</a:t>
            </a:r>
          </a:p>
          <a:p>
            <a:pPr>
              <a:lnSpc>
                <a:spcPct val="80000"/>
              </a:lnSpc>
              <a:buFont typeface="Wingdings" pitchFamily="2" charset="2"/>
              <a:buChar char="Ø"/>
            </a:pPr>
            <a:r>
              <a:rPr lang="ro-RO" sz="1800" dirty="0" smtClean="0"/>
              <a:t>Reprezintă 65-70% din Curriculum Național;</a:t>
            </a:r>
          </a:p>
          <a:p>
            <a:r>
              <a:rPr lang="ro-RO" sz="1800" b="1" dirty="0" smtClean="0"/>
              <a:t>Curriculum la decizia școlii:</a:t>
            </a:r>
          </a:p>
          <a:p>
            <a:pPr>
              <a:lnSpc>
                <a:spcPct val="80000"/>
              </a:lnSpc>
              <a:buFont typeface="Wingdings" pitchFamily="2" charset="2"/>
              <a:buChar char="Ø"/>
            </a:pPr>
            <a:r>
              <a:rPr lang="ro-RO" sz="1800" dirty="0" smtClean="0"/>
              <a:t>Diferența dintre numărul maxim și numărul minim de ore prevăzute în planul cadru de învățământ;</a:t>
            </a:r>
          </a:p>
          <a:p>
            <a:pPr>
              <a:lnSpc>
                <a:spcPct val="80000"/>
              </a:lnSpc>
              <a:buFont typeface="Wingdings" pitchFamily="2" charset="2"/>
              <a:buChar char="Ø"/>
            </a:pPr>
            <a:r>
              <a:rPr lang="ro-RO" sz="1800" dirty="0" smtClean="0"/>
              <a:t>Se realizează prin:</a:t>
            </a:r>
          </a:p>
          <a:p>
            <a:pPr lvl="1">
              <a:lnSpc>
                <a:spcPct val="80000"/>
              </a:lnSpc>
              <a:buFont typeface="Wingdings" pitchFamily="2" charset="2"/>
              <a:buChar char="§"/>
            </a:pPr>
            <a:r>
              <a:rPr lang="ro-RO" sz="1800" i="1" dirty="0" smtClean="0"/>
              <a:t>aprofundarea sau completarea</a:t>
            </a:r>
            <a:r>
              <a:rPr lang="ro-RO" sz="1800" dirty="0" smtClean="0"/>
              <a:t> curriculum-ului nucleu;</a:t>
            </a:r>
          </a:p>
          <a:p>
            <a:pPr lvl="1">
              <a:lnSpc>
                <a:spcPct val="80000"/>
              </a:lnSpc>
              <a:buFont typeface="Wingdings" pitchFamily="2" charset="2"/>
              <a:buChar char="§"/>
            </a:pPr>
            <a:r>
              <a:rPr lang="ro-RO" sz="1800" i="1" dirty="0" smtClean="0"/>
              <a:t>adăugarea</a:t>
            </a:r>
            <a:r>
              <a:rPr lang="ro-RO" sz="1800" dirty="0" smtClean="0"/>
              <a:t> de discipline noi, domenii sau teme integratoare, cu caracter inter sau transdisciplinar;</a:t>
            </a:r>
          </a:p>
          <a:p>
            <a:pPr>
              <a:lnSpc>
                <a:spcPct val="80000"/>
              </a:lnSpc>
              <a:buFont typeface="Wingdings" pitchFamily="2" charset="2"/>
              <a:buChar char="Ø"/>
            </a:pPr>
            <a:r>
              <a:rPr lang="ro-RO" sz="1800" dirty="0" smtClean="0"/>
              <a:t>Reprezintă 30-35% din Curriculum Național;</a:t>
            </a:r>
          </a:p>
          <a:p>
            <a:endParaRPr lang="en-US" sz="1800" b="1"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53144"/>
          </a:xfrm>
        </p:spPr>
        <p:txBody>
          <a:bodyPr>
            <a:normAutofit fontScale="90000"/>
          </a:bodyPr>
          <a:lstStyle/>
          <a:p>
            <a:endParaRPr lang="en-US" dirty="0"/>
          </a:p>
        </p:txBody>
      </p:sp>
      <p:sp>
        <p:nvSpPr>
          <p:cNvPr id="3" name="Content Placeholder 2"/>
          <p:cNvSpPr>
            <a:spLocks noGrp="1"/>
          </p:cNvSpPr>
          <p:nvPr>
            <p:ph idx="1"/>
          </p:nvPr>
        </p:nvSpPr>
        <p:spPr>
          <a:xfrm>
            <a:off x="457200" y="928670"/>
            <a:ext cx="8229600" cy="5395930"/>
          </a:xfrm>
        </p:spPr>
        <p:txBody>
          <a:bodyPr>
            <a:normAutofit/>
          </a:bodyPr>
          <a:lstStyle/>
          <a:p>
            <a:r>
              <a:rPr lang="ro-RO" sz="1800" dirty="0" smtClean="0"/>
              <a:t>Variante de curriculum la decizia școlii:</a:t>
            </a:r>
          </a:p>
          <a:p>
            <a:r>
              <a:rPr lang="ro-RO" sz="1800" b="1" dirty="0" smtClean="0"/>
              <a:t>Curriculum nucleu aprofundat:</a:t>
            </a:r>
          </a:p>
          <a:p>
            <a:pPr lvl="1">
              <a:lnSpc>
                <a:spcPct val="80000"/>
              </a:lnSpc>
              <a:buFont typeface="Wingdings" pitchFamily="2" charset="2"/>
              <a:buChar char="Ø"/>
            </a:pPr>
            <a:r>
              <a:rPr lang="ro-RO" sz="1800" dirty="0" smtClean="0"/>
              <a:t>urmărește </a:t>
            </a:r>
            <a:r>
              <a:rPr lang="ro-RO" sz="1800" i="1" dirty="0" smtClean="0"/>
              <a:t>aprofundarea</a:t>
            </a:r>
            <a:r>
              <a:rPr lang="ro-RO" sz="1800" dirty="0" smtClean="0"/>
              <a:t> obiectivelor de referință și conținuturilor curriculum-ului nucleu, prin diversificarea activităților de predare și învățare;</a:t>
            </a:r>
          </a:p>
          <a:p>
            <a:pPr lvl="1">
              <a:lnSpc>
                <a:spcPct val="80000"/>
              </a:lnSpc>
              <a:buFont typeface="Wingdings" pitchFamily="2" charset="2"/>
              <a:buChar char="Ø"/>
            </a:pPr>
            <a:r>
              <a:rPr lang="ro-RO" sz="1800" dirty="0" smtClean="0"/>
              <a:t>se realizează în numărul maxim de ore prevăzut în plaja orară a unei discipline;</a:t>
            </a:r>
          </a:p>
          <a:p>
            <a:pPr lvl="1">
              <a:lnSpc>
                <a:spcPct val="80000"/>
              </a:lnSpc>
              <a:buFont typeface="Wingdings" pitchFamily="2" charset="2"/>
              <a:buChar char="Ø"/>
            </a:pPr>
            <a:r>
              <a:rPr lang="ro-RO" sz="1800" dirty="0" smtClean="0"/>
              <a:t>se adresează elevilor cu nevoi speciale de educație, cu dificultăți de învățare;</a:t>
            </a:r>
          </a:p>
          <a:p>
            <a:pPr lvl="1">
              <a:lnSpc>
                <a:spcPct val="80000"/>
              </a:lnSpc>
              <a:buFont typeface="Wingdings" pitchFamily="2" charset="2"/>
              <a:buChar char="Ø"/>
            </a:pPr>
            <a:r>
              <a:rPr lang="ro-RO" sz="1800" dirty="0" smtClean="0"/>
              <a:t>aceeași rubrică în catalog cu disciplina sursă;</a:t>
            </a:r>
          </a:p>
          <a:p>
            <a:pPr lvl="1">
              <a:lnSpc>
                <a:spcPct val="80000"/>
              </a:lnSpc>
              <a:buNone/>
            </a:pPr>
            <a:endParaRPr lang="ro-RO" sz="1800" dirty="0" smtClean="0"/>
          </a:p>
          <a:p>
            <a:r>
              <a:rPr lang="ro-RO" sz="1800" b="1" dirty="0" smtClean="0"/>
              <a:t>Curriculum extins:</a:t>
            </a:r>
          </a:p>
          <a:p>
            <a:pPr lvl="1">
              <a:lnSpc>
                <a:spcPct val="90000"/>
              </a:lnSpc>
              <a:buFont typeface="Wingdings" pitchFamily="2" charset="2"/>
              <a:buChar char="Ø"/>
            </a:pPr>
            <a:r>
              <a:rPr lang="ro-RO" sz="1800" dirty="0" smtClean="0"/>
              <a:t>urmărește </a:t>
            </a:r>
            <a:r>
              <a:rPr lang="ro-RO" sz="1800" i="1" dirty="0" smtClean="0"/>
              <a:t>extinderea </a:t>
            </a:r>
            <a:r>
              <a:rPr lang="ro-RO" sz="1800" dirty="0" smtClean="0"/>
              <a:t>obiectivelor de referință și conținuturilor curriculum-ului nucleu, prin noi obiective de referință și noi unități de conținut;</a:t>
            </a:r>
          </a:p>
          <a:p>
            <a:pPr lvl="1">
              <a:lnSpc>
                <a:spcPct val="90000"/>
              </a:lnSpc>
              <a:buFont typeface="Wingdings" pitchFamily="2" charset="2"/>
              <a:buChar char="Ø"/>
            </a:pPr>
            <a:r>
              <a:rPr lang="ro-RO" sz="1800" dirty="0" smtClean="0"/>
              <a:t>presupune parcurgerea programei în întregime, inclusiv  a segmentelor neobligatorii;</a:t>
            </a:r>
          </a:p>
          <a:p>
            <a:pPr lvl="1">
              <a:lnSpc>
                <a:spcPct val="90000"/>
              </a:lnSpc>
              <a:buFont typeface="Wingdings" pitchFamily="2" charset="2"/>
              <a:buChar char="Ø"/>
            </a:pPr>
            <a:r>
              <a:rPr lang="ro-RO" sz="1800" dirty="0" smtClean="0"/>
              <a:t>se realizează în numărul maxim de ore prevăzut în plaja orară a unei discipline;</a:t>
            </a:r>
          </a:p>
          <a:p>
            <a:pPr lvl="1">
              <a:lnSpc>
                <a:spcPct val="90000"/>
              </a:lnSpc>
              <a:buFont typeface="Wingdings" pitchFamily="2" charset="2"/>
              <a:buChar char="Ø"/>
            </a:pPr>
            <a:r>
              <a:rPr lang="ro-RO" sz="1800" dirty="0" smtClean="0"/>
              <a:t>se adresează elevilor cu aptitudini și interes sporit pentru o anumită disciplină;</a:t>
            </a:r>
          </a:p>
          <a:p>
            <a:pPr lvl="1">
              <a:lnSpc>
                <a:spcPct val="90000"/>
              </a:lnSpc>
              <a:buFont typeface="Wingdings" pitchFamily="2" charset="2"/>
              <a:buChar char="Ø"/>
            </a:pPr>
            <a:r>
              <a:rPr lang="ro-RO" sz="1800" dirty="0" smtClean="0"/>
              <a:t>aceeași rubrică în catalog cu disciplina sursă;</a:t>
            </a:r>
          </a:p>
          <a:p>
            <a:endParaRPr lang="ro-RO" sz="1800" b="1" dirty="0" smtClean="0"/>
          </a:p>
          <a:p>
            <a:endParaRPr lang="ro-RO" sz="1800" b="1" dirty="0" smtClean="0"/>
          </a:p>
          <a:p>
            <a:pPr lvl="1"/>
            <a:endParaRPr lang="en-US" sz="1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367458"/>
          </a:xfrm>
        </p:spPr>
        <p:txBody>
          <a:bodyPr>
            <a:normAutofit fontScale="90000"/>
          </a:bodyPr>
          <a:lstStyle/>
          <a:p>
            <a:endParaRPr lang="en-US" dirty="0"/>
          </a:p>
        </p:txBody>
      </p:sp>
      <p:sp>
        <p:nvSpPr>
          <p:cNvPr id="3" name="Content Placeholder 2"/>
          <p:cNvSpPr>
            <a:spLocks noGrp="1"/>
          </p:cNvSpPr>
          <p:nvPr>
            <p:ph idx="1"/>
          </p:nvPr>
        </p:nvSpPr>
        <p:spPr>
          <a:xfrm>
            <a:off x="457200" y="1285860"/>
            <a:ext cx="8229600" cy="5038740"/>
          </a:xfrm>
        </p:spPr>
        <p:txBody>
          <a:bodyPr>
            <a:normAutofit/>
          </a:bodyPr>
          <a:lstStyle/>
          <a:p>
            <a:r>
              <a:rPr lang="ro-RO" sz="1800" b="1" dirty="0" smtClean="0"/>
              <a:t>Curriculum elaborat în școală – opțional la nivelul disciplinei sau ariei curriculare:</a:t>
            </a:r>
          </a:p>
          <a:p>
            <a:pPr lvl="1">
              <a:lnSpc>
                <a:spcPct val="90000"/>
              </a:lnSpc>
              <a:buFont typeface="Wingdings" pitchFamily="2" charset="2"/>
              <a:buChar char="Ø"/>
            </a:pPr>
            <a:r>
              <a:rPr lang="ro-RO" sz="1800" dirty="0" smtClean="0"/>
              <a:t>Constă:</a:t>
            </a:r>
          </a:p>
          <a:p>
            <a:pPr lvl="2">
              <a:lnSpc>
                <a:spcPct val="90000"/>
              </a:lnSpc>
              <a:buFont typeface="Wingdings" pitchFamily="2" charset="2"/>
              <a:buChar char="§"/>
            </a:pPr>
            <a:r>
              <a:rPr lang="ro-RO" sz="1800" dirty="0" smtClean="0"/>
              <a:t>în </a:t>
            </a:r>
            <a:r>
              <a:rPr lang="ro-RO" sz="1800" i="1" dirty="0" smtClean="0"/>
              <a:t>activități, module, proiecte</a:t>
            </a:r>
            <a:r>
              <a:rPr lang="ro-RO" sz="1800" dirty="0" smtClean="0"/>
              <a:t> care nu sunt incluse în programa școlară obligatorie a unei discipline;</a:t>
            </a:r>
          </a:p>
          <a:p>
            <a:pPr lvl="2">
              <a:lnSpc>
                <a:spcPct val="90000"/>
              </a:lnSpc>
              <a:buFont typeface="Wingdings" pitchFamily="2" charset="2"/>
              <a:buChar char="§"/>
            </a:pPr>
            <a:r>
              <a:rPr lang="ro-RO" sz="1800" i="1" dirty="0" smtClean="0"/>
              <a:t>într-o disciplină</a:t>
            </a:r>
            <a:r>
              <a:rPr lang="ro-RO" sz="1800" dirty="0" smtClean="0"/>
              <a:t> care nu este prevăzută în planul cadru;</a:t>
            </a:r>
          </a:p>
          <a:p>
            <a:pPr lvl="1">
              <a:lnSpc>
                <a:spcPct val="90000"/>
              </a:lnSpc>
              <a:buFont typeface="Wingdings" pitchFamily="2" charset="2"/>
              <a:buChar char="Ø"/>
            </a:pPr>
            <a:r>
              <a:rPr lang="ro-RO" sz="1800" dirty="0" smtClean="0"/>
              <a:t>noi obiective de referință, noi conținuturi față de programa de trunchi comun a disciplinei;</a:t>
            </a:r>
          </a:p>
          <a:p>
            <a:pPr lvl="1">
              <a:lnSpc>
                <a:spcPct val="90000"/>
              </a:lnSpc>
              <a:buFont typeface="Wingdings" pitchFamily="2" charset="2"/>
              <a:buChar char="Ø"/>
            </a:pPr>
            <a:r>
              <a:rPr lang="ro-RO" sz="1800" dirty="0" smtClean="0"/>
              <a:t>ore de opțional (nu din plaja orară);</a:t>
            </a:r>
          </a:p>
          <a:p>
            <a:pPr lvl="1">
              <a:lnSpc>
                <a:spcPct val="90000"/>
              </a:lnSpc>
              <a:buFont typeface="Wingdings" pitchFamily="2" charset="2"/>
              <a:buChar char="Ø"/>
            </a:pPr>
            <a:r>
              <a:rPr lang="ro-RO" sz="1800" dirty="0" smtClean="0"/>
              <a:t>rubrică nouă în catalog;</a:t>
            </a:r>
          </a:p>
          <a:p>
            <a:pPr>
              <a:buNone/>
            </a:pPr>
            <a:endParaRPr lang="en-US" sz="18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ro-RO" sz="2800" dirty="0" smtClean="0"/>
              <a:t>Propuneţi soluţii pentru ca programele şcolare să devină mai flexibile şi mai adaptate la circumstanţele învăţării, la nevoile şi posibilităţile concrete ale elevilor.</a:t>
            </a:r>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Grp="1" noChangeArrowheads="1"/>
          </p:cNvSpPr>
          <p:nvPr>
            <p:ph type="title"/>
          </p:nvPr>
        </p:nvSpPr>
        <p:spPr/>
        <p:txBody>
          <a:bodyPr>
            <a:normAutofit fontScale="90000"/>
          </a:bodyPr>
          <a:lstStyle/>
          <a:p>
            <a:pPr algn="ctr"/>
            <a:r>
              <a:rPr lang="ro-RO" sz="4000" dirty="0"/>
              <a:t>Curriculum formal, nonformal și informal – formele educației</a:t>
            </a:r>
          </a:p>
        </p:txBody>
      </p:sp>
      <p:sp>
        <p:nvSpPr>
          <p:cNvPr id="2053" name="Rectangle 5"/>
          <p:cNvSpPr>
            <a:spLocks noGrp="1" noChangeArrowheads="1"/>
          </p:cNvSpPr>
          <p:nvPr>
            <p:ph idx="1"/>
          </p:nvPr>
        </p:nvSpPr>
        <p:spPr/>
        <p:txBody>
          <a:bodyPr/>
          <a:lstStyle/>
          <a:p>
            <a:r>
              <a:rPr lang="ro-RO" dirty="0"/>
              <a:t>Curriculum formal - educația formală (educația instituționalizată, de tip școlar)</a:t>
            </a:r>
          </a:p>
          <a:p>
            <a:r>
              <a:rPr lang="ro-RO" dirty="0"/>
              <a:t>Curriculum nonformal - educația nonformală (educația instituționalizată de tip nonșcolar)</a:t>
            </a:r>
          </a:p>
          <a:p>
            <a:r>
              <a:rPr lang="ro-RO" dirty="0"/>
              <a:t>Curriculum informal - educația informală (educația neinstituționalizată)</a:t>
            </a:r>
          </a:p>
          <a:p>
            <a:endParaRPr lang="ro-RO"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ro-RO"/>
              <a:t>Curriculum formal</a:t>
            </a:r>
          </a:p>
        </p:txBody>
      </p:sp>
      <p:sp>
        <p:nvSpPr>
          <p:cNvPr id="8195" name="Rectangle 3"/>
          <p:cNvSpPr>
            <a:spLocks noGrp="1" noChangeArrowheads="1"/>
          </p:cNvSpPr>
          <p:nvPr>
            <p:ph idx="1"/>
          </p:nvPr>
        </p:nvSpPr>
        <p:spPr>
          <a:xfrm>
            <a:off x="1042988" y="1989138"/>
            <a:ext cx="7543800" cy="4114800"/>
          </a:xfrm>
        </p:spPr>
        <p:txBody>
          <a:bodyPr>
            <a:normAutofit lnSpcReduction="10000"/>
          </a:bodyPr>
          <a:lstStyle/>
          <a:p>
            <a:pPr>
              <a:lnSpc>
                <a:spcPct val="80000"/>
              </a:lnSpc>
              <a:buFont typeface="Wingdings" pitchFamily="2" charset="2"/>
              <a:buChar char="Ø"/>
            </a:pPr>
            <a:r>
              <a:rPr lang="ro-RO" sz="2400" dirty="0"/>
              <a:t>este curriculum pe baza căruia se realizează </a:t>
            </a:r>
            <a:r>
              <a:rPr lang="ro-RO" sz="2400" i="1" dirty="0"/>
              <a:t>educația formală</a:t>
            </a:r>
            <a:r>
              <a:rPr lang="ro-RO" sz="2400" dirty="0"/>
              <a:t>;</a:t>
            </a:r>
          </a:p>
          <a:p>
            <a:pPr>
              <a:lnSpc>
                <a:spcPct val="80000"/>
              </a:lnSpc>
              <a:buFont typeface="Wingdings" pitchFamily="2" charset="2"/>
              <a:buChar char="Ø"/>
            </a:pPr>
            <a:r>
              <a:rPr lang="ro-RO" sz="2400" dirty="0"/>
              <a:t>este un </a:t>
            </a:r>
            <a:r>
              <a:rPr lang="ro-RO" sz="2400" i="1" dirty="0"/>
              <a:t>curriculum oficial, instituționalizat, </a:t>
            </a:r>
            <a:r>
              <a:rPr lang="ro-RO" sz="2400" dirty="0"/>
              <a:t>incluzând documentele școlare oficiale;</a:t>
            </a:r>
          </a:p>
          <a:p>
            <a:pPr>
              <a:lnSpc>
                <a:spcPct val="80000"/>
              </a:lnSpc>
              <a:buFont typeface="Wingdings" pitchFamily="2" charset="2"/>
              <a:buChar char="Ø"/>
            </a:pPr>
            <a:r>
              <a:rPr lang="ro-RO" sz="2400" dirty="0"/>
              <a:t>este un </a:t>
            </a:r>
            <a:r>
              <a:rPr lang="ro-RO" sz="2400" i="1" dirty="0"/>
              <a:t>curriculum complet, </a:t>
            </a:r>
            <a:r>
              <a:rPr lang="ro-RO" sz="2400" dirty="0"/>
              <a:t>apropiat de conceptul de curriculum în sens larg;</a:t>
            </a:r>
          </a:p>
          <a:p>
            <a:pPr>
              <a:lnSpc>
                <a:spcPct val="80000"/>
              </a:lnSpc>
              <a:buFont typeface="Wingdings" pitchFamily="2" charset="2"/>
              <a:buChar char="Ø"/>
            </a:pPr>
            <a:r>
              <a:rPr lang="ro-RO" sz="2400" dirty="0"/>
              <a:t>este un </a:t>
            </a:r>
            <a:r>
              <a:rPr lang="ro-RO" sz="2400" i="1" dirty="0"/>
              <a:t>curriculum obligatoriu, </a:t>
            </a:r>
            <a:r>
              <a:rPr lang="ro-RO" sz="2400" dirty="0"/>
              <a:t>incluzând și </a:t>
            </a:r>
            <a:r>
              <a:rPr lang="ro-RO" sz="2400" i="1" dirty="0"/>
              <a:t>componente opționale: curriculum nucleu și curriculum la decizia școlii ;</a:t>
            </a:r>
          </a:p>
          <a:p>
            <a:pPr>
              <a:lnSpc>
                <a:spcPct val="80000"/>
              </a:lnSpc>
              <a:buFont typeface="Wingdings" pitchFamily="2" charset="2"/>
              <a:buChar char="Ø"/>
            </a:pPr>
            <a:r>
              <a:rPr lang="ro-RO" sz="2400" dirty="0"/>
              <a:t>este un</a:t>
            </a:r>
            <a:r>
              <a:rPr lang="ro-RO" sz="2400" i="1" dirty="0"/>
              <a:t> curriculum explicit;</a:t>
            </a:r>
          </a:p>
          <a:p>
            <a:pPr>
              <a:lnSpc>
                <a:spcPct val="80000"/>
              </a:lnSpc>
              <a:buFont typeface="Wingdings" pitchFamily="2" charset="2"/>
              <a:buChar char="Ø"/>
            </a:pPr>
            <a:r>
              <a:rPr lang="ro-RO" sz="2400" dirty="0"/>
              <a:t>este un</a:t>
            </a:r>
            <a:r>
              <a:rPr lang="ro-RO" sz="2400" i="1" dirty="0"/>
              <a:t> curriculum scris, </a:t>
            </a:r>
            <a:r>
              <a:rPr lang="ro-RO" sz="2400" dirty="0"/>
              <a:t>sub forma documentelor oficiale și a documentelor de concretizare la nivelul instituției școlare, elaborate de către  cadrele didactice;</a:t>
            </a:r>
            <a:endParaRPr lang="ro-RO" sz="2400" i="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ro-RO"/>
              <a:t>Curriculum nonformal</a:t>
            </a:r>
          </a:p>
        </p:txBody>
      </p:sp>
      <p:sp>
        <p:nvSpPr>
          <p:cNvPr id="9219" name="Rectangle 3"/>
          <p:cNvSpPr>
            <a:spLocks noGrp="1" noChangeArrowheads="1"/>
          </p:cNvSpPr>
          <p:nvPr>
            <p:ph idx="1"/>
          </p:nvPr>
        </p:nvSpPr>
        <p:spPr/>
        <p:txBody>
          <a:bodyPr/>
          <a:lstStyle/>
          <a:p>
            <a:pPr>
              <a:lnSpc>
                <a:spcPct val="80000"/>
              </a:lnSpc>
              <a:buFont typeface="Wingdings" pitchFamily="2" charset="2"/>
              <a:buChar char="Ø"/>
            </a:pPr>
            <a:r>
              <a:rPr lang="ro-RO" sz="2400" dirty="0"/>
              <a:t>este asociat cu educația nonformală, incluzând </a:t>
            </a:r>
            <a:r>
              <a:rPr lang="ro-RO" sz="2400" i="1" dirty="0"/>
              <a:t>activități educaționale extrașcolare;</a:t>
            </a:r>
          </a:p>
          <a:p>
            <a:pPr>
              <a:lnSpc>
                <a:spcPct val="80000"/>
              </a:lnSpc>
              <a:buFont typeface="Wingdings" pitchFamily="2" charset="2"/>
              <a:buChar char="Ø"/>
            </a:pPr>
            <a:r>
              <a:rPr lang="ro-RO" sz="2400" dirty="0"/>
              <a:t>este mai </a:t>
            </a:r>
            <a:r>
              <a:rPr lang="ro-RO" sz="2400" i="1" dirty="0"/>
              <a:t>flexibil și variat</a:t>
            </a:r>
            <a:r>
              <a:rPr lang="ro-RO" sz="2400" dirty="0"/>
              <a:t> decât curriculum formal;</a:t>
            </a:r>
          </a:p>
          <a:p>
            <a:pPr>
              <a:lnSpc>
                <a:spcPct val="80000"/>
              </a:lnSpc>
              <a:buFont typeface="Wingdings" pitchFamily="2" charset="2"/>
              <a:buChar char="Ø"/>
            </a:pPr>
            <a:r>
              <a:rPr lang="ro-RO" sz="2400" dirty="0"/>
              <a:t>este </a:t>
            </a:r>
            <a:r>
              <a:rPr lang="ro-RO" sz="2400" i="1" dirty="0"/>
              <a:t>opțional, facultativ;</a:t>
            </a:r>
          </a:p>
          <a:p>
            <a:pPr>
              <a:lnSpc>
                <a:spcPct val="80000"/>
              </a:lnSpc>
              <a:buFont typeface="Wingdings" pitchFamily="2" charset="2"/>
              <a:buChar char="Ø"/>
            </a:pPr>
            <a:r>
              <a:rPr lang="ro-RO" sz="2400" dirty="0"/>
              <a:t>este un</a:t>
            </a:r>
            <a:r>
              <a:rPr lang="ro-RO" sz="2400" i="1" dirty="0"/>
              <a:t> curriculum explicit, </a:t>
            </a:r>
            <a:r>
              <a:rPr lang="ro-RO" sz="2400" dirty="0"/>
              <a:t>conținuturile și obiectivele fiind prevăzute în documente special elaborate de către cadrele didactice;</a:t>
            </a:r>
          </a:p>
          <a:p>
            <a:pPr>
              <a:lnSpc>
                <a:spcPct val="80000"/>
              </a:lnSpc>
              <a:buFont typeface="Wingdings" pitchFamily="2" charset="2"/>
              <a:buChar char="Ø"/>
            </a:pPr>
            <a:r>
              <a:rPr lang="ro-RO" sz="2400" dirty="0"/>
              <a:t>are un caracter </a:t>
            </a:r>
            <a:r>
              <a:rPr lang="ro-RO" sz="2400" i="1" dirty="0"/>
              <a:t>mai puțin formalizat</a:t>
            </a:r>
            <a:r>
              <a:rPr lang="ro-RO" sz="2400" dirty="0"/>
              <a:t>, dar </a:t>
            </a:r>
            <a:r>
              <a:rPr lang="ro-RO" sz="2400" i="1" dirty="0"/>
              <a:t>organizat </a:t>
            </a:r>
            <a:r>
              <a:rPr lang="ro-RO" sz="2400" dirty="0"/>
              <a:t>și </a:t>
            </a:r>
            <a:r>
              <a:rPr lang="ro-RO" sz="2400" i="1" dirty="0"/>
              <a:t>sistematic</a:t>
            </a:r>
            <a:r>
              <a:rPr lang="ro-RO" sz="2400" dirty="0"/>
              <a:t>;</a:t>
            </a:r>
          </a:p>
          <a:p>
            <a:pPr>
              <a:lnSpc>
                <a:spcPct val="80000"/>
              </a:lnSpc>
              <a:buFont typeface="Wingdings" pitchFamily="2" charset="2"/>
              <a:buChar char="Ø"/>
            </a:pPr>
            <a:r>
              <a:rPr lang="ro-RO" sz="2400" dirty="0"/>
              <a:t>este o prelungire și o </a:t>
            </a:r>
            <a:r>
              <a:rPr lang="ro-RO" sz="2400" i="1" dirty="0"/>
              <a:t>completare a curriculum-ului formal;</a:t>
            </a:r>
          </a:p>
          <a:p>
            <a:pPr>
              <a:lnSpc>
                <a:spcPct val="80000"/>
              </a:lnSpc>
              <a:buFont typeface="Wingdings" pitchFamily="2" charset="2"/>
              <a:buNone/>
            </a:pPr>
            <a:endParaRPr lang="ro-RO" sz="2400" i="1" dirty="0"/>
          </a:p>
          <a:p>
            <a:pPr>
              <a:lnSpc>
                <a:spcPct val="80000"/>
              </a:lnSpc>
              <a:buFont typeface="Wingdings" pitchFamily="2" charset="2"/>
              <a:buNone/>
            </a:pPr>
            <a:endParaRPr lang="ro-RO" sz="2400" i="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fontScale="90000"/>
          </a:bodyPr>
          <a:lstStyle/>
          <a:p>
            <a:pPr algn="ctr"/>
            <a:r>
              <a:rPr lang="ro-RO"/>
              <a:t>Curriculum nonformal – activități extracurriculare</a:t>
            </a:r>
          </a:p>
        </p:txBody>
      </p:sp>
      <p:sp>
        <p:nvSpPr>
          <p:cNvPr id="11267" name="Rectangle 3"/>
          <p:cNvSpPr>
            <a:spLocks noGrp="1" noChangeArrowheads="1"/>
          </p:cNvSpPr>
          <p:nvPr>
            <p:ph idx="1"/>
          </p:nvPr>
        </p:nvSpPr>
        <p:spPr/>
        <p:txBody>
          <a:bodyPr/>
          <a:lstStyle/>
          <a:p>
            <a:r>
              <a:rPr lang="ro-RO" sz="3600" dirty="0"/>
              <a:t>Obiectivele</a:t>
            </a:r>
          </a:p>
          <a:p>
            <a:r>
              <a:rPr lang="ro-RO" sz="3600" dirty="0"/>
              <a:t>Conținuturile</a:t>
            </a:r>
          </a:p>
          <a:p>
            <a:r>
              <a:rPr lang="ro-RO" sz="3600" dirty="0"/>
              <a:t>Formele de organizare</a:t>
            </a:r>
          </a:p>
          <a:p>
            <a:r>
              <a:rPr lang="ro-RO" sz="3600" dirty="0"/>
              <a:t>Evaluarea rezultatelor</a:t>
            </a:r>
          </a:p>
          <a:p>
            <a:r>
              <a:rPr lang="ro-RO" sz="3600" dirty="0"/>
              <a:t>Organizatori</a:t>
            </a:r>
          </a:p>
          <a:p>
            <a:pPr>
              <a:buFont typeface="Wingdings" pitchFamily="2" charset="2"/>
              <a:buNone/>
            </a:pPr>
            <a:endParaRPr lang="ro-RO"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ro-RO"/>
              <a:t>Curriculum informal</a:t>
            </a:r>
          </a:p>
        </p:txBody>
      </p:sp>
      <p:sp>
        <p:nvSpPr>
          <p:cNvPr id="12291" name="Rectangle 3"/>
          <p:cNvSpPr>
            <a:spLocks noGrp="1" noChangeArrowheads="1"/>
          </p:cNvSpPr>
          <p:nvPr>
            <p:ph idx="1"/>
          </p:nvPr>
        </p:nvSpPr>
        <p:spPr/>
        <p:txBody>
          <a:bodyPr/>
          <a:lstStyle/>
          <a:p>
            <a:pPr>
              <a:lnSpc>
                <a:spcPct val="80000"/>
              </a:lnSpc>
              <a:buFont typeface="Wingdings" pitchFamily="2" charset="2"/>
              <a:buChar char="Ø"/>
            </a:pPr>
            <a:r>
              <a:rPr lang="ro-RO" sz="2400" dirty="0"/>
              <a:t>este curriculum realizat prin </a:t>
            </a:r>
            <a:r>
              <a:rPr lang="ro-RO" sz="2400" i="1" dirty="0"/>
              <a:t>influențe educative de tip informal: </a:t>
            </a:r>
            <a:r>
              <a:rPr lang="ro-RO" sz="2400" dirty="0"/>
              <a:t>familie, grup de prieteni, mass-media, mediul social, cultural, economic;</a:t>
            </a:r>
          </a:p>
          <a:p>
            <a:pPr>
              <a:lnSpc>
                <a:spcPct val="80000"/>
              </a:lnSpc>
              <a:buFont typeface="Wingdings" pitchFamily="2" charset="2"/>
              <a:buChar char="Ø"/>
            </a:pPr>
            <a:r>
              <a:rPr lang="ro-RO" sz="2400" dirty="0"/>
              <a:t>influențele de tip informal </a:t>
            </a:r>
            <a:r>
              <a:rPr lang="ro-RO" sz="2400" i="1" dirty="0"/>
              <a:t>nu sunt selectate, prelucrate și organizate</a:t>
            </a:r>
            <a:r>
              <a:rPr lang="ro-RO" sz="2400" dirty="0"/>
              <a:t> din punct de vedere pedagogic;</a:t>
            </a:r>
          </a:p>
          <a:p>
            <a:pPr>
              <a:lnSpc>
                <a:spcPct val="80000"/>
              </a:lnSpc>
              <a:buFont typeface="Wingdings" pitchFamily="2" charset="2"/>
              <a:buChar char="Ø"/>
            </a:pPr>
            <a:r>
              <a:rPr lang="ro-RO" sz="2400" dirty="0"/>
              <a:t>influențele de tip informal </a:t>
            </a:r>
            <a:r>
              <a:rPr lang="ro-RO" sz="2400" i="1" dirty="0"/>
              <a:t>nu vizează</a:t>
            </a:r>
            <a:r>
              <a:rPr lang="ro-RO" sz="2400" dirty="0"/>
              <a:t> în mod deliberat atingerea anumitor </a:t>
            </a:r>
            <a:r>
              <a:rPr lang="ro-RO" sz="2400" i="1" dirty="0"/>
              <a:t>finalități</a:t>
            </a:r>
            <a:r>
              <a:rPr lang="ro-RO" sz="2400" dirty="0"/>
              <a:t>;</a:t>
            </a:r>
          </a:p>
          <a:p>
            <a:pPr>
              <a:lnSpc>
                <a:spcPct val="80000"/>
              </a:lnSpc>
              <a:buFont typeface="Wingdings" pitchFamily="2" charset="2"/>
              <a:buChar char="Ø"/>
            </a:pPr>
            <a:r>
              <a:rPr lang="ro-RO" sz="2400" dirty="0"/>
              <a:t>este expresia nemijlocită a </a:t>
            </a:r>
            <a:r>
              <a:rPr lang="ro-RO" sz="2400" i="1" dirty="0"/>
              <a:t>mediului de viață</a:t>
            </a:r>
            <a:r>
              <a:rPr lang="ro-RO" sz="2400" dirty="0"/>
              <a:t> și a </a:t>
            </a:r>
            <a:r>
              <a:rPr lang="ro-RO" sz="2400" i="1" dirty="0"/>
              <a:t>ambianței</a:t>
            </a:r>
            <a:r>
              <a:rPr lang="ro-RO" sz="2400" dirty="0"/>
              <a:t> în care se află individul;</a:t>
            </a:r>
          </a:p>
          <a:p>
            <a:pPr>
              <a:lnSpc>
                <a:spcPct val="80000"/>
              </a:lnSpc>
              <a:buFont typeface="Wingdings" pitchFamily="2" charset="2"/>
              <a:buChar char="Ø"/>
            </a:pPr>
            <a:r>
              <a:rPr lang="ro-RO" sz="2400" dirty="0"/>
              <a:t>este un </a:t>
            </a:r>
            <a:r>
              <a:rPr lang="ro-RO" sz="2400" i="1" dirty="0"/>
              <a:t>curriculum ascuns </a:t>
            </a:r>
            <a:r>
              <a:rPr lang="ro-RO" sz="2400" dirty="0"/>
              <a:t>(nu este declarat, explicitat, și poate fi sesizat doar prin efectele sale, nu și prin conținuturi sau obiective);</a:t>
            </a:r>
          </a:p>
          <a:p>
            <a:pPr>
              <a:lnSpc>
                <a:spcPct val="80000"/>
              </a:lnSpc>
              <a:buFont typeface="Wingdings" pitchFamily="2" charset="2"/>
              <a:buNone/>
            </a:pPr>
            <a:endParaRPr lang="ro-RO" sz="2400" i="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ro-RO"/>
              <a:t>Curriculum informal</a:t>
            </a:r>
          </a:p>
        </p:txBody>
      </p:sp>
      <p:sp>
        <p:nvSpPr>
          <p:cNvPr id="13315" name="Rectangle 3"/>
          <p:cNvSpPr>
            <a:spLocks noGrp="1" noChangeArrowheads="1"/>
          </p:cNvSpPr>
          <p:nvPr>
            <p:ph idx="1"/>
          </p:nvPr>
        </p:nvSpPr>
        <p:spPr/>
        <p:txBody>
          <a:bodyPr/>
          <a:lstStyle/>
          <a:p>
            <a:pPr>
              <a:lnSpc>
                <a:spcPct val="90000"/>
              </a:lnSpc>
              <a:buFont typeface="Wingdings" pitchFamily="2" charset="2"/>
              <a:buChar char="Ø"/>
            </a:pPr>
            <a:r>
              <a:rPr lang="ro-RO" sz="2800" dirty="0"/>
              <a:t>Curriculum informal – </a:t>
            </a:r>
            <a:r>
              <a:rPr lang="ro-RO" sz="2800" i="1" dirty="0"/>
              <a:t>neorganizat, nestructurat</a:t>
            </a:r>
            <a:r>
              <a:rPr lang="ro-RO" sz="2800" dirty="0"/>
              <a:t>;</a:t>
            </a:r>
            <a:endParaRPr lang="en-US" sz="2800" dirty="0"/>
          </a:p>
          <a:p>
            <a:pPr>
              <a:lnSpc>
                <a:spcPct val="90000"/>
              </a:lnSpc>
              <a:buFont typeface="Wingdings" pitchFamily="2" charset="2"/>
              <a:buChar char="Ø"/>
            </a:pPr>
            <a:r>
              <a:rPr lang="ro-RO" sz="2800" dirty="0"/>
              <a:t> Curriculum informal - termen acceptat datorită </a:t>
            </a:r>
            <a:r>
              <a:rPr lang="ro-RO" sz="2800" i="1" dirty="0"/>
              <a:t>accepțiunilor mai generale</a:t>
            </a:r>
            <a:r>
              <a:rPr lang="ro-RO" sz="2800" dirty="0"/>
              <a:t> ale termenului de </a:t>
            </a:r>
            <a:r>
              <a:rPr lang="ro-RO" sz="2800" i="1" dirty="0"/>
              <a:t>curriculum</a:t>
            </a:r>
            <a:r>
              <a:rPr lang="ro-RO" sz="2800" dirty="0"/>
              <a:t>: ”orice experiență personală, dobândită în diferite contexte și situații socio-culturale”(D</a:t>
            </a:r>
            <a:r>
              <a:rPr lang="en-US" sz="2800" dirty="0"/>
              <a:t>’Hainaut)</a:t>
            </a:r>
            <a:r>
              <a:rPr lang="ro-RO" sz="2800" dirty="0"/>
              <a:t>;</a:t>
            </a:r>
          </a:p>
          <a:p>
            <a:pPr>
              <a:lnSpc>
                <a:spcPct val="90000"/>
              </a:lnSpc>
              <a:buFont typeface="Wingdings" pitchFamily="2" charset="2"/>
              <a:buChar char="Ø"/>
            </a:pPr>
            <a:r>
              <a:rPr lang="ro-RO" sz="2800" dirty="0"/>
              <a:t>Curriculum informal – nu are o valoare aplicativă, ci una </a:t>
            </a:r>
            <a:r>
              <a:rPr lang="ro-RO" sz="2800" i="1" dirty="0"/>
              <a:t>explicativă;</a:t>
            </a:r>
          </a:p>
          <a:p>
            <a:pPr>
              <a:lnSpc>
                <a:spcPct val="90000"/>
              </a:lnSpc>
              <a:buFont typeface="Wingdings" pitchFamily="2" charset="2"/>
              <a:buNone/>
            </a:pPr>
            <a:endParaRPr lang="ro-RO" sz="2800" i="1" dirty="0"/>
          </a:p>
          <a:p>
            <a:pPr>
              <a:lnSpc>
                <a:spcPct val="90000"/>
              </a:lnSpc>
              <a:buFont typeface="Wingdings" pitchFamily="2" charset="2"/>
              <a:buChar char="Ø"/>
            </a:pPr>
            <a:endParaRPr lang="en-US" sz="2800" i="1" dirty="0"/>
          </a:p>
          <a:p>
            <a:pPr>
              <a:lnSpc>
                <a:spcPct val="90000"/>
              </a:lnSpc>
              <a:buFont typeface="Wingdings" pitchFamily="2" charset="2"/>
              <a:buChar char="Ø"/>
            </a:pPr>
            <a:endParaRPr lang="ro-RO" sz="2800" dirty="0"/>
          </a:p>
          <a:p>
            <a:pPr>
              <a:lnSpc>
                <a:spcPct val="90000"/>
              </a:lnSpc>
              <a:buFont typeface="Wingdings" pitchFamily="2" charset="2"/>
              <a:buChar char="Ø"/>
            </a:pPr>
            <a:endParaRPr lang="ro-RO" sz="2800" dirty="0"/>
          </a:p>
          <a:p>
            <a:pPr>
              <a:lnSpc>
                <a:spcPct val="90000"/>
              </a:lnSpc>
              <a:buFont typeface="Wingdings" pitchFamily="2" charset="2"/>
              <a:buNone/>
            </a:pPr>
            <a:endParaRPr lang="ro-RO" sz="2800" i="1" dirty="0"/>
          </a:p>
          <a:p>
            <a:pPr>
              <a:lnSpc>
                <a:spcPct val="90000"/>
              </a:lnSpc>
              <a:buFont typeface="Wingdings" pitchFamily="2" charset="2"/>
              <a:buNone/>
            </a:pPr>
            <a:endParaRPr lang="ro-RO" sz="2800" i="1" dirty="0"/>
          </a:p>
          <a:p>
            <a:pPr>
              <a:lnSpc>
                <a:spcPct val="90000"/>
              </a:lnSpc>
              <a:buFont typeface="Wingdings" pitchFamily="2" charset="2"/>
              <a:buChar char="Ø"/>
            </a:pPr>
            <a:endParaRPr lang="ro-RO"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ro-RO"/>
              <a:t>Curriculum predat</a:t>
            </a:r>
          </a:p>
        </p:txBody>
      </p:sp>
      <p:sp>
        <p:nvSpPr>
          <p:cNvPr id="14339" name="Rectangle 3"/>
          <p:cNvSpPr>
            <a:spLocks noGrp="1" noChangeArrowheads="1"/>
          </p:cNvSpPr>
          <p:nvPr>
            <p:ph idx="1"/>
          </p:nvPr>
        </p:nvSpPr>
        <p:spPr/>
        <p:txBody>
          <a:bodyPr/>
          <a:lstStyle/>
          <a:p>
            <a:pPr>
              <a:lnSpc>
                <a:spcPct val="80000"/>
              </a:lnSpc>
              <a:buFont typeface="Wingdings" pitchFamily="2" charset="2"/>
              <a:buChar char="Ø"/>
            </a:pPr>
            <a:r>
              <a:rPr lang="ro-RO" sz="2800" dirty="0"/>
              <a:t>ansamblul </a:t>
            </a:r>
            <a:r>
              <a:rPr lang="ro-RO" sz="2800" i="1" dirty="0"/>
              <a:t>experiențelor de învățare și dezvoltare</a:t>
            </a:r>
            <a:r>
              <a:rPr lang="ro-RO" sz="2800" dirty="0"/>
              <a:t> oferite de cadrele didactice elevilor, în activitățile școlare și extrașcolare;</a:t>
            </a:r>
          </a:p>
          <a:p>
            <a:pPr>
              <a:lnSpc>
                <a:spcPct val="80000"/>
              </a:lnSpc>
              <a:buFont typeface="Wingdings" pitchFamily="2" charset="2"/>
              <a:buChar char="Ø"/>
            </a:pPr>
            <a:r>
              <a:rPr lang="ro-RO" sz="2800" dirty="0"/>
              <a:t>ansamblul de </a:t>
            </a:r>
            <a:r>
              <a:rPr lang="ro-RO" sz="2800" i="1" dirty="0"/>
              <a:t>cunoștințe, deprinderi, atitudini</a:t>
            </a:r>
            <a:r>
              <a:rPr lang="ro-RO" sz="2800" dirty="0"/>
              <a:t>, actualizate în actul de predare;</a:t>
            </a:r>
          </a:p>
          <a:p>
            <a:pPr>
              <a:lnSpc>
                <a:spcPct val="80000"/>
              </a:lnSpc>
              <a:buFont typeface="Wingdings" pitchFamily="2" charset="2"/>
              <a:buChar char="Ø"/>
            </a:pPr>
            <a:r>
              <a:rPr lang="ro-RO" sz="2800" i="1"/>
              <a:t>curriculum </a:t>
            </a:r>
            <a:r>
              <a:rPr lang="ro-RO" sz="2800" i="1" smtClean="0"/>
              <a:t>formal</a:t>
            </a:r>
            <a:r>
              <a:rPr lang="ro-RO" sz="2800" smtClean="0"/>
              <a:t> </a:t>
            </a:r>
            <a:r>
              <a:rPr lang="ro-RO" sz="2800" dirty="0"/>
              <a:t>realizat de profesor la o anumită clasă, la o anumită disciplină;</a:t>
            </a:r>
          </a:p>
          <a:p>
            <a:pPr>
              <a:lnSpc>
                <a:spcPct val="80000"/>
              </a:lnSpc>
              <a:buFont typeface="Wingdings" pitchFamily="2" charset="2"/>
              <a:buChar char="Ø"/>
            </a:pPr>
            <a:r>
              <a:rPr lang="ro-RO" sz="2800" dirty="0">
                <a:solidFill>
                  <a:srgbClr val="FF0000"/>
                </a:solidFill>
              </a:rPr>
              <a:t>curriculum predat – curriculum formal </a:t>
            </a:r>
            <a:r>
              <a:rPr lang="ro-RO" sz="2800" dirty="0" smtClean="0">
                <a:solidFill>
                  <a:srgbClr val="FF0000"/>
                </a:solidFill>
              </a:rPr>
              <a:t>(analizați relația dintre ele);</a:t>
            </a:r>
            <a:endParaRPr lang="ro-RO" sz="2800" dirty="0">
              <a:solidFill>
                <a:srgbClr val="FF0000"/>
              </a:solidFill>
            </a:endParaRPr>
          </a:p>
          <a:p>
            <a:pPr>
              <a:lnSpc>
                <a:spcPct val="80000"/>
              </a:lnSpc>
              <a:buFont typeface="Wingdings" pitchFamily="2" charset="2"/>
              <a:buNone/>
            </a:pPr>
            <a:endParaRPr lang="ro-RO"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ro-RO"/>
              <a:t>Curriculum predat</a:t>
            </a:r>
          </a:p>
        </p:txBody>
      </p:sp>
      <p:sp>
        <p:nvSpPr>
          <p:cNvPr id="15363" name="Rectangle 3"/>
          <p:cNvSpPr>
            <a:spLocks noGrp="1" noChangeArrowheads="1"/>
          </p:cNvSpPr>
          <p:nvPr>
            <p:ph idx="1"/>
          </p:nvPr>
        </p:nvSpPr>
        <p:spPr/>
        <p:txBody>
          <a:bodyPr/>
          <a:lstStyle/>
          <a:p>
            <a:pPr>
              <a:buFont typeface="Wingdings" pitchFamily="2" charset="2"/>
              <a:buChar char="Ø"/>
            </a:pPr>
            <a:r>
              <a:rPr lang="ro-RO" sz="2800" dirty="0"/>
              <a:t>Curriculum predat - </a:t>
            </a:r>
            <a:r>
              <a:rPr lang="ro-RO" sz="2800" i="1" dirty="0"/>
              <a:t>2 forme:</a:t>
            </a:r>
          </a:p>
          <a:p>
            <a:pPr>
              <a:buFont typeface="Wingdings" pitchFamily="2" charset="2"/>
              <a:buNone/>
            </a:pPr>
            <a:r>
              <a:rPr lang="ro-RO" sz="2800" dirty="0"/>
              <a:t>		- </a:t>
            </a:r>
            <a:r>
              <a:rPr lang="ro-RO" sz="2800" i="1" dirty="0"/>
              <a:t>curriculum proiectat</a:t>
            </a:r>
            <a:r>
              <a:rPr lang="ro-RO" sz="2800" dirty="0"/>
              <a:t> (caracter explicit, formă scrisă);</a:t>
            </a:r>
          </a:p>
          <a:p>
            <a:pPr>
              <a:buFont typeface="Wingdings" pitchFamily="2" charset="2"/>
              <a:buNone/>
            </a:pPr>
            <a:r>
              <a:rPr lang="ro-RO" sz="2800" dirty="0"/>
              <a:t>		- </a:t>
            </a:r>
            <a:r>
              <a:rPr lang="ro-RO" sz="2800" i="1" dirty="0"/>
              <a:t>curriculum efectiv pus în practică</a:t>
            </a:r>
            <a:r>
              <a:rPr lang="ro-RO" sz="2800" dirty="0"/>
              <a:t> (prin comunicare și organizarea experiențelor de învățare)</a:t>
            </a:r>
          </a:p>
          <a:p>
            <a:pPr>
              <a:buFont typeface="Wingdings" pitchFamily="2" charset="2"/>
              <a:buChar char="Ø"/>
            </a:pPr>
            <a:r>
              <a:rPr lang="ro-RO" sz="2800" dirty="0">
                <a:solidFill>
                  <a:srgbClr val="FF0000"/>
                </a:solidFill>
              </a:rPr>
              <a:t>curriculum proiectat – curriculum efectiv pus în practică </a:t>
            </a:r>
            <a:r>
              <a:rPr lang="ro-RO" sz="2800" dirty="0" smtClean="0">
                <a:solidFill>
                  <a:srgbClr val="FF0000"/>
                </a:solidFill>
              </a:rPr>
              <a:t>(analizați relația dintre ele);</a:t>
            </a:r>
            <a:endParaRPr lang="ro-RO" sz="2800"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ro-RO"/>
              <a:t>Curriculum învățat</a:t>
            </a:r>
          </a:p>
        </p:txBody>
      </p:sp>
      <p:sp>
        <p:nvSpPr>
          <p:cNvPr id="16387" name="Rectangle 3"/>
          <p:cNvSpPr>
            <a:spLocks noGrp="1" noChangeArrowheads="1"/>
          </p:cNvSpPr>
          <p:nvPr>
            <p:ph idx="1"/>
          </p:nvPr>
        </p:nvSpPr>
        <p:spPr/>
        <p:txBody>
          <a:bodyPr/>
          <a:lstStyle/>
          <a:p>
            <a:pPr>
              <a:buFont typeface="Wingdings" pitchFamily="2" charset="2"/>
              <a:buChar char="Ø"/>
            </a:pPr>
            <a:r>
              <a:rPr lang="ro-RO" sz="2800" i="1" dirty="0"/>
              <a:t>Achizițiile efective ale elevilor</a:t>
            </a:r>
            <a:r>
              <a:rPr lang="ro-RO" sz="2800" dirty="0"/>
              <a:t>, ca urmare a acțiunilor și influențelor educative ce se exercită asupra lor;</a:t>
            </a:r>
          </a:p>
          <a:p>
            <a:pPr>
              <a:buFont typeface="Wingdings" pitchFamily="2" charset="2"/>
              <a:buChar char="Ø"/>
            </a:pPr>
            <a:r>
              <a:rPr lang="ro-RO" sz="2800" dirty="0"/>
              <a:t>poate fi evidențiat prin </a:t>
            </a:r>
            <a:r>
              <a:rPr lang="ro-RO" sz="2800" i="1" dirty="0"/>
              <a:t>evaluare</a:t>
            </a:r>
            <a:r>
              <a:rPr lang="ro-RO" sz="2800" dirty="0"/>
              <a:t>;</a:t>
            </a:r>
          </a:p>
          <a:p>
            <a:pPr>
              <a:buFont typeface="Wingdings" pitchFamily="2" charset="2"/>
              <a:buChar char="Ø"/>
            </a:pPr>
            <a:r>
              <a:rPr lang="ro-RO" sz="2800" dirty="0"/>
              <a:t>Este un curriculum formal, nonformal și informal;</a:t>
            </a:r>
          </a:p>
          <a:p>
            <a:pPr>
              <a:buFont typeface="Wingdings" pitchFamily="2" charset="2"/>
              <a:buChar char="Ø"/>
            </a:pPr>
            <a:r>
              <a:rPr lang="ro-RO" sz="2800" dirty="0">
                <a:solidFill>
                  <a:srgbClr val="FF0000"/>
                </a:solidFill>
              </a:rPr>
              <a:t>Curriculum formal – curriculum predat – curriculum învățat (analiza raportului);</a:t>
            </a:r>
          </a:p>
          <a:p>
            <a:pPr>
              <a:buFont typeface="Wingdings" pitchFamily="2" charset="2"/>
              <a:buChar char="Ø"/>
            </a:pPr>
            <a:endParaRPr lang="ro-RO" sz="2800" dirty="0"/>
          </a:p>
          <a:p>
            <a:pPr>
              <a:buFont typeface="Wingdings" pitchFamily="2" charset="2"/>
              <a:buChar char="Ø"/>
            </a:pPr>
            <a:endParaRPr lang="ro-RO" sz="28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3699</TotalTime>
  <Words>1731</Words>
  <Application>Microsoft Office PowerPoint</Application>
  <PresentationFormat>On-screen Show (4:3)</PresentationFormat>
  <Paragraphs>158</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Flow</vt:lpstr>
      <vt:lpstr> TEMA 7 CURRICULUM – UN CONCEPT PEDAGOGIC INTEGRATOR</vt:lpstr>
      <vt:lpstr>Slide 2</vt:lpstr>
      <vt:lpstr>Reforma curriculară și Curriculum Național </vt:lpstr>
      <vt:lpstr>Slide 4</vt:lpstr>
      <vt:lpstr>Slide 5</vt:lpstr>
      <vt:lpstr>Slide 6</vt:lpstr>
      <vt:lpstr>Slide 7</vt:lpstr>
      <vt:lpstr>Slide 8</vt:lpstr>
      <vt:lpstr>3.2. Curriculum nucleu și curriculum la decizia școlii </vt:lpstr>
      <vt:lpstr>Slide 10</vt:lpstr>
      <vt:lpstr>Slide 11</vt:lpstr>
      <vt:lpstr>Slide 12</vt:lpstr>
      <vt:lpstr>Curriculum formal, nonformal și informal – formele educației</vt:lpstr>
      <vt:lpstr>Curriculum formal</vt:lpstr>
      <vt:lpstr>Curriculum nonformal</vt:lpstr>
      <vt:lpstr>Curriculum nonformal – activități extracurriculare</vt:lpstr>
      <vt:lpstr>Curriculum informal</vt:lpstr>
      <vt:lpstr>Curriculum informal</vt:lpstr>
      <vt:lpstr>Curriculum predat</vt:lpstr>
      <vt:lpstr>Curriculum predat</vt:lpstr>
      <vt:lpstr>Curriculum învățat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TEMA 1 PEDAGOGIA – ŞTIINŢA EDUCAŢIEI</dc:title>
  <dc:creator>Liana</dc:creator>
  <cp:lastModifiedBy>Liana</cp:lastModifiedBy>
  <cp:revision>113</cp:revision>
  <dcterms:created xsi:type="dcterms:W3CDTF">2013-10-19T18:10:37Z</dcterms:created>
  <dcterms:modified xsi:type="dcterms:W3CDTF">2017-11-03T18:37:53Z</dcterms:modified>
</cp:coreProperties>
</file>