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57" r:id="rId9"/>
    <p:sldId id="262" r:id="rId10"/>
    <p:sldId id="259" r:id="rId11"/>
    <p:sldId id="264" r:id="rId12"/>
    <p:sldId id="265" r:id="rId13"/>
    <p:sldId id="266" r:id="rId14"/>
    <p:sldId id="26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3CB114-F689-4FA9-9773-EAD6E99ADC8B}" type="doc">
      <dgm:prSet loTypeId="urn:microsoft.com/office/officeart/2005/8/layout/radial4" loCatId="relationship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C61390-A3F7-4761-99E7-AE1EF22FA6B7}">
      <dgm:prSet phldrT="[Text]" custT="1"/>
      <dgm:spPr/>
      <dgm:t>
        <a:bodyPr/>
        <a:lstStyle/>
        <a:p>
          <a:r>
            <a:rPr lang="ro-RO" sz="2400" b="1" dirty="0" smtClean="0"/>
            <a:t>Pedagogia:</a:t>
          </a:r>
        </a:p>
        <a:p>
          <a:r>
            <a:rPr lang="ro-RO" sz="2400" b="1" dirty="0" smtClean="0"/>
            <a:t>Fenomenul educațional</a:t>
          </a:r>
          <a:endParaRPr lang="en-US" sz="2400" b="1" dirty="0"/>
        </a:p>
      </dgm:t>
    </dgm:pt>
    <dgm:pt modelId="{68802B91-9005-43F7-A7A7-01BF2D59052B}" type="parTrans" cxnId="{C5E6F269-E675-42CD-A42F-1FA5449B03CA}">
      <dgm:prSet/>
      <dgm:spPr/>
      <dgm:t>
        <a:bodyPr/>
        <a:lstStyle/>
        <a:p>
          <a:endParaRPr lang="en-US"/>
        </a:p>
      </dgm:t>
    </dgm:pt>
    <dgm:pt modelId="{AF56C497-C294-419A-83E1-3782FC9433FF}" type="sibTrans" cxnId="{C5E6F269-E675-42CD-A42F-1FA5449B03CA}">
      <dgm:prSet/>
      <dgm:spPr/>
      <dgm:t>
        <a:bodyPr/>
        <a:lstStyle/>
        <a:p>
          <a:endParaRPr lang="en-US"/>
        </a:p>
      </dgm:t>
    </dgm:pt>
    <dgm:pt modelId="{01505CD8-5F45-47A2-B4D6-B7E098648085}">
      <dgm:prSet phldrT="[Text]" custT="1"/>
      <dgm:spPr/>
      <dgm:t>
        <a:bodyPr/>
        <a:lstStyle/>
        <a:p>
          <a:r>
            <a:rPr lang="ro-RO" sz="2400" b="1" dirty="0" smtClean="0"/>
            <a:t>Teoria pedagogică</a:t>
          </a:r>
          <a:endParaRPr lang="en-US" sz="2400" b="1" dirty="0"/>
        </a:p>
      </dgm:t>
    </dgm:pt>
    <dgm:pt modelId="{0E38DF2E-38A6-4685-B689-4C68B15D5555}" type="parTrans" cxnId="{9996955A-81A9-4E1C-89D7-01D8FC8711BF}">
      <dgm:prSet/>
      <dgm:spPr/>
      <dgm:t>
        <a:bodyPr/>
        <a:lstStyle/>
        <a:p>
          <a:endParaRPr lang="en-US"/>
        </a:p>
      </dgm:t>
    </dgm:pt>
    <dgm:pt modelId="{95F72F50-353B-42FB-9F76-90D240B9B889}" type="sibTrans" cxnId="{9996955A-81A9-4E1C-89D7-01D8FC8711BF}">
      <dgm:prSet/>
      <dgm:spPr/>
      <dgm:t>
        <a:bodyPr/>
        <a:lstStyle/>
        <a:p>
          <a:endParaRPr lang="en-US"/>
        </a:p>
      </dgm:t>
    </dgm:pt>
    <dgm:pt modelId="{18881E71-0753-4F08-A7AA-635E79BA74CB}">
      <dgm:prSet phldrT="[Text]" custT="1"/>
      <dgm:spPr/>
      <dgm:t>
        <a:bodyPr/>
        <a:lstStyle/>
        <a:p>
          <a:r>
            <a:rPr lang="ro-RO" sz="2400" b="1" dirty="0" smtClean="0"/>
            <a:t>Metodologia pedagogică</a:t>
          </a:r>
          <a:endParaRPr lang="en-US" sz="2400" b="1" dirty="0"/>
        </a:p>
      </dgm:t>
    </dgm:pt>
    <dgm:pt modelId="{626A008D-4E6A-4187-981B-AE76D95AC4D5}" type="parTrans" cxnId="{3B546ECF-C2FC-422C-AE52-8F30B84CE873}">
      <dgm:prSet/>
      <dgm:spPr/>
      <dgm:t>
        <a:bodyPr/>
        <a:lstStyle/>
        <a:p>
          <a:endParaRPr lang="en-US"/>
        </a:p>
      </dgm:t>
    </dgm:pt>
    <dgm:pt modelId="{BB44D128-B914-4C32-9843-A6FE714A4B17}" type="sibTrans" cxnId="{3B546ECF-C2FC-422C-AE52-8F30B84CE873}">
      <dgm:prSet/>
      <dgm:spPr/>
      <dgm:t>
        <a:bodyPr/>
        <a:lstStyle/>
        <a:p>
          <a:endParaRPr lang="en-US"/>
        </a:p>
      </dgm:t>
    </dgm:pt>
    <dgm:pt modelId="{89350651-371C-431A-A27F-F0CFC9131E51}">
      <dgm:prSet phldrT="[Text]" custT="1"/>
      <dgm:spPr/>
      <dgm:t>
        <a:bodyPr/>
        <a:lstStyle/>
        <a:p>
          <a:r>
            <a:rPr lang="ro-RO" sz="2400" b="1" dirty="0" smtClean="0"/>
            <a:t>Tehnologia pedagogică</a:t>
          </a:r>
          <a:endParaRPr lang="en-US" sz="2400" b="1" dirty="0"/>
        </a:p>
      </dgm:t>
    </dgm:pt>
    <dgm:pt modelId="{E5069986-F7D2-4B01-945C-BF3340DAFAB4}" type="parTrans" cxnId="{FA10EEF2-E9E0-476A-AB08-44B7C2914CB6}">
      <dgm:prSet/>
      <dgm:spPr/>
      <dgm:t>
        <a:bodyPr/>
        <a:lstStyle/>
        <a:p>
          <a:endParaRPr lang="en-US"/>
        </a:p>
      </dgm:t>
    </dgm:pt>
    <dgm:pt modelId="{F09BBC70-3ABF-45CE-AEE3-11625EED15D9}" type="sibTrans" cxnId="{FA10EEF2-E9E0-476A-AB08-44B7C2914CB6}">
      <dgm:prSet/>
      <dgm:spPr/>
      <dgm:t>
        <a:bodyPr/>
        <a:lstStyle/>
        <a:p>
          <a:endParaRPr lang="en-US"/>
        </a:p>
      </dgm:t>
    </dgm:pt>
    <dgm:pt modelId="{4405E10D-8EF1-47A4-BE00-40AF92BD5330}" type="pres">
      <dgm:prSet presAssocID="{1A3CB114-F689-4FA9-9773-EAD6E99ADC8B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3537645-BD0D-474C-9A3B-A421F1709798}" type="pres">
      <dgm:prSet presAssocID="{63C61390-A3F7-4761-99E7-AE1EF22FA6B7}" presName="centerShape" presStyleLbl="node0" presStyleIdx="0" presStyleCnt="1"/>
      <dgm:spPr/>
      <dgm:t>
        <a:bodyPr/>
        <a:lstStyle/>
        <a:p>
          <a:endParaRPr lang="en-US"/>
        </a:p>
      </dgm:t>
    </dgm:pt>
    <dgm:pt modelId="{E84869CD-10F8-4F33-AB19-6798010DFE57}" type="pres">
      <dgm:prSet presAssocID="{0E38DF2E-38A6-4685-B689-4C68B15D5555}" presName="parTrans" presStyleLbl="bgSibTrans2D1" presStyleIdx="0" presStyleCnt="3"/>
      <dgm:spPr/>
      <dgm:t>
        <a:bodyPr/>
        <a:lstStyle/>
        <a:p>
          <a:endParaRPr lang="en-US"/>
        </a:p>
      </dgm:t>
    </dgm:pt>
    <dgm:pt modelId="{B5BE607A-B4C5-42E8-A814-C58FC270D2C9}" type="pres">
      <dgm:prSet presAssocID="{01505CD8-5F45-47A2-B4D6-B7E098648085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C8B50D-6308-4DD4-9E32-9280C62B868E}" type="pres">
      <dgm:prSet presAssocID="{626A008D-4E6A-4187-981B-AE76D95AC4D5}" presName="parTrans" presStyleLbl="bgSibTrans2D1" presStyleIdx="1" presStyleCnt="3"/>
      <dgm:spPr/>
      <dgm:t>
        <a:bodyPr/>
        <a:lstStyle/>
        <a:p>
          <a:endParaRPr lang="en-US"/>
        </a:p>
      </dgm:t>
    </dgm:pt>
    <dgm:pt modelId="{2AD4711E-119C-4578-BBE2-74ABC92B6906}" type="pres">
      <dgm:prSet presAssocID="{18881E71-0753-4F08-A7AA-635E79BA74C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B300DB-4A8E-4178-94EE-09C1FA24B87A}" type="pres">
      <dgm:prSet presAssocID="{E5069986-F7D2-4B01-945C-BF3340DAFAB4}" presName="parTrans" presStyleLbl="bgSibTrans2D1" presStyleIdx="2" presStyleCnt="3"/>
      <dgm:spPr/>
      <dgm:t>
        <a:bodyPr/>
        <a:lstStyle/>
        <a:p>
          <a:endParaRPr lang="en-US"/>
        </a:p>
      </dgm:t>
    </dgm:pt>
    <dgm:pt modelId="{AE5BEE3A-7E2A-49B0-8436-B8FCF971E658}" type="pres">
      <dgm:prSet presAssocID="{89350651-371C-431A-A27F-F0CFC9131E51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11F915C-3C67-4845-B139-6E10097BCE8B}" type="presOf" srcId="{18881E71-0753-4F08-A7AA-635E79BA74CB}" destId="{2AD4711E-119C-4578-BBE2-74ABC92B6906}" srcOrd="0" destOrd="0" presId="urn:microsoft.com/office/officeart/2005/8/layout/radial4"/>
    <dgm:cxn modelId="{3C0BDDB0-25CE-41F4-8FA0-E8CC81891988}" type="presOf" srcId="{1A3CB114-F689-4FA9-9773-EAD6E99ADC8B}" destId="{4405E10D-8EF1-47A4-BE00-40AF92BD5330}" srcOrd="0" destOrd="0" presId="urn:microsoft.com/office/officeart/2005/8/layout/radial4"/>
    <dgm:cxn modelId="{FA10EEF2-E9E0-476A-AB08-44B7C2914CB6}" srcId="{63C61390-A3F7-4761-99E7-AE1EF22FA6B7}" destId="{89350651-371C-431A-A27F-F0CFC9131E51}" srcOrd="2" destOrd="0" parTransId="{E5069986-F7D2-4B01-945C-BF3340DAFAB4}" sibTransId="{F09BBC70-3ABF-45CE-AEE3-11625EED15D9}"/>
    <dgm:cxn modelId="{7F0722D1-DAFE-4CDE-B0E9-35FDBB931321}" type="presOf" srcId="{E5069986-F7D2-4B01-945C-BF3340DAFAB4}" destId="{D2B300DB-4A8E-4178-94EE-09C1FA24B87A}" srcOrd="0" destOrd="0" presId="urn:microsoft.com/office/officeart/2005/8/layout/radial4"/>
    <dgm:cxn modelId="{A58BC3CB-1B0F-44E1-ABB9-C379E3B20E5E}" type="presOf" srcId="{01505CD8-5F45-47A2-B4D6-B7E098648085}" destId="{B5BE607A-B4C5-42E8-A814-C58FC270D2C9}" srcOrd="0" destOrd="0" presId="urn:microsoft.com/office/officeart/2005/8/layout/radial4"/>
    <dgm:cxn modelId="{C5E6F269-E675-42CD-A42F-1FA5449B03CA}" srcId="{1A3CB114-F689-4FA9-9773-EAD6E99ADC8B}" destId="{63C61390-A3F7-4761-99E7-AE1EF22FA6B7}" srcOrd="0" destOrd="0" parTransId="{68802B91-9005-43F7-A7A7-01BF2D59052B}" sibTransId="{AF56C497-C294-419A-83E1-3782FC9433FF}"/>
    <dgm:cxn modelId="{3B546ECF-C2FC-422C-AE52-8F30B84CE873}" srcId="{63C61390-A3F7-4761-99E7-AE1EF22FA6B7}" destId="{18881E71-0753-4F08-A7AA-635E79BA74CB}" srcOrd="1" destOrd="0" parTransId="{626A008D-4E6A-4187-981B-AE76D95AC4D5}" sibTransId="{BB44D128-B914-4C32-9843-A6FE714A4B17}"/>
    <dgm:cxn modelId="{4B43E634-8DE3-48B5-B8A7-A44E85136F61}" type="presOf" srcId="{0E38DF2E-38A6-4685-B689-4C68B15D5555}" destId="{E84869CD-10F8-4F33-AB19-6798010DFE57}" srcOrd="0" destOrd="0" presId="urn:microsoft.com/office/officeart/2005/8/layout/radial4"/>
    <dgm:cxn modelId="{89A3BBAF-B34B-47DF-80F7-A2CC416EE8F1}" type="presOf" srcId="{626A008D-4E6A-4187-981B-AE76D95AC4D5}" destId="{65C8B50D-6308-4DD4-9E32-9280C62B868E}" srcOrd="0" destOrd="0" presId="urn:microsoft.com/office/officeart/2005/8/layout/radial4"/>
    <dgm:cxn modelId="{9996955A-81A9-4E1C-89D7-01D8FC8711BF}" srcId="{63C61390-A3F7-4761-99E7-AE1EF22FA6B7}" destId="{01505CD8-5F45-47A2-B4D6-B7E098648085}" srcOrd="0" destOrd="0" parTransId="{0E38DF2E-38A6-4685-B689-4C68B15D5555}" sibTransId="{95F72F50-353B-42FB-9F76-90D240B9B889}"/>
    <dgm:cxn modelId="{3E57BD07-F7D0-4250-8B5F-38C8A094A420}" type="presOf" srcId="{63C61390-A3F7-4761-99E7-AE1EF22FA6B7}" destId="{F3537645-BD0D-474C-9A3B-A421F1709798}" srcOrd="0" destOrd="0" presId="urn:microsoft.com/office/officeart/2005/8/layout/radial4"/>
    <dgm:cxn modelId="{8B670FAC-0EBA-4023-AC63-5EBE13131D95}" type="presOf" srcId="{89350651-371C-431A-A27F-F0CFC9131E51}" destId="{AE5BEE3A-7E2A-49B0-8436-B8FCF971E658}" srcOrd="0" destOrd="0" presId="urn:microsoft.com/office/officeart/2005/8/layout/radial4"/>
    <dgm:cxn modelId="{39F66E88-8D51-4983-8443-308667D7C1EA}" type="presParOf" srcId="{4405E10D-8EF1-47A4-BE00-40AF92BD5330}" destId="{F3537645-BD0D-474C-9A3B-A421F1709798}" srcOrd="0" destOrd="0" presId="urn:microsoft.com/office/officeart/2005/8/layout/radial4"/>
    <dgm:cxn modelId="{5084D644-F9E3-49ED-B229-0084FEBB72A4}" type="presParOf" srcId="{4405E10D-8EF1-47A4-BE00-40AF92BD5330}" destId="{E84869CD-10F8-4F33-AB19-6798010DFE57}" srcOrd="1" destOrd="0" presId="urn:microsoft.com/office/officeart/2005/8/layout/radial4"/>
    <dgm:cxn modelId="{F85BDE42-A573-4022-B3A9-0613D6D691E6}" type="presParOf" srcId="{4405E10D-8EF1-47A4-BE00-40AF92BD5330}" destId="{B5BE607A-B4C5-42E8-A814-C58FC270D2C9}" srcOrd="2" destOrd="0" presId="urn:microsoft.com/office/officeart/2005/8/layout/radial4"/>
    <dgm:cxn modelId="{160B9100-64D6-4101-9091-164B50E1C7AC}" type="presParOf" srcId="{4405E10D-8EF1-47A4-BE00-40AF92BD5330}" destId="{65C8B50D-6308-4DD4-9E32-9280C62B868E}" srcOrd="3" destOrd="0" presId="urn:microsoft.com/office/officeart/2005/8/layout/radial4"/>
    <dgm:cxn modelId="{62D05807-A78F-4365-A9EB-82EDC1F7580C}" type="presParOf" srcId="{4405E10D-8EF1-47A4-BE00-40AF92BD5330}" destId="{2AD4711E-119C-4578-BBE2-74ABC92B6906}" srcOrd="4" destOrd="0" presId="urn:microsoft.com/office/officeart/2005/8/layout/radial4"/>
    <dgm:cxn modelId="{097F5C65-EFEC-4CE5-B97F-371E283A0C6E}" type="presParOf" srcId="{4405E10D-8EF1-47A4-BE00-40AF92BD5330}" destId="{D2B300DB-4A8E-4178-94EE-09C1FA24B87A}" srcOrd="5" destOrd="0" presId="urn:microsoft.com/office/officeart/2005/8/layout/radial4"/>
    <dgm:cxn modelId="{5412D5E5-16E9-441F-99A6-786CBE5EDFF8}" type="presParOf" srcId="{4405E10D-8EF1-47A4-BE00-40AF92BD5330}" destId="{AE5BEE3A-7E2A-49B0-8436-B8FCF971E658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E5D7F4-D396-47F6-B0C4-CE4EBB6224A2}" type="datetimeFigureOut">
              <a:rPr lang="en-US" smtClean="0"/>
              <a:pPr/>
              <a:t>11/3/2017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0B5A1C9-05F3-4A51-A179-DEED95BCC36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 sz="2800" dirty="0" smtClean="0"/>
              <a:t> TEMA 1</a:t>
            </a:r>
            <a:br>
              <a:rPr lang="ro-RO" sz="2800" dirty="0" smtClean="0"/>
            </a:br>
            <a:r>
              <a:rPr lang="en-US" sz="2800" dirty="0" smtClean="0"/>
              <a:t>PEDAGOGIA – ŞTIINŢA EDUCAŢIEI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o-RO" sz="2000" dirty="0" smtClean="0"/>
          </a:p>
          <a:p>
            <a:endParaRPr lang="ro-RO" sz="2000" dirty="0" smtClean="0"/>
          </a:p>
          <a:p>
            <a:endParaRPr lang="ro-RO" sz="2000" dirty="0" smtClean="0"/>
          </a:p>
          <a:p>
            <a:r>
              <a:rPr lang="ro-RO" dirty="0" smtClean="0"/>
              <a:t>Conf. univ. dr.  </a:t>
            </a:r>
            <a:r>
              <a:rPr lang="ro-RO" smtClean="0"/>
              <a:t>LIANA TĂUȘAN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36680"/>
          </a:xfrm>
        </p:spPr>
        <p:txBody>
          <a:bodyPr>
            <a:normAutofit/>
          </a:bodyPr>
          <a:lstStyle/>
          <a:p>
            <a:pPr lvl="0"/>
            <a:r>
              <a:rPr lang="ro-RO" sz="2000" b="1" dirty="0" smtClean="0"/>
              <a:t>1. Paradigme și orientări educaționale actuale</a:t>
            </a:r>
            <a:r>
              <a:rPr lang="ro-RO" sz="1200" dirty="0" smtClean="0"/>
              <a:t/>
            </a:r>
            <a:br>
              <a:rPr lang="ro-RO" sz="1200" dirty="0" smtClean="0"/>
            </a:br>
            <a:endParaRPr lang="ro-RO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328592"/>
          </a:xfrm>
        </p:spPr>
        <p:txBody>
          <a:bodyPr>
            <a:normAutofit lnSpcReduction="10000"/>
          </a:bodyPr>
          <a:lstStyle/>
          <a:p>
            <a:r>
              <a:rPr lang="ro-RO" sz="2200" b="1" i="1" dirty="0" smtClean="0"/>
              <a:t>Sistemele educaționale actuale, </a:t>
            </a:r>
            <a:r>
              <a:rPr lang="ro-RO" sz="2200" dirty="0" smtClean="0"/>
              <a:t>s-au construit în baza ideilor și principiilor  </a:t>
            </a:r>
            <a:r>
              <a:rPr lang="ro-RO" sz="2200" b="1" i="1" dirty="0" smtClean="0"/>
              <a:t>pedagogiei contemporane</a:t>
            </a:r>
            <a:r>
              <a:rPr lang="ro-RO" sz="2200" dirty="0" smtClean="0"/>
              <a:t>, o pedagogie interactivă, care accentuează importanța formării competențelor și se caracterizează  prin următoarele </a:t>
            </a:r>
            <a:r>
              <a:rPr lang="ro-RO" sz="2200" b="1" i="1" dirty="0" smtClean="0"/>
              <a:t>dimensiuni:</a:t>
            </a:r>
          </a:p>
          <a:p>
            <a:pPr lvl="1"/>
            <a:r>
              <a:rPr lang="ro-RO" sz="2200" dirty="0" smtClean="0"/>
              <a:t>reconsiderarea rolului elevului, care devine subiect al educației;</a:t>
            </a:r>
          </a:p>
          <a:p>
            <a:pPr lvl="1"/>
            <a:r>
              <a:rPr lang="ro-RO" sz="2200" dirty="0" smtClean="0"/>
              <a:t>utilizarea  tehnologiilor informatizate în educație (computer, internet) în:  proiectarea predării, dirijarea învățării, monitorizarea actului didactic;</a:t>
            </a:r>
          </a:p>
          <a:p>
            <a:pPr lvl="1"/>
            <a:r>
              <a:rPr lang="ro-RO" sz="2200" dirty="0" smtClean="0"/>
              <a:t>învățare prin rezolvarea de probleme, stimularea gândirii critice;</a:t>
            </a:r>
          </a:p>
          <a:p>
            <a:pPr lvl="1"/>
            <a:r>
              <a:rPr lang="ro-RO" sz="2200" dirty="0" smtClean="0"/>
              <a:t>preocupare pentru formarea competențelor;</a:t>
            </a:r>
          </a:p>
          <a:p>
            <a:pPr lvl="1"/>
            <a:r>
              <a:rPr lang="ro-RO" sz="2200" dirty="0" smtClean="0"/>
              <a:t>preponderența experiențelor interactive, care generează învățare în profunzime: predare-învățare cooperantă, lecții bazate pe experiență de viață, confruntări de opinii, modele acționale;</a:t>
            </a:r>
          </a:p>
          <a:p>
            <a:pPr lvl="1"/>
            <a:r>
              <a:rPr lang="ro-RO" sz="2200" dirty="0" smtClean="0"/>
              <a:t>reconstrucția spațiului școlar în vederea favorizării interacțiunilor, cooperării, schimbului de experiențe, opinii, ascultării active.</a:t>
            </a:r>
          </a:p>
          <a:p>
            <a:pPr lvl="0"/>
            <a:endParaRPr lang="ro-RO" sz="2000" dirty="0" smtClean="0"/>
          </a:p>
          <a:p>
            <a:endParaRPr lang="ro-R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32624"/>
          </a:xfrm>
        </p:spPr>
        <p:txBody>
          <a:bodyPr>
            <a:normAutofit fontScale="90000"/>
          </a:bodyPr>
          <a:lstStyle/>
          <a:p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415880"/>
          </a:xfrm>
        </p:spPr>
        <p:txBody>
          <a:bodyPr>
            <a:normAutofit/>
          </a:bodyPr>
          <a:lstStyle/>
          <a:p>
            <a:r>
              <a:rPr lang="ro-RO" sz="2400" b="1" i="1" dirty="0" smtClean="0"/>
              <a:t>caracteristici și tendințe ale educației în viitor:</a:t>
            </a:r>
            <a:r>
              <a:rPr lang="ro-RO" sz="2400" b="1" dirty="0" smtClean="0"/>
              <a:t> </a:t>
            </a:r>
          </a:p>
          <a:p>
            <a:pPr lvl="1"/>
            <a:r>
              <a:rPr lang="ro-RO" sz="2200" dirty="0" smtClean="0"/>
              <a:t>centrare pe procesul învățării, pe competențe și abilități de învățare; </a:t>
            </a:r>
          </a:p>
          <a:p>
            <a:pPr lvl="1"/>
            <a:r>
              <a:rPr lang="ro-RO" sz="2200" dirty="0" smtClean="0"/>
              <a:t>învățare prin rezolvare de probleme, gândire critică; </a:t>
            </a:r>
          </a:p>
          <a:p>
            <a:pPr lvl="1"/>
            <a:r>
              <a:rPr lang="ro-RO" sz="2200" dirty="0" smtClean="0"/>
              <a:t>educație centrată pe elevi/adulți; adaptarea școlii la caracteristicile elevului; </a:t>
            </a:r>
          </a:p>
          <a:p>
            <a:pPr lvl="1"/>
            <a:r>
              <a:rPr lang="ro-RO" sz="2200" dirty="0" smtClean="0"/>
              <a:t>ritmuri și stiluri de învățare variate; </a:t>
            </a:r>
          </a:p>
          <a:p>
            <a:pPr lvl="1"/>
            <a:r>
              <a:rPr lang="ro-RO" sz="2200" dirty="0" smtClean="0"/>
              <a:t>activități instructiv-educative personalizate, individualizate;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04632"/>
          </a:xfrm>
        </p:spPr>
        <p:txBody>
          <a:bodyPr>
            <a:normAutofit fontScale="90000"/>
          </a:bodyPr>
          <a:lstStyle/>
          <a:p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43872"/>
          </a:xfrm>
        </p:spPr>
        <p:txBody>
          <a:bodyPr>
            <a:noAutofit/>
          </a:bodyPr>
          <a:lstStyle/>
          <a:p>
            <a:endParaRPr lang="ro-RO" sz="2400" b="1" i="1" dirty="0" smtClean="0"/>
          </a:p>
          <a:p>
            <a:r>
              <a:rPr lang="ro-RO" sz="2400" b="1" i="1" dirty="0" smtClean="0"/>
              <a:t>caracteristici ale postmodernității în educație:</a:t>
            </a:r>
            <a:endParaRPr lang="ro-RO" sz="2400" b="1" dirty="0" smtClean="0"/>
          </a:p>
          <a:p>
            <a:pPr lvl="1"/>
            <a:r>
              <a:rPr lang="ro-RO" sz="2200" dirty="0" smtClean="0"/>
              <a:t>educație centrată pe elev, ca persoană cu caracteristici individuale, diferențiatoare, care trebuie valorizate și valorificate maximal în actul educațional;</a:t>
            </a:r>
          </a:p>
          <a:p>
            <a:pPr lvl="1"/>
            <a:r>
              <a:rPr lang="ro-RO" sz="2200" dirty="0" smtClean="0"/>
              <a:t>considerarea relației educaționale ca o interacțiune în care profesorul și elevul sunt angajați într-un proces de investiție cognitivă și afectivă, și în care profesorul lucrează împreună cu elevii în vederea devenirii acestora;</a:t>
            </a:r>
          </a:p>
          <a:p>
            <a:pPr lvl="1"/>
            <a:r>
              <a:rPr lang="ro-RO" sz="2200" dirty="0" smtClean="0"/>
              <a:t>realizarea unui echilibru în școală între promovarea competiției și a cooperării;</a:t>
            </a:r>
          </a:p>
          <a:p>
            <a:endParaRPr lang="ro-RO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04632"/>
          </a:xfrm>
        </p:spPr>
        <p:txBody>
          <a:bodyPr>
            <a:normAutofit fontScale="90000"/>
          </a:bodyPr>
          <a:lstStyle/>
          <a:p>
            <a:endParaRPr lang="ro-RO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124743"/>
          <a:ext cx="8229600" cy="5572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52806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800" b="1" i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Principiile paradigmei educaționale clasice</a:t>
                      </a:r>
                      <a:endParaRPr lang="ro-RO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800" b="1" i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Principiile noii paradigme educaționale</a:t>
                      </a:r>
                      <a:endParaRPr lang="ro-RO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10218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dirty="0">
                          <a:latin typeface="Times New Roman"/>
                          <a:ea typeface="Times New Roman"/>
                        </a:rPr>
                        <a:t>-Accentul este pus pe conținut, pe corectitudinea informațiilor însușite;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dirty="0">
                          <a:latin typeface="Times New Roman"/>
                          <a:ea typeface="Times New Roman"/>
                        </a:rPr>
                        <a:t>-Accentul este pus pe accesul la informații, învățarea permanentă, stabilirea de conexiuni între informații, receptivitatea față de conceptele noi;</a:t>
                      </a:r>
                    </a:p>
                  </a:txBody>
                  <a:tcPr marL="68580" marR="68580" marT="0" marB="0"/>
                </a:tc>
              </a:tr>
              <a:tr h="9429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dirty="0">
                          <a:latin typeface="Times New Roman"/>
                          <a:ea typeface="Times New Roman"/>
                        </a:rPr>
                        <a:t>-Învățarea este privită ca un produs, rezultat;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dirty="0">
                          <a:latin typeface="Times New Roman"/>
                          <a:ea typeface="Times New Roman"/>
                        </a:rPr>
                        <a:t>- Învățarea este privită ca un proces;</a:t>
                      </a:r>
                    </a:p>
                  </a:txBody>
                  <a:tcPr marL="68580" marR="68580" marT="0" marB="0"/>
                </a:tc>
              </a:tr>
              <a:tr h="10218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dirty="0">
                          <a:latin typeface="Times New Roman"/>
                          <a:ea typeface="Times New Roman"/>
                        </a:rPr>
                        <a:t>- Prezența unei structuri ierarhice, autoritare, care încurajează și recompensează conformismul;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dirty="0">
                          <a:latin typeface="Times New Roman"/>
                          <a:ea typeface="Times New Roman"/>
                        </a:rPr>
                        <a:t>- Promovarea unor principii antiierarhice, antiautoritare, încurajarea gândirii proprii, diferite; profesorii și elevii se privesc reciproc ca oameni, nu ca roluri;</a:t>
                      </a:r>
                    </a:p>
                  </a:txBody>
                  <a:tcPr marL="68580" marR="68580" marT="0" marB="0"/>
                </a:tc>
              </a:tr>
              <a:tr h="9429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dirty="0">
                          <a:latin typeface="Times New Roman"/>
                          <a:ea typeface="Times New Roman"/>
                        </a:rPr>
                        <a:t>- Structura procesului instructiv-educativ este rigidă, cu programe analitice obligatorii;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dirty="0">
                          <a:latin typeface="Times New Roman"/>
                          <a:ea typeface="Times New Roman"/>
                        </a:rPr>
                        <a:t>- Structura procesului instructiv-educativ  este flexibilă, cu discipline </a:t>
                      </a:r>
                      <a:r>
                        <a:rPr lang="ro-RO" sz="1800" dirty="0" smtClean="0">
                          <a:latin typeface="Times New Roman"/>
                          <a:ea typeface="Times New Roman"/>
                        </a:rPr>
                        <a:t>opționale;</a:t>
                      </a:r>
                      <a:endParaRPr lang="ro-RO" sz="18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9429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dirty="0">
                          <a:latin typeface="Times New Roman"/>
                          <a:ea typeface="Times New Roman"/>
                        </a:rPr>
                        <a:t>- Stabilirea unui ritm obligatoriu de asimilare a cunoștințelor pentru toți elevii;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dirty="0">
                          <a:latin typeface="Times New Roman"/>
                          <a:ea typeface="Times New Roman"/>
                        </a:rPr>
                        <a:t>- Respectarea ritmului fiecărui elev de avansare în materie;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0616"/>
          </a:xfrm>
        </p:spPr>
        <p:txBody>
          <a:bodyPr>
            <a:normAutofit fontScale="90000"/>
          </a:bodyPr>
          <a:lstStyle/>
          <a:p>
            <a:endParaRPr lang="ro-RO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836610"/>
          <a:ext cx="8229600" cy="586188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14800"/>
                <a:gridCol w="4114800"/>
              </a:tblGrid>
              <a:tr h="5041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800" b="1" i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Principiile paradigmei educaționale clasice</a:t>
                      </a:r>
                      <a:endParaRPr lang="ro-RO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800" b="1" i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Principiile noii paradigme educaționale</a:t>
                      </a:r>
                      <a:endParaRPr lang="ro-RO" sz="18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71109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-Accentuarea randamentului, performanțelor, reușitei;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Valorizarea individului, accentul pe dezvoltarea personalității acestuia;</a:t>
                      </a:r>
                    </a:p>
                  </a:txBody>
                  <a:tcPr marL="68580" marR="68580" marT="0" marB="0"/>
                </a:tc>
              </a:tr>
              <a:tr h="71109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Aprecierea elevilor și a performanțelor obținute, prin apelul la etichetări, practică ce are ca rezultat stigmatizarea;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Etichetările sunt limitate la un rol auxiliar, descriptiv;</a:t>
                      </a:r>
                    </a:p>
                  </a:txBody>
                  <a:tcPr marL="68580" marR="68580" marT="0" marB="0"/>
                </a:tc>
              </a:tr>
              <a:tr h="71109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Preocupare față de norme, standarde exterioare elevului;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Preocupare față de performanțele elevului raportate la potențialul propriu;</a:t>
                      </a:r>
                    </a:p>
                  </a:txBody>
                  <a:tcPr marL="68580" marR="68580" marT="0" marB="0"/>
                </a:tc>
              </a:tr>
              <a:tr h="71109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Accentul pus pe cunoștințe teoretice, abstracte;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Îmbinarea cunoașterii teoretice, abstracte cu experimente  realizate în clasă și în afara clasei;</a:t>
                      </a:r>
                    </a:p>
                  </a:txBody>
                  <a:tcPr marL="68580" marR="68580" marT="0" marB="0"/>
                </a:tc>
              </a:tr>
              <a:tr h="71109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Rezistență față de propunerile colectivității;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Propunerile colectivității sunt considerate și sprijinite;</a:t>
                      </a:r>
                    </a:p>
                  </a:txBody>
                  <a:tcPr marL="68580" marR="68580" marT="0" marB="0"/>
                </a:tc>
              </a:tr>
              <a:tr h="71109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Educația este considerată o modalitate de formare a unui minim de aptitudini, necesare în prezent;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Educația este orientată spre viitor, se realizează de-a lungul întregii vieți, este permanentă;</a:t>
                      </a:r>
                    </a:p>
                  </a:txBody>
                  <a:tcPr marL="68580" marR="68580" marT="0" marB="0"/>
                </a:tc>
              </a:tr>
              <a:tr h="71109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Fluxul de cunoștințe are sens unic: de la profesor la elev.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</a:rPr>
                        <a:t>- Fluxul informațional are dublu sens, promovându-se reciprocitatea învățării. 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96020"/>
          </a:xfrm>
        </p:spPr>
        <p:txBody>
          <a:bodyPr>
            <a:normAutofit fontScale="90000"/>
          </a:bodyPr>
          <a:lstStyle/>
          <a:p>
            <a:r>
              <a:rPr lang="ro-RO" sz="2000" b="1" dirty="0" smtClean="0"/>
              <a:t>Pedagogia tradițională/pedagogia modernă</a:t>
            </a:r>
            <a:endParaRPr lang="en-US" sz="20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28596" y="1171626"/>
          <a:ext cx="8229600" cy="5318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2778">
                <a:tc>
                  <a:txBody>
                    <a:bodyPr/>
                    <a:lstStyle/>
                    <a:p>
                      <a:r>
                        <a:rPr lang="ro-RO" sz="1800" b="1" dirty="0" smtClean="0"/>
                        <a:t>Pedagogia tradițională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sz="1800" b="1" dirty="0" smtClean="0"/>
                        <a:t>Pedagogia modernă</a:t>
                      </a:r>
                      <a:endParaRPr lang="en-US" dirty="0"/>
                    </a:p>
                  </a:txBody>
                  <a:tcPr/>
                </a:tc>
              </a:tr>
              <a:tr h="656256"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pedagogie a ascultării, a strategiilor expozitive, a discursurilor magistrale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experiențe interactive</a:t>
                      </a:r>
                      <a:endParaRPr lang="en-US" sz="1400" b="1" dirty="0"/>
                    </a:p>
                  </a:txBody>
                  <a:tcPr/>
                </a:tc>
              </a:tr>
              <a:tr h="491189"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pedagogie pentru cunoștințe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învățare în profunzime,</a:t>
                      </a:r>
                      <a:r>
                        <a:rPr kumimoji="0" lang="ro-RO" sz="14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n-US" sz="14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învățare prin rezolvare de probleme, gândire critică</a:t>
                      </a:r>
                      <a:endParaRPr lang="en-US" sz="1400" b="1" dirty="0"/>
                    </a:p>
                  </a:txBody>
                  <a:tcPr/>
                </a:tc>
              </a:tr>
              <a:tr h="656256"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accent pe memorare, păstrare și reproducerea cât mai fidelă a cunoștințelor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lecții bazate pe experiențe de viață și confruntări de opinii</a:t>
                      </a:r>
                      <a:endParaRPr lang="en-US" sz="1400" b="1" dirty="0"/>
                    </a:p>
                  </a:txBody>
                  <a:tcPr/>
                </a:tc>
              </a:tr>
              <a:tr h="693443"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rolul elevului:</a:t>
                      </a:r>
                      <a:r>
                        <a:rPr kumimoji="0" lang="ro-RO" sz="14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să asculte, să fie docil, să facă ce i se cere, educație prin constrângere și pedeapsă, autoritate excesivă a profesorului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acțiuni educative care să răspundă nevoilor și intereselor educabililor</a:t>
                      </a:r>
                      <a:endParaRPr lang="en-US" sz="1400" b="1" dirty="0"/>
                    </a:p>
                  </a:txBody>
                  <a:tcPr/>
                </a:tc>
              </a:tr>
              <a:tr h="452778"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educație centrată pe profesor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învățare centrată pe elev</a:t>
                      </a:r>
                      <a:endParaRPr lang="en-US" sz="1400" b="1" dirty="0"/>
                    </a:p>
                  </a:txBody>
                  <a:tcPr/>
                </a:tc>
              </a:tr>
              <a:tr h="452778"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supraîncărcarea memoriei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învățarea comunicării, cooperării</a:t>
                      </a:r>
                      <a:endParaRPr lang="en-US" sz="1400" b="1" dirty="0"/>
                    </a:p>
                  </a:txBody>
                  <a:tcPr/>
                </a:tc>
              </a:tr>
              <a:tr h="895697"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predare centrată pe materia de studiu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reconstrucția spațiului școlar</a:t>
                      </a:r>
                      <a:r>
                        <a:rPr kumimoji="0" lang="ro-RO" sz="1400" b="1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care  </a:t>
                      </a:r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să favorizeze o atmosferă constructivă, stimulativă pentru elevi, să permită ascultarea activă, schimb de experiențe, comunicare, cooperare</a:t>
                      </a:r>
                      <a:endParaRPr lang="en-US" sz="1400" b="1" dirty="0"/>
                    </a:p>
                  </a:txBody>
                  <a:tcPr/>
                </a:tc>
              </a:tr>
              <a:tr h="452778"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activități frontale pe clase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o-RO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activități pe grupe și individuale</a:t>
                      </a:r>
                      <a:endParaRPr lang="en-US" sz="14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10334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2.Constituirea pedagogiei ca știință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967302"/>
          </a:xfrm>
        </p:spPr>
        <p:txBody>
          <a:bodyPr>
            <a:normAutofit lnSpcReduction="10000"/>
          </a:bodyPr>
          <a:lstStyle/>
          <a:p>
            <a:r>
              <a:rPr lang="ro-RO" sz="2400" i="1" dirty="0" smtClean="0"/>
              <a:t>Pedagogie</a:t>
            </a:r>
            <a:r>
              <a:rPr lang="ro-RO" sz="2400" dirty="0" smtClean="0"/>
              <a:t> - etimologic:limba greacă</a:t>
            </a:r>
          </a:p>
          <a:p>
            <a:pPr lvl="2"/>
            <a:r>
              <a:rPr lang="ro-RO" sz="2400" dirty="0" smtClean="0"/>
              <a:t>Pais/paidos= copil</a:t>
            </a:r>
          </a:p>
          <a:p>
            <a:pPr lvl="2"/>
            <a:r>
              <a:rPr lang="ro-RO" sz="2400" dirty="0" smtClean="0"/>
              <a:t>Agoge = acțiunea de a conduce</a:t>
            </a:r>
          </a:p>
          <a:p>
            <a:pPr lvl="1"/>
            <a:r>
              <a:rPr lang="ro-RO" i="1" dirty="0" smtClean="0"/>
              <a:t>Paidagogus</a:t>
            </a:r>
            <a:r>
              <a:rPr lang="ro-RO" dirty="0" smtClean="0"/>
              <a:t> = persoana care se ocupa de creșterea copilului</a:t>
            </a:r>
          </a:p>
          <a:p>
            <a:r>
              <a:rPr lang="ro-RO" sz="2400" dirty="0" smtClean="0"/>
              <a:t>Evoluția societății:  extinderea semnificației termenului - </a:t>
            </a:r>
            <a:r>
              <a:rPr lang="en-US" sz="2400" dirty="0" err="1" smtClean="0"/>
              <a:t>ansamblul</a:t>
            </a:r>
            <a:r>
              <a:rPr lang="en-US" sz="2400" dirty="0" smtClean="0"/>
              <a:t> </a:t>
            </a:r>
            <a:r>
              <a:rPr lang="en-US" sz="2400" dirty="0" err="1" smtClean="0"/>
              <a:t>preocupărilor</a:t>
            </a:r>
            <a:r>
              <a:rPr lang="en-US" sz="2400" dirty="0" smtClean="0"/>
              <a:t> cu </a:t>
            </a:r>
            <a:r>
              <a:rPr lang="en-US" sz="2400" dirty="0" err="1" smtClean="0"/>
              <a:t>privire</a:t>
            </a:r>
            <a:r>
              <a:rPr lang="en-US" sz="2400" dirty="0" smtClean="0"/>
              <a:t> </a:t>
            </a:r>
            <a:r>
              <a:rPr lang="ro-RO" sz="2400" dirty="0" smtClean="0"/>
              <a:t>l</a:t>
            </a:r>
            <a:r>
              <a:rPr lang="en-US" sz="2400" dirty="0" smtClean="0"/>
              <a:t>a </a:t>
            </a:r>
            <a:r>
              <a:rPr lang="en-US" sz="2400" dirty="0" err="1" smtClean="0"/>
              <a:t>problematica</a:t>
            </a:r>
            <a:r>
              <a:rPr lang="en-US" sz="2400" dirty="0" smtClean="0"/>
              <a:t> </a:t>
            </a:r>
            <a:r>
              <a:rPr lang="en-US" sz="2400" dirty="0" err="1" smtClean="0"/>
              <a:t>fenomenului</a:t>
            </a:r>
            <a:r>
              <a:rPr lang="en-US" sz="2400" dirty="0" smtClean="0"/>
              <a:t> </a:t>
            </a:r>
            <a:r>
              <a:rPr lang="en-US" sz="2400" dirty="0" err="1" smtClean="0"/>
              <a:t>educațional</a:t>
            </a:r>
            <a:r>
              <a:rPr lang="ro-RO" sz="2400" dirty="0" smtClean="0"/>
              <a:t>;</a:t>
            </a:r>
          </a:p>
          <a:p>
            <a:r>
              <a:rPr lang="ro-RO" sz="2400" i="1" dirty="0" smtClean="0"/>
              <a:t>Pedagogie</a:t>
            </a:r>
            <a:r>
              <a:rPr lang="ro-RO" sz="2400" dirty="0" smtClean="0"/>
              <a:t>: termen devenit de uz curent în a doua jum. a sec. XIX</a:t>
            </a:r>
          </a:p>
          <a:p>
            <a:r>
              <a:rPr lang="en-US" sz="2400" i="1" dirty="0" err="1" smtClean="0"/>
              <a:t>Pedagogia</a:t>
            </a:r>
            <a:r>
              <a:rPr lang="ro-RO" sz="2400" dirty="0" smtClean="0"/>
              <a:t>: </a:t>
            </a:r>
            <a:r>
              <a:rPr lang="en-US" sz="2400" dirty="0" err="1" smtClean="0"/>
              <a:t>ansamblu</a:t>
            </a:r>
            <a:r>
              <a:rPr lang="en-US" sz="2400" dirty="0" smtClean="0"/>
              <a:t> de </a:t>
            </a:r>
            <a:r>
              <a:rPr lang="en-US" sz="2400" dirty="0" err="1" smtClean="0"/>
              <a:t>analize</a:t>
            </a:r>
            <a:r>
              <a:rPr lang="en-US" sz="2400" dirty="0" smtClean="0"/>
              <a:t>, </a:t>
            </a:r>
            <a:r>
              <a:rPr lang="en-US" sz="2400" dirty="0" err="1" smtClean="0"/>
              <a:t>reflecţii</a:t>
            </a:r>
            <a:r>
              <a:rPr lang="en-US" sz="2400" dirty="0" smtClean="0"/>
              <a:t> de tip </a:t>
            </a:r>
            <a:r>
              <a:rPr lang="en-US" sz="2400" dirty="0" err="1" smtClean="0"/>
              <a:t>teoretic</a:t>
            </a:r>
            <a:r>
              <a:rPr lang="en-US" sz="2400" dirty="0" smtClean="0"/>
              <a:t> </a:t>
            </a:r>
            <a:r>
              <a:rPr lang="en-US" sz="2400" dirty="0" err="1" smtClean="0"/>
              <a:t>asupra</a:t>
            </a:r>
            <a:r>
              <a:rPr lang="en-US" sz="2400" dirty="0" smtClean="0"/>
              <a:t> </a:t>
            </a:r>
            <a:r>
              <a:rPr lang="en-US" sz="2400" dirty="0" err="1" smtClean="0"/>
              <a:t>domeniului</a:t>
            </a:r>
            <a:r>
              <a:rPr lang="en-US" sz="2400" dirty="0" smtClean="0"/>
              <a:t> </a:t>
            </a:r>
            <a:r>
              <a:rPr lang="en-US" sz="2400" dirty="0" err="1" smtClean="0"/>
              <a:t>educaţional</a:t>
            </a:r>
            <a:endParaRPr lang="ro-RO" sz="2400" dirty="0" smtClean="0"/>
          </a:p>
          <a:p>
            <a:r>
              <a:rPr lang="ro-RO" sz="2400" dirty="0" smtClean="0"/>
              <a:t>Pedagogie/pedagogic  - educație/educațional</a:t>
            </a:r>
          </a:p>
          <a:p>
            <a:pPr lvl="1"/>
            <a:endParaRPr lang="ro-RO" sz="2000" dirty="0" smtClean="0"/>
          </a:p>
          <a:p>
            <a:pPr lvl="1"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745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895864"/>
          </a:xfrm>
        </p:spPr>
        <p:txBody>
          <a:bodyPr/>
          <a:lstStyle/>
          <a:p>
            <a:r>
              <a:rPr lang="en-US" b="1" dirty="0" err="1" smtClean="0"/>
              <a:t>Pedagogia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știința</a:t>
            </a:r>
            <a:r>
              <a:rPr lang="en-US" dirty="0" smtClean="0"/>
              <a:t> care </a:t>
            </a:r>
            <a:r>
              <a:rPr lang="en-US" dirty="0" err="1" smtClean="0"/>
              <a:t>studiază</a:t>
            </a:r>
            <a:r>
              <a:rPr lang="en-US" dirty="0" smtClean="0"/>
              <a:t> </a:t>
            </a:r>
            <a:r>
              <a:rPr lang="en-US" b="1" i="1" dirty="0" err="1" smtClean="0"/>
              <a:t>fenomenul</a:t>
            </a:r>
            <a:r>
              <a:rPr lang="en-US" b="1" i="1" dirty="0" smtClean="0"/>
              <a:t> </a:t>
            </a:r>
            <a:r>
              <a:rPr lang="en-US" b="1" i="1" dirty="0" err="1" smtClean="0"/>
              <a:t>educațional</a:t>
            </a:r>
            <a:r>
              <a:rPr lang="en-US" b="1" i="1" dirty="0" smtClean="0"/>
              <a:t> </a:t>
            </a:r>
            <a:r>
              <a:rPr lang="en-US" dirty="0" smtClean="0"/>
              <a:t>sub </a:t>
            </a:r>
            <a:r>
              <a:rPr lang="en-US" dirty="0" err="1" smtClean="0"/>
              <a:t>toate</a:t>
            </a:r>
            <a:r>
              <a:rPr lang="en-US" dirty="0" smtClean="0"/>
              <a:t> </a:t>
            </a:r>
            <a:r>
              <a:rPr lang="en-US" dirty="0" err="1" smtClean="0"/>
              <a:t>aspectele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implicațiile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care le are </a:t>
            </a:r>
            <a:r>
              <a:rPr lang="en-US" dirty="0" err="1" smtClean="0"/>
              <a:t>asupra</a:t>
            </a:r>
            <a:r>
              <a:rPr lang="en-US" dirty="0" smtClean="0"/>
              <a:t> </a:t>
            </a:r>
            <a:r>
              <a:rPr lang="en-US" dirty="0" err="1" smtClean="0"/>
              <a:t>dezvoltării</a:t>
            </a:r>
            <a:r>
              <a:rPr lang="en-US" dirty="0" smtClean="0"/>
              <a:t> </a:t>
            </a:r>
            <a:r>
              <a:rPr lang="en-US" dirty="0" err="1" smtClean="0"/>
              <a:t>ființei</a:t>
            </a:r>
            <a:r>
              <a:rPr lang="en-US" dirty="0" smtClean="0"/>
              <a:t> </a:t>
            </a:r>
            <a:r>
              <a:rPr lang="en-US" dirty="0" err="1" smtClean="0"/>
              <a:t>umane</a:t>
            </a:r>
            <a:r>
              <a:rPr lang="en-US" dirty="0" smtClean="0"/>
              <a:t> 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i="1" dirty="0" smtClean="0"/>
              <a:t>plan </a:t>
            </a:r>
            <a:r>
              <a:rPr lang="en-US" i="1" dirty="0" err="1" smtClean="0"/>
              <a:t>cognitiv</a:t>
            </a:r>
            <a:r>
              <a:rPr lang="en-US" i="1" dirty="0" smtClean="0"/>
              <a:t>, </a:t>
            </a:r>
            <a:r>
              <a:rPr lang="en-US" i="1" dirty="0" err="1" smtClean="0"/>
              <a:t>afectiv-motivațional</a:t>
            </a:r>
            <a:r>
              <a:rPr lang="en-US" i="1" dirty="0" smtClean="0"/>
              <a:t> </a:t>
            </a:r>
            <a:r>
              <a:rPr lang="en-US" i="1" dirty="0" err="1" smtClean="0"/>
              <a:t>și</a:t>
            </a:r>
            <a:r>
              <a:rPr lang="en-US" i="1" dirty="0" smtClean="0"/>
              <a:t> </a:t>
            </a:r>
            <a:r>
              <a:rPr lang="en-US" i="1" dirty="0" err="1" smtClean="0"/>
              <a:t>comportamental</a:t>
            </a:r>
            <a:r>
              <a:rPr lang="en-US" dirty="0" smtClean="0"/>
              <a:t>. </a:t>
            </a:r>
            <a:endParaRPr lang="ro-RO" dirty="0" smtClean="0"/>
          </a:p>
          <a:p>
            <a:r>
              <a:rPr lang="en-US" b="1" dirty="0" err="1" smtClean="0"/>
              <a:t>Pedagogia</a:t>
            </a:r>
            <a:r>
              <a:rPr lang="en-US" b="1" dirty="0" smtClean="0"/>
              <a:t> </a:t>
            </a:r>
            <a:r>
              <a:rPr lang="en-US" dirty="0" smtClean="0"/>
              <a:t>ca </a:t>
            </a:r>
            <a:r>
              <a:rPr lang="en-US" dirty="0" err="1" smtClean="0"/>
              <a:t>știință</a:t>
            </a:r>
            <a:r>
              <a:rPr lang="ro-RO" dirty="0" smtClean="0"/>
              <a:t>,</a:t>
            </a:r>
            <a:r>
              <a:rPr lang="en-US" dirty="0" smtClean="0"/>
              <a:t> </a:t>
            </a:r>
            <a:r>
              <a:rPr lang="en-US" dirty="0" err="1" smtClean="0"/>
              <a:t>analizează</a:t>
            </a:r>
            <a:r>
              <a:rPr lang="en-US" dirty="0" smtClean="0"/>
              <a:t> </a:t>
            </a:r>
            <a:r>
              <a:rPr lang="en-US" b="1" i="1" dirty="0" err="1" smtClean="0"/>
              <a:t>fenomenul</a:t>
            </a:r>
            <a:r>
              <a:rPr lang="en-US" b="1" i="1" dirty="0" smtClean="0"/>
              <a:t> </a:t>
            </a:r>
            <a:r>
              <a:rPr lang="en-US" b="1" i="1" dirty="0" err="1" smtClean="0"/>
              <a:t>educațional</a:t>
            </a:r>
            <a:r>
              <a:rPr lang="en-US" b="1" i="1" dirty="0" smtClean="0"/>
              <a:t> </a:t>
            </a:r>
            <a:r>
              <a:rPr lang="en-US" dirty="0" smtClean="0"/>
              <a:t>cu </a:t>
            </a:r>
            <a:r>
              <a:rPr lang="en-US" dirty="0" err="1" smtClean="0"/>
              <a:t>scopul</a:t>
            </a:r>
            <a:r>
              <a:rPr lang="en-US" dirty="0" smtClean="0"/>
              <a:t> </a:t>
            </a:r>
            <a:r>
              <a:rPr lang="en-US" dirty="0" err="1" smtClean="0"/>
              <a:t>optimizării</a:t>
            </a:r>
            <a:r>
              <a:rPr lang="en-US" dirty="0" smtClean="0"/>
              <a:t> </a:t>
            </a:r>
            <a:endParaRPr lang="ro-RO" dirty="0" smtClean="0"/>
          </a:p>
          <a:p>
            <a:pPr lvl="1"/>
            <a:r>
              <a:rPr lang="en-US" dirty="0" err="1" smtClean="0"/>
              <a:t>structurii</a:t>
            </a:r>
            <a:r>
              <a:rPr lang="en-US" dirty="0" smtClean="0"/>
              <a:t> </a:t>
            </a:r>
            <a:r>
              <a:rPr lang="en-US" dirty="0" err="1" smtClean="0"/>
              <a:t>acestuia</a:t>
            </a:r>
            <a:r>
              <a:rPr lang="en-US" dirty="0" smtClean="0"/>
              <a:t> (</a:t>
            </a:r>
            <a:r>
              <a:rPr lang="en-US" dirty="0" err="1" smtClean="0"/>
              <a:t>relația</a:t>
            </a:r>
            <a:r>
              <a:rPr lang="en-US" dirty="0" smtClean="0"/>
              <a:t> </a:t>
            </a:r>
            <a:r>
              <a:rPr lang="en-US" dirty="0" err="1" smtClean="0"/>
              <a:t>finalități</a:t>
            </a:r>
            <a:r>
              <a:rPr lang="en-US" dirty="0" smtClean="0"/>
              <a:t> </a:t>
            </a:r>
            <a:r>
              <a:rPr lang="en-US" dirty="0" err="1" smtClean="0"/>
              <a:t>educaționale</a:t>
            </a:r>
            <a:r>
              <a:rPr lang="en-US" dirty="0" smtClean="0"/>
              <a:t> - </a:t>
            </a:r>
            <a:r>
              <a:rPr lang="en-US" dirty="0" err="1" smtClean="0"/>
              <a:t>conținut</a:t>
            </a:r>
            <a:r>
              <a:rPr lang="en-US" dirty="0" smtClean="0"/>
              <a:t> </a:t>
            </a:r>
            <a:r>
              <a:rPr lang="en-US" dirty="0" err="1" smtClean="0"/>
              <a:t>informațional</a:t>
            </a:r>
            <a:r>
              <a:rPr lang="en-US" dirty="0" smtClean="0"/>
              <a:t> -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p</a:t>
            </a:r>
            <a:r>
              <a:rPr lang="ro-RO" dirty="0" smtClean="0"/>
              <a:t>r</a:t>
            </a:r>
            <a:r>
              <a:rPr lang="en-US" dirty="0" err="1" smtClean="0"/>
              <a:t>ocedee</a:t>
            </a:r>
            <a:r>
              <a:rPr lang="en-US" dirty="0" smtClean="0"/>
              <a:t> de </a:t>
            </a:r>
            <a:r>
              <a:rPr lang="en-US" dirty="0" err="1" smtClean="0"/>
              <a:t>realizare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evaluare</a:t>
            </a:r>
            <a:r>
              <a:rPr lang="en-US" dirty="0" smtClean="0"/>
              <a:t>)</a:t>
            </a:r>
            <a:endParaRPr lang="ro-RO" dirty="0" smtClean="0"/>
          </a:p>
          <a:p>
            <a:pPr lvl="1"/>
            <a:r>
              <a:rPr lang="en-US" dirty="0" smtClean="0"/>
              <a:t> </a:t>
            </a:r>
            <a:r>
              <a:rPr lang="en-US" dirty="0" err="1" smtClean="0"/>
              <a:t>influențelor</a:t>
            </a:r>
            <a:r>
              <a:rPr lang="en-US" dirty="0" smtClean="0"/>
              <a:t> </a:t>
            </a:r>
            <a:r>
              <a:rPr lang="en-US" dirty="0" err="1" smtClean="0"/>
              <a:t>acestuia</a:t>
            </a:r>
            <a:r>
              <a:rPr lang="en-US" dirty="0" smtClean="0"/>
              <a:t> </a:t>
            </a:r>
            <a:r>
              <a:rPr lang="en-US" dirty="0" err="1" smtClean="0"/>
              <a:t>asupra</a:t>
            </a:r>
            <a:r>
              <a:rPr lang="en-US" dirty="0" smtClean="0"/>
              <a:t> </a:t>
            </a:r>
            <a:r>
              <a:rPr lang="en-US" dirty="0" err="1" smtClean="0"/>
              <a:t>formării</a:t>
            </a:r>
            <a:r>
              <a:rPr lang="en-US" dirty="0" smtClean="0"/>
              <a:t> </a:t>
            </a:r>
            <a:r>
              <a:rPr lang="en-US" dirty="0" err="1" smtClean="0"/>
              <a:t>personalității</a:t>
            </a:r>
            <a:r>
              <a:rPr lang="en-US" dirty="0" smtClean="0"/>
              <a:t> </a:t>
            </a:r>
            <a:r>
              <a:rPr lang="en-US" dirty="0" err="1" smtClean="0"/>
              <a:t>celui</a:t>
            </a:r>
            <a:r>
              <a:rPr lang="en-US" dirty="0" smtClean="0"/>
              <a:t> </a:t>
            </a:r>
            <a:r>
              <a:rPr lang="en-US" dirty="0" err="1" smtClean="0"/>
              <a:t>educat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/>
            </a:r>
            <a:br>
              <a:rPr lang="en-US" sz="2000" b="1" dirty="0" smtClean="0"/>
            </a:b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i="1" dirty="0" smtClean="0"/>
              <a:t>patru etape </a:t>
            </a:r>
            <a:r>
              <a:rPr lang="ro-RO" dirty="0" smtClean="0"/>
              <a:t>majore în evoluţia pedagogiei ca domeniu teoretic:</a:t>
            </a:r>
            <a:endParaRPr lang="en-US" b="1" dirty="0" smtClean="0"/>
          </a:p>
          <a:p>
            <a:pPr lvl="2">
              <a:buFont typeface="Wingdings" pitchFamily="2" charset="2"/>
              <a:buChar char="Ø"/>
            </a:pPr>
            <a:r>
              <a:rPr lang="ro-RO" sz="2400" dirty="0" smtClean="0"/>
              <a:t>etapa empirică: pedagogia empirică (folclor)</a:t>
            </a:r>
            <a:endParaRPr lang="en-US" sz="2400" b="1" dirty="0" smtClean="0"/>
          </a:p>
          <a:p>
            <a:pPr lvl="2">
              <a:buFont typeface="Wingdings" pitchFamily="2" charset="2"/>
              <a:buChar char="Ø"/>
            </a:pPr>
            <a:r>
              <a:rPr lang="ro-RO" sz="2400" dirty="0" smtClean="0"/>
              <a:t>etapa filosofică: pedagogia filosofică</a:t>
            </a:r>
            <a:endParaRPr lang="en-US" sz="2400" b="1" dirty="0" smtClean="0"/>
          </a:p>
          <a:p>
            <a:pPr lvl="2">
              <a:buFont typeface="Wingdings" pitchFamily="2" charset="2"/>
              <a:buChar char="Ø"/>
            </a:pPr>
            <a:r>
              <a:rPr lang="ro-RO" sz="2400" dirty="0" smtClean="0"/>
              <a:t>etapa marilor sisteme de gândire pedagogică: Jan Amos Comenius (1592-1670) – primul sistem de gândire pedagogică coerent</a:t>
            </a:r>
            <a:endParaRPr lang="en-US" sz="2400" b="1" dirty="0" smtClean="0"/>
          </a:p>
          <a:p>
            <a:pPr lvl="2">
              <a:buFont typeface="Wingdings" pitchFamily="2" charset="2"/>
              <a:buChar char="Ø"/>
            </a:pPr>
            <a:r>
              <a:rPr lang="ro-RO" sz="2400" dirty="0" smtClean="0"/>
              <a:t>etapa constituirii ştiinţelor educaţiei.</a:t>
            </a:r>
            <a:endParaRPr lang="en-US" sz="24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010400"/>
          </a:xfrm>
        </p:spPr>
        <p:txBody>
          <a:bodyPr>
            <a:normAutofit fontScale="90000"/>
          </a:bodyPr>
          <a:lstStyle/>
          <a:p>
            <a:r>
              <a:rPr lang="ro-RO" sz="2200" b="1" dirty="0" smtClean="0"/>
              <a:t>3. Caracterul științific al pedagogiei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110178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4 condiții </a:t>
            </a:r>
            <a:r>
              <a:rPr lang="ro-RO" sz="2000" dirty="0" smtClean="0"/>
              <a:t>în evaluarea statutului științific </a:t>
            </a:r>
            <a:r>
              <a:rPr lang="en-US" sz="2000" dirty="0" smtClean="0"/>
              <a:t>al </a:t>
            </a:r>
            <a:r>
              <a:rPr lang="en-US" sz="2000" dirty="0" err="1" smtClean="0"/>
              <a:t>oricărei</a:t>
            </a:r>
            <a:r>
              <a:rPr lang="en-US" sz="2000" dirty="0" smtClean="0"/>
              <a:t> </a:t>
            </a:r>
            <a:r>
              <a:rPr lang="en-US" sz="2000" dirty="0" err="1" smtClean="0"/>
              <a:t>dis</a:t>
            </a:r>
            <a:r>
              <a:rPr lang="ro-RO" sz="2000" dirty="0" smtClean="0"/>
              <a:t>c</a:t>
            </a:r>
            <a:r>
              <a:rPr lang="en-US" sz="2000" dirty="0" err="1" smtClean="0"/>
              <a:t>ipline</a:t>
            </a:r>
            <a:r>
              <a:rPr lang="ro-RO" sz="2000" dirty="0" smtClean="0"/>
              <a:t>:</a:t>
            </a:r>
          </a:p>
          <a:p>
            <a:pPr lvl="1"/>
            <a:r>
              <a:rPr lang="ro-RO" sz="2000" i="1" dirty="0" smtClean="0"/>
              <a:t>obiect de studiu, domeniu propriu de cercetare (ce studiază?)</a:t>
            </a:r>
          </a:p>
          <a:p>
            <a:pPr lvl="2">
              <a:buFont typeface="Wingdings" pitchFamily="2" charset="2"/>
              <a:buChar char="Ø"/>
            </a:pPr>
            <a:r>
              <a:rPr lang="ro-RO" sz="2000" dirty="0" smtClean="0"/>
              <a:t>Pedagogia: domeniul educațional; </a:t>
            </a:r>
          </a:p>
          <a:p>
            <a:pPr lvl="2">
              <a:buFont typeface="Wingdings" pitchFamily="2" charset="2"/>
              <a:buChar char="Ø"/>
            </a:pPr>
            <a:r>
              <a:rPr lang="ro-RO" sz="2000" dirty="0" smtClean="0"/>
              <a:t>Educația: transmiterea experienței sociale de la o generație la alta, procesul de formare și dezvoltare a personalității umane</a:t>
            </a:r>
          </a:p>
          <a:p>
            <a:pPr lvl="1"/>
            <a:r>
              <a:rPr lang="ro-RO" sz="2000" i="1" dirty="0" smtClean="0"/>
              <a:t>metode, procedee, tehnici proprii, specifice investigării domeniului respectiv (cu ajutorul a ce studiază?) – </a:t>
            </a:r>
            <a:r>
              <a:rPr lang="ro-RO" sz="2000" b="1" i="1" dirty="0" smtClean="0"/>
              <a:t>metodologia pedagogică</a:t>
            </a:r>
          </a:p>
          <a:p>
            <a:pPr lvl="2"/>
            <a:r>
              <a:rPr lang="ro-RO" sz="2000" dirty="0" smtClean="0"/>
              <a:t>Metodologie de cercetare științifică adecvată și adaptată (metode din psihologie și sociologie): metode de cunoaștere a omului (psihologia), și metode de schimbare, modelare a omului prin educație</a:t>
            </a:r>
          </a:p>
          <a:p>
            <a:pPr lvl="1"/>
            <a:r>
              <a:rPr lang="ro-RO" sz="2000" i="1" dirty="0" smtClean="0"/>
              <a:t>elaborarea rezultatelor, sistem conceptual: legi, regularități, interacțiuni, noțiuni, concepte, teorii, principii (cu ce rezultate?) – </a:t>
            </a:r>
            <a:r>
              <a:rPr lang="ro-RO" sz="2000" b="1" i="1" dirty="0" smtClean="0"/>
              <a:t>teoria pedagogică</a:t>
            </a:r>
          </a:p>
          <a:p>
            <a:pPr lvl="1"/>
            <a:r>
              <a:rPr lang="en-US" sz="2000" i="1" dirty="0" err="1" smtClean="0"/>
              <a:t>metode</a:t>
            </a:r>
            <a:r>
              <a:rPr lang="en-US" sz="2000" i="1" dirty="0" smtClean="0"/>
              <a:t>, </a:t>
            </a:r>
            <a:r>
              <a:rPr lang="en-US" sz="2000" i="1" dirty="0" err="1" smtClean="0"/>
              <a:t>instrumente</a:t>
            </a:r>
            <a:r>
              <a:rPr lang="en-US" sz="2000" i="1" dirty="0" smtClean="0"/>
              <a:t>, </a:t>
            </a:r>
            <a:r>
              <a:rPr lang="en-US" sz="2000" i="1" dirty="0" err="1" smtClean="0"/>
              <a:t>norme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și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reguli</a:t>
            </a:r>
            <a:r>
              <a:rPr lang="en-US" sz="2000" i="1" dirty="0" smtClean="0"/>
              <a:t> de </a:t>
            </a:r>
            <a:r>
              <a:rPr lang="en-US" sz="2000" i="1" dirty="0" err="1" smtClean="0"/>
              <a:t>acțiune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practică</a:t>
            </a:r>
            <a:r>
              <a:rPr lang="en-US" sz="2000" i="1" dirty="0" smtClean="0"/>
              <a:t>, reunite </a:t>
            </a:r>
            <a:r>
              <a:rPr lang="en-US" sz="2000" i="1" dirty="0" err="1" smtClean="0"/>
              <a:t>într</a:t>
            </a:r>
            <a:r>
              <a:rPr lang="en-US" sz="2000" i="1" dirty="0" smtClean="0"/>
              <a:t>-o </a:t>
            </a:r>
            <a:r>
              <a:rPr lang="en-US" sz="2000" i="1" dirty="0" err="1" smtClean="0"/>
              <a:t>tehnologie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sau</a:t>
            </a:r>
            <a:r>
              <a:rPr lang="en-US" sz="2000" i="1" dirty="0" smtClean="0"/>
              <a:t> </a:t>
            </a:r>
            <a:r>
              <a:rPr lang="en-US" sz="2000" i="1" dirty="0" err="1" smtClean="0"/>
              <a:t>praxiologie</a:t>
            </a:r>
            <a:r>
              <a:rPr lang="en-US" sz="2000" i="1" dirty="0" smtClean="0"/>
              <a:t> a </a:t>
            </a:r>
            <a:r>
              <a:rPr lang="en-US" sz="2000" i="1" dirty="0" err="1" smtClean="0"/>
              <a:t>domeniului</a:t>
            </a:r>
            <a:r>
              <a:rPr lang="ro-RO" sz="2000" i="1" dirty="0" smtClean="0"/>
              <a:t> – </a:t>
            </a:r>
            <a:r>
              <a:rPr lang="ro-RO" sz="2000" b="1" i="1" dirty="0" smtClean="0"/>
              <a:t>tehnologia pedagogică</a:t>
            </a:r>
          </a:p>
          <a:p>
            <a:pPr lvl="1"/>
            <a:endParaRPr lang="ro-RO" sz="2600" dirty="0" smtClean="0"/>
          </a:p>
          <a:p>
            <a:pPr lvl="1"/>
            <a:endParaRPr lang="ro-RO" sz="1800" dirty="0" smtClean="0"/>
          </a:p>
          <a:p>
            <a:pPr lvl="1"/>
            <a:endParaRPr lang="ro-RO" sz="1800" dirty="0" smtClean="0"/>
          </a:p>
          <a:p>
            <a:pPr lvl="1"/>
            <a:endParaRPr lang="ro-RO" sz="1800" dirty="0" smtClean="0"/>
          </a:p>
          <a:p>
            <a:pPr lvl="1">
              <a:buFont typeface="Wingdings" pitchFamily="2" charset="2"/>
              <a:buChar char="Ø"/>
            </a:pPr>
            <a:endParaRPr lang="ro-RO" sz="2000" dirty="0" smtClean="0"/>
          </a:p>
          <a:p>
            <a:pPr lvl="1">
              <a:buFont typeface="Wingdings" pitchFamily="2" charset="2"/>
              <a:buChar char="Ø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745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285860"/>
          <a:ext cx="8229600" cy="5038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438896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4. Sistemul științelor educației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824426"/>
          </a:xfrm>
        </p:spPr>
        <p:txBody>
          <a:bodyPr>
            <a:normAutofit lnSpcReduction="10000"/>
          </a:bodyPr>
          <a:lstStyle/>
          <a:p>
            <a:r>
              <a:rPr lang="en-US" sz="2000" dirty="0" err="1" smtClean="0"/>
              <a:t>evoluția</a:t>
            </a:r>
            <a:r>
              <a:rPr lang="en-US" sz="2000" dirty="0" smtClean="0"/>
              <a:t> </a:t>
            </a:r>
            <a:r>
              <a:rPr lang="en-US" sz="2000" dirty="0" err="1" smtClean="0"/>
              <a:t>societății</a:t>
            </a:r>
            <a:r>
              <a:rPr lang="en-US" sz="2000" dirty="0" smtClean="0"/>
              <a:t> </a:t>
            </a:r>
            <a:r>
              <a:rPr lang="en-US" sz="2000" dirty="0" err="1" smtClean="0"/>
              <a:t>și</a:t>
            </a:r>
            <a:r>
              <a:rPr lang="en-US" sz="2000" dirty="0" smtClean="0"/>
              <a:t> </a:t>
            </a:r>
            <a:r>
              <a:rPr lang="en-US" sz="2000" dirty="0" err="1" smtClean="0"/>
              <a:t>dezvoltarea</a:t>
            </a:r>
            <a:r>
              <a:rPr lang="en-US" sz="2000" dirty="0" smtClean="0"/>
              <a:t> </a:t>
            </a:r>
            <a:r>
              <a:rPr lang="en-US" sz="2000" dirty="0" err="1" smtClean="0"/>
              <a:t>cunoașterii</a:t>
            </a:r>
            <a:r>
              <a:rPr lang="en-US" sz="2000" dirty="0" smtClean="0"/>
              <a:t> </a:t>
            </a:r>
            <a:r>
              <a:rPr lang="en-US" sz="2000" dirty="0" err="1" smtClean="0"/>
              <a:t>umane</a:t>
            </a:r>
            <a:r>
              <a:rPr lang="ro-RO" sz="2000" dirty="0" smtClean="0"/>
              <a:t>: </a:t>
            </a:r>
            <a:r>
              <a:rPr lang="en-US" sz="2000" i="1" dirty="0" err="1" smtClean="0"/>
              <a:t>educația</a:t>
            </a:r>
            <a:r>
              <a:rPr lang="en-US" sz="2000" b="1" dirty="0" smtClean="0"/>
              <a:t> </a:t>
            </a:r>
            <a:r>
              <a:rPr lang="en-US" sz="2000" dirty="0" smtClean="0"/>
              <a:t>a </a:t>
            </a:r>
            <a:r>
              <a:rPr lang="en-US" sz="2000" dirty="0" err="1" smtClean="0"/>
              <a:t>devenit</a:t>
            </a:r>
            <a:r>
              <a:rPr lang="en-US" sz="2000" dirty="0" smtClean="0"/>
              <a:t> </a:t>
            </a:r>
            <a:r>
              <a:rPr lang="en-US" sz="2000" dirty="0" err="1" smtClean="0"/>
              <a:t>obiect</a:t>
            </a:r>
            <a:r>
              <a:rPr lang="en-US" sz="2000" dirty="0" smtClean="0"/>
              <a:t> de  </a:t>
            </a:r>
            <a:r>
              <a:rPr lang="en-US" sz="2000" dirty="0" err="1" smtClean="0"/>
              <a:t>preocupări</a:t>
            </a:r>
            <a:r>
              <a:rPr lang="en-US" sz="2000" dirty="0" smtClean="0"/>
              <a:t> a </a:t>
            </a:r>
            <a:r>
              <a:rPr lang="en-US" sz="2000" dirty="0" err="1" smtClean="0"/>
              <a:t>mai</a:t>
            </a:r>
            <a:r>
              <a:rPr lang="en-US" sz="2000" dirty="0" smtClean="0"/>
              <a:t> </a:t>
            </a:r>
            <a:r>
              <a:rPr lang="en-US" sz="2000" dirty="0" err="1" smtClean="0"/>
              <a:t>multor</a:t>
            </a:r>
            <a:r>
              <a:rPr lang="en-US" sz="2000" dirty="0" smtClean="0"/>
              <a:t> </a:t>
            </a:r>
            <a:r>
              <a:rPr lang="en-US" sz="2000" dirty="0" err="1" smtClean="0"/>
              <a:t>științe</a:t>
            </a:r>
            <a:r>
              <a:rPr lang="en-US" sz="2000" dirty="0" smtClean="0"/>
              <a:t>, </a:t>
            </a:r>
            <a:r>
              <a:rPr lang="en-US" sz="2000" dirty="0" err="1" smtClean="0"/>
              <a:t>fiecare</a:t>
            </a:r>
            <a:r>
              <a:rPr lang="en-US" sz="2000" dirty="0" smtClean="0"/>
              <a:t> </a:t>
            </a:r>
            <a:r>
              <a:rPr lang="en-US" sz="2000" dirty="0" err="1" smtClean="0"/>
              <a:t>ocupându</a:t>
            </a:r>
            <a:r>
              <a:rPr lang="en-US" sz="2000" dirty="0" smtClean="0"/>
              <a:t>-se de  un aspect </a:t>
            </a:r>
            <a:r>
              <a:rPr lang="en-US" sz="2000" dirty="0" err="1" smtClean="0"/>
              <a:t>sau</a:t>
            </a:r>
            <a:r>
              <a:rPr lang="en-US" sz="2000" dirty="0" smtClean="0"/>
              <a:t> </a:t>
            </a:r>
            <a:r>
              <a:rPr lang="en-US" sz="2000" dirty="0" err="1" smtClean="0"/>
              <a:t>altul</a:t>
            </a:r>
            <a:r>
              <a:rPr lang="en-US" sz="2000" dirty="0" smtClean="0"/>
              <a:t> al </a:t>
            </a:r>
            <a:r>
              <a:rPr lang="en-US" sz="2000" dirty="0" err="1" smtClean="0"/>
              <a:t>educației</a:t>
            </a:r>
            <a:endParaRPr lang="ro-RO" sz="2000" dirty="0" smtClean="0"/>
          </a:p>
          <a:p>
            <a:pPr>
              <a:buNone/>
            </a:pPr>
            <a:endParaRPr lang="ro-RO" sz="2000" dirty="0" smtClean="0"/>
          </a:p>
          <a:p>
            <a:r>
              <a:rPr lang="ro-RO" sz="2000" dirty="0" smtClean="0"/>
              <a:t>abordarea fenomenului educațional nu mai reprezintă obiectul unei singure științe – </a:t>
            </a:r>
            <a:r>
              <a:rPr lang="ro-RO" sz="2000" i="1" dirty="0" smtClean="0"/>
              <a:t>pedagogia</a:t>
            </a:r>
            <a:r>
              <a:rPr lang="ro-RO" sz="2000" dirty="0" smtClean="0"/>
              <a:t>, ci a devenit obiect de studiu al mai multor științe - </a:t>
            </a:r>
            <a:r>
              <a:rPr lang="ro-RO" sz="2000" i="1" dirty="0" smtClean="0"/>
              <a:t>științele educației </a:t>
            </a:r>
            <a:r>
              <a:rPr lang="ro-RO" sz="2000" dirty="0" smtClean="0"/>
              <a:t>sau </a:t>
            </a:r>
            <a:r>
              <a:rPr lang="ro-RO" sz="2000" i="1" dirty="0" smtClean="0"/>
              <a:t>științele pedagogice. </a:t>
            </a:r>
          </a:p>
          <a:p>
            <a:pPr>
              <a:buNone/>
            </a:pPr>
            <a:endParaRPr lang="ro-RO" sz="2000" i="1" dirty="0" smtClean="0"/>
          </a:p>
          <a:p>
            <a:r>
              <a:rPr lang="en-US" sz="2000" i="1" dirty="0" err="1" smtClean="0"/>
              <a:t>Pedagogia</a:t>
            </a:r>
            <a:r>
              <a:rPr lang="en-US" sz="2000" i="1" dirty="0" smtClean="0"/>
              <a:t> </a:t>
            </a:r>
            <a:r>
              <a:rPr lang="en-US" sz="2000" dirty="0" smtClean="0"/>
              <a:t> a </a:t>
            </a:r>
            <a:r>
              <a:rPr lang="en-US" sz="2000" dirty="0" err="1" smtClean="0"/>
              <a:t>devenit</a:t>
            </a:r>
            <a:r>
              <a:rPr lang="en-US" sz="2000" dirty="0" smtClean="0"/>
              <a:t> un concept care </a:t>
            </a:r>
            <a:r>
              <a:rPr lang="en-US" sz="2000" dirty="0" err="1" smtClean="0"/>
              <a:t>definește</a:t>
            </a:r>
            <a:r>
              <a:rPr lang="en-US" sz="2000" dirty="0" smtClean="0"/>
              <a:t> un complex de </a:t>
            </a:r>
            <a:r>
              <a:rPr lang="en-US" sz="2000" dirty="0" err="1" smtClean="0"/>
              <a:t>științe</a:t>
            </a:r>
            <a:r>
              <a:rPr lang="en-US" sz="2000" dirty="0" smtClean="0"/>
              <a:t> </a:t>
            </a:r>
            <a:r>
              <a:rPr lang="en-US" sz="2000" dirty="0" err="1" smtClean="0"/>
              <a:t>ce</a:t>
            </a:r>
            <a:r>
              <a:rPr lang="en-US" sz="2000" dirty="0" smtClean="0"/>
              <a:t> au ca </a:t>
            </a:r>
            <a:r>
              <a:rPr lang="en-US" sz="2000" dirty="0" err="1" smtClean="0"/>
              <a:t>preocupare</a:t>
            </a:r>
            <a:r>
              <a:rPr lang="en-US" sz="2000" dirty="0" smtClean="0"/>
              <a:t> </a:t>
            </a:r>
            <a:r>
              <a:rPr lang="en-US" sz="2000" dirty="0" err="1" smtClean="0"/>
              <a:t>educația</a:t>
            </a:r>
            <a:r>
              <a:rPr lang="en-US" sz="2000" dirty="0" smtClean="0"/>
              <a:t>, </a:t>
            </a:r>
            <a:r>
              <a:rPr lang="en-US" sz="2000" dirty="0" err="1" smtClean="0"/>
              <a:t>studiată</a:t>
            </a:r>
            <a:r>
              <a:rPr lang="en-US" sz="2000" dirty="0" smtClean="0"/>
              <a:t> din </a:t>
            </a:r>
            <a:r>
              <a:rPr lang="en-US" sz="2000" dirty="0" err="1" smtClean="0"/>
              <a:t>diferite</a:t>
            </a:r>
            <a:r>
              <a:rPr lang="en-US" sz="2000" dirty="0" smtClean="0"/>
              <a:t> </a:t>
            </a:r>
            <a:r>
              <a:rPr lang="en-US" sz="2000" dirty="0" err="1" smtClean="0"/>
              <a:t>unghiuri</a:t>
            </a:r>
            <a:r>
              <a:rPr lang="en-US" sz="2000" dirty="0" smtClean="0"/>
              <a:t>, perspective. </a:t>
            </a:r>
            <a:endParaRPr lang="ro-RO" sz="2000" dirty="0" smtClean="0"/>
          </a:p>
          <a:p>
            <a:pPr>
              <a:buNone/>
            </a:pPr>
            <a:endParaRPr lang="en-US" sz="2000" b="1" i="1" dirty="0" smtClean="0"/>
          </a:p>
          <a:p>
            <a:r>
              <a:rPr lang="ro-RO" sz="2000" i="1" dirty="0" smtClean="0"/>
              <a:t>Sistemul ştiinţelor educației/pedagogice </a:t>
            </a:r>
            <a:r>
              <a:rPr lang="ro-RO" sz="2000" dirty="0" smtClean="0"/>
              <a:t>reprezintă un complex de  discipline teoretice și practice care studiază diferite stadii, laturi sau aspecte ale educaţiei, adică activitatea de formare-dezvoltare a personalității umane, prin strategii de cercetare specifice.</a:t>
            </a:r>
            <a:endParaRPr lang="en-US" sz="2000" b="1" dirty="0" smtClean="0"/>
          </a:p>
          <a:p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81772"/>
          </a:xfrm>
        </p:spPr>
        <p:txBody>
          <a:bodyPr>
            <a:normAutofit/>
          </a:bodyPr>
          <a:lstStyle/>
          <a:p>
            <a:r>
              <a:rPr lang="ro-RO" sz="2000" b="1" dirty="0" smtClean="0"/>
              <a:t>5.  </a:t>
            </a:r>
            <a:r>
              <a:rPr lang="en-US" sz="2000" b="1" dirty="0" err="1" smtClean="0"/>
              <a:t>Caracterul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interdisciplinar</a:t>
            </a:r>
            <a:r>
              <a:rPr lang="en-US" sz="2000" b="1" dirty="0" smtClean="0"/>
              <a:t> al </a:t>
            </a:r>
            <a:r>
              <a:rPr lang="en-US" sz="2000" b="1" dirty="0" err="1" smtClean="0"/>
              <a:t>pedagogiei</a:t>
            </a:r>
            <a:r>
              <a:rPr lang="en-US" sz="2000" b="1" dirty="0" smtClean="0"/>
              <a:t> ca </a:t>
            </a:r>
            <a:r>
              <a:rPr lang="en-US" sz="2000" b="1" dirty="0" err="1" smtClean="0"/>
              <a:t>știință</a:t>
            </a:r>
            <a:r>
              <a:rPr lang="en-US" sz="2000" b="1" dirty="0" smtClean="0"/>
              <a:t> </a:t>
            </a:r>
            <a:endParaRPr lang="en-US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824426"/>
          </a:xfrm>
        </p:spPr>
        <p:txBody>
          <a:bodyPr>
            <a:normAutofit/>
          </a:bodyPr>
          <a:lstStyle/>
          <a:p>
            <a:r>
              <a:rPr lang="ro-RO" sz="2000" dirty="0" smtClean="0"/>
              <a:t>Legătura pedagogiei cu alte științe: </a:t>
            </a:r>
          </a:p>
          <a:p>
            <a:pPr lvl="1"/>
            <a:r>
              <a:rPr lang="ro-RO" sz="1800" dirty="0" smtClean="0"/>
              <a:t>valorificarea rezultatelor altor ştiinţe în vederea unei mai bune înţelegeri a fenomenului educaţional, </a:t>
            </a:r>
          </a:p>
          <a:p>
            <a:pPr lvl="1"/>
            <a:r>
              <a:rPr lang="ro-RO" sz="1800" dirty="0" smtClean="0"/>
              <a:t>adaptarea unor metode şi tehnici de cercetare proprii acestor ştiinţe la specificul fenomenului educaţional şi utilizarea lor în cercetările pedagogice. </a:t>
            </a:r>
          </a:p>
          <a:p>
            <a:r>
              <a:rPr lang="ro-RO" sz="2000" dirty="0" smtClean="0"/>
              <a:t>pedagogia trebuie să valorifice rezultatele obţinute de alte ştiinţe: ştiinţele biologice, ştiinţele psihologice şi cele socio-umane, care se referă la personalitate şi societate.</a:t>
            </a:r>
          </a:p>
          <a:p>
            <a:pPr>
              <a:buNone/>
            </a:pPr>
            <a:endParaRPr lang="ro-RO" sz="2000" dirty="0" smtClean="0"/>
          </a:p>
          <a:p>
            <a:r>
              <a:rPr lang="en-US" sz="2000" dirty="0" err="1" smtClean="0"/>
              <a:t>Legătura</a:t>
            </a:r>
            <a:r>
              <a:rPr lang="en-US" sz="2000" dirty="0" smtClean="0"/>
              <a:t> </a:t>
            </a:r>
            <a:r>
              <a:rPr lang="en-US" sz="2000" dirty="0" err="1" smtClean="0"/>
              <a:t>pedagogiei</a:t>
            </a:r>
            <a:r>
              <a:rPr lang="en-US" sz="2000" dirty="0" smtClean="0"/>
              <a:t> cu </a:t>
            </a:r>
            <a:r>
              <a:rPr lang="en-US" sz="2000" dirty="0" err="1" smtClean="0"/>
              <a:t>ştiinţele</a:t>
            </a:r>
            <a:r>
              <a:rPr lang="en-US" sz="2000" dirty="0" smtClean="0"/>
              <a:t> </a:t>
            </a:r>
            <a:r>
              <a:rPr lang="en-US" sz="2000" dirty="0" err="1" smtClean="0"/>
              <a:t>biologice</a:t>
            </a:r>
            <a:r>
              <a:rPr lang="en-US" sz="2000" dirty="0" smtClean="0"/>
              <a:t> </a:t>
            </a:r>
            <a:endParaRPr lang="ro-RO" sz="2000" dirty="0" smtClean="0"/>
          </a:p>
          <a:p>
            <a:r>
              <a:rPr lang="ro-RO" sz="2000" dirty="0" smtClean="0"/>
              <a:t>Legătura pedagogiei cu ştiinţele psihologice</a:t>
            </a:r>
            <a:endParaRPr lang="en-US" sz="2000" dirty="0" smtClean="0"/>
          </a:p>
          <a:p>
            <a:r>
              <a:rPr lang="ro-RO" sz="2000" dirty="0" smtClean="0"/>
              <a:t>Legătura pedagogiei cu ştiinţele socio-umane.</a:t>
            </a:r>
          </a:p>
          <a:p>
            <a:r>
              <a:rPr lang="ro-RO" sz="2000" dirty="0" smtClean="0"/>
              <a:t>Legătura pedagogiei cu filosofia</a:t>
            </a:r>
            <a:endParaRPr lang="en-US" sz="2000" dirty="0" smtClean="0"/>
          </a:p>
          <a:p>
            <a:endParaRPr lang="ro-RO" sz="2400" b="1" dirty="0" smtClean="0"/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2270</TotalTime>
  <Words>1318</Words>
  <Application>Microsoft Office PowerPoint</Application>
  <PresentationFormat>On-screen Show (4:3)</PresentationFormat>
  <Paragraphs>128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 TEMA 1 PEDAGOGIA – ŞTIINŢA EDUCAŢIEI</vt:lpstr>
      <vt:lpstr>1. Paradigme și orientări educaționale actuale </vt:lpstr>
      <vt:lpstr>Slide 3</vt:lpstr>
      <vt:lpstr>Slide 4</vt:lpstr>
      <vt:lpstr>Slide 5</vt:lpstr>
      <vt:lpstr>Slide 6</vt:lpstr>
      <vt:lpstr>Pedagogia tradițională/pedagogia modernă</vt:lpstr>
      <vt:lpstr>2.Constituirea pedagogiei ca știință</vt:lpstr>
      <vt:lpstr>Slide 9</vt:lpstr>
      <vt:lpstr> </vt:lpstr>
      <vt:lpstr>3. Caracterul științific al pedagogiei </vt:lpstr>
      <vt:lpstr>Slide 12</vt:lpstr>
      <vt:lpstr>4. Sistemul științelor educației</vt:lpstr>
      <vt:lpstr>5.  Caracterul interdisciplinar al pedagogiei ca știință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TEMA 1 PEDAGOGIA – ŞTIINŢA EDUCAŢIEI</dc:title>
  <dc:creator>Liana</dc:creator>
  <cp:lastModifiedBy>Liana</cp:lastModifiedBy>
  <cp:revision>60</cp:revision>
  <dcterms:created xsi:type="dcterms:W3CDTF">2013-10-19T18:10:37Z</dcterms:created>
  <dcterms:modified xsi:type="dcterms:W3CDTF">2017-11-03T18:36:50Z</dcterms:modified>
</cp:coreProperties>
</file>