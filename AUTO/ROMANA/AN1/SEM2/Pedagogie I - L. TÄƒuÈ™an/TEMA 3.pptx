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3/28/2018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3/28/2018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3/28/2018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3/28/2018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3/28/2018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3/28/2018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3/28/2018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3/28/2018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3/28/2018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3/28/2018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3/28/2018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E5D7F4-D396-47F6-B0C4-CE4EBB6224A2}" type="datetimeFigureOut">
              <a:rPr lang="en-US" smtClean="0"/>
              <a:pPr/>
              <a:t>3/28/2018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o-RO" sz="2800" dirty="0" smtClean="0"/>
              <a:t> TEMA 3</a:t>
            </a:r>
            <a:br>
              <a:rPr lang="ro-RO" sz="2800" dirty="0" smtClean="0"/>
            </a:br>
            <a:r>
              <a:rPr lang="ro-RO" sz="2800" dirty="0" smtClean="0"/>
              <a:t>FORMELE  EDUCAȚIEI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ro-RO" sz="2000" dirty="0" smtClean="0"/>
          </a:p>
          <a:p>
            <a:endParaRPr lang="ro-RO" sz="2000" dirty="0" smtClean="0"/>
          </a:p>
          <a:p>
            <a:endParaRPr lang="ro-RO" sz="2000" dirty="0" smtClean="0"/>
          </a:p>
          <a:p>
            <a:r>
              <a:rPr lang="ro-RO" dirty="0" smtClean="0"/>
              <a:t>Conf. univ. dr.  </a:t>
            </a:r>
            <a:r>
              <a:rPr lang="ro-RO" smtClean="0"/>
              <a:t>LIANA TĂUȘAN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714380"/>
          </a:xfrm>
        </p:spPr>
        <p:txBody>
          <a:bodyPr>
            <a:normAutofit/>
          </a:bodyPr>
          <a:lstStyle/>
          <a:p>
            <a:r>
              <a:rPr lang="ro-RO" sz="2000" b="1" dirty="0" smtClean="0"/>
              <a:t>3.1. Educația formală </a:t>
            </a:r>
            <a:r>
              <a:rPr lang="ro-RO" sz="2000" dirty="0" smtClean="0"/>
              <a:t>(educația instituționalizată de tip școlar)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786454"/>
          </a:xfrm>
        </p:spPr>
        <p:txBody>
          <a:bodyPr>
            <a:normAutofit fontScale="92500" lnSpcReduction="10000"/>
          </a:bodyPr>
          <a:lstStyle/>
          <a:p>
            <a:r>
              <a:rPr lang="ro-RO" sz="2200" dirty="0" smtClean="0"/>
              <a:t>Reprezintă totalitatea acţiunilor educative exercitate în mod conştient, sistematic şi organizat, în cadrul instituţiilor specializate (şcoală, universitate), în vederea formării personalităţii umane. </a:t>
            </a:r>
          </a:p>
          <a:p>
            <a:r>
              <a:rPr lang="ro-RO" sz="2200" dirty="0" smtClean="0"/>
              <a:t>Caracteristici ale educaţiei formale:</a:t>
            </a:r>
            <a:endParaRPr lang="en-US" sz="2200" dirty="0" smtClean="0"/>
          </a:p>
          <a:p>
            <a:pPr lvl="1">
              <a:buFont typeface="Wingdings" pitchFamily="2" charset="2"/>
              <a:buChar char="Ø"/>
            </a:pPr>
            <a:r>
              <a:rPr lang="ro-RO" sz="2200" dirty="0" smtClean="0"/>
              <a:t>obiectivele şi conţinutul educaţiei sunt prevăzute în documente şcolare şi eşalonate pe cicluri, nivele şi ani de studii;</a:t>
            </a:r>
            <a:endParaRPr lang="en-US" sz="2200" dirty="0" smtClean="0"/>
          </a:p>
          <a:p>
            <a:pPr lvl="1">
              <a:buFont typeface="Wingdings" pitchFamily="2" charset="2"/>
              <a:buChar char="Ø"/>
            </a:pPr>
            <a:r>
              <a:rPr lang="ro-RO" sz="2200" dirty="0" smtClean="0"/>
              <a:t>transpunerea lor în practică se face de către cadre didactice specializate, care concep şi conduc procesul de educaţie;</a:t>
            </a:r>
            <a:endParaRPr lang="en-US" sz="2200" dirty="0" smtClean="0"/>
          </a:p>
          <a:p>
            <a:pPr lvl="1">
              <a:buFont typeface="Wingdings" pitchFamily="2" charset="2"/>
              <a:buChar char="Ø"/>
            </a:pPr>
            <a:r>
              <a:rPr lang="ro-RO" sz="2200" dirty="0" smtClean="0"/>
              <a:t>scopul acestui tip de educaţie: </a:t>
            </a:r>
          </a:p>
          <a:p>
            <a:pPr lvl="2">
              <a:buFont typeface="Wingdings" pitchFamily="2" charset="2"/>
              <a:buChar char="Ø"/>
            </a:pPr>
            <a:r>
              <a:rPr lang="ro-RO" sz="2200" dirty="0" smtClean="0"/>
              <a:t>introducerea progresivă a elevilor în tainele cunoaşterii şi dobândirea unor abilități, deprinderi, care le asigură o anumită autonomie educativă;</a:t>
            </a:r>
          </a:p>
          <a:p>
            <a:pPr lvl="2">
              <a:buFont typeface="Wingdings" pitchFamily="2" charset="2"/>
              <a:buChar char="Ø"/>
            </a:pPr>
            <a:r>
              <a:rPr lang="ro-RO" sz="2200" dirty="0" smtClean="0"/>
              <a:t>asimilarea unor cunoştinţe şi formarea şi dezvoltarea unor capacităţi, aptitudini şi atitudini necesare integrării în societate;</a:t>
            </a:r>
            <a:endParaRPr lang="en-US" sz="2200" dirty="0" smtClean="0"/>
          </a:p>
          <a:p>
            <a:pPr lvl="1">
              <a:buFont typeface="Wingdings" pitchFamily="2" charset="2"/>
              <a:buChar char="Ø"/>
            </a:pPr>
            <a:r>
              <a:rPr lang="ro-RO" sz="2200" dirty="0" smtClean="0"/>
              <a:t>informaţiile transmise în şcoală sunt selectate şi structurate,  caracterizându-se prin rigurozitate ştiinţifică dar şi accesibilitate;</a:t>
            </a:r>
            <a:endParaRPr lang="en-US" sz="2200" dirty="0" smtClean="0"/>
          </a:p>
          <a:p>
            <a:pPr lvl="1">
              <a:buFont typeface="Wingdings" pitchFamily="2" charset="2"/>
              <a:buChar char="Ø"/>
            </a:pPr>
            <a:r>
              <a:rPr lang="ro-RO" sz="2200" dirty="0" smtClean="0"/>
              <a:t>acţiunea de evaluare este realizată în forme, moduri şi etape anume stabilite de către fiecare cadru didactic.</a:t>
            </a:r>
            <a:endParaRPr lang="en-US" sz="2200" dirty="0" smtClean="0"/>
          </a:p>
          <a:p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8604"/>
            <a:ext cx="8229600" cy="642942"/>
          </a:xfrm>
        </p:spPr>
        <p:txBody>
          <a:bodyPr>
            <a:normAutofit/>
          </a:bodyPr>
          <a:lstStyle/>
          <a:p>
            <a:r>
              <a:rPr lang="ro-RO" sz="2000" b="1" dirty="0" smtClean="0"/>
              <a:t>3.2. Educația nonformală </a:t>
            </a:r>
            <a:r>
              <a:rPr lang="ro-RO" sz="2000" dirty="0" smtClean="0"/>
              <a:t>(</a:t>
            </a:r>
            <a:r>
              <a:rPr lang="ro-RO" sz="2000" smtClean="0"/>
              <a:t>educația instituționalizată </a:t>
            </a:r>
            <a:r>
              <a:rPr lang="ro-RO" sz="2000" dirty="0" smtClean="0"/>
              <a:t>de tip nonșcolar)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6120680"/>
          </a:xfrm>
        </p:spPr>
        <p:txBody>
          <a:bodyPr>
            <a:noAutofit/>
          </a:bodyPr>
          <a:lstStyle/>
          <a:p>
            <a:r>
              <a:rPr lang="ro-RO" sz="2000" dirty="0" smtClean="0"/>
              <a:t>Reprezintă ansamblul acţiunilor educative exercitate într-un cadru instituţionalizat, situat  în afara procesului de  învățământ desfășurat în școală (activităţi extraşcolare, </a:t>
            </a:r>
            <a:r>
              <a:rPr lang="ro-RO" sz="2000" smtClean="0"/>
              <a:t>activităţi desfășurate </a:t>
            </a:r>
            <a:r>
              <a:rPr lang="ro-RO" sz="2000" dirty="0" smtClean="0"/>
              <a:t>în școală sau în afara școlii)</a:t>
            </a:r>
            <a:endParaRPr lang="en-US" sz="2000" dirty="0" smtClean="0"/>
          </a:p>
          <a:p>
            <a:r>
              <a:rPr lang="ro-RO" sz="2000" dirty="0" smtClean="0"/>
              <a:t>Caracteristici ale educaţiei nonformale:</a:t>
            </a:r>
            <a:endParaRPr lang="en-US" sz="2000" dirty="0" smtClean="0"/>
          </a:p>
          <a:p>
            <a:pPr lvl="1">
              <a:buFont typeface="Wingdings" pitchFamily="2" charset="2"/>
              <a:buChar char="Ø"/>
            </a:pPr>
            <a:r>
              <a:rPr lang="ro-RO" sz="2000" dirty="0" smtClean="0"/>
              <a:t>Conţinutul şi obiectivele urmărite sunt prevăzute în documente special elaborate, diferenţiate în funcţie de finalitatea avută în vedere şi de particularităţile psihice ale celor cărora li se adresează;</a:t>
            </a:r>
            <a:endParaRPr lang="en-US" sz="2000" dirty="0" smtClean="0"/>
          </a:p>
          <a:p>
            <a:pPr lvl="1">
              <a:buFont typeface="Wingdings" pitchFamily="2" charset="2"/>
              <a:buChar char="Ø"/>
            </a:pPr>
            <a:r>
              <a:rPr lang="ro-RO" sz="2000" dirty="0" smtClean="0"/>
              <a:t>Desemnează o activitate educaţională mai puţin formalizată, dar totdeauna cu efecte formative;</a:t>
            </a:r>
            <a:endParaRPr lang="en-US" sz="2000" dirty="0" smtClean="0"/>
          </a:p>
          <a:p>
            <a:pPr lvl="1">
              <a:buFont typeface="Wingdings" pitchFamily="2" charset="2"/>
              <a:buChar char="Ø"/>
            </a:pPr>
            <a:r>
              <a:rPr lang="ro-RO" sz="2000" dirty="0" smtClean="0"/>
              <a:t>Acţiunile incluse în sfera acestui tip de educaţie se caracterizează prin: flexibilitate, varietate, diferenţierea conţinuturilor în funcţie de interesele individuale, caracter opţional sau facultativ, implicarea mai profundă  a persoanelor educate în actul organizării;</a:t>
            </a:r>
            <a:endParaRPr lang="en-US" sz="2000" dirty="0" smtClean="0"/>
          </a:p>
          <a:p>
            <a:pPr lvl="1">
              <a:buFont typeface="Wingdings" pitchFamily="2" charset="2"/>
              <a:buChar char="Ø"/>
            </a:pPr>
            <a:r>
              <a:rPr lang="ro-RO" sz="2000" dirty="0" smtClean="0"/>
              <a:t>Poate fi o cale de ajutor pentru anumite categorii ale populaţiei cu şanse mai mici de a accede la o şcolarizare normală: cei care provin din medii defavorizate, sărace, din zone retrase, analfabeţi, persoane cu nevoi speciale;</a:t>
            </a:r>
            <a:endParaRPr lang="en-US" sz="2000" dirty="0" smtClean="0"/>
          </a:p>
          <a:p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22458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786454"/>
          </a:xfrm>
        </p:spPr>
        <p:txBody>
          <a:bodyPr>
            <a:noAutofit/>
          </a:bodyPr>
          <a:lstStyle/>
          <a:p>
            <a:pPr lvl="1">
              <a:buFont typeface="Wingdings" pitchFamily="2" charset="2"/>
              <a:buChar char="Ø"/>
            </a:pPr>
            <a:r>
              <a:rPr lang="ro-RO" sz="2000" dirty="0" smtClean="0"/>
              <a:t>Principalele instituţii în care se înfăptuieşte acest tip de educaţie: case de cultură, cluburi, cămine culturale, biblioteci, muzee, teatre, asociaţii sportive, etc. </a:t>
            </a:r>
          </a:p>
          <a:p>
            <a:pPr lvl="1">
              <a:buFont typeface="Wingdings" pitchFamily="2" charset="2"/>
              <a:buChar char="Ø"/>
            </a:pPr>
            <a:r>
              <a:rPr lang="ro-RO" sz="2000" dirty="0" smtClean="0"/>
              <a:t>Activităţile sunt iniţiate de şcoală, de organizaţii de copii şi tineret, de organizaţii de părinţi, de organizaţii confesionale, fiind coordonate de specialişti (profesori, cercetători, tehnicieni).</a:t>
            </a:r>
          </a:p>
          <a:p>
            <a:pPr lvl="1">
              <a:buFont typeface="Wingdings" pitchFamily="2" charset="2"/>
              <a:buChar char="Ø"/>
            </a:pPr>
            <a:r>
              <a:rPr lang="ro-RO" sz="2000" dirty="0" smtClean="0"/>
              <a:t>Modalităţi de realizare a acestor activităţi: cercuri, concursuri, olimpiade şcolare, emisiuni ale radioului, cursuri de formare continuă, etc.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8604"/>
            <a:ext cx="8229600" cy="785818"/>
          </a:xfrm>
        </p:spPr>
        <p:txBody>
          <a:bodyPr>
            <a:normAutofit/>
          </a:bodyPr>
          <a:lstStyle/>
          <a:p>
            <a:r>
              <a:rPr lang="ro-RO" sz="2000" b="1" dirty="0" smtClean="0"/>
              <a:t>3.3. Educația informală </a:t>
            </a:r>
            <a:r>
              <a:rPr lang="ro-RO" sz="2000" dirty="0" smtClean="0"/>
              <a:t>(educația neinstituționalizată)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110178"/>
          </a:xfrm>
        </p:spPr>
        <p:txBody>
          <a:bodyPr>
            <a:normAutofit/>
          </a:bodyPr>
          <a:lstStyle/>
          <a:p>
            <a:r>
              <a:rPr lang="ro-RO" sz="2000" dirty="0" smtClean="0"/>
              <a:t>Include ansamblul influenţelor educative ce se exercită în mod spontan, neorganizat, intenționat sau neintenţionat  și continuu asupra personalităţii umane, în virtutea prezenţei sale într-un context situaţional dat. </a:t>
            </a:r>
          </a:p>
          <a:p>
            <a:r>
              <a:rPr lang="ro-RO" sz="2000" dirty="0" smtClean="0"/>
              <a:t>Aceste influenţe nu sunt selectate, organizate şi prelucrate din punct de vedere pedagogic, nu vizează în mod deliberat anumite finalităţi şi se extind asupra tuturor laturilor personalităţii umane.</a:t>
            </a:r>
            <a:endParaRPr lang="en-US" sz="2000" dirty="0" smtClean="0"/>
          </a:p>
          <a:p>
            <a:r>
              <a:rPr lang="ro-RO" sz="2000" dirty="0" smtClean="0"/>
              <a:t>Educaţia informală precede şi depăşeşte ca durată, conţinut şi modalităţi de realizare practicile educaţiei formale. </a:t>
            </a:r>
          </a:p>
          <a:p>
            <a:r>
              <a:rPr lang="ro-RO" sz="2000" dirty="0" smtClean="0"/>
              <a:t>Ea este expresia nemijlocită a mediului de viaţă şi a ambianţei în care se află individul.</a:t>
            </a:r>
            <a:endParaRPr lang="en-US" sz="2000" dirty="0" smtClean="0"/>
          </a:p>
          <a:p>
            <a:r>
              <a:rPr lang="ro-RO" sz="2000" dirty="0" smtClean="0"/>
              <a:t>În cazul educaţiei informale iniţiativa învăţării îi revine individului, educaţia este voluntară, iar modalităţile de evaluare sunt altele decât în educaţia formală: criteriul reuşitei îl reprezintă atingerea unui anumit nivel de competenţă.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Toate cele trei forme ale educaţiei interacţionează reciproc, efectele uneia repercutându-se asupra celorlalte. </a:t>
            </a:r>
          </a:p>
          <a:p>
            <a:r>
              <a:rPr lang="ro-RO" dirty="0" smtClean="0"/>
              <a:t>Toate trei sunt necesare şi se completează reciproc, având în vedere diferenţierile privind mijloacele de realizare, conţinuturile, poziţiile diferite ale educaţilor, cadrul de realizare.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792088"/>
          </a:xfrm>
        </p:spPr>
        <p:txBody>
          <a:bodyPr>
            <a:normAutofit/>
          </a:bodyPr>
          <a:lstStyle/>
          <a:p>
            <a:r>
              <a:rPr lang="ro-RO" sz="2000" dirty="0" smtClean="0"/>
              <a:t>Educația permanentă</a:t>
            </a:r>
            <a:endParaRPr lang="ro-RO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127848"/>
          </a:xfrm>
        </p:spPr>
        <p:txBody>
          <a:bodyPr>
            <a:normAutofit fontScale="92500" lnSpcReduction="10000"/>
          </a:bodyPr>
          <a:lstStyle/>
          <a:p>
            <a:r>
              <a:rPr lang="ro-RO" dirty="0" smtClean="0"/>
              <a:t>este </a:t>
            </a:r>
            <a:r>
              <a:rPr lang="ro-RO" dirty="0" smtClean="0"/>
              <a:t>un principiu ce stă la baza organizării</a:t>
            </a:r>
            <a:r>
              <a:rPr lang="ro-RO" b="1" dirty="0" smtClean="0"/>
              <a:t> </a:t>
            </a:r>
            <a:r>
              <a:rPr lang="ro-RO" dirty="0" smtClean="0"/>
              <a:t>educaţiei în </a:t>
            </a:r>
            <a:r>
              <a:rPr lang="ro-RO" dirty="0" smtClean="0"/>
              <a:t>societate;</a:t>
            </a:r>
          </a:p>
          <a:p>
            <a:r>
              <a:rPr lang="ro-RO" dirty="0" smtClean="0"/>
              <a:t>oferă </a:t>
            </a:r>
            <a:r>
              <a:rPr lang="ro-RO" dirty="0" smtClean="0"/>
              <a:t>mijloace proprii de a răspunde aspiraţiilor educative şi culturale ale fiecărui </a:t>
            </a:r>
            <a:r>
              <a:rPr lang="ro-RO" dirty="0" smtClean="0"/>
              <a:t>individ</a:t>
            </a:r>
            <a:r>
              <a:rPr lang="ro-RO" dirty="0" smtClean="0"/>
              <a:t>;</a:t>
            </a:r>
            <a:endParaRPr lang="ro-RO" dirty="0" smtClean="0"/>
          </a:p>
          <a:p>
            <a:r>
              <a:rPr lang="ro-RO" dirty="0" smtClean="0"/>
              <a:t>are </a:t>
            </a:r>
            <a:r>
              <a:rPr lang="ro-RO" dirty="0" smtClean="0"/>
              <a:t>ca scop dezvoltarea personalităţii pe durata întregii </a:t>
            </a:r>
            <a:r>
              <a:rPr lang="ro-RO" dirty="0" smtClean="0"/>
              <a:t>vieţi;</a:t>
            </a:r>
          </a:p>
          <a:p>
            <a:r>
              <a:rPr lang="ro-RO" dirty="0" smtClean="0"/>
              <a:t>Semnificaţia conceptului de educaţie </a:t>
            </a:r>
            <a:r>
              <a:rPr lang="ro-RO" dirty="0" smtClean="0"/>
              <a:t>permanentă:</a:t>
            </a:r>
          </a:p>
          <a:p>
            <a:pPr lvl="1"/>
            <a:r>
              <a:rPr lang="ro-RO" dirty="0" smtClean="0"/>
              <a:t>educaţia </a:t>
            </a:r>
            <a:r>
              <a:rPr lang="ro-RO" dirty="0" smtClean="0"/>
              <a:t>nu se încheie la sfârşitul instrucţiei şcolare, ci constituie un proces permanent, care acoperă întreaga existenţă. </a:t>
            </a:r>
            <a:endParaRPr lang="ro-RO" dirty="0" smtClean="0"/>
          </a:p>
          <a:p>
            <a:pPr lvl="1"/>
            <a:r>
              <a:rPr lang="ro-RO" dirty="0" smtClean="0"/>
              <a:t>Se </a:t>
            </a:r>
            <a:r>
              <a:rPr lang="ro-RO" dirty="0" smtClean="0"/>
              <a:t>referă la educaţie, în totalitatea ei: preprimară, primară, secundară, inclusiv educaţia adulţilor. </a:t>
            </a:r>
            <a:endParaRPr lang="ro-RO" dirty="0" smtClean="0"/>
          </a:p>
          <a:p>
            <a:pPr lvl="1"/>
            <a:r>
              <a:rPr lang="ro-RO" dirty="0" smtClean="0"/>
              <a:t>Include </a:t>
            </a:r>
            <a:r>
              <a:rPr lang="ro-RO" dirty="0" smtClean="0"/>
              <a:t>în acelaşi timp modalităţile formale şi nonformale ale educaţiei. </a:t>
            </a:r>
            <a:endParaRPr lang="ro-RO" smtClean="0"/>
          </a:p>
          <a:p>
            <a:pPr lvl="1"/>
            <a:r>
              <a:rPr lang="ro-RO" smtClean="0"/>
              <a:t>Ea </a:t>
            </a:r>
            <a:r>
              <a:rPr lang="ro-RO" dirty="0" smtClean="0"/>
              <a:t>reprezintă juxtapunerea a două părţi separate: instituţia şcolară şi educaţia adulţilor.</a:t>
            </a:r>
          </a:p>
          <a:p>
            <a:endParaRPr lang="ro-RO" dirty="0" smtClean="0"/>
          </a:p>
          <a:p>
            <a:endParaRPr lang="ro-RO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1927</TotalTime>
  <Words>731</Words>
  <Application>Microsoft Office PowerPoint</Application>
  <PresentationFormat>On-screen Show (4:3)</PresentationFormat>
  <Paragraphs>42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Flow</vt:lpstr>
      <vt:lpstr> TEMA 3 FORMELE  EDUCAȚIEI</vt:lpstr>
      <vt:lpstr>3.1. Educația formală (educația instituționalizată de tip școlar)</vt:lpstr>
      <vt:lpstr>3.2. Educația nonformală (educația instituționalizată de tip nonșcolar)</vt:lpstr>
      <vt:lpstr>Slide 4</vt:lpstr>
      <vt:lpstr>3.3. Educația informală (educația neinstituționalizată)</vt:lpstr>
      <vt:lpstr>Slide 6</vt:lpstr>
      <vt:lpstr>Educația permanentă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1 PEDAGOGIA – ŞTIINŢA EDUCAŢIEI</dc:title>
  <dc:creator>Liana</dc:creator>
  <cp:lastModifiedBy>Liana</cp:lastModifiedBy>
  <cp:revision>90</cp:revision>
  <dcterms:created xsi:type="dcterms:W3CDTF">2013-10-19T18:10:37Z</dcterms:created>
  <dcterms:modified xsi:type="dcterms:W3CDTF">2018-03-28T11:55:20Z</dcterms:modified>
</cp:coreProperties>
</file>