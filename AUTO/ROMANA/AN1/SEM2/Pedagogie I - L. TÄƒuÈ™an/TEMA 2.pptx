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2" r:id="rId3"/>
    <p:sldId id="263" r:id="rId4"/>
    <p:sldId id="264" r:id="rId5"/>
    <p:sldId id="265" r:id="rId6"/>
    <p:sldId id="266" r:id="rId7"/>
    <p:sldId id="267" r:id="rId8"/>
    <p:sldId id="268" r:id="rId9"/>
    <p:sldId id="269" r:id="rId10"/>
    <p:sldId id="272" r:id="rId11"/>
    <p:sldId id="273" r:id="rId12"/>
    <p:sldId id="282" r:id="rId13"/>
    <p:sldId id="274" r:id="rId14"/>
    <p:sldId id="275" r:id="rId15"/>
    <p:sldId id="276" r:id="rId16"/>
    <p:sldId id="277" r:id="rId17"/>
    <p:sldId id="278" r:id="rId18"/>
    <p:sldId id="279" r:id="rId19"/>
    <p:sldId id="280" r:id="rId20"/>
    <p:sldId id="281" r:id="rId21"/>
    <p:sldId id="284" r:id="rId22"/>
    <p:sldId id="285"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5BE5D7F4-D396-47F6-B0C4-CE4EBB6224A2}" type="datetimeFigureOut">
              <a:rPr lang="en-US" smtClean="0"/>
              <a:pPr/>
              <a:t>11/3/2017</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60B5A1C9-05F3-4A51-A179-DEED95BCC36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E5D7F4-D396-47F6-B0C4-CE4EBB6224A2}" type="datetimeFigureOut">
              <a:rPr lang="en-US" smtClean="0"/>
              <a:pPr/>
              <a:t>11/3/2017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B5A1C9-05F3-4A51-A179-DEED95BCC36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BE5D7F4-D396-47F6-B0C4-CE4EBB6224A2}" type="datetimeFigureOut">
              <a:rPr lang="en-US" smtClean="0"/>
              <a:pPr/>
              <a:t>11/3/2017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B5A1C9-05F3-4A51-A179-DEED95BCC36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E5D7F4-D396-47F6-B0C4-CE4EBB6224A2}" type="datetimeFigureOut">
              <a:rPr lang="en-US" smtClean="0"/>
              <a:pPr/>
              <a:t>11/3/2017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B5A1C9-05F3-4A51-A179-DEED95BCC36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BE5D7F4-D396-47F6-B0C4-CE4EBB6224A2}" type="datetimeFigureOut">
              <a:rPr lang="en-US" smtClean="0"/>
              <a:pPr/>
              <a:t>11/3/2017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0B5A1C9-05F3-4A51-A179-DEED95BCC36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BE5D7F4-D396-47F6-B0C4-CE4EBB6224A2}" type="datetimeFigureOut">
              <a:rPr lang="en-US" smtClean="0"/>
              <a:pPr/>
              <a:t>11/3/2017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B5A1C9-05F3-4A51-A179-DEED95BCC36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E5D7F4-D396-47F6-B0C4-CE4EBB6224A2}" type="datetimeFigureOut">
              <a:rPr lang="en-US" smtClean="0"/>
              <a:pPr/>
              <a:t>11/3/2017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0B5A1C9-05F3-4A51-A179-DEED95BCC36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E5D7F4-D396-47F6-B0C4-CE4EBB6224A2}" type="datetimeFigureOut">
              <a:rPr lang="en-US" smtClean="0"/>
              <a:pPr/>
              <a:t>11/3/2017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B5A1C9-05F3-4A51-A179-DEED95BCC36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BE5D7F4-D396-47F6-B0C4-CE4EBB6224A2}" type="datetimeFigureOut">
              <a:rPr lang="en-US" smtClean="0"/>
              <a:pPr/>
              <a:t>11/3/2017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60B5A1C9-05F3-4A51-A179-DEED95BCC365}"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E5D7F4-D396-47F6-B0C4-CE4EBB6224A2}" type="datetimeFigureOut">
              <a:rPr lang="en-US" smtClean="0"/>
              <a:pPr/>
              <a:t>11/3/2017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B5A1C9-05F3-4A51-A179-DEED95BCC36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E5D7F4-D396-47F6-B0C4-CE4EBB6224A2}" type="datetimeFigureOut">
              <a:rPr lang="en-US" smtClean="0"/>
              <a:pPr/>
              <a:t>11/3/2017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B5A1C9-05F3-4A51-A179-DEED95BCC36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BE5D7F4-D396-47F6-B0C4-CE4EBB6224A2}" type="datetimeFigureOut">
              <a:rPr lang="en-US" smtClean="0"/>
              <a:pPr/>
              <a:t>11/3/2017</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60B5A1C9-05F3-4A51-A179-DEED95BCC365}"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ro-RO" sz="2800" dirty="0" smtClean="0"/>
              <a:t> TEMA 2</a:t>
            </a:r>
            <a:br>
              <a:rPr lang="ro-RO" sz="2800" dirty="0" smtClean="0"/>
            </a:br>
            <a:r>
              <a:rPr lang="ro-RO" sz="2800" dirty="0" smtClean="0"/>
              <a:t>EDUCAȚIA – OBIECT DE STUDIU AL PEDAGOGIEI</a:t>
            </a:r>
            <a:endParaRPr lang="en-US" sz="2800" dirty="0"/>
          </a:p>
        </p:txBody>
      </p:sp>
      <p:sp>
        <p:nvSpPr>
          <p:cNvPr id="3" name="Subtitle 2"/>
          <p:cNvSpPr>
            <a:spLocks noGrp="1"/>
          </p:cNvSpPr>
          <p:nvPr>
            <p:ph type="subTitle" idx="1"/>
          </p:nvPr>
        </p:nvSpPr>
        <p:spPr/>
        <p:txBody>
          <a:bodyPr>
            <a:normAutofit/>
          </a:bodyPr>
          <a:lstStyle/>
          <a:p>
            <a:endParaRPr lang="ro-RO" sz="2000" dirty="0" smtClean="0"/>
          </a:p>
          <a:p>
            <a:endParaRPr lang="ro-RO" sz="2000" dirty="0" smtClean="0"/>
          </a:p>
          <a:p>
            <a:r>
              <a:rPr lang="ro-RO" dirty="0" smtClean="0"/>
              <a:t>Conf. univ. dr.  </a:t>
            </a:r>
            <a:r>
              <a:rPr lang="ro-RO" smtClean="0"/>
              <a:t>LIANA TĂUȘAN</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53210"/>
          </a:xfrm>
        </p:spPr>
        <p:txBody>
          <a:bodyPr>
            <a:normAutofit/>
          </a:bodyPr>
          <a:lstStyle/>
          <a:p>
            <a:r>
              <a:rPr lang="ro-RO" sz="2000" b="1" dirty="0" smtClean="0"/>
              <a:t>2.1. Definirea educației</a:t>
            </a:r>
            <a:endParaRPr lang="en-US" sz="2000" b="1" dirty="0"/>
          </a:p>
        </p:txBody>
      </p:sp>
      <p:sp>
        <p:nvSpPr>
          <p:cNvPr id="3" name="Content Placeholder 2"/>
          <p:cNvSpPr>
            <a:spLocks noGrp="1"/>
          </p:cNvSpPr>
          <p:nvPr>
            <p:ph idx="1"/>
          </p:nvPr>
        </p:nvSpPr>
        <p:spPr>
          <a:xfrm>
            <a:off x="457200" y="1428736"/>
            <a:ext cx="8229600" cy="4895864"/>
          </a:xfrm>
        </p:spPr>
        <p:txBody>
          <a:bodyPr>
            <a:normAutofit/>
          </a:bodyPr>
          <a:lstStyle/>
          <a:p>
            <a:r>
              <a:rPr lang="ro-RO" sz="2400" dirty="0" smtClean="0"/>
              <a:t>Educaţia:</a:t>
            </a:r>
          </a:p>
          <a:p>
            <a:pPr lvl="1">
              <a:buFont typeface="Wingdings" pitchFamily="2" charset="2"/>
              <a:buChar char="Ø"/>
            </a:pPr>
            <a:r>
              <a:rPr lang="ro-RO" dirty="0" smtClean="0"/>
              <a:t>este un fenomen social care a însoţit istoria omenirii de la începuturile ei şi va continua să existe de-a lungul întregii evoluţii a acesteia</a:t>
            </a:r>
          </a:p>
          <a:p>
            <a:pPr lvl="1">
              <a:buFont typeface="Wingdings" pitchFamily="2" charset="2"/>
              <a:buChar char="Ø"/>
            </a:pPr>
            <a:r>
              <a:rPr lang="ro-RO" dirty="0" smtClean="0"/>
              <a:t>conservă şi transmite experienţa de cunoaştere teoretică şi practică, valorile culturii şi civilizaţiei de la o generaţie la alta. </a:t>
            </a:r>
          </a:p>
          <a:p>
            <a:pPr lvl="1">
              <a:buFont typeface="Wingdings" pitchFamily="2" charset="2"/>
              <a:buChar char="Ø"/>
            </a:pPr>
            <a:r>
              <a:rPr lang="ro-RO" dirty="0" smtClean="0"/>
              <a:t>obiectul de studiu al pedagogiei</a:t>
            </a:r>
            <a:endParaRPr lang="en-US" b="1" dirty="0" smtClean="0"/>
          </a:p>
          <a:p>
            <a:pPr lvl="1">
              <a:buNone/>
            </a:pP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224582"/>
          </a:xfrm>
        </p:spPr>
        <p:txBody>
          <a:bodyPr>
            <a:normAutofit fontScale="90000"/>
          </a:bodyPr>
          <a:lstStyle/>
          <a:p>
            <a:endParaRPr lang="en-US" dirty="0"/>
          </a:p>
        </p:txBody>
      </p:sp>
      <p:sp>
        <p:nvSpPr>
          <p:cNvPr id="3" name="Content Placeholder 2"/>
          <p:cNvSpPr>
            <a:spLocks noGrp="1"/>
          </p:cNvSpPr>
          <p:nvPr>
            <p:ph idx="1"/>
          </p:nvPr>
        </p:nvSpPr>
        <p:spPr>
          <a:xfrm>
            <a:off x="457200" y="1071546"/>
            <a:ext cx="8229600" cy="5253054"/>
          </a:xfrm>
        </p:spPr>
        <p:txBody>
          <a:bodyPr>
            <a:normAutofit/>
          </a:bodyPr>
          <a:lstStyle/>
          <a:p>
            <a:endParaRPr lang="ro-RO" sz="2400" dirty="0" smtClean="0"/>
          </a:p>
          <a:p>
            <a:r>
              <a:rPr lang="ro-RO" sz="2400" dirty="0" smtClean="0"/>
              <a:t>Din punct de vedere etimologic există două etimologii de bază pentru termenul </a:t>
            </a:r>
            <a:r>
              <a:rPr lang="ro-RO" sz="2400" i="1" dirty="0" smtClean="0"/>
              <a:t>educaţie</a:t>
            </a:r>
            <a:r>
              <a:rPr lang="ro-RO" sz="2400" dirty="0" smtClean="0"/>
              <a:t>:</a:t>
            </a:r>
            <a:endParaRPr lang="en-US" sz="2400" b="1" dirty="0" smtClean="0"/>
          </a:p>
          <a:p>
            <a:pPr lvl="1">
              <a:buFont typeface="Wingdings" pitchFamily="2" charset="2"/>
              <a:buChar char="Ø"/>
            </a:pPr>
            <a:r>
              <a:rPr lang="ro-RO" sz="2200" dirty="0" smtClean="0"/>
              <a:t>educo-educare: a îngriji, a hrăni, a creşte, cu referinţă pentru întreaga lume animală, chiar şi pentru lumea plantelor.</a:t>
            </a:r>
            <a:endParaRPr lang="en-US" sz="2200" b="1" dirty="0" smtClean="0"/>
          </a:p>
          <a:p>
            <a:pPr lvl="1">
              <a:buFont typeface="Wingdings" pitchFamily="2" charset="2"/>
              <a:buChar char="Ø"/>
            </a:pPr>
            <a:r>
              <a:rPr lang="ro-RO" sz="2200" dirty="0" smtClean="0"/>
              <a:t>educo-educere: a crește, a forma, a instrui, a conduce, a scoate ceva dintr-o stare latentă, naturală, a transforma dintr-o stare naturală într-o stare socială </a:t>
            </a:r>
            <a:endParaRPr lang="en-US" sz="2200" b="1" dirty="0" smtClean="0"/>
          </a:p>
          <a:p>
            <a:r>
              <a:rPr lang="ro-RO" sz="2400" dirty="0" smtClean="0"/>
              <a:t>Termenul </a:t>
            </a:r>
            <a:r>
              <a:rPr lang="ro-RO" sz="2400" i="1" dirty="0" smtClean="0"/>
              <a:t>educaţie</a:t>
            </a:r>
            <a:r>
              <a:rPr lang="ro-RO" sz="2400" dirty="0" smtClean="0"/>
              <a:t> a apărut foarte târziu în vocabular (în Franţa la sfârşitul sec. XVI, iar apoi s-a extins în Europa)</a:t>
            </a:r>
            <a:endParaRPr lang="en-US" sz="24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367458"/>
          </a:xfrm>
        </p:spPr>
        <p:txBody>
          <a:bodyPr>
            <a:normAutofit fontScale="90000"/>
          </a:bodyPr>
          <a:lstStyle/>
          <a:p>
            <a:endParaRPr lang="en-US" dirty="0"/>
          </a:p>
        </p:txBody>
      </p:sp>
      <p:sp>
        <p:nvSpPr>
          <p:cNvPr id="3" name="Content Placeholder 2"/>
          <p:cNvSpPr>
            <a:spLocks noGrp="1"/>
          </p:cNvSpPr>
          <p:nvPr>
            <p:ph idx="1"/>
          </p:nvPr>
        </p:nvSpPr>
        <p:spPr>
          <a:xfrm>
            <a:off x="457200" y="1142984"/>
            <a:ext cx="8229600" cy="5181616"/>
          </a:xfrm>
        </p:spPr>
        <p:txBody>
          <a:bodyPr>
            <a:normAutofit/>
          </a:bodyPr>
          <a:lstStyle/>
          <a:p>
            <a:r>
              <a:rPr lang="ro-RO" sz="2400" dirty="0" smtClean="0"/>
              <a:t>Încercări de a defini educația (educația a fost înțeleasă, definită de-a lungul timpului în mod diferit):</a:t>
            </a:r>
          </a:p>
          <a:p>
            <a:pPr lvl="1">
              <a:buFont typeface="Wingdings" pitchFamily="2" charset="2"/>
              <a:buChar char="Ø"/>
            </a:pPr>
            <a:r>
              <a:rPr lang="ro-RO" sz="2200" dirty="0" smtClean="0"/>
              <a:t>Încercări empirice până în sec. XVII: J. A. Comenius – prima definiție coerentă, sistematică a educației;</a:t>
            </a:r>
          </a:p>
          <a:p>
            <a:pPr lvl="1">
              <a:buFont typeface="Wingdings" pitchFamily="2" charset="2"/>
              <a:buChar char="Ø"/>
            </a:pPr>
            <a:r>
              <a:rPr lang="ro-RO" sz="2200" i="1" dirty="0" smtClean="0"/>
              <a:t>Paradigma naturalistă</a:t>
            </a:r>
            <a:r>
              <a:rPr lang="ro-RO" sz="2200" dirty="0" smtClean="0"/>
              <a:t>: sistem de referinţă - natura şi principiu pedagogic - conformitatea cu natura. </a:t>
            </a:r>
          </a:p>
          <a:p>
            <a:pPr lvl="1">
              <a:buFont typeface="Wingdings" pitchFamily="2" charset="2"/>
              <a:buChar char="Ø"/>
            </a:pPr>
            <a:r>
              <a:rPr lang="ro-RO" sz="2200" dirty="0" smtClean="0"/>
              <a:t>natura reală, exterioară omului, iar principiul conformităţii cu natura cere o educaţie care să ţină seama de regularităţile şi legile acestei naturi exterioare;</a:t>
            </a:r>
          </a:p>
          <a:p>
            <a:pPr lvl="1">
              <a:buFont typeface="Wingdings" pitchFamily="2" charset="2"/>
              <a:buChar char="Ø"/>
            </a:pPr>
            <a:r>
              <a:rPr lang="ro-RO" sz="2200" dirty="0" smtClean="0"/>
              <a:t>natura umană: introduce o anumită periodizare a vârstelor şi o specificitate a educaţiei pentru fiecare vârstă</a:t>
            </a:r>
            <a:endParaRPr lang="en-US" sz="2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296020"/>
          </a:xfrm>
        </p:spPr>
        <p:txBody>
          <a:bodyPr>
            <a:normAutofit fontScale="90000"/>
          </a:bodyPr>
          <a:lstStyle/>
          <a:p>
            <a:endParaRPr lang="en-US" dirty="0"/>
          </a:p>
        </p:txBody>
      </p:sp>
      <p:sp>
        <p:nvSpPr>
          <p:cNvPr id="3" name="Content Placeholder 2"/>
          <p:cNvSpPr>
            <a:spLocks noGrp="1"/>
          </p:cNvSpPr>
          <p:nvPr>
            <p:ph idx="1"/>
          </p:nvPr>
        </p:nvSpPr>
        <p:spPr>
          <a:xfrm>
            <a:off x="457200" y="1285860"/>
            <a:ext cx="8229600" cy="5038740"/>
          </a:xfrm>
        </p:spPr>
        <p:txBody>
          <a:bodyPr>
            <a:normAutofit lnSpcReduction="10000"/>
          </a:bodyPr>
          <a:lstStyle/>
          <a:p>
            <a:pPr lvl="1">
              <a:buFont typeface="Wingdings" pitchFamily="2" charset="2"/>
              <a:buChar char="Ø"/>
            </a:pPr>
            <a:r>
              <a:rPr lang="ro-RO" i="1" dirty="0" smtClean="0"/>
              <a:t>Paradigma psihologică</a:t>
            </a:r>
            <a:r>
              <a:rPr lang="ro-RO" dirty="0" smtClean="0"/>
              <a:t>: definirea educaţiei în raport cu datele psihologice ale vârstei copilului; </a:t>
            </a:r>
          </a:p>
          <a:p>
            <a:pPr lvl="1">
              <a:buFont typeface="Wingdings" pitchFamily="2" charset="2"/>
              <a:buChar char="Ø"/>
            </a:pPr>
            <a:r>
              <a:rPr lang="ro-RO" dirty="0" smtClean="0"/>
              <a:t>sistemul de referinţă: caracteristicile de vârstă şi individuale ale copilului. </a:t>
            </a:r>
          </a:p>
          <a:p>
            <a:pPr lvl="1">
              <a:buFont typeface="Wingdings" pitchFamily="2" charset="2"/>
              <a:buChar char="Ø"/>
            </a:pPr>
            <a:r>
              <a:rPr lang="ro-RO" dirty="0" smtClean="0"/>
              <a:t>Reprezentant: psihologul elveţian E. Claparede.</a:t>
            </a:r>
          </a:p>
          <a:p>
            <a:pPr lvl="1">
              <a:buFont typeface="Wingdings" pitchFamily="2" charset="2"/>
              <a:buChar char="Ø"/>
            </a:pPr>
            <a:endParaRPr lang="ro-RO" dirty="0" smtClean="0"/>
          </a:p>
          <a:p>
            <a:pPr lvl="1">
              <a:buFont typeface="Wingdings" pitchFamily="2" charset="2"/>
              <a:buChar char="Ø"/>
            </a:pPr>
            <a:r>
              <a:rPr lang="ro-RO" i="1" dirty="0" smtClean="0"/>
              <a:t>Paradigma sociologică: </a:t>
            </a:r>
            <a:r>
              <a:rPr lang="ro-RO" dirty="0" smtClean="0"/>
              <a:t>educaţia reprezintă un fapt social, acţiunea generaţiei adulte asupra generaţiei tinere. </a:t>
            </a:r>
          </a:p>
          <a:p>
            <a:pPr lvl="1">
              <a:buFont typeface="Wingdings" pitchFamily="2" charset="2"/>
              <a:buChar char="Ø"/>
            </a:pPr>
            <a:r>
              <a:rPr lang="ro-RO" dirty="0" smtClean="0"/>
              <a:t>Faptele sociale sunt exterioare nouă, sunt coercitive în raport cu noi, fiind mult mai importante decât dimensiunea personală</a:t>
            </a:r>
          </a:p>
          <a:p>
            <a:pPr lvl="1">
              <a:buFont typeface="Wingdings" pitchFamily="2" charset="2"/>
              <a:buChar char="Ø"/>
            </a:pPr>
            <a:r>
              <a:rPr lang="ro-RO" dirty="0" smtClean="0"/>
              <a:t>Reprezentant: sociologul E. Durkheim</a:t>
            </a:r>
          </a:p>
          <a:p>
            <a:pPr lvl="1">
              <a:buFont typeface="Wingdings" pitchFamily="2" charset="2"/>
              <a:buChar char="Ø"/>
            </a:pPr>
            <a:r>
              <a:rPr lang="ro-RO" dirty="0" smtClean="0"/>
              <a:t>Deficiența acestor paradigme: unilateralitatea lor</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296020"/>
          </a:xfrm>
        </p:spPr>
        <p:txBody>
          <a:bodyPr>
            <a:normAutofit fontScale="90000"/>
          </a:bodyPr>
          <a:lstStyle/>
          <a:p>
            <a:endParaRPr lang="en-US" dirty="0"/>
          </a:p>
        </p:txBody>
      </p:sp>
      <p:sp>
        <p:nvSpPr>
          <p:cNvPr id="3" name="Content Placeholder 2"/>
          <p:cNvSpPr>
            <a:spLocks noGrp="1"/>
          </p:cNvSpPr>
          <p:nvPr>
            <p:ph idx="1"/>
          </p:nvPr>
        </p:nvSpPr>
        <p:spPr>
          <a:xfrm>
            <a:off x="457200" y="1071546"/>
            <a:ext cx="8229600" cy="5253054"/>
          </a:xfrm>
        </p:spPr>
        <p:txBody>
          <a:bodyPr>
            <a:normAutofit/>
          </a:bodyPr>
          <a:lstStyle/>
          <a:p>
            <a:r>
              <a:rPr lang="ro-RO" sz="2400" dirty="0" smtClean="0"/>
              <a:t>Faptul că educaţia a fost înţeleasă de-a lungul timpului în mod diferit, îl putem demonstra prin exemplificarea mai multor definiţii, care au în comun faptul că toate încearcă să surprindă </a:t>
            </a:r>
            <a:r>
              <a:rPr lang="ro-RO" sz="2400" b="1" dirty="0" smtClean="0"/>
              <a:t>esenţa fenomenului educaţional</a:t>
            </a:r>
            <a:r>
              <a:rPr lang="ro-RO" sz="2400" dirty="0" smtClean="0"/>
              <a:t>:</a:t>
            </a:r>
          </a:p>
          <a:p>
            <a:pPr>
              <a:buNone/>
            </a:pPr>
            <a:endParaRPr lang="en-US" sz="2000" b="1" dirty="0" smtClean="0"/>
          </a:p>
          <a:p>
            <a:pPr lvl="0"/>
            <a:r>
              <a:rPr lang="ro-RO" sz="2400" dirty="0" smtClean="0"/>
              <a:t>Educaţia are drept scop să dea sufletului şi corpului întreaga frumuseţe şi perfecţiune de care sunt susceptibile. (Platon)</a:t>
            </a:r>
            <a:endParaRPr lang="en-US" sz="2400" b="1" dirty="0" smtClean="0"/>
          </a:p>
          <a:p>
            <a:pPr lvl="0"/>
            <a:r>
              <a:rPr lang="ro-RO" sz="2400" dirty="0" smtClean="0"/>
              <a:t>Educaţia urmăreşte realizarea întregii perfecţiuni de care natura omului este capabilă.(Kant)</a:t>
            </a:r>
            <a:endParaRPr lang="en-US" sz="2400" b="1" dirty="0" smtClean="0"/>
          </a:p>
          <a:p>
            <a:pPr lvl="0"/>
            <a:r>
              <a:rPr lang="ro-RO" sz="2400" dirty="0" smtClean="0"/>
              <a:t>Educaţia este dezvoltarea naturală, progresivă şi sistematică a tuturor facultăţilor. (Pestalozzi)</a:t>
            </a:r>
            <a:endParaRPr lang="en-US" sz="2400" b="1" dirty="0" smtClean="0"/>
          </a:p>
          <a:p>
            <a:pPr lvl="0"/>
            <a:r>
              <a:rPr lang="ro-RO" sz="2400" dirty="0" smtClean="0"/>
              <a:t>Educaţia este o operaţie prin care un spirit formează un alt spirit şi o inimă formează altă inimă. (J. Simon)</a:t>
            </a:r>
            <a:endParaRPr lang="en-US" sz="2400" b="1" dirty="0" smtClean="0"/>
          </a:p>
          <a:p>
            <a:endParaRPr lang="en-US" sz="20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a:r>
              <a:rPr lang="ro-RO" sz="2400" dirty="0" smtClean="0"/>
              <a:t>Formarea unui suflet sănătos într-un corp sănătos, iată care este scopul educaţiei. (J. Locke)</a:t>
            </a:r>
            <a:endParaRPr lang="en-US" sz="2400" b="1" dirty="0" smtClean="0"/>
          </a:p>
          <a:p>
            <a:pPr lvl="0"/>
            <a:r>
              <a:rPr lang="ro-RO" sz="2400" dirty="0" smtClean="0"/>
              <a:t>Rolul educaţiei este pregătirea pentru o viaţă completă. (Spencer)</a:t>
            </a:r>
            <a:endParaRPr lang="en-US" sz="2400" b="1" dirty="0" smtClean="0"/>
          </a:p>
          <a:p>
            <a:pPr lvl="0"/>
            <a:r>
              <a:rPr lang="ro-RO" sz="2400" dirty="0" smtClean="0"/>
              <a:t>Educaţia nu înseamnă pregătirea pentru viaţă, e viaţa însăşi. (J. Dewey)</a:t>
            </a:r>
            <a:endParaRPr lang="en-US" sz="2400" b="1" dirty="0" smtClean="0"/>
          </a:p>
          <a:p>
            <a:pPr lvl="0"/>
            <a:r>
              <a:rPr lang="ro-RO" sz="2400" dirty="0" smtClean="0"/>
              <a:t>Educaţia constă într-o acţiune sistematică, exercitată de adulţi mai ales asupra copiilor şi adolescenţilor, cu scopul de a-i pregăti pentru viaţa pe care vor trebui şi vor putea s-o trăiască într-un mediu dat. (E. Planchard)</a:t>
            </a:r>
            <a:endParaRPr lang="en-US" sz="2400" b="1" dirty="0" smtClean="0"/>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438896"/>
          </a:xfrm>
        </p:spPr>
        <p:txBody>
          <a:bodyPr>
            <a:normAutofit fontScale="90000"/>
          </a:bodyPr>
          <a:lstStyle/>
          <a:p>
            <a:endParaRPr lang="en-US" dirty="0"/>
          </a:p>
        </p:txBody>
      </p:sp>
      <p:sp>
        <p:nvSpPr>
          <p:cNvPr id="3" name="Content Placeholder 2"/>
          <p:cNvSpPr>
            <a:spLocks noGrp="1"/>
          </p:cNvSpPr>
          <p:nvPr>
            <p:ph idx="1"/>
          </p:nvPr>
        </p:nvSpPr>
        <p:spPr>
          <a:xfrm>
            <a:off x="457200" y="1285860"/>
            <a:ext cx="8229600" cy="5038740"/>
          </a:xfrm>
        </p:spPr>
        <p:txBody>
          <a:bodyPr>
            <a:normAutofit/>
          </a:bodyPr>
          <a:lstStyle/>
          <a:p>
            <a:r>
              <a:rPr lang="ro-RO" sz="2400" dirty="0" smtClean="0"/>
              <a:t>Definirea educaţiei se poate realiza din </a:t>
            </a:r>
            <a:r>
              <a:rPr lang="ro-RO" sz="2400" i="1" dirty="0" smtClean="0"/>
              <a:t>unghiuri de vedere diferite:</a:t>
            </a:r>
            <a:endParaRPr lang="en-US" sz="2400" b="1" i="1" dirty="0" smtClean="0"/>
          </a:p>
          <a:p>
            <a:pPr lvl="1">
              <a:buFont typeface="Wingdings" pitchFamily="2" charset="2"/>
              <a:buChar char="Ø"/>
            </a:pPr>
            <a:r>
              <a:rPr lang="ro-RO" sz="2200" dirty="0" smtClean="0"/>
              <a:t>educaţia ca proces (acţiunea de transformare a fiinţei umane, pe termen lung, în perspectiva unor finalităţi).</a:t>
            </a:r>
            <a:endParaRPr lang="en-US" sz="2200" b="1" dirty="0" smtClean="0"/>
          </a:p>
          <a:p>
            <a:pPr lvl="1">
              <a:buFont typeface="Wingdings" pitchFamily="2" charset="2"/>
              <a:buChar char="Ø"/>
            </a:pPr>
            <a:r>
              <a:rPr lang="ro-RO" sz="2200" dirty="0" smtClean="0"/>
              <a:t>educaţia ca acţiune de conducere (dirijarea evoluţiei individului spre stadiul de persoană autonomă şi responsabilă).</a:t>
            </a:r>
            <a:endParaRPr lang="en-US" sz="2200" b="1" dirty="0" smtClean="0"/>
          </a:p>
          <a:p>
            <a:pPr lvl="1">
              <a:buFont typeface="Wingdings" pitchFamily="2" charset="2"/>
              <a:buChar char="Ø"/>
            </a:pPr>
            <a:r>
              <a:rPr lang="ro-RO" sz="2200" dirty="0" smtClean="0"/>
              <a:t>educaţia ca acţiune socială (activitate planificată ce se realizează pe baza unui proiect social).</a:t>
            </a:r>
            <a:endParaRPr lang="en-US" sz="2200" b="1" dirty="0" smtClean="0"/>
          </a:p>
          <a:p>
            <a:pPr lvl="1">
              <a:buFont typeface="Wingdings" pitchFamily="2" charset="2"/>
              <a:buChar char="Ø"/>
            </a:pPr>
            <a:r>
              <a:rPr lang="ro-RO" sz="2200" dirty="0" smtClean="0"/>
              <a:t>educaţia ca interrelaţie umană (presupune un efort comun din partea educatorului şi educatului).</a:t>
            </a:r>
            <a:endParaRPr lang="en-US" sz="2200" b="1" dirty="0" smtClean="0"/>
          </a:p>
          <a:p>
            <a:pPr lvl="1">
              <a:buFont typeface="Wingdings" pitchFamily="2" charset="2"/>
              <a:buChar char="Ø"/>
            </a:pPr>
            <a:r>
              <a:rPr lang="ro-RO" sz="2200" dirty="0" smtClean="0"/>
              <a:t>educaţia ca ansamblu de influențe (ansamblu de acţiuni sistematice sau reprezentative, intenţionate sau neintenţionate, care contribuie la formarea personalităţii individului).</a:t>
            </a:r>
            <a:endParaRPr lang="en-US" sz="2200" b="1" dirty="0" smtClean="0"/>
          </a:p>
          <a:p>
            <a:endParaRPr lang="en-US" sz="2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ro-RO" dirty="0" smtClean="0"/>
              <a:t>Educaţia este o activitate socială complexă, realizată printr-un ansamblu de acţiuni exercitate în mod conştient, sistematic, organizat de către educator (subiect) asupra educaţilor (obiect), în vederea transformării acestora în personalități corespunzătoare atât cerinţelor sociale prezente şi de perspectivă, cât şi particularităţilor individuale.</a:t>
            </a:r>
            <a:endParaRPr lang="en-US" b="1" dirty="0" smtClean="0"/>
          </a:p>
          <a:p>
            <a:pPr>
              <a:buNone/>
            </a:pPr>
            <a:endParaRPr lang="en-US" b="1"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96086"/>
          </a:xfrm>
        </p:spPr>
        <p:txBody>
          <a:bodyPr>
            <a:normAutofit/>
          </a:bodyPr>
          <a:lstStyle/>
          <a:p>
            <a:r>
              <a:rPr lang="ro-RO" sz="2000" b="1" dirty="0" smtClean="0"/>
              <a:t>2.2. Funcțiile educației</a:t>
            </a:r>
            <a:endParaRPr lang="en-US" sz="2000" b="1" dirty="0"/>
          </a:p>
        </p:txBody>
      </p:sp>
      <p:sp>
        <p:nvSpPr>
          <p:cNvPr id="3" name="Content Placeholder 2"/>
          <p:cNvSpPr>
            <a:spLocks noGrp="1"/>
          </p:cNvSpPr>
          <p:nvPr>
            <p:ph idx="1"/>
          </p:nvPr>
        </p:nvSpPr>
        <p:spPr>
          <a:xfrm>
            <a:off x="457200" y="1571612"/>
            <a:ext cx="8229600" cy="4752988"/>
          </a:xfrm>
        </p:spPr>
        <p:txBody>
          <a:bodyPr/>
          <a:lstStyle/>
          <a:p>
            <a:r>
              <a:rPr lang="ro-RO" dirty="0" smtClean="0"/>
              <a:t>Funcţia </a:t>
            </a:r>
            <a:r>
              <a:rPr lang="ro-RO" i="1" dirty="0" smtClean="0"/>
              <a:t>cognitivă</a:t>
            </a:r>
            <a:endParaRPr lang="en-US" dirty="0" smtClean="0"/>
          </a:p>
          <a:p>
            <a:r>
              <a:rPr lang="ro-RO" dirty="0" smtClean="0"/>
              <a:t>Funcţia </a:t>
            </a:r>
            <a:r>
              <a:rPr lang="ro-RO" i="1" dirty="0" smtClean="0"/>
              <a:t>culturală</a:t>
            </a:r>
            <a:r>
              <a:rPr lang="ro-RO" dirty="0" smtClean="0"/>
              <a:t> </a:t>
            </a:r>
            <a:endParaRPr lang="en-US" dirty="0" smtClean="0"/>
          </a:p>
          <a:p>
            <a:r>
              <a:rPr lang="ro-RO" dirty="0" smtClean="0"/>
              <a:t> Funcţia </a:t>
            </a:r>
            <a:r>
              <a:rPr lang="ro-RO" i="1" dirty="0" smtClean="0"/>
              <a:t>de socializare</a:t>
            </a:r>
            <a:endParaRPr lang="en-US" dirty="0" smtClean="0"/>
          </a:p>
          <a:p>
            <a:r>
              <a:rPr lang="ro-RO" dirty="0" smtClean="0"/>
              <a:t> Funcţia </a:t>
            </a:r>
            <a:r>
              <a:rPr lang="ro-RO" i="1" dirty="0" smtClean="0"/>
              <a:t>economică</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224582"/>
          </a:xfrm>
        </p:spPr>
        <p:txBody>
          <a:bodyPr>
            <a:normAutofit fontScale="90000"/>
          </a:bodyPr>
          <a:lstStyle/>
          <a:p>
            <a:endParaRPr lang="en-US" dirty="0"/>
          </a:p>
        </p:txBody>
      </p:sp>
      <p:sp>
        <p:nvSpPr>
          <p:cNvPr id="3" name="Content Placeholder 2"/>
          <p:cNvSpPr>
            <a:spLocks noGrp="1"/>
          </p:cNvSpPr>
          <p:nvPr>
            <p:ph idx="1"/>
          </p:nvPr>
        </p:nvSpPr>
        <p:spPr>
          <a:xfrm>
            <a:off x="457200" y="1000108"/>
            <a:ext cx="8229600" cy="5643602"/>
          </a:xfrm>
        </p:spPr>
        <p:txBody>
          <a:bodyPr>
            <a:normAutofit fontScale="92500"/>
          </a:bodyPr>
          <a:lstStyle/>
          <a:p>
            <a:r>
              <a:rPr lang="ro-RO" sz="2200" b="1" dirty="0" smtClean="0"/>
              <a:t>Funcția cognitivă:</a:t>
            </a:r>
          </a:p>
          <a:p>
            <a:r>
              <a:rPr lang="ro-RO" sz="2200" dirty="0" smtClean="0"/>
              <a:t>Este considerată ca fiind cea mai veche dintre funcţiile educaţiei, deoarece educaţia a apărut din nevoia de a transmite şi de a stoca o serie de experienţe ale comunităţii. </a:t>
            </a:r>
          </a:p>
          <a:p>
            <a:r>
              <a:rPr lang="ro-RO" sz="2200" dirty="0" smtClean="0"/>
              <a:t>Poate fi detaliată sub forma a două aspecte:</a:t>
            </a:r>
            <a:endParaRPr lang="en-US" sz="2200" dirty="0" smtClean="0"/>
          </a:p>
          <a:p>
            <a:pPr lvl="1">
              <a:buFont typeface="Wingdings" pitchFamily="2" charset="2"/>
              <a:buChar char="Ø"/>
            </a:pPr>
            <a:r>
              <a:rPr lang="ro-RO" sz="2200" dirty="0" smtClean="0"/>
              <a:t>selectarea, prelucrarea şi transmiterea valorilor de la societate la individ;</a:t>
            </a:r>
            <a:endParaRPr lang="en-US" sz="2200" dirty="0" smtClean="0"/>
          </a:p>
          <a:p>
            <a:pPr lvl="1">
              <a:buFont typeface="Wingdings" pitchFamily="2" charset="2"/>
              <a:buChar char="Ø"/>
            </a:pPr>
            <a:r>
              <a:rPr lang="ro-RO" sz="2200" dirty="0" smtClean="0"/>
              <a:t>dezvoltarea capacităţilor cognitive;</a:t>
            </a:r>
            <a:endParaRPr lang="en-US" sz="2200" dirty="0" smtClean="0"/>
          </a:p>
          <a:p>
            <a:r>
              <a:rPr lang="ro-RO" sz="2200" i="1" dirty="0" smtClean="0"/>
              <a:t>Transmiterea cunoaşterii: </a:t>
            </a:r>
            <a:r>
              <a:rPr lang="ro-RO" sz="2200" dirty="0" smtClean="0"/>
              <a:t>rolul pe care educaţia îl are în transmiterea într-un mod organizat a unui ansamblu de cunoştinţe din diverse domenii de activitate. </a:t>
            </a:r>
          </a:p>
          <a:p>
            <a:pPr lvl="1"/>
            <a:r>
              <a:rPr lang="ro-RO" sz="2200" dirty="0" smtClean="0"/>
              <a:t>Aceasta se realizează prin intermediul unor forme instituţionalizate şi a unui corp didactic specializat. </a:t>
            </a:r>
          </a:p>
          <a:p>
            <a:r>
              <a:rPr lang="ro-RO" sz="2200" i="1" dirty="0" smtClean="0"/>
              <a:t>Dezvoltarea capacităţilor cognitive</a:t>
            </a:r>
            <a:r>
              <a:rPr lang="ro-RO" sz="2200" dirty="0" smtClean="0"/>
              <a:t>: prin educaţie se urmăreşte nu numai asimilarea unui ansamblu de cunoştinţe, ci şi dezvoltarea unor capacităţi cognitive, formarea unor deprinderi de muncă intelectuală și a unui stil de învăţare.                                                               </a:t>
            </a:r>
            <a:endParaRPr lang="en-US" sz="2200" dirty="0" smtClean="0"/>
          </a:p>
          <a:p>
            <a:endParaRPr lang="ro-RO" sz="2000"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64672"/>
          </a:xfrm>
        </p:spPr>
        <p:txBody>
          <a:bodyPr>
            <a:normAutofit fontScale="90000"/>
          </a:bodyPr>
          <a:lstStyle/>
          <a:p>
            <a:endParaRPr lang="ro-RO" dirty="0"/>
          </a:p>
        </p:txBody>
      </p:sp>
      <p:sp>
        <p:nvSpPr>
          <p:cNvPr id="3" name="Content Placeholder 2"/>
          <p:cNvSpPr>
            <a:spLocks noGrp="1"/>
          </p:cNvSpPr>
          <p:nvPr>
            <p:ph idx="1"/>
          </p:nvPr>
        </p:nvSpPr>
        <p:spPr>
          <a:xfrm>
            <a:off x="457200" y="1412776"/>
            <a:ext cx="8229600" cy="4911824"/>
          </a:xfrm>
        </p:spPr>
        <p:txBody>
          <a:bodyPr>
            <a:normAutofit/>
          </a:bodyPr>
          <a:lstStyle/>
          <a:p>
            <a:r>
              <a:rPr lang="ro-RO" sz="2200" b="1" dirty="0" smtClean="0"/>
              <a:t>Funcţia culturală:</a:t>
            </a:r>
          </a:p>
          <a:p>
            <a:pPr>
              <a:buNone/>
            </a:pPr>
            <a:endParaRPr lang="ro-RO" dirty="0" smtClean="0"/>
          </a:p>
          <a:p>
            <a:r>
              <a:rPr lang="ro-RO" sz="2200" dirty="0" smtClean="0"/>
              <a:t>Reprezintă contribuția pe care educația o aduce la conservarea, transmiterea și dezvoltarea valorilor culturale naționale și universale prin:</a:t>
            </a:r>
          </a:p>
          <a:p>
            <a:pPr lvl="1"/>
            <a:r>
              <a:rPr lang="en-US" sz="2200" dirty="0" err="1" smtClean="0"/>
              <a:t>Selectarea</a:t>
            </a:r>
            <a:r>
              <a:rPr lang="en-US" sz="2200" dirty="0" smtClean="0"/>
              <a:t> </a:t>
            </a:r>
            <a:r>
              <a:rPr lang="en-US" sz="2200" dirty="0" err="1" smtClean="0"/>
              <a:t>și</a:t>
            </a:r>
            <a:r>
              <a:rPr lang="en-US" sz="2200" dirty="0" smtClean="0"/>
              <a:t> </a:t>
            </a:r>
            <a:r>
              <a:rPr lang="en-US" sz="2200" dirty="0" err="1" smtClean="0"/>
              <a:t>transmiterea</a:t>
            </a:r>
            <a:r>
              <a:rPr lang="en-US" sz="2200" dirty="0" smtClean="0"/>
              <a:t> de la o </a:t>
            </a:r>
            <a:r>
              <a:rPr lang="en-US" sz="2200" dirty="0" err="1" smtClean="0"/>
              <a:t>generație</a:t>
            </a:r>
            <a:r>
              <a:rPr lang="en-US" sz="2200" dirty="0" smtClean="0"/>
              <a:t> la </a:t>
            </a:r>
            <a:r>
              <a:rPr lang="en-US" sz="2200" dirty="0" err="1" smtClean="0"/>
              <a:t>alta</a:t>
            </a:r>
            <a:r>
              <a:rPr lang="en-US" sz="2200" dirty="0" smtClean="0"/>
              <a:t> a </a:t>
            </a:r>
            <a:r>
              <a:rPr lang="en-US" sz="2200" dirty="0" err="1" smtClean="0"/>
              <a:t>valorilor</a:t>
            </a:r>
            <a:r>
              <a:rPr lang="en-US" sz="2200" dirty="0" smtClean="0"/>
              <a:t> </a:t>
            </a:r>
            <a:r>
              <a:rPr lang="en-US" sz="2200" dirty="0" err="1" smtClean="0"/>
              <a:t>culturale</a:t>
            </a:r>
            <a:r>
              <a:rPr lang="en-US" sz="2200" dirty="0" smtClean="0"/>
              <a:t> </a:t>
            </a:r>
            <a:r>
              <a:rPr lang="en-US" sz="2200" dirty="0" err="1" smtClean="0"/>
              <a:t>fundamentale</a:t>
            </a:r>
            <a:r>
              <a:rPr lang="en-US" sz="2200" dirty="0" smtClean="0"/>
              <a:t>;</a:t>
            </a:r>
            <a:endParaRPr lang="ro-RO" sz="2200" dirty="0" smtClean="0"/>
          </a:p>
          <a:p>
            <a:pPr lvl="1"/>
            <a:r>
              <a:rPr lang="en-US" sz="2200" dirty="0" err="1" smtClean="0"/>
              <a:t>Formarea</a:t>
            </a:r>
            <a:r>
              <a:rPr lang="en-US" sz="2200" dirty="0" smtClean="0"/>
              <a:t> </a:t>
            </a:r>
            <a:r>
              <a:rPr lang="en-US" sz="2200" dirty="0" err="1" smtClean="0"/>
              <a:t>unor</a:t>
            </a:r>
            <a:r>
              <a:rPr lang="en-US" sz="2200" dirty="0" smtClean="0"/>
              <a:t> </a:t>
            </a:r>
            <a:r>
              <a:rPr lang="en-US" sz="2200" dirty="0" err="1" smtClean="0"/>
              <a:t>personalități</a:t>
            </a:r>
            <a:r>
              <a:rPr lang="en-US" sz="2200" dirty="0" smtClean="0"/>
              <a:t> </a:t>
            </a:r>
            <a:r>
              <a:rPr lang="en-US" sz="2200" dirty="0" err="1" smtClean="0"/>
              <a:t>capabile</a:t>
            </a:r>
            <a:r>
              <a:rPr lang="en-US" sz="2200" dirty="0" smtClean="0"/>
              <a:t> </a:t>
            </a:r>
            <a:r>
              <a:rPr lang="en-US" sz="2200" dirty="0" err="1" smtClean="0"/>
              <a:t>să</a:t>
            </a:r>
            <a:r>
              <a:rPr lang="en-US" sz="2200" dirty="0" smtClean="0"/>
              <a:t> </a:t>
            </a:r>
            <a:r>
              <a:rPr lang="en-US" sz="2200" dirty="0" err="1" smtClean="0"/>
              <a:t>cunoască</a:t>
            </a:r>
            <a:r>
              <a:rPr lang="en-US" sz="2200" dirty="0" smtClean="0"/>
              <a:t>, </a:t>
            </a:r>
            <a:r>
              <a:rPr lang="en-US" sz="2200" dirty="0" err="1" smtClean="0"/>
              <a:t>să</a:t>
            </a:r>
            <a:r>
              <a:rPr lang="en-US" sz="2200" dirty="0" smtClean="0"/>
              <a:t> </a:t>
            </a:r>
            <a:r>
              <a:rPr lang="en-US" sz="2200" dirty="0" err="1" smtClean="0"/>
              <a:t>înțeleagă</a:t>
            </a:r>
            <a:r>
              <a:rPr lang="en-US" sz="2200" dirty="0" smtClean="0"/>
              <a:t> </a:t>
            </a:r>
            <a:r>
              <a:rPr lang="en-US" sz="2200" dirty="0" err="1" smtClean="0"/>
              <a:t>și</a:t>
            </a:r>
            <a:r>
              <a:rPr lang="en-US" sz="2200" dirty="0" smtClean="0"/>
              <a:t> </a:t>
            </a:r>
            <a:r>
              <a:rPr lang="en-US" sz="2200" dirty="0" err="1" smtClean="0"/>
              <a:t>să</a:t>
            </a:r>
            <a:r>
              <a:rPr lang="en-US" sz="2200" dirty="0" smtClean="0"/>
              <a:t> </a:t>
            </a:r>
            <a:r>
              <a:rPr lang="en-US" sz="2200" dirty="0" err="1" smtClean="0"/>
              <a:t>evalueze</a:t>
            </a:r>
            <a:r>
              <a:rPr lang="en-US" sz="2200" dirty="0" smtClean="0"/>
              <a:t> </a:t>
            </a:r>
            <a:r>
              <a:rPr lang="en-US" sz="2200" dirty="0" err="1" smtClean="0"/>
              <a:t>valorile</a:t>
            </a:r>
            <a:r>
              <a:rPr lang="en-US" sz="2200" dirty="0" smtClean="0"/>
              <a:t> </a:t>
            </a:r>
            <a:r>
              <a:rPr lang="en-US" sz="2200" dirty="0" err="1" smtClean="0"/>
              <a:t>culturale</a:t>
            </a:r>
            <a:r>
              <a:rPr lang="en-US" sz="2200" dirty="0" smtClean="0"/>
              <a:t>;</a:t>
            </a:r>
            <a:endParaRPr lang="ro-RO" sz="2200" dirty="0" smtClean="0"/>
          </a:p>
          <a:p>
            <a:pPr lvl="1"/>
            <a:r>
              <a:rPr lang="en-US" sz="2200" dirty="0" err="1" smtClean="0"/>
              <a:t>Formarea</a:t>
            </a:r>
            <a:r>
              <a:rPr lang="en-US" sz="2200" dirty="0" smtClean="0"/>
              <a:t> </a:t>
            </a:r>
            <a:r>
              <a:rPr lang="en-US" sz="2200" dirty="0" err="1" smtClean="0"/>
              <a:t>creatorilor</a:t>
            </a:r>
            <a:r>
              <a:rPr lang="en-US" sz="2200" dirty="0" smtClean="0"/>
              <a:t> de </a:t>
            </a:r>
            <a:r>
              <a:rPr lang="en-US" sz="2200" dirty="0" err="1" smtClean="0"/>
              <a:t>cultură</a:t>
            </a:r>
            <a:r>
              <a:rPr lang="en-US" sz="2200" dirty="0" smtClean="0"/>
              <a:t> </a:t>
            </a:r>
            <a:r>
              <a:rPr lang="en-US" sz="2200" dirty="0" err="1" smtClean="0"/>
              <a:t>prin</a:t>
            </a:r>
            <a:r>
              <a:rPr lang="en-US" sz="2200" dirty="0" smtClean="0"/>
              <a:t> </a:t>
            </a:r>
            <a:r>
              <a:rPr lang="en-US" sz="2200" dirty="0" err="1" smtClean="0"/>
              <a:t>cultivarea</a:t>
            </a:r>
            <a:r>
              <a:rPr lang="en-US" sz="2200" dirty="0" smtClean="0"/>
              <a:t> </a:t>
            </a:r>
            <a:r>
              <a:rPr lang="en-US" sz="2200" dirty="0" err="1" smtClean="0"/>
              <a:t>și</a:t>
            </a:r>
            <a:r>
              <a:rPr lang="en-US" sz="2200" dirty="0" smtClean="0"/>
              <a:t> </a:t>
            </a:r>
            <a:r>
              <a:rPr lang="en-US" sz="2200" dirty="0" err="1" smtClean="0"/>
              <a:t>dezvoltarea</a:t>
            </a:r>
            <a:r>
              <a:rPr lang="en-US" sz="2200" dirty="0" smtClean="0"/>
              <a:t> </a:t>
            </a:r>
            <a:r>
              <a:rPr lang="en-US" sz="2200" dirty="0" err="1" smtClean="0"/>
              <a:t>atitudinii</a:t>
            </a:r>
            <a:r>
              <a:rPr lang="en-US" sz="2200" dirty="0" smtClean="0"/>
              <a:t> </a:t>
            </a:r>
            <a:r>
              <a:rPr lang="en-US" sz="2200" dirty="0" err="1" smtClean="0"/>
              <a:t>creatoare</a:t>
            </a:r>
            <a:r>
              <a:rPr lang="en-US" sz="2200" dirty="0" smtClean="0"/>
              <a:t> </a:t>
            </a:r>
            <a:r>
              <a:rPr lang="en-US" sz="2200" dirty="0" err="1" smtClean="0"/>
              <a:t>față</a:t>
            </a:r>
            <a:r>
              <a:rPr lang="en-US" sz="2200" dirty="0" smtClean="0"/>
              <a:t> de </a:t>
            </a:r>
            <a:r>
              <a:rPr lang="en-US" sz="2200" dirty="0" err="1" smtClean="0"/>
              <a:t>cultură</a:t>
            </a:r>
            <a:r>
              <a:rPr lang="en-US" sz="2200" dirty="0" smtClean="0"/>
              <a:t>.</a:t>
            </a:r>
            <a:endParaRPr lang="ro-RO" sz="2200" dirty="0" smtClean="0"/>
          </a:p>
          <a:p>
            <a:endParaRPr lang="ro-RO"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296020"/>
          </a:xfrm>
        </p:spPr>
        <p:txBody>
          <a:bodyPr>
            <a:normAutofit fontScale="90000"/>
          </a:bodyPr>
          <a:lstStyle/>
          <a:p>
            <a:endParaRPr lang="en-US" dirty="0"/>
          </a:p>
        </p:txBody>
      </p:sp>
      <p:sp>
        <p:nvSpPr>
          <p:cNvPr id="3" name="Content Placeholder 2"/>
          <p:cNvSpPr>
            <a:spLocks noGrp="1"/>
          </p:cNvSpPr>
          <p:nvPr>
            <p:ph idx="1"/>
          </p:nvPr>
        </p:nvSpPr>
        <p:spPr>
          <a:xfrm>
            <a:off x="457200" y="1071546"/>
            <a:ext cx="8229600" cy="5253054"/>
          </a:xfrm>
        </p:spPr>
        <p:txBody>
          <a:bodyPr>
            <a:normAutofit/>
          </a:bodyPr>
          <a:lstStyle/>
          <a:p>
            <a:pPr>
              <a:buNone/>
            </a:pPr>
            <a:endParaRPr lang="ro-RO" sz="2200" i="1" dirty="0" smtClean="0"/>
          </a:p>
          <a:p>
            <a:r>
              <a:rPr lang="ro-RO" sz="2200" dirty="0" smtClean="0"/>
              <a:t>constă în procesul de transmitere a valorilor culturale, mentalităţilor</a:t>
            </a:r>
          </a:p>
          <a:p>
            <a:r>
              <a:rPr lang="ro-RO" sz="2200" dirty="0" smtClean="0"/>
              <a:t>educaţia este principalul factor de culturalizare, iar cultura este un mijloc de formare a personalităţii</a:t>
            </a:r>
            <a:endParaRPr lang="en-US" sz="2200" dirty="0" smtClean="0"/>
          </a:p>
          <a:p>
            <a:r>
              <a:rPr lang="ro-RO" sz="2200" dirty="0" smtClean="0"/>
              <a:t>Un model cultural reprezintă ansamblul caracteristicilor de bază ale unei culturi, cuprinzând valori, mentalităţi, concepţii specifice culturii respective.</a:t>
            </a:r>
            <a:endParaRPr lang="en-US" sz="2200" dirty="0" smtClean="0"/>
          </a:p>
          <a:p>
            <a:r>
              <a:rPr lang="ro-RO" sz="2200" dirty="0" smtClean="0"/>
              <a:t>Există modele culturale de referinţă pe care le folosim în educaţie pentru formarea personalităţii. Educaţia încearcă să inculce aceste modele culturale personalităţii copilului, sub forma unor trăsături de personalitate.</a:t>
            </a:r>
            <a:endParaRPr lang="en-US" sz="2200" dirty="0" smtClean="0"/>
          </a:p>
          <a:p>
            <a:endParaRPr lang="en-US" sz="2200" dirty="0" smtClean="0"/>
          </a:p>
          <a:p>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296020"/>
          </a:xfrm>
        </p:spPr>
        <p:txBody>
          <a:bodyPr>
            <a:normAutofit fontScale="90000"/>
          </a:bodyPr>
          <a:lstStyle/>
          <a:p>
            <a:endParaRPr lang="en-US" dirty="0"/>
          </a:p>
        </p:txBody>
      </p:sp>
      <p:sp>
        <p:nvSpPr>
          <p:cNvPr id="3" name="Content Placeholder 2"/>
          <p:cNvSpPr>
            <a:spLocks noGrp="1"/>
          </p:cNvSpPr>
          <p:nvPr>
            <p:ph idx="1"/>
          </p:nvPr>
        </p:nvSpPr>
        <p:spPr>
          <a:xfrm>
            <a:off x="457200" y="1142984"/>
            <a:ext cx="8229600" cy="5181616"/>
          </a:xfrm>
        </p:spPr>
        <p:txBody>
          <a:bodyPr>
            <a:normAutofit/>
          </a:bodyPr>
          <a:lstStyle/>
          <a:p>
            <a:r>
              <a:rPr lang="ro-RO" sz="2200" b="1" dirty="0" smtClean="0"/>
              <a:t>Funcţia de socializare:</a:t>
            </a:r>
            <a:endParaRPr lang="en-US" sz="2200" b="1" dirty="0" smtClean="0"/>
          </a:p>
          <a:p>
            <a:r>
              <a:rPr lang="ro-RO" sz="2200" dirty="0" smtClean="0"/>
              <a:t>Este o funcţie foarte veche, deoarece educaţia avea ca responsabilitate socializarea copilului. </a:t>
            </a:r>
          </a:p>
          <a:p>
            <a:r>
              <a:rPr lang="ro-RO" sz="2200" dirty="0" smtClean="0"/>
              <a:t>Funcția de socializare se referă la rolul pe care educația îl are </a:t>
            </a:r>
            <a:r>
              <a:rPr lang="ro-RO" sz="2200" smtClean="0"/>
              <a:t>în transmiterea-asimilarea </a:t>
            </a:r>
            <a:r>
              <a:rPr lang="ro-RO" sz="2200" dirty="0" smtClean="0"/>
              <a:t>valorilor, atitudinilor și modelelor de comportament specifice unei comunități sociale, în vederea integrării individului în comunitate. </a:t>
            </a:r>
          </a:p>
          <a:p>
            <a:r>
              <a:rPr lang="ro-RO" sz="2200" dirty="0" smtClean="0"/>
              <a:t>Socializarea se  realizează atât prin influențele spontane ale mediului, cât și sistematic, organizat, prin influențe educaționale formale sau nonformale.</a:t>
            </a:r>
          </a:p>
          <a:p>
            <a:r>
              <a:rPr lang="ro-RO" sz="2200" dirty="0" smtClean="0"/>
              <a:t>Educaţia urmăreşte formarea unui tip de personalitate solicitat de condiţiile prezente şi de perspectivă ale societăţii. </a:t>
            </a:r>
          </a:p>
          <a:p>
            <a:r>
              <a:rPr lang="ro-RO" sz="2200" dirty="0" smtClean="0"/>
              <a:t>Sarcina educaţiei este de a-l pregăti pe om pentru integrarea în viaţa socială, ca subiect al relaţiilor sociale şi ca forţă de muncă.</a:t>
            </a:r>
            <a:endParaRPr lang="en-US" sz="2200" dirty="0" smtClean="0"/>
          </a:p>
          <a:p>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224582"/>
          </a:xfrm>
        </p:spPr>
        <p:txBody>
          <a:bodyPr>
            <a:normAutofit fontScale="90000"/>
          </a:bodyPr>
          <a:lstStyle/>
          <a:p>
            <a:endParaRPr lang="en-US" dirty="0"/>
          </a:p>
        </p:txBody>
      </p:sp>
      <p:sp>
        <p:nvSpPr>
          <p:cNvPr id="3" name="Content Placeholder 2"/>
          <p:cNvSpPr>
            <a:spLocks noGrp="1"/>
          </p:cNvSpPr>
          <p:nvPr>
            <p:ph idx="1"/>
          </p:nvPr>
        </p:nvSpPr>
        <p:spPr>
          <a:xfrm>
            <a:off x="457200" y="1000108"/>
            <a:ext cx="8229600" cy="5324492"/>
          </a:xfrm>
        </p:spPr>
        <p:txBody>
          <a:bodyPr>
            <a:normAutofit lnSpcReduction="10000"/>
          </a:bodyPr>
          <a:lstStyle/>
          <a:p>
            <a:r>
              <a:rPr lang="ro-RO" sz="2200" b="1" dirty="0" smtClean="0"/>
              <a:t>Funcţia economică:</a:t>
            </a:r>
            <a:endParaRPr lang="en-US" sz="2200" b="1" dirty="0" smtClean="0"/>
          </a:p>
          <a:p>
            <a:r>
              <a:rPr lang="ro-RO" sz="2200" dirty="0" smtClean="0"/>
              <a:t>Se referă la rolul pe care învăţământul, educația  îl au în dezvoltarea socio-economică a unei ţări. </a:t>
            </a:r>
          </a:p>
          <a:p>
            <a:r>
              <a:rPr lang="ro-RO" sz="2200" dirty="0" smtClean="0"/>
              <a:t>Se exprimă în două tipuri de efecte: efecte directe şi efecte indirecte ale învăţământului în plan economic. </a:t>
            </a:r>
          </a:p>
          <a:p>
            <a:r>
              <a:rPr lang="ro-RO" sz="2200" dirty="0" smtClean="0"/>
              <a:t>În raport cu aceste două tipuri de efecte se vorbeşte de eficienţa directă (internă) şi eficienţa indirectă (externă). </a:t>
            </a:r>
          </a:p>
          <a:p>
            <a:pPr lvl="1">
              <a:buFont typeface="Wingdings" pitchFamily="2" charset="2"/>
              <a:buChar char="Ø"/>
            </a:pPr>
            <a:r>
              <a:rPr lang="ro-RO" sz="2200" dirty="0" smtClean="0"/>
              <a:t>Eficienţa directă se verifică prin rolul pe care învăţământul îl are in procesul calificării forţei de muncă. Efectul ei este legat de gradul de competenţă, ale cărei baze se realizează în şcoală. Efectele directe sunt măsurabile. </a:t>
            </a:r>
          </a:p>
          <a:p>
            <a:pPr lvl="1">
              <a:buFont typeface="Wingdings" pitchFamily="2" charset="2"/>
              <a:buChar char="Ø"/>
            </a:pPr>
            <a:r>
              <a:rPr lang="ro-RO" sz="2200" dirty="0" smtClean="0"/>
              <a:t>Efectele indirecte: contribuţia pe care educația o poate avea în dezvoltarea diferitelor calităţi, capacităţi ale personalităţii, a diferitelor atitudini şi comportamente. Aceste calităţi, indirect, pot favoriza o anumită calitate a prestaţiei profesionale a cuiva, susţinând sau stânjenind actul profesional. </a:t>
            </a:r>
            <a:endParaRPr lang="en-US" sz="2200" dirty="0" smtClean="0"/>
          </a:p>
          <a:p>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8604"/>
            <a:ext cx="8229600" cy="1000132"/>
          </a:xfrm>
        </p:spPr>
        <p:txBody>
          <a:bodyPr>
            <a:normAutofit/>
          </a:bodyPr>
          <a:lstStyle/>
          <a:p>
            <a:r>
              <a:rPr lang="ro-RO" sz="2000" b="1" dirty="0" smtClean="0"/>
              <a:t>2.3. Caracteristicile educaţiei</a:t>
            </a:r>
            <a:r>
              <a:rPr lang="en-US" sz="2000" dirty="0" smtClean="0"/>
              <a:t/>
            </a:r>
            <a:br>
              <a:rPr lang="en-US" sz="2000" dirty="0" smtClean="0"/>
            </a:br>
            <a:endParaRPr lang="en-US" sz="2000" dirty="0"/>
          </a:p>
        </p:txBody>
      </p:sp>
      <p:sp>
        <p:nvSpPr>
          <p:cNvPr id="3" name="Content Placeholder 2"/>
          <p:cNvSpPr>
            <a:spLocks noGrp="1"/>
          </p:cNvSpPr>
          <p:nvPr>
            <p:ph idx="1"/>
          </p:nvPr>
        </p:nvSpPr>
        <p:spPr>
          <a:xfrm>
            <a:off x="457200" y="1285860"/>
            <a:ext cx="8229600" cy="5038740"/>
          </a:xfrm>
        </p:spPr>
        <p:txBody>
          <a:bodyPr>
            <a:normAutofit/>
          </a:bodyPr>
          <a:lstStyle/>
          <a:p>
            <a:r>
              <a:rPr lang="ro-RO" sz="2400" i="1" dirty="0" smtClean="0"/>
              <a:t>Caracterul specific uman</a:t>
            </a:r>
            <a:r>
              <a:rPr lang="ro-RO" sz="2400" dirty="0" smtClean="0"/>
              <a:t> </a:t>
            </a:r>
          </a:p>
          <a:p>
            <a:r>
              <a:rPr lang="ro-RO" sz="2400" i="1" dirty="0" smtClean="0"/>
              <a:t>Caracterul istoric</a:t>
            </a:r>
            <a:r>
              <a:rPr lang="ro-RO" sz="2400" dirty="0" smtClean="0"/>
              <a:t> </a:t>
            </a:r>
          </a:p>
          <a:p>
            <a:r>
              <a:rPr lang="ro-RO" sz="2400" i="1" dirty="0" smtClean="0"/>
              <a:t>Caracterul naţional şi universal</a:t>
            </a:r>
            <a:r>
              <a:rPr lang="ro-RO" sz="2400" dirty="0" smtClean="0"/>
              <a:t> </a:t>
            </a:r>
          </a:p>
          <a:p>
            <a:r>
              <a:rPr lang="ro-RO" sz="2400" i="1" dirty="0" smtClean="0"/>
              <a:t>Caracterul prospectiv</a:t>
            </a:r>
            <a:r>
              <a:rPr lang="ro-RO" sz="2400" dirty="0" smtClean="0"/>
              <a:t> </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53144"/>
          </a:xfrm>
        </p:spPr>
        <p:txBody>
          <a:bodyPr>
            <a:normAutofit fontScale="90000"/>
          </a:bodyPr>
          <a:lstStyle/>
          <a:p>
            <a:endParaRPr lang="en-US" dirty="0"/>
          </a:p>
        </p:txBody>
      </p:sp>
      <p:sp>
        <p:nvSpPr>
          <p:cNvPr id="3" name="Content Placeholder 2"/>
          <p:cNvSpPr>
            <a:spLocks noGrp="1"/>
          </p:cNvSpPr>
          <p:nvPr>
            <p:ph idx="1"/>
          </p:nvPr>
        </p:nvSpPr>
        <p:spPr>
          <a:xfrm>
            <a:off x="457200" y="857232"/>
            <a:ext cx="8229600" cy="5467368"/>
          </a:xfrm>
        </p:spPr>
        <p:txBody>
          <a:bodyPr>
            <a:normAutofit/>
          </a:bodyPr>
          <a:lstStyle/>
          <a:p>
            <a:r>
              <a:rPr lang="ro-RO" sz="2000" b="1" dirty="0" smtClean="0"/>
              <a:t>Caracterul specific uman al educației </a:t>
            </a:r>
          </a:p>
          <a:p>
            <a:r>
              <a:rPr lang="ro-RO" sz="2000" dirty="0" smtClean="0"/>
              <a:t>La cei doi poli ai acţiunii educaţionale se află fiinţe umane: </a:t>
            </a:r>
          </a:p>
          <a:p>
            <a:pPr lvl="1"/>
            <a:r>
              <a:rPr lang="ro-RO" sz="2000" dirty="0" smtClean="0"/>
              <a:t>subiectul (agentul acţiunii) care acţionează asupra obiectului (elevul), în vederea formării unei personalităţi dezirabile din punct de vedere social, dar şi în concordanţă cu cerinţele şi particularităţile individului</a:t>
            </a:r>
          </a:p>
          <a:p>
            <a:pPr lvl="1"/>
            <a:r>
              <a:rPr lang="ro-RO" sz="2000" dirty="0" smtClean="0"/>
              <a:t>obiectul asupra căruia se răsfrâng acţiunile şi efectele educaţionale. </a:t>
            </a:r>
          </a:p>
          <a:p>
            <a:r>
              <a:rPr lang="ro-RO" sz="2000" dirty="0" smtClean="0"/>
              <a:t>Acţiunea educaţională are un </a:t>
            </a:r>
            <a:r>
              <a:rPr lang="ro-RO" sz="2000" i="1" dirty="0" smtClean="0"/>
              <a:t>caracter conştient şi direcţional</a:t>
            </a:r>
            <a:r>
              <a:rPr lang="ro-RO" sz="2000" dirty="0" smtClean="0"/>
              <a:t>:</a:t>
            </a:r>
          </a:p>
          <a:p>
            <a:pPr lvl="1"/>
            <a:r>
              <a:rPr lang="ro-RO" sz="2000" dirty="0" smtClean="0"/>
              <a:t>vizează atingerea unor finalităţi stabilite în prealabil </a:t>
            </a:r>
          </a:p>
          <a:p>
            <a:pPr lvl="1"/>
            <a:r>
              <a:rPr lang="ro-RO" sz="2000" dirty="0" smtClean="0"/>
              <a:t>în cadrul ei oamenii gândesc în prealabil ceea ce urmează să realizeze, au anumite intenţii şi se ghidează după norme şi principii</a:t>
            </a:r>
          </a:p>
          <a:p>
            <a:endParaRPr lang="ro-RO" sz="2000" dirty="0" smtClean="0"/>
          </a:p>
          <a:p>
            <a:r>
              <a:rPr lang="ro-RO" sz="2000" dirty="0" smtClean="0"/>
              <a:t>De asemenea, educaţia are un </a:t>
            </a:r>
            <a:r>
              <a:rPr lang="ro-RO" sz="2000" i="1" dirty="0" smtClean="0"/>
              <a:t>caracter organizat şi sistematic</a:t>
            </a:r>
            <a:r>
              <a:rPr lang="ro-RO" sz="2000" dirty="0" smtClean="0"/>
              <a:t>, deoarece se desfăşoară într-un cadru adecvat (şcoala) şi se diferenţiază de influenţele spontane ale mediului.</a:t>
            </a:r>
            <a:endParaRPr lang="en-US" sz="2000" dirty="0" smtClean="0"/>
          </a:p>
          <a:p>
            <a:pPr>
              <a:buNone/>
            </a:pP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224582"/>
          </a:xfrm>
        </p:spPr>
        <p:txBody>
          <a:bodyPr>
            <a:normAutofit fontScale="90000"/>
          </a:bodyPr>
          <a:lstStyle/>
          <a:p>
            <a:endParaRPr lang="en-US" dirty="0"/>
          </a:p>
        </p:txBody>
      </p:sp>
      <p:sp>
        <p:nvSpPr>
          <p:cNvPr id="3" name="Content Placeholder 2"/>
          <p:cNvSpPr>
            <a:spLocks noGrp="1"/>
          </p:cNvSpPr>
          <p:nvPr>
            <p:ph idx="1"/>
          </p:nvPr>
        </p:nvSpPr>
        <p:spPr>
          <a:xfrm>
            <a:off x="457200" y="1000108"/>
            <a:ext cx="8229600" cy="5324492"/>
          </a:xfrm>
        </p:spPr>
        <p:txBody>
          <a:bodyPr>
            <a:normAutofit/>
          </a:bodyPr>
          <a:lstStyle/>
          <a:p>
            <a:r>
              <a:rPr lang="ro-RO" sz="2000" b="1" dirty="0" smtClean="0"/>
              <a:t>Caracterul istoric al educaţiei</a:t>
            </a:r>
            <a:endParaRPr lang="en-US" sz="2000" b="1" dirty="0" smtClean="0"/>
          </a:p>
          <a:p>
            <a:r>
              <a:rPr lang="ro-RO" sz="2000" dirty="0" smtClean="0"/>
              <a:t>Educaţia, ca realitate socială, este supusă unui determinism istorico-social, care produce schimbări în domeniul educaţiei, în raport cu schimbările sociale. </a:t>
            </a:r>
          </a:p>
          <a:p>
            <a:r>
              <a:rPr lang="ro-RO" sz="2000" dirty="0" smtClean="0"/>
              <a:t>Schimbările din educaţie se produc ca efect al schimbărilor sociale, dar şi ca efect al logicii interne a educaţiei, a învăţământului. </a:t>
            </a:r>
          </a:p>
          <a:p>
            <a:r>
              <a:rPr lang="ro-RO" sz="2000" dirty="0" smtClean="0"/>
              <a:t>Logica internă a educaţiei reprezintă acele tipuri de structuri, norme, mentalităţi, care s-au acumulat de-a lungul istoriei in sistemul educaţional, şi care filtrează şi reinterpretează influenţele  sociale ce se exercită asupra sistemului de învăţământ.</a:t>
            </a:r>
            <a:endParaRPr lang="en-US" sz="2000" dirty="0" smtClean="0"/>
          </a:p>
          <a:p>
            <a:r>
              <a:rPr lang="ro-RO" sz="2000" dirty="0" smtClean="0"/>
              <a:t>Caracterul istoric al educaţiei poate fi demonstrat prin existenţa unor tipuri de educaţie diferite, în societăţi diferite.</a:t>
            </a:r>
            <a:endParaRPr lang="en-US" sz="2000" dirty="0" smtClean="0"/>
          </a:p>
          <a:p>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706"/>
          </a:xfrm>
        </p:spPr>
        <p:txBody>
          <a:bodyPr>
            <a:normAutofit fontScale="90000"/>
          </a:bodyPr>
          <a:lstStyle/>
          <a:p>
            <a:endParaRPr lang="en-US" dirty="0"/>
          </a:p>
        </p:txBody>
      </p:sp>
      <p:sp>
        <p:nvSpPr>
          <p:cNvPr id="3" name="Content Placeholder 2"/>
          <p:cNvSpPr>
            <a:spLocks noGrp="1"/>
          </p:cNvSpPr>
          <p:nvPr>
            <p:ph idx="1"/>
          </p:nvPr>
        </p:nvSpPr>
        <p:spPr>
          <a:xfrm>
            <a:off x="457200" y="714356"/>
            <a:ext cx="8229600" cy="5610244"/>
          </a:xfrm>
        </p:spPr>
        <p:txBody>
          <a:bodyPr>
            <a:normAutofit/>
          </a:bodyPr>
          <a:lstStyle/>
          <a:p>
            <a:r>
              <a:rPr lang="ro-RO" sz="2000" b="1" dirty="0" smtClean="0"/>
              <a:t>Caracterul naţional şi universal al educaţiei</a:t>
            </a:r>
            <a:endParaRPr lang="en-US" sz="2000" b="1" dirty="0" smtClean="0"/>
          </a:p>
          <a:p>
            <a:r>
              <a:rPr lang="ro-RO" sz="2000" i="1" dirty="0" smtClean="0"/>
              <a:t>Caracterul naţional </a:t>
            </a:r>
            <a:r>
              <a:rPr lang="ro-RO" sz="2000" dirty="0" smtClean="0"/>
              <a:t>al educaţiei se referă la acele caracteristici, elemente, care configurează specificul educaţiei, rezultat din folosirea unei limbi naţionale şi a culturii naționale. </a:t>
            </a:r>
          </a:p>
          <a:p>
            <a:r>
              <a:rPr lang="ro-RO" sz="2000" dirty="0" smtClean="0"/>
              <a:t>Aceste fenomene îşi vor pune amprenta asupra sistemului educaţional.</a:t>
            </a:r>
          </a:p>
          <a:p>
            <a:r>
              <a:rPr lang="ro-RO" sz="2000" dirty="0" smtClean="0"/>
              <a:t>Sistemul de educaţie trebuie să fie expresia cerinţelor sociale din fiecare ţară.</a:t>
            </a:r>
          </a:p>
          <a:p>
            <a:pPr>
              <a:buNone/>
            </a:pPr>
            <a:endParaRPr lang="en-US" sz="2000" dirty="0" smtClean="0"/>
          </a:p>
          <a:p>
            <a:r>
              <a:rPr lang="ro-RO" sz="2000" dirty="0" smtClean="0"/>
              <a:t>Caracterul naţional este legat nemijlocit de </a:t>
            </a:r>
            <a:r>
              <a:rPr lang="ro-RO" sz="2000" i="1" dirty="0" smtClean="0"/>
              <a:t>caracterul universal </a:t>
            </a:r>
            <a:r>
              <a:rPr lang="ro-RO" sz="2000" dirty="0" smtClean="0"/>
              <a:t>al educaţiei, deoarece cultura este inevitabil şi universală, iar educaţia nu poate face abstracţie de ceea ce s-a realizat în alte ţări. </a:t>
            </a:r>
          </a:p>
          <a:p>
            <a:r>
              <a:rPr lang="ro-RO" sz="2000" dirty="0" smtClean="0"/>
              <a:t>Pentru valorificarea acestor realizări, este necesară adaptarea acestora la particularităţile sociale şi naţionale din ţara respectivă. </a:t>
            </a:r>
          </a:p>
          <a:p>
            <a:r>
              <a:rPr lang="ro-RO" sz="2000" dirty="0" smtClean="0"/>
              <a:t>Pornind de la realităţile naţionale, se va asimila şi experienţa universală, din cadrul altor sisteme educaţionale.</a:t>
            </a:r>
            <a:endParaRPr lang="en-US" sz="2000" dirty="0" smtClean="0"/>
          </a:p>
          <a:p>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224582"/>
          </a:xfrm>
        </p:spPr>
        <p:txBody>
          <a:bodyPr>
            <a:normAutofit fontScale="90000"/>
          </a:bodyPr>
          <a:lstStyle/>
          <a:p>
            <a:endParaRPr lang="en-US" dirty="0"/>
          </a:p>
        </p:txBody>
      </p:sp>
      <p:sp>
        <p:nvSpPr>
          <p:cNvPr id="3" name="Content Placeholder 2"/>
          <p:cNvSpPr>
            <a:spLocks noGrp="1"/>
          </p:cNvSpPr>
          <p:nvPr>
            <p:ph idx="1"/>
          </p:nvPr>
        </p:nvSpPr>
        <p:spPr>
          <a:xfrm>
            <a:off x="457200" y="928670"/>
            <a:ext cx="8229600" cy="5395930"/>
          </a:xfrm>
        </p:spPr>
        <p:txBody>
          <a:bodyPr>
            <a:normAutofit/>
          </a:bodyPr>
          <a:lstStyle/>
          <a:p>
            <a:r>
              <a:rPr lang="ro-RO" sz="2000" b="1" dirty="0" smtClean="0"/>
              <a:t>Caracterul prospectiv al educaţiei </a:t>
            </a:r>
            <a:r>
              <a:rPr lang="ro-RO" sz="2000" dirty="0" smtClean="0"/>
              <a:t>					</a:t>
            </a:r>
            <a:endParaRPr lang="en-US" sz="2000" dirty="0" smtClean="0"/>
          </a:p>
          <a:p>
            <a:r>
              <a:rPr lang="ro-RO" sz="2000" dirty="0" smtClean="0"/>
              <a:t>Se referă la faptul că, finalităţile educației trebuie să fie centrate şi pe dimensiunea viitorului, să aibă un caracter anticipativ. </a:t>
            </a:r>
          </a:p>
          <a:p>
            <a:r>
              <a:rPr lang="ro-RO" sz="2000" dirty="0" smtClean="0"/>
              <a:t>Finalităţile educaţiei trebuie să anticipeze şi să preceadă dezvoltarea viitoare a societăţii. </a:t>
            </a:r>
          </a:p>
          <a:p>
            <a:r>
              <a:rPr lang="ro-RO" sz="2000" dirty="0" smtClean="0"/>
              <a:t>De aceea e necesară revizuirea continuă a unor finalităţi şi stabilirea unor noi ierarhii în interiorul lor.</a:t>
            </a:r>
            <a:endParaRPr lang="en-US" sz="2000" dirty="0" smtClean="0"/>
          </a:p>
          <a:p>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67524"/>
          </a:xfrm>
        </p:spPr>
        <p:txBody>
          <a:bodyPr>
            <a:normAutofit/>
          </a:bodyPr>
          <a:lstStyle/>
          <a:p>
            <a:r>
              <a:rPr lang="ro-RO" sz="2000" b="1" dirty="0" smtClean="0"/>
              <a:t>2.4.Structura acțiunii educaționale</a:t>
            </a:r>
            <a:endParaRPr lang="en-US" sz="2000" b="1" dirty="0"/>
          </a:p>
        </p:txBody>
      </p:sp>
      <p:sp>
        <p:nvSpPr>
          <p:cNvPr id="3" name="Content Placeholder 2"/>
          <p:cNvSpPr>
            <a:spLocks noGrp="1"/>
          </p:cNvSpPr>
          <p:nvPr>
            <p:ph idx="1"/>
          </p:nvPr>
        </p:nvSpPr>
        <p:spPr/>
        <p:txBody>
          <a:bodyPr>
            <a:normAutofit fontScale="92500" lnSpcReduction="10000"/>
          </a:bodyPr>
          <a:lstStyle/>
          <a:p>
            <a:r>
              <a:rPr lang="ro-RO" sz="2400" dirty="0" smtClean="0"/>
              <a:t>Subiectul acțiunii educative   S</a:t>
            </a:r>
          </a:p>
          <a:p>
            <a:r>
              <a:rPr lang="ro-RO" sz="2400" dirty="0" smtClean="0"/>
              <a:t>Obiectul acțiunii educative    O</a:t>
            </a:r>
          </a:p>
          <a:p>
            <a:r>
              <a:rPr lang="ro-RO" sz="2400" dirty="0" smtClean="0"/>
              <a:t>Subiectivitatea educatorului    S</a:t>
            </a:r>
          </a:p>
          <a:p>
            <a:r>
              <a:rPr lang="ro-RO" sz="2400" dirty="0" smtClean="0"/>
              <a:t>Subiectivitatea educabilului     O</a:t>
            </a:r>
          </a:p>
          <a:p>
            <a:r>
              <a:rPr lang="ro-RO" sz="2400" dirty="0" smtClean="0"/>
              <a:t>Mesajul educațional</a:t>
            </a:r>
          </a:p>
          <a:p>
            <a:r>
              <a:rPr lang="ro-RO" sz="2400" dirty="0" smtClean="0"/>
              <a:t>Finalitățile educaționale: idealul, scopul și obiectivele educaționale ID, SC, OB</a:t>
            </a:r>
          </a:p>
          <a:p>
            <a:r>
              <a:rPr lang="ro-RO" sz="2400" dirty="0" smtClean="0"/>
              <a:t>Dispozitivul educațional D</a:t>
            </a:r>
          </a:p>
          <a:p>
            <a:r>
              <a:rPr lang="ro-RO" sz="2400" dirty="0" smtClean="0"/>
              <a:t>Comportamentul obiectivat al educabilului   CO</a:t>
            </a:r>
          </a:p>
          <a:p>
            <a:r>
              <a:rPr lang="ro-RO" sz="2400" dirty="0" smtClean="0"/>
              <a:t>Conexiunea inversă internă  CII</a:t>
            </a:r>
          </a:p>
          <a:p>
            <a:r>
              <a:rPr lang="ro-RO" sz="2400" dirty="0" smtClean="0"/>
              <a:t>Conexiunea inversă externă  CIE</a:t>
            </a:r>
          </a:p>
          <a:p>
            <a:r>
              <a:rPr lang="ro-RO" sz="2400" dirty="0" smtClean="0"/>
              <a:t>Ambianța sau </a:t>
            </a:r>
            <a:r>
              <a:rPr lang="ro-RO" sz="2400" smtClean="0"/>
              <a:t>contextul educațional  A</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10334"/>
          </a:xfrm>
        </p:spPr>
        <p:txBody>
          <a:bodyPr>
            <a:normAutofit fontScale="90000"/>
          </a:bodyPr>
          <a:lstStyle/>
          <a:p>
            <a:endParaRPr lang="en-US" dirty="0"/>
          </a:p>
        </p:txBody>
      </p:sp>
      <p:sp>
        <p:nvSpPr>
          <p:cNvPr id="3" name="Content Placeholder 2"/>
          <p:cNvSpPr>
            <a:spLocks noGrp="1"/>
          </p:cNvSpPr>
          <p:nvPr>
            <p:ph idx="1"/>
          </p:nvPr>
        </p:nvSpPr>
        <p:spPr>
          <a:xfrm>
            <a:off x="457200" y="1357298"/>
            <a:ext cx="8229600" cy="4967302"/>
          </a:xfrm>
        </p:spPr>
        <p:txBody>
          <a:bodyPr/>
          <a:lstStyle/>
          <a:p>
            <a:r>
              <a:rPr lang="ro-RO" dirty="0" smtClean="0"/>
              <a:t>Educația: </a:t>
            </a:r>
          </a:p>
          <a:p>
            <a:pPr>
              <a:buNone/>
            </a:pPr>
            <a:r>
              <a:rPr lang="ro-RO" dirty="0" smtClean="0"/>
              <a:t>	activitate socială specifică, cu caracter finalist, întreprinsă conștient și printr-un ansamblu de acțiuni exercitate  de către o persoană (grup de persoane) asupra altei persoane (grup de persoane), în vederea formării și dezvoltării personalității indivizilor în concordanță cu cerințele sociale și individuale.</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1050</TotalTime>
  <Words>1696</Words>
  <Application>Microsoft Office PowerPoint</Application>
  <PresentationFormat>On-screen Show (4:3)</PresentationFormat>
  <Paragraphs>125</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Flow</vt:lpstr>
      <vt:lpstr> TEMA 2 EDUCAȚIA – OBIECT DE STUDIU AL PEDAGOGIEI</vt:lpstr>
      <vt:lpstr>2.1. Definirea educației</vt:lpstr>
      <vt:lpstr>Slide 3</vt:lpstr>
      <vt:lpstr>Slide 4</vt:lpstr>
      <vt:lpstr>Slide 5</vt:lpstr>
      <vt:lpstr>Slide 6</vt:lpstr>
      <vt:lpstr>Slide 7</vt:lpstr>
      <vt:lpstr>Slide 8</vt:lpstr>
      <vt:lpstr>Slide 9</vt:lpstr>
      <vt:lpstr>2.2. Funcțiile educației</vt:lpstr>
      <vt:lpstr>Slide 11</vt:lpstr>
      <vt:lpstr>Slide 12</vt:lpstr>
      <vt:lpstr>Slide 13</vt:lpstr>
      <vt:lpstr>Slide 14</vt:lpstr>
      <vt:lpstr>Slide 15</vt:lpstr>
      <vt:lpstr>2.3. Caracteristicile educaţiei </vt:lpstr>
      <vt:lpstr>Slide 17</vt:lpstr>
      <vt:lpstr>Slide 18</vt:lpstr>
      <vt:lpstr>Slide 19</vt:lpstr>
      <vt:lpstr>Slide 20</vt:lpstr>
      <vt:lpstr>2.4.Structura acțiunii educaționale</vt:lpstr>
      <vt:lpstr>Slide 22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1 PEDAGOGIA – ŞTIINŢA EDUCAŢIEI</dc:title>
  <dc:creator>Liana</dc:creator>
  <cp:lastModifiedBy>Liana</cp:lastModifiedBy>
  <cp:revision>93</cp:revision>
  <dcterms:created xsi:type="dcterms:W3CDTF">2013-10-19T18:10:37Z</dcterms:created>
  <dcterms:modified xsi:type="dcterms:W3CDTF">2017-11-03T18:37:01Z</dcterms:modified>
</cp:coreProperties>
</file>