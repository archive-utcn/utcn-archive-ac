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drawing2.xml" ContentType="application/vnd.ms-office.drawingml.diagramDrawing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diagrams/colors2.xml" ContentType="application/vnd.openxmlformats-officedocument.drawingml.diagramColors+xml"/>
  <Override PartName="/ppt/diagrams/drawing3.xml" ContentType="application/vnd.ms-office.drawingml.diagramDrawing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diagrams/drawing1.xml" ContentType="application/vnd.ms-office.drawingml.diagramDrawing+xml"/>
  <Override PartName="/ppt/diagrams/quickStyle3.xml" ContentType="application/vnd.openxmlformats-officedocument.drawingml.diagram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3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9EA11A-F7B7-4EE7-85E9-3A04E05D5DC3}" type="doc">
      <dgm:prSet loTypeId="urn:microsoft.com/office/officeart/2005/8/layout/chart3" loCatId="cycle" qsTypeId="urn:microsoft.com/office/officeart/2005/8/quickstyle/simple1" qsCatId="simple" csTypeId="urn:microsoft.com/office/officeart/2005/8/colors/accent2_4" csCatId="accent2" phldr="1"/>
      <dgm:spPr/>
    </dgm:pt>
    <dgm:pt modelId="{44850C0E-5404-4C18-A788-96AF9E1641C8}">
      <dgm:prSet phldrT="[Text]" custT="1"/>
      <dgm:spPr/>
      <dgm:t>
        <a:bodyPr/>
        <a:lstStyle/>
        <a:p>
          <a:r>
            <a:rPr lang="ro-RO" sz="1900" dirty="0" smtClean="0"/>
            <a:t>EREDITATE </a:t>
          </a:r>
        </a:p>
        <a:p>
          <a:r>
            <a:rPr lang="ro-RO" sz="1900" dirty="0" smtClean="0"/>
            <a:t>ȘI </a:t>
          </a:r>
        </a:p>
        <a:p>
          <a:r>
            <a:rPr lang="ro-RO" sz="1900" dirty="0" smtClean="0"/>
            <a:t>MEDIU</a:t>
          </a:r>
          <a:endParaRPr lang="en-US" sz="1900" dirty="0"/>
        </a:p>
      </dgm:t>
    </dgm:pt>
    <dgm:pt modelId="{B95620EC-EAA7-4DA8-9505-FFDBCB3EB578}" type="parTrans" cxnId="{DBF48CFF-1DBC-4BE5-A627-59A3BEC32003}">
      <dgm:prSet/>
      <dgm:spPr/>
      <dgm:t>
        <a:bodyPr/>
        <a:lstStyle/>
        <a:p>
          <a:endParaRPr lang="en-US"/>
        </a:p>
      </dgm:t>
    </dgm:pt>
    <dgm:pt modelId="{09E07092-EC3B-4497-B3DE-CA6DEDB8AC3B}" type="sibTrans" cxnId="{DBF48CFF-1DBC-4BE5-A627-59A3BEC32003}">
      <dgm:prSet/>
      <dgm:spPr/>
      <dgm:t>
        <a:bodyPr/>
        <a:lstStyle/>
        <a:p>
          <a:endParaRPr lang="en-US"/>
        </a:p>
      </dgm:t>
    </dgm:pt>
    <dgm:pt modelId="{7CA92DFC-C53A-4517-96AB-5719D64A281F}">
      <dgm:prSet phldrT="[Text]" custT="1"/>
      <dgm:spPr/>
      <dgm:t>
        <a:bodyPr/>
        <a:lstStyle/>
        <a:p>
          <a:r>
            <a:rPr lang="ro-RO" sz="2000" dirty="0" smtClean="0"/>
            <a:t>EDUCAȚIA</a:t>
          </a:r>
          <a:endParaRPr lang="en-US" sz="2000" dirty="0"/>
        </a:p>
      </dgm:t>
    </dgm:pt>
    <dgm:pt modelId="{AC26855D-13B4-4660-99D7-CA9C8B3D23EC}" type="parTrans" cxnId="{92269B59-F46C-4E60-B1D3-C473A7F33001}">
      <dgm:prSet/>
      <dgm:spPr/>
      <dgm:t>
        <a:bodyPr/>
        <a:lstStyle/>
        <a:p>
          <a:endParaRPr lang="en-US"/>
        </a:p>
      </dgm:t>
    </dgm:pt>
    <dgm:pt modelId="{CAF9A184-2EF5-4421-AF48-9BA8D5C3C360}" type="sibTrans" cxnId="{92269B59-F46C-4E60-B1D3-C473A7F33001}">
      <dgm:prSet/>
      <dgm:spPr/>
      <dgm:t>
        <a:bodyPr/>
        <a:lstStyle/>
        <a:p>
          <a:endParaRPr lang="en-US"/>
        </a:p>
      </dgm:t>
    </dgm:pt>
    <dgm:pt modelId="{F3D76345-6F42-467F-A2E2-1C6C2F317815}">
      <dgm:prSet phldrT="[Text]" custT="1"/>
      <dgm:spPr/>
      <dgm:t>
        <a:bodyPr/>
        <a:lstStyle/>
        <a:p>
          <a:r>
            <a:rPr lang="ro-RO" sz="2000" b="0" dirty="0" smtClean="0"/>
            <a:t>EDUCAȚIA</a:t>
          </a:r>
          <a:endParaRPr lang="en-US" sz="2000" b="0" dirty="0"/>
        </a:p>
      </dgm:t>
    </dgm:pt>
    <dgm:pt modelId="{4D7F1AE9-5596-42CD-AF2B-EE1E767C2B9E}" type="parTrans" cxnId="{4120604B-1C90-4CB1-B58D-162BB6F0D342}">
      <dgm:prSet/>
      <dgm:spPr/>
      <dgm:t>
        <a:bodyPr/>
        <a:lstStyle/>
        <a:p>
          <a:endParaRPr lang="en-US"/>
        </a:p>
      </dgm:t>
    </dgm:pt>
    <dgm:pt modelId="{1167D033-CEF9-4939-B912-C99E7DFA717E}" type="sibTrans" cxnId="{4120604B-1C90-4CB1-B58D-162BB6F0D342}">
      <dgm:prSet/>
      <dgm:spPr/>
      <dgm:t>
        <a:bodyPr/>
        <a:lstStyle/>
        <a:p>
          <a:endParaRPr lang="en-US"/>
        </a:p>
      </dgm:t>
    </dgm:pt>
    <dgm:pt modelId="{65377313-5715-44E3-9C5B-830ED06F3649}" type="pres">
      <dgm:prSet presAssocID="{A89EA11A-F7B7-4EE7-85E9-3A04E05D5DC3}" presName="compositeShape" presStyleCnt="0">
        <dgm:presLayoutVars>
          <dgm:chMax val="7"/>
          <dgm:dir/>
          <dgm:resizeHandles val="exact"/>
        </dgm:presLayoutVars>
      </dgm:prSet>
      <dgm:spPr/>
    </dgm:pt>
    <dgm:pt modelId="{0DB60BB8-6A54-409D-A015-696060F7E482}" type="pres">
      <dgm:prSet presAssocID="{A89EA11A-F7B7-4EE7-85E9-3A04E05D5DC3}" presName="wedge1" presStyleLbl="node1" presStyleIdx="0" presStyleCnt="3"/>
      <dgm:spPr/>
      <dgm:t>
        <a:bodyPr/>
        <a:lstStyle/>
        <a:p>
          <a:endParaRPr lang="en-US"/>
        </a:p>
      </dgm:t>
    </dgm:pt>
    <dgm:pt modelId="{28F8D0ED-27A9-4368-8B93-5BAE7EBBB3D1}" type="pres">
      <dgm:prSet presAssocID="{A89EA11A-F7B7-4EE7-85E9-3A04E05D5DC3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DD3D6F7-7B74-4582-9731-F12C88B17C78}" type="pres">
      <dgm:prSet presAssocID="{A89EA11A-F7B7-4EE7-85E9-3A04E05D5DC3}" presName="wedge2" presStyleLbl="node1" presStyleIdx="1" presStyleCnt="3"/>
      <dgm:spPr/>
      <dgm:t>
        <a:bodyPr/>
        <a:lstStyle/>
        <a:p>
          <a:endParaRPr lang="en-US"/>
        </a:p>
      </dgm:t>
    </dgm:pt>
    <dgm:pt modelId="{9245451B-0E1A-4447-B271-B9A8351AB039}" type="pres">
      <dgm:prSet presAssocID="{A89EA11A-F7B7-4EE7-85E9-3A04E05D5DC3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DEAF304-B133-4E4E-A2CB-8CB22B3054E8}" type="pres">
      <dgm:prSet presAssocID="{A89EA11A-F7B7-4EE7-85E9-3A04E05D5DC3}" presName="wedge3" presStyleLbl="node1" presStyleIdx="2" presStyleCnt="3" custLinFactNeighborX="-1272" custLinFactNeighborY="-590"/>
      <dgm:spPr/>
      <dgm:t>
        <a:bodyPr/>
        <a:lstStyle/>
        <a:p>
          <a:endParaRPr lang="en-US"/>
        </a:p>
      </dgm:t>
    </dgm:pt>
    <dgm:pt modelId="{17397CAD-E0A5-4DDB-915B-F9372AE6E00F}" type="pres">
      <dgm:prSet presAssocID="{A89EA11A-F7B7-4EE7-85E9-3A04E05D5DC3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D787E83-0863-4927-B7E8-F25EE91B8618}" type="presOf" srcId="{44850C0E-5404-4C18-A788-96AF9E1641C8}" destId="{0DB60BB8-6A54-409D-A015-696060F7E482}" srcOrd="0" destOrd="0" presId="urn:microsoft.com/office/officeart/2005/8/layout/chart3"/>
    <dgm:cxn modelId="{C3AA671E-57B3-4DB2-8296-9F2ECF6644E8}" type="presOf" srcId="{7CA92DFC-C53A-4517-96AB-5719D64A281F}" destId="{9245451B-0E1A-4447-B271-B9A8351AB039}" srcOrd="1" destOrd="0" presId="urn:microsoft.com/office/officeart/2005/8/layout/chart3"/>
    <dgm:cxn modelId="{E9C585ED-016F-440E-8BEE-13BC7EDAA4D2}" type="presOf" srcId="{F3D76345-6F42-467F-A2E2-1C6C2F317815}" destId="{17397CAD-E0A5-4DDB-915B-F9372AE6E00F}" srcOrd="1" destOrd="0" presId="urn:microsoft.com/office/officeart/2005/8/layout/chart3"/>
    <dgm:cxn modelId="{CCD57602-AEBD-487A-A7B7-11B661B54491}" type="presOf" srcId="{F3D76345-6F42-467F-A2E2-1C6C2F317815}" destId="{3DEAF304-B133-4E4E-A2CB-8CB22B3054E8}" srcOrd="0" destOrd="0" presId="urn:microsoft.com/office/officeart/2005/8/layout/chart3"/>
    <dgm:cxn modelId="{92269B59-F46C-4E60-B1D3-C473A7F33001}" srcId="{A89EA11A-F7B7-4EE7-85E9-3A04E05D5DC3}" destId="{7CA92DFC-C53A-4517-96AB-5719D64A281F}" srcOrd="1" destOrd="0" parTransId="{AC26855D-13B4-4660-99D7-CA9C8B3D23EC}" sibTransId="{CAF9A184-2EF5-4421-AF48-9BA8D5C3C360}"/>
    <dgm:cxn modelId="{6682D012-2F2D-4F5A-9E68-3F96B310F9C7}" type="presOf" srcId="{A89EA11A-F7B7-4EE7-85E9-3A04E05D5DC3}" destId="{65377313-5715-44E3-9C5B-830ED06F3649}" srcOrd="0" destOrd="0" presId="urn:microsoft.com/office/officeart/2005/8/layout/chart3"/>
    <dgm:cxn modelId="{4120604B-1C90-4CB1-B58D-162BB6F0D342}" srcId="{A89EA11A-F7B7-4EE7-85E9-3A04E05D5DC3}" destId="{F3D76345-6F42-467F-A2E2-1C6C2F317815}" srcOrd="2" destOrd="0" parTransId="{4D7F1AE9-5596-42CD-AF2B-EE1E767C2B9E}" sibTransId="{1167D033-CEF9-4939-B912-C99E7DFA717E}"/>
    <dgm:cxn modelId="{0F308D9F-02BA-4E28-93D9-D9CD90312CAD}" type="presOf" srcId="{44850C0E-5404-4C18-A788-96AF9E1641C8}" destId="{28F8D0ED-27A9-4368-8B93-5BAE7EBBB3D1}" srcOrd="1" destOrd="0" presId="urn:microsoft.com/office/officeart/2005/8/layout/chart3"/>
    <dgm:cxn modelId="{DBF48CFF-1DBC-4BE5-A627-59A3BEC32003}" srcId="{A89EA11A-F7B7-4EE7-85E9-3A04E05D5DC3}" destId="{44850C0E-5404-4C18-A788-96AF9E1641C8}" srcOrd="0" destOrd="0" parTransId="{B95620EC-EAA7-4DA8-9505-FFDBCB3EB578}" sibTransId="{09E07092-EC3B-4497-B3DE-CA6DEDB8AC3B}"/>
    <dgm:cxn modelId="{20335E32-64FE-4A4C-A30C-7DD073F59D6C}" type="presOf" srcId="{7CA92DFC-C53A-4517-96AB-5719D64A281F}" destId="{2DD3D6F7-7B74-4582-9731-F12C88B17C78}" srcOrd="0" destOrd="0" presId="urn:microsoft.com/office/officeart/2005/8/layout/chart3"/>
    <dgm:cxn modelId="{A86CED8F-FA8A-4D90-BBA3-E1C3B42CFC1B}" type="presParOf" srcId="{65377313-5715-44E3-9C5B-830ED06F3649}" destId="{0DB60BB8-6A54-409D-A015-696060F7E482}" srcOrd="0" destOrd="0" presId="urn:microsoft.com/office/officeart/2005/8/layout/chart3"/>
    <dgm:cxn modelId="{6557DF87-CFC6-48A9-AA40-F3A7110EE40B}" type="presParOf" srcId="{65377313-5715-44E3-9C5B-830ED06F3649}" destId="{28F8D0ED-27A9-4368-8B93-5BAE7EBBB3D1}" srcOrd="1" destOrd="0" presId="urn:microsoft.com/office/officeart/2005/8/layout/chart3"/>
    <dgm:cxn modelId="{719A55CA-D44E-4600-8090-F0DB9371B634}" type="presParOf" srcId="{65377313-5715-44E3-9C5B-830ED06F3649}" destId="{2DD3D6F7-7B74-4582-9731-F12C88B17C78}" srcOrd="2" destOrd="0" presId="urn:microsoft.com/office/officeart/2005/8/layout/chart3"/>
    <dgm:cxn modelId="{5BAEEDA2-697C-4E82-856F-FB849C8240FE}" type="presParOf" srcId="{65377313-5715-44E3-9C5B-830ED06F3649}" destId="{9245451B-0E1A-4447-B271-B9A8351AB039}" srcOrd="3" destOrd="0" presId="urn:microsoft.com/office/officeart/2005/8/layout/chart3"/>
    <dgm:cxn modelId="{402ACDFF-0D1F-4127-975C-606D75F24846}" type="presParOf" srcId="{65377313-5715-44E3-9C5B-830ED06F3649}" destId="{3DEAF304-B133-4E4E-A2CB-8CB22B3054E8}" srcOrd="4" destOrd="0" presId="urn:microsoft.com/office/officeart/2005/8/layout/chart3"/>
    <dgm:cxn modelId="{3E0C0E19-0A58-43F7-8C05-F4BB19FE1E8B}" type="presParOf" srcId="{65377313-5715-44E3-9C5B-830ED06F3649}" destId="{17397CAD-E0A5-4DDB-915B-F9372AE6E00F}" srcOrd="5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D85D670-1763-4D63-940F-FE1021621F86}" type="doc">
      <dgm:prSet loTypeId="urn:microsoft.com/office/officeart/2005/8/layout/chart3" loCatId="relationship" qsTypeId="urn:microsoft.com/office/officeart/2005/8/quickstyle/simple1" qsCatId="simple" csTypeId="urn:microsoft.com/office/officeart/2005/8/colors/accent1_4" csCatId="accent1" phldr="1"/>
      <dgm:spPr/>
    </dgm:pt>
    <dgm:pt modelId="{DC375769-B2DA-4DB5-8160-7EC76FABF758}">
      <dgm:prSet phldrT="[Text]" custT="1"/>
      <dgm:spPr/>
      <dgm:t>
        <a:bodyPr/>
        <a:lstStyle/>
        <a:p>
          <a:r>
            <a:rPr lang="ro-RO" sz="2000" dirty="0" smtClean="0"/>
            <a:t>EDUCAȚIE</a:t>
          </a:r>
          <a:endParaRPr lang="en-US" sz="2000" dirty="0"/>
        </a:p>
      </dgm:t>
    </dgm:pt>
    <dgm:pt modelId="{9B49DEAA-5909-40B8-8C49-0DE682925807}" type="parTrans" cxnId="{EE3ECC2E-F633-4235-9673-AB1643AF14A6}">
      <dgm:prSet/>
      <dgm:spPr/>
      <dgm:t>
        <a:bodyPr/>
        <a:lstStyle/>
        <a:p>
          <a:endParaRPr lang="en-US"/>
        </a:p>
      </dgm:t>
    </dgm:pt>
    <dgm:pt modelId="{B3F3CCD0-F981-4752-B05A-D3E46C491891}" type="sibTrans" cxnId="{EE3ECC2E-F633-4235-9673-AB1643AF14A6}">
      <dgm:prSet/>
      <dgm:spPr/>
      <dgm:t>
        <a:bodyPr/>
        <a:lstStyle/>
        <a:p>
          <a:endParaRPr lang="en-US"/>
        </a:p>
      </dgm:t>
    </dgm:pt>
    <dgm:pt modelId="{1E0C7D02-C899-4629-B006-BBF52AB75035}">
      <dgm:prSet phldrT="[Text]" custT="1"/>
      <dgm:spPr/>
      <dgm:t>
        <a:bodyPr/>
        <a:lstStyle/>
        <a:p>
          <a:r>
            <a:rPr lang="ro-RO" sz="2000" dirty="0" smtClean="0"/>
            <a:t>MEDIU</a:t>
          </a:r>
          <a:endParaRPr lang="en-US" sz="2000" dirty="0"/>
        </a:p>
      </dgm:t>
    </dgm:pt>
    <dgm:pt modelId="{8680D616-9C3D-46F8-80CC-056B4FBDF606}" type="parTrans" cxnId="{61843661-E66A-4D68-BA82-39DD34B12C5F}">
      <dgm:prSet/>
      <dgm:spPr/>
      <dgm:t>
        <a:bodyPr/>
        <a:lstStyle/>
        <a:p>
          <a:endParaRPr lang="en-US"/>
        </a:p>
      </dgm:t>
    </dgm:pt>
    <dgm:pt modelId="{0EA69D93-0DF8-43ED-B8EB-2BABAE35C638}" type="sibTrans" cxnId="{61843661-E66A-4D68-BA82-39DD34B12C5F}">
      <dgm:prSet/>
      <dgm:spPr/>
      <dgm:t>
        <a:bodyPr/>
        <a:lstStyle/>
        <a:p>
          <a:endParaRPr lang="en-US"/>
        </a:p>
      </dgm:t>
    </dgm:pt>
    <dgm:pt modelId="{EE8AAD7D-3D05-493A-BDE4-71AB200A796C}">
      <dgm:prSet phldrT="[Text]" custT="1"/>
      <dgm:spPr/>
      <dgm:t>
        <a:bodyPr/>
        <a:lstStyle/>
        <a:p>
          <a:r>
            <a:rPr lang="ro-RO" sz="1900" dirty="0" smtClean="0"/>
            <a:t>EREDITATE</a:t>
          </a:r>
          <a:endParaRPr lang="en-US" sz="1900" dirty="0"/>
        </a:p>
      </dgm:t>
    </dgm:pt>
    <dgm:pt modelId="{67A438C7-0AA5-4036-AD30-43B763D363A3}" type="parTrans" cxnId="{32CA87C2-EA2A-4DF7-A689-0AC8C15FFF7E}">
      <dgm:prSet/>
      <dgm:spPr/>
      <dgm:t>
        <a:bodyPr/>
        <a:lstStyle/>
        <a:p>
          <a:endParaRPr lang="en-US"/>
        </a:p>
      </dgm:t>
    </dgm:pt>
    <dgm:pt modelId="{E62D113F-AD1A-4D84-83C4-99F7AFCEBDF9}" type="sibTrans" cxnId="{32CA87C2-EA2A-4DF7-A689-0AC8C15FFF7E}">
      <dgm:prSet/>
      <dgm:spPr/>
      <dgm:t>
        <a:bodyPr/>
        <a:lstStyle/>
        <a:p>
          <a:endParaRPr lang="en-US"/>
        </a:p>
      </dgm:t>
    </dgm:pt>
    <dgm:pt modelId="{20D8F485-7959-4522-8BA6-08CA7BAB85D6}" type="pres">
      <dgm:prSet presAssocID="{4D85D670-1763-4D63-940F-FE1021621F86}" presName="compositeShape" presStyleCnt="0">
        <dgm:presLayoutVars>
          <dgm:chMax val="7"/>
          <dgm:dir/>
          <dgm:resizeHandles val="exact"/>
        </dgm:presLayoutVars>
      </dgm:prSet>
      <dgm:spPr/>
    </dgm:pt>
    <dgm:pt modelId="{9AD9C4F7-7D9D-4A6C-B685-934B2367AB39}" type="pres">
      <dgm:prSet presAssocID="{4D85D670-1763-4D63-940F-FE1021621F86}" presName="wedge1" presStyleLbl="node1" presStyleIdx="0" presStyleCnt="3"/>
      <dgm:spPr/>
      <dgm:t>
        <a:bodyPr/>
        <a:lstStyle/>
        <a:p>
          <a:endParaRPr lang="en-US"/>
        </a:p>
      </dgm:t>
    </dgm:pt>
    <dgm:pt modelId="{71290430-E125-4634-881B-2E4DCD42DE09}" type="pres">
      <dgm:prSet presAssocID="{4D85D670-1763-4D63-940F-FE1021621F86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F5809B6-0384-4533-8873-D5ADDB771F09}" type="pres">
      <dgm:prSet presAssocID="{4D85D670-1763-4D63-940F-FE1021621F86}" presName="wedge2" presStyleLbl="node1" presStyleIdx="1" presStyleCnt="3"/>
      <dgm:spPr/>
      <dgm:t>
        <a:bodyPr/>
        <a:lstStyle/>
        <a:p>
          <a:endParaRPr lang="en-US"/>
        </a:p>
      </dgm:t>
    </dgm:pt>
    <dgm:pt modelId="{85D434DD-B3D6-4DD3-99F0-BD550731F02F}" type="pres">
      <dgm:prSet presAssocID="{4D85D670-1763-4D63-940F-FE1021621F86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DDCAB6E-F894-4B70-88FC-FF9EC0D7DC5B}" type="pres">
      <dgm:prSet presAssocID="{4D85D670-1763-4D63-940F-FE1021621F86}" presName="wedge3" presStyleLbl="node1" presStyleIdx="2" presStyleCnt="3"/>
      <dgm:spPr/>
      <dgm:t>
        <a:bodyPr/>
        <a:lstStyle/>
        <a:p>
          <a:endParaRPr lang="en-US"/>
        </a:p>
      </dgm:t>
    </dgm:pt>
    <dgm:pt modelId="{6DD847A3-AB08-4D82-B874-17FDEC17C1C7}" type="pres">
      <dgm:prSet presAssocID="{4D85D670-1763-4D63-940F-FE1021621F86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4B2C6E8-15DE-423F-864C-B40D5D7BB6C9}" type="presOf" srcId="{EE8AAD7D-3D05-493A-BDE4-71AB200A796C}" destId="{8DDCAB6E-F894-4B70-88FC-FF9EC0D7DC5B}" srcOrd="0" destOrd="0" presId="urn:microsoft.com/office/officeart/2005/8/layout/chart3"/>
    <dgm:cxn modelId="{EE3ECC2E-F633-4235-9673-AB1643AF14A6}" srcId="{4D85D670-1763-4D63-940F-FE1021621F86}" destId="{DC375769-B2DA-4DB5-8160-7EC76FABF758}" srcOrd="0" destOrd="0" parTransId="{9B49DEAA-5909-40B8-8C49-0DE682925807}" sibTransId="{B3F3CCD0-F981-4752-B05A-D3E46C491891}"/>
    <dgm:cxn modelId="{A3F9A00F-C0B6-407E-A3D3-F9D98E584DE3}" type="presOf" srcId="{EE8AAD7D-3D05-493A-BDE4-71AB200A796C}" destId="{6DD847A3-AB08-4D82-B874-17FDEC17C1C7}" srcOrd="1" destOrd="0" presId="urn:microsoft.com/office/officeart/2005/8/layout/chart3"/>
    <dgm:cxn modelId="{FF36AB24-BC44-47A4-BCB0-990BB8255ED4}" type="presOf" srcId="{DC375769-B2DA-4DB5-8160-7EC76FABF758}" destId="{71290430-E125-4634-881B-2E4DCD42DE09}" srcOrd="1" destOrd="0" presId="urn:microsoft.com/office/officeart/2005/8/layout/chart3"/>
    <dgm:cxn modelId="{E782589F-FDCD-4FDC-8A07-9A6DC7C32B60}" type="presOf" srcId="{DC375769-B2DA-4DB5-8160-7EC76FABF758}" destId="{9AD9C4F7-7D9D-4A6C-B685-934B2367AB39}" srcOrd="0" destOrd="0" presId="urn:microsoft.com/office/officeart/2005/8/layout/chart3"/>
    <dgm:cxn modelId="{6BBEC136-7090-4EA5-B4FE-B5CBACB5CD96}" type="presOf" srcId="{1E0C7D02-C899-4629-B006-BBF52AB75035}" destId="{DF5809B6-0384-4533-8873-D5ADDB771F09}" srcOrd="0" destOrd="0" presId="urn:microsoft.com/office/officeart/2005/8/layout/chart3"/>
    <dgm:cxn modelId="{61843661-E66A-4D68-BA82-39DD34B12C5F}" srcId="{4D85D670-1763-4D63-940F-FE1021621F86}" destId="{1E0C7D02-C899-4629-B006-BBF52AB75035}" srcOrd="1" destOrd="0" parTransId="{8680D616-9C3D-46F8-80CC-056B4FBDF606}" sibTransId="{0EA69D93-0DF8-43ED-B8EB-2BABAE35C638}"/>
    <dgm:cxn modelId="{32CA87C2-EA2A-4DF7-A689-0AC8C15FFF7E}" srcId="{4D85D670-1763-4D63-940F-FE1021621F86}" destId="{EE8AAD7D-3D05-493A-BDE4-71AB200A796C}" srcOrd="2" destOrd="0" parTransId="{67A438C7-0AA5-4036-AD30-43B763D363A3}" sibTransId="{E62D113F-AD1A-4D84-83C4-99F7AFCEBDF9}"/>
    <dgm:cxn modelId="{8D0F9363-8A2D-4F45-B9EE-94AE049529E9}" type="presOf" srcId="{4D85D670-1763-4D63-940F-FE1021621F86}" destId="{20D8F485-7959-4522-8BA6-08CA7BAB85D6}" srcOrd="0" destOrd="0" presId="urn:microsoft.com/office/officeart/2005/8/layout/chart3"/>
    <dgm:cxn modelId="{CA1B4351-061A-4347-83CD-74254AB5EC74}" type="presOf" srcId="{1E0C7D02-C899-4629-B006-BBF52AB75035}" destId="{85D434DD-B3D6-4DD3-99F0-BD550731F02F}" srcOrd="1" destOrd="0" presId="urn:microsoft.com/office/officeart/2005/8/layout/chart3"/>
    <dgm:cxn modelId="{F9848803-C725-4A7B-B717-BCB7594EE9D4}" type="presParOf" srcId="{20D8F485-7959-4522-8BA6-08CA7BAB85D6}" destId="{9AD9C4F7-7D9D-4A6C-B685-934B2367AB39}" srcOrd="0" destOrd="0" presId="urn:microsoft.com/office/officeart/2005/8/layout/chart3"/>
    <dgm:cxn modelId="{76384151-F55F-4236-87B7-655E759E78C0}" type="presParOf" srcId="{20D8F485-7959-4522-8BA6-08CA7BAB85D6}" destId="{71290430-E125-4634-881B-2E4DCD42DE09}" srcOrd="1" destOrd="0" presId="urn:microsoft.com/office/officeart/2005/8/layout/chart3"/>
    <dgm:cxn modelId="{63176349-0334-432F-9787-09CC1E32DBE8}" type="presParOf" srcId="{20D8F485-7959-4522-8BA6-08CA7BAB85D6}" destId="{DF5809B6-0384-4533-8873-D5ADDB771F09}" srcOrd="2" destOrd="0" presId="urn:microsoft.com/office/officeart/2005/8/layout/chart3"/>
    <dgm:cxn modelId="{8BD3C325-D6A7-44E9-AA8D-E389E1154A9B}" type="presParOf" srcId="{20D8F485-7959-4522-8BA6-08CA7BAB85D6}" destId="{85D434DD-B3D6-4DD3-99F0-BD550731F02F}" srcOrd="3" destOrd="0" presId="urn:microsoft.com/office/officeart/2005/8/layout/chart3"/>
    <dgm:cxn modelId="{5EDA6467-A4A7-4911-AED1-A669419A6E9C}" type="presParOf" srcId="{20D8F485-7959-4522-8BA6-08CA7BAB85D6}" destId="{8DDCAB6E-F894-4B70-88FC-FF9EC0D7DC5B}" srcOrd="4" destOrd="0" presId="urn:microsoft.com/office/officeart/2005/8/layout/chart3"/>
    <dgm:cxn modelId="{256CA1A2-96DD-40B5-9DBE-7664957E818C}" type="presParOf" srcId="{20D8F485-7959-4522-8BA6-08CA7BAB85D6}" destId="{6DD847A3-AB08-4D82-B874-17FDEC17C1C7}" srcOrd="5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4582F91-2A2B-4FC1-87E2-942E5754931E}" type="doc">
      <dgm:prSet loTypeId="urn:microsoft.com/office/officeart/2005/8/layout/cycle8" loCatId="cycle" qsTypeId="urn:microsoft.com/office/officeart/2005/8/quickstyle/simple1" qsCatId="simple" csTypeId="urn:microsoft.com/office/officeart/2005/8/colors/colorful2" csCatId="colorful" phldr="1"/>
      <dgm:spPr/>
    </dgm:pt>
    <dgm:pt modelId="{CDD15352-98A0-4F84-93A6-3146152F7BDB}">
      <dgm:prSet phldrT="[Text]" custT="1"/>
      <dgm:spPr/>
      <dgm:t>
        <a:bodyPr/>
        <a:lstStyle/>
        <a:p>
          <a:r>
            <a:rPr lang="ro-RO" sz="2000" dirty="0" smtClean="0"/>
            <a:t>MEDIU</a:t>
          </a:r>
          <a:endParaRPr lang="en-US" sz="2000" dirty="0"/>
        </a:p>
      </dgm:t>
    </dgm:pt>
    <dgm:pt modelId="{86897352-951C-49BE-A6EA-55B91C7FF044}" type="parTrans" cxnId="{65FD537C-34C2-48DC-A2AD-1F4D6686149D}">
      <dgm:prSet/>
      <dgm:spPr/>
    </dgm:pt>
    <dgm:pt modelId="{ABF03371-0835-483C-BE5D-772D3FB61476}" type="sibTrans" cxnId="{65FD537C-34C2-48DC-A2AD-1F4D6686149D}">
      <dgm:prSet/>
      <dgm:spPr/>
    </dgm:pt>
    <dgm:pt modelId="{2B0C724D-8B1A-469B-9F44-BE375F9B9EB5}">
      <dgm:prSet phldrT="[Text]" custT="1"/>
      <dgm:spPr/>
      <dgm:t>
        <a:bodyPr/>
        <a:lstStyle/>
        <a:p>
          <a:r>
            <a:rPr lang="ro-RO" sz="2000" dirty="0" smtClean="0"/>
            <a:t>EDUCAȚIE</a:t>
          </a:r>
          <a:endParaRPr lang="en-US" sz="2000" dirty="0"/>
        </a:p>
      </dgm:t>
    </dgm:pt>
    <dgm:pt modelId="{C976C62B-0733-4D6A-84F2-A121487407A3}" type="parTrans" cxnId="{114960D4-EA42-469C-AF92-39868D7E9CAB}">
      <dgm:prSet/>
      <dgm:spPr/>
    </dgm:pt>
    <dgm:pt modelId="{7112AEE2-8450-4F52-9673-32BD964DB3BD}" type="sibTrans" cxnId="{114960D4-EA42-469C-AF92-39868D7E9CAB}">
      <dgm:prSet/>
      <dgm:spPr/>
    </dgm:pt>
    <dgm:pt modelId="{B625414D-0EB0-44CC-A111-AF481047AB0D}">
      <dgm:prSet phldrT="[Text]" custT="1"/>
      <dgm:spPr/>
      <dgm:t>
        <a:bodyPr/>
        <a:lstStyle/>
        <a:p>
          <a:r>
            <a:rPr lang="ro-RO" sz="2000" dirty="0" smtClean="0"/>
            <a:t>EREDITATE</a:t>
          </a:r>
          <a:endParaRPr lang="en-US" sz="2000" dirty="0"/>
        </a:p>
      </dgm:t>
    </dgm:pt>
    <dgm:pt modelId="{642F68F7-1322-42C1-82A9-49AD9978F3B9}" type="parTrans" cxnId="{261963B0-A457-4763-B977-66F35CF5A569}">
      <dgm:prSet/>
      <dgm:spPr/>
    </dgm:pt>
    <dgm:pt modelId="{4491A3BF-0A8C-4F9B-81B4-42F356C24BFF}" type="sibTrans" cxnId="{261963B0-A457-4763-B977-66F35CF5A569}">
      <dgm:prSet/>
      <dgm:spPr/>
    </dgm:pt>
    <dgm:pt modelId="{845C99E1-F581-459B-A0F6-18B1A47BF99F}" type="pres">
      <dgm:prSet presAssocID="{54582F91-2A2B-4FC1-87E2-942E5754931E}" presName="compositeShape" presStyleCnt="0">
        <dgm:presLayoutVars>
          <dgm:chMax val="7"/>
          <dgm:dir/>
          <dgm:resizeHandles val="exact"/>
        </dgm:presLayoutVars>
      </dgm:prSet>
      <dgm:spPr/>
    </dgm:pt>
    <dgm:pt modelId="{D997FDC5-4B42-4211-9D1A-AA21D00FB6A4}" type="pres">
      <dgm:prSet presAssocID="{54582F91-2A2B-4FC1-87E2-942E5754931E}" presName="wedge1" presStyleLbl="node1" presStyleIdx="0" presStyleCnt="3"/>
      <dgm:spPr/>
      <dgm:t>
        <a:bodyPr/>
        <a:lstStyle/>
        <a:p>
          <a:endParaRPr lang="en-US"/>
        </a:p>
      </dgm:t>
    </dgm:pt>
    <dgm:pt modelId="{D5DD2D0F-2D62-4161-8943-88130567FC1E}" type="pres">
      <dgm:prSet presAssocID="{54582F91-2A2B-4FC1-87E2-942E5754931E}" presName="dummy1a" presStyleCnt="0"/>
      <dgm:spPr/>
    </dgm:pt>
    <dgm:pt modelId="{3E092D38-AC40-494C-9E7D-B5B50A17DE5B}" type="pres">
      <dgm:prSet presAssocID="{54582F91-2A2B-4FC1-87E2-942E5754931E}" presName="dummy1b" presStyleCnt="0"/>
      <dgm:spPr/>
    </dgm:pt>
    <dgm:pt modelId="{65689025-CDCE-40F4-A775-C2809191E4C6}" type="pres">
      <dgm:prSet presAssocID="{54582F91-2A2B-4FC1-87E2-942E5754931E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BDBFAC6-C3EF-47ED-A613-9834C44D444D}" type="pres">
      <dgm:prSet presAssocID="{54582F91-2A2B-4FC1-87E2-942E5754931E}" presName="wedge2" presStyleLbl="node1" presStyleIdx="1" presStyleCnt="3"/>
      <dgm:spPr/>
      <dgm:t>
        <a:bodyPr/>
        <a:lstStyle/>
        <a:p>
          <a:endParaRPr lang="en-US"/>
        </a:p>
      </dgm:t>
    </dgm:pt>
    <dgm:pt modelId="{FC3FE84E-90C1-49A0-A9E7-91F690C40A06}" type="pres">
      <dgm:prSet presAssocID="{54582F91-2A2B-4FC1-87E2-942E5754931E}" presName="dummy2a" presStyleCnt="0"/>
      <dgm:spPr/>
    </dgm:pt>
    <dgm:pt modelId="{04C31ECE-E4A3-4C16-8E0A-35E04751CAC6}" type="pres">
      <dgm:prSet presAssocID="{54582F91-2A2B-4FC1-87E2-942E5754931E}" presName="dummy2b" presStyleCnt="0"/>
      <dgm:spPr/>
    </dgm:pt>
    <dgm:pt modelId="{2DEA0CE9-412C-4F09-B5A5-9F9FBBB7A34E}" type="pres">
      <dgm:prSet presAssocID="{54582F91-2A2B-4FC1-87E2-942E5754931E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9A971B1-CF47-4FB8-BB56-40B963C24F66}" type="pres">
      <dgm:prSet presAssocID="{54582F91-2A2B-4FC1-87E2-942E5754931E}" presName="wedge3" presStyleLbl="node1" presStyleIdx="2" presStyleCnt="3"/>
      <dgm:spPr/>
      <dgm:t>
        <a:bodyPr/>
        <a:lstStyle/>
        <a:p>
          <a:endParaRPr lang="en-US"/>
        </a:p>
      </dgm:t>
    </dgm:pt>
    <dgm:pt modelId="{2848A916-E486-4774-A007-8BAB2297E340}" type="pres">
      <dgm:prSet presAssocID="{54582F91-2A2B-4FC1-87E2-942E5754931E}" presName="dummy3a" presStyleCnt="0"/>
      <dgm:spPr/>
    </dgm:pt>
    <dgm:pt modelId="{6BBB546A-9F7B-4D39-BBF2-DEE1252FBE52}" type="pres">
      <dgm:prSet presAssocID="{54582F91-2A2B-4FC1-87E2-942E5754931E}" presName="dummy3b" presStyleCnt="0"/>
      <dgm:spPr/>
    </dgm:pt>
    <dgm:pt modelId="{EB69C27E-41E2-45DF-B188-FE1815E30311}" type="pres">
      <dgm:prSet presAssocID="{54582F91-2A2B-4FC1-87E2-942E5754931E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E069FF2-F285-4C32-8201-06D17C6F8AD2}" type="pres">
      <dgm:prSet presAssocID="{ABF03371-0835-483C-BE5D-772D3FB61476}" presName="arrowWedge1" presStyleLbl="fgSibTrans2D1" presStyleIdx="0" presStyleCnt="3"/>
      <dgm:spPr/>
    </dgm:pt>
    <dgm:pt modelId="{B59419F4-31FF-4FAD-B490-00FEBA45C412}" type="pres">
      <dgm:prSet presAssocID="{7112AEE2-8450-4F52-9673-32BD964DB3BD}" presName="arrowWedge2" presStyleLbl="fgSibTrans2D1" presStyleIdx="1" presStyleCnt="3"/>
      <dgm:spPr/>
    </dgm:pt>
    <dgm:pt modelId="{8DEA2C26-CF1A-4712-B368-F32D37AD8347}" type="pres">
      <dgm:prSet presAssocID="{4491A3BF-0A8C-4F9B-81B4-42F356C24BFF}" presName="arrowWedge3" presStyleLbl="fgSibTrans2D1" presStyleIdx="2" presStyleCnt="3"/>
      <dgm:spPr/>
    </dgm:pt>
  </dgm:ptLst>
  <dgm:cxnLst>
    <dgm:cxn modelId="{A9694C99-E50F-40AA-8282-98A1982649E7}" type="presOf" srcId="{2B0C724D-8B1A-469B-9F44-BE375F9B9EB5}" destId="{EBDBFAC6-C3EF-47ED-A613-9834C44D444D}" srcOrd="0" destOrd="0" presId="urn:microsoft.com/office/officeart/2005/8/layout/cycle8"/>
    <dgm:cxn modelId="{943788A6-3636-433B-A23D-A4473F7669A1}" type="presOf" srcId="{CDD15352-98A0-4F84-93A6-3146152F7BDB}" destId="{D997FDC5-4B42-4211-9D1A-AA21D00FB6A4}" srcOrd="0" destOrd="0" presId="urn:microsoft.com/office/officeart/2005/8/layout/cycle8"/>
    <dgm:cxn modelId="{743CF9E9-13ED-45DF-9EDD-40236E857A62}" type="presOf" srcId="{54582F91-2A2B-4FC1-87E2-942E5754931E}" destId="{845C99E1-F581-459B-A0F6-18B1A47BF99F}" srcOrd="0" destOrd="0" presId="urn:microsoft.com/office/officeart/2005/8/layout/cycle8"/>
    <dgm:cxn modelId="{114960D4-EA42-469C-AF92-39868D7E9CAB}" srcId="{54582F91-2A2B-4FC1-87E2-942E5754931E}" destId="{2B0C724D-8B1A-469B-9F44-BE375F9B9EB5}" srcOrd="1" destOrd="0" parTransId="{C976C62B-0733-4D6A-84F2-A121487407A3}" sibTransId="{7112AEE2-8450-4F52-9673-32BD964DB3BD}"/>
    <dgm:cxn modelId="{07A2D38E-85D5-4ED8-B411-760D4F6A354A}" type="presOf" srcId="{2B0C724D-8B1A-469B-9F44-BE375F9B9EB5}" destId="{2DEA0CE9-412C-4F09-B5A5-9F9FBBB7A34E}" srcOrd="1" destOrd="0" presId="urn:microsoft.com/office/officeart/2005/8/layout/cycle8"/>
    <dgm:cxn modelId="{293A2371-A9B7-4575-8FD0-2DB7136D2954}" type="presOf" srcId="{B625414D-0EB0-44CC-A111-AF481047AB0D}" destId="{EB69C27E-41E2-45DF-B188-FE1815E30311}" srcOrd="1" destOrd="0" presId="urn:microsoft.com/office/officeart/2005/8/layout/cycle8"/>
    <dgm:cxn modelId="{2F45FD0B-1E56-41DB-9105-8FE9A8444078}" type="presOf" srcId="{CDD15352-98A0-4F84-93A6-3146152F7BDB}" destId="{65689025-CDCE-40F4-A775-C2809191E4C6}" srcOrd="1" destOrd="0" presId="urn:microsoft.com/office/officeart/2005/8/layout/cycle8"/>
    <dgm:cxn modelId="{F14AA82B-B526-482A-B9F1-427F03405320}" type="presOf" srcId="{B625414D-0EB0-44CC-A111-AF481047AB0D}" destId="{49A971B1-CF47-4FB8-BB56-40B963C24F66}" srcOrd="0" destOrd="0" presId="urn:microsoft.com/office/officeart/2005/8/layout/cycle8"/>
    <dgm:cxn modelId="{65FD537C-34C2-48DC-A2AD-1F4D6686149D}" srcId="{54582F91-2A2B-4FC1-87E2-942E5754931E}" destId="{CDD15352-98A0-4F84-93A6-3146152F7BDB}" srcOrd="0" destOrd="0" parTransId="{86897352-951C-49BE-A6EA-55B91C7FF044}" sibTransId="{ABF03371-0835-483C-BE5D-772D3FB61476}"/>
    <dgm:cxn modelId="{261963B0-A457-4763-B977-66F35CF5A569}" srcId="{54582F91-2A2B-4FC1-87E2-942E5754931E}" destId="{B625414D-0EB0-44CC-A111-AF481047AB0D}" srcOrd="2" destOrd="0" parTransId="{642F68F7-1322-42C1-82A9-49AD9978F3B9}" sibTransId="{4491A3BF-0A8C-4F9B-81B4-42F356C24BFF}"/>
    <dgm:cxn modelId="{F339E76A-D9FE-4279-83BE-77790199DBBE}" type="presParOf" srcId="{845C99E1-F581-459B-A0F6-18B1A47BF99F}" destId="{D997FDC5-4B42-4211-9D1A-AA21D00FB6A4}" srcOrd="0" destOrd="0" presId="urn:microsoft.com/office/officeart/2005/8/layout/cycle8"/>
    <dgm:cxn modelId="{B22CA473-2482-43AD-897D-1762354DC4C0}" type="presParOf" srcId="{845C99E1-F581-459B-A0F6-18B1A47BF99F}" destId="{D5DD2D0F-2D62-4161-8943-88130567FC1E}" srcOrd="1" destOrd="0" presId="urn:microsoft.com/office/officeart/2005/8/layout/cycle8"/>
    <dgm:cxn modelId="{9E9132AA-48E1-4465-8EE1-23392E3B6200}" type="presParOf" srcId="{845C99E1-F581-459B-A0F6-18B1A47BF99F}" destId="{3E092D38-AC40-494C-9E7D-B5B50A17DE5B}" srcOrd="2" destOrd="0" presId="urn:microsoft.com/office/officeart/2005/8/layout/cycle8"/>
    <dgm:cxn modelId="{347DC06B-AA11-4366-BB49-F2E0BEEB9CED}" type="presParOf" srcId="{845C99E1-F581-459B-A0F6-18B1A47BF99F}" destId="{65689025-CDCE-40F4-A775-C2809191E4C6}" srcOrd="3" destOrd="0" presId="urn:microsoft.com/office/officeart/2005/8/layout/cycle8"/>
    <dgm:cxn modelId="{B3FA3E38-7A6C-4932-89F7-EDAE182376EA}" type="presParOf" srcId="{845C99E1-F581-459B-A0F6-18B1A47BF99F}" destId="{EBDBFAC6-C3EF-47ED-A613-9834C44D444D}" srcOrd="4" destOrd="0" presId="urn:microsoft.com/office/officeart/2005/8/layout/cycle8"/>
    <dgm:cxn modelId="{963B4F12-1930-4E1D-83F2-74BC38916F48}" type="presParOf" srcId="{845C99E1-F581-459B-A0F6-18B1A47BF99F}" destId="{FC3FE84E-90C1-49A0-A9E7-91F690C40A06}" srcOrd="5" destOrd="0" presId="urn:microsoft.com/office/officeart/2005/8/layout/cycle8"/>
    <dgm:cxn modelId="{BCA4E589-B7FF-4C37-AB89-A03819964C68}" type="presParOf" srcId="{845C99E1-F581-459B-A0F6-18B1A47BF99F}" destId="{04C31ECE-E4A3-4C16-8E0A-35E04751CAC6}" srcOrd="6" destOrd="0" presId="urn:microsoft.com/office/officeart/2005/8/layout/cycle8"/>
    <dgm:cxn modelId="{7BE649B2-2B32-4754-842B-561E092E7735}" type="presParOf" srcId="{845C99E1-F581-459B-A0F6-18B1A47BF99F}" destId="{2DEA0CE9-412C-4F09-B5A5-9F9FBBB7A34E}" srcOrd="7" destOrd="0" presId="urn:microsoft.com/office/officeart/2005/8/layout/cycle8"/>
    <dgm:cxn modelId="{5B11FA3F-0D13-4464-B610-1EF983684B91}" type="presParOf" srcId="{845C99E1-F581-459B-A0F6-18B1A47BF99F}" destId="{49A971B1-CF47-4FB8-BB56-40B963C24F66}" srcOrd="8" destOrd="0" presId="urn:microsoft.com/office/officeart/2005/8/layout/cycle8"/>
    <dgm:cxn modelId="{195386A3-D72D-46BE-BE22-11CB8FAEB330}" type="presParOf" srcId="{845C99E1-F581-459B-A0F6-18B1A47BF99F}" destId="{2848A916-E486-4774-A007-8BAB2297E340}" srcOrd="9" destOrd="0" presId="urn:microsoft.com/office/officeart/2005/8/layout/cycle8"/>
    <dgm:cxn modelId="{0820205A-E815-4609-BB5B-850190E86F9D}" type="presParOf" srcId="{845C99E1-F581-459B-A0F6-18B1A47BF99F}" destId="{6BBB546A-9F7B-4D39-BBF2-DEE1252FBE52}" srcOrd="10" destOrd="0" presId="urn:microsoft.com/office/officeart/2005/8/layout/cycle8"/>
    <dgm:cxn modelId="{8043E338-010C-4A04-9574-85E60B7DC8F0}" type="presParOf" srcId="{845C99E1-F581-459B-A0F6-18B1A47BF99F}" destId="{EB69C27E-41E2-45DF-B188-FE1815E30311}" srcOrd="11" destOrd="0" presId="urn:microsoft.com/office/officeart/2005/8/layout/cycle8"/>
    <dgm:cxn modelId="{977BD1BB-3EFA-48D8-B96C-5951E2A180AC}" type="presParOf" srcId="{845C99E1-F581-459B-A0F6-18B1A47BF99F}" destId="{CE069FF2-F285-4C32-8201-06D17C6F8AD2}" srcOrd="12" destOrd="0" presId="urn:microsoft.com/office/officeart/2005/8/layout/cycle8"/>
    <dgm:cxn modelId="{D1DD5BBE-D1A5-4EE5-8A53-11CBB547AF46}" type="presParOf" srcId="{845C99E1-F581-459B-A0F6-18B1A47BF99F}" destId="{B59419F4-31FF-4FAD-B490-00FEBA45C412}" srcOrd="13" destOrd="0" presId="urn:microsoft.com/office/officeart/2005/8/layout/cycle8"/>
    <dgm:cxn modelId="{326454D6-349A-429F-A1C6-310AF4EAD196}" type="presParOf" srcId="{845C99E1-F581-459B-A0F6-18B1A47BF99F}" destId="{8DEA2C26-CF1A-4712-B368-F32D37AD8347}" srcOrd="1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DB60BB8-6A54-409D-A015-696060F7E482}">
      <dsp:nvSpPr>
        <dsp:cNvPr id="0" name=""/>
        <dsp:cNvSpPr/>
      </dsp:nvSpPr>
      <dsp:spPr>
        <a:xfrm>
          <a:off x="2164538" y="330469"/>
          <a:ext cx="4112514" cy="4112514"/>
        </a:xfrm>
        <a:prstGeom prst="pie">
          <a:avLst>
            <a:gd name="adj1" fmla="val 16200000"/>
            <a:gd name="adj2" fmla="val 1800000"/>
          </a:avLst>
        </a:prstGeom>
        <a:solidFill>
          <a:schemeClr val="accent2">
            <a:shade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1900" kern="1200" dirty="0" smtClean="0"/>
            <a:t>EREDITATE </a:t>
          </a:r>
        </a:p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1900" kern="1200" dirty="0" smtClean="0"/>
            <a:t>ȘI </a:t>
          </a:r>
        </a:p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1900" kern="1200" dirty="0" smtClean="0"/>
            <a:t>MEDIU</a:t>
          </a:r>
          <a:endParaRPr lang="en-US" sz="1900" kern="1200" dirty="0"/>
        </a:p>
      </dsp:txBody>
      <dsp:txXfrm>
        <a:off x="4400472" y="1089326"/>
        <a:ext cx="1395317" cy="1370838"/>
      </dsp:txXfrm>
    </dsp:sp>
    <dsp:sp modelId="{2DD3D6F7-7B74-4582-9731-F12C88B17C78}">
      <dsp:nvSpPr>
        <dsp:cNvPr id="0" name=""/>
        <dsp:cNvSpPr/>
      </dsp:nvSpPr>
      <dsp:spPr>
        <a:xfrm>
          <a:off x="1952547" y="452866"/>
          <a:ext cx="4112514" cy="4112514"/>
        </a:xfrm>
        <a:prstGeom prst="pie">
          <a:avLst>
            <a:gd name="adj1" fmla="val 1800000"/>
            <a:gd name="adj2" fmla="val 9000000"/>
          </a:avLst>
        </a:prstGeom>
        <a:solidFill>
          <a:schemeClr val="accent2">
            <a:shade val="50000"/>
            <a:hueOff val="148607"/>
            <a:satOff val="-26101"/>
            <a:lumOff val="3570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2000" kern="1200" dirty="0" smtClean="0"/>
            <a:t>EDUCAȚIA</a:t>
          </a:r>
          <a:endParaRPr lang="en-US" sz="2000" kern="1200" dirty="0"/>
        </a:p>
      </dsp:txBody>
      <dsp:txXfrm>
        <a:off x="3078593" y="3047666"/>
        <a:ext cx="1860423" cy="1272921"/>
      </dsp:txXfrm>
    </dsp:sp>
    <dsp:sp modelId="{3DEAF304-B133-4E4E-A2CB-8CB22B3054E8}">
      <dsp:nvSpPr>
        <dsp:cNvPr id="0" name=""/>
        <dsp:cNvSpPr/>
      </dsp:nvSpPr>
      <dsp:spPr>
        <a:xfrm>
          <a:off x="1900236" y="428602"/>
          <a:ext cx="4112514" cy="4112514"/>
        </a:xfrm>
        <a:prstGeom prst="pie">
          <a:avLst>
            <a:gd name="adj1" fmla="val 9000000"/>
            <a:gd name="adj2" fmla="val 16200000"/>
          </a:avLst>
        </a:prstGeom>
        <a:solidFill>
          <a:schemeClr val="accent2">
            <a:shade val="50000"/>
            <a:hueOff val="148607"/>
            <a:satOff val="-26101"/>
            <a:lumOff val="3570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2000" b="0" kern="1200" dirty="0" smtClean="0"/>
            <a:t>EDUCAȚIA</a:t>
          </a:r>
          <a:endParaRPr lang="en-US" sz="2000" b="0" kern="1200" dirty="0"/>
        </a:p>
      </dsp:txBody>
      <dsp:txXfrm>
        <a:off x="2340863" y="1236417"/>
        <a:ext cx="1395317" cy="1370838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9AD9C4F7-7D9D-4A6C-B685-934B2367AB39}">
      <dsp:nvSpPr>
        <dsp:cNvPr id="0" name=""/>
        <dsp:cNvSpPr/>
      </dsp:nvSpPr>
      <dsp:spPr>
        <a:xfrm>
          <a:off x="2221452" y="320825"/>
          <a:ext cx="3992499" cy="3992499"/>
        </a:xfrm>
        <a:prstGeom prst="pie">
          <a:avLst>
            <a:gd name="adj1" fmla="val 16200000"/>
            <a:gd name="adj2" fmla="val 1800000"/>
          </a:avLst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2000" kern="1200" dirty="0" smtClean="0"/>
            <a:t>EDUCAȚIE</a:t>
          </a:r>
          <a:endParaRPr lang="en-US" sz="2000" kern="1200" dirty="0"/>
        </a:p>
      </dsp:txBody>
      <dsp:txXfrm>
        <a:off x="4392136" y="1057536"/>
        <a:ext cx="1354597" cy="1330833"/>
      </dsp:txXfrm>
    </dsp:sp>
    <dsp:sp modelId="{DF5809B6-0384-4533-8873-D5ADDB771F09}">
      <dsp:nvSpPr>
        <dsp:cNvPr id="0" name=""/>
        <dsp:cNvSpPr/>
      </dsp:nvSpPr>
      <dsp:spPr>
        <a:xfrm>
          <a:off x="2015648" y="439650"/>
          <a:ext cx="3992499" cy="3992499"/>
        </a:xfrm>
        <a:prstGeom prst="pie">
          <a:avLst>
            <a:gd name="adj1" fmla="val 1800000"/>
            <a:gd name="adj2" fmla="val 9000000"/>
          </a:avLst>
        </a:prstGeom>
        <a:solidFill>
          <a:schemeClr val="accent1">
            <a:shade val="50000"/>
            <a:hueOff val="-537617"/>
            <a:satOff val="-9534"/>
            <a:lumOff val="3205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2000" kern="1200" dirty="0" smtClean="0"/>
            <a:t>MEDIU</a:t>
          </a:r>
          <a:endParaRPr lang="en-US" sz="2000" kern="1200" dirty="0"/>
        </a:p>
      </dsp:txBody>
      <dsp:txXfrm>
        <a:off x="3108832" y="2958726"/>
        <a:ext cx="1806130" cy="1235773"/>
      </dsp:txXfrm>
    </dsp:sp>
    <dsp:sp modelId="{8DDCAB6E-F894-4B70-88FC-FF9EC0D7DC5B}">
      <dsp:nvSpPr>
        <dsp:cNvPr id="0" name=""/>
        <dsp:cNvSpPr/>
      </dsp:nvSpPr>
      <dsp:spPr>
        <a:xfrm>
          <a:off x="2015648" y="439650"/>
          <a:ext cx="3992499" cy="3992499"/>
        </a:xfrm>
        <a:prstGeom prst="pie">
          <a:avLst>
            <a:gd name="adj1" fmla="val 9000000"/>
            <a:gd name="adj2" fmla="val 16200000"/>
          </a:avLst>
        </a:prstGeom>
        <a:solidFill>
          <a:schemeClr val="accent1">
            <a:shade val="50000"/>
            <a:hueOff val="-537617"/>
            <a:satOff val="-9534"/>
            <a:lumOff val="3205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1900" kern="1200" dirty="0" smtClean="0"/>
            <a:t>EREDITATE</a:t>
          </a:r>
          <a:endParaRPr lang="en-US" sz="1900" kern="1200" dirty="0"/>
        </a:p>
      </dsp:txBody>
      <dsp:txXfrm>
        <a:off x="2443416" y="1223891"/>
        <a:ext cx="1354597" cy="1330833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997FDC5-4B42-4211-9D1A-AA21D00FB6A4}">
      <dsp:nvSpPr>
        <dsp:cNvPr id="0" name=""/>
        <dsp:cNvSpPr/>
      </dsp:nvSpPr>
      <dsp:spPr>
        <a:xfrm>
          <a:off x="2143241" y="318230"/>
          <a:ext cx="4112514" cy="4112514"/>
        </a:xfrm>
        <a:prstGeom prst="pie">
          <a:avLst>
            <a:gd name="adj1" fmla="val 16200000"/>
            <a:gd name="adj2" fmla="val 180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2000" kern="1200" dirty="0" smtClean="0"/>
            <a:t>MEDIU</a:t>
          </a:r>
          <a:endParaRPr lang="en-US" sz="2000" kern="1200" dirty="0"/>
        </a:p>
      </dsp:txBody>
      <dsp:txXfrm>
        <a:off x="4310633" y="1189691"/>
        <a:ext cx="1468755" cy="1223962"/>
      </dsp:txXfrm>
    </dsp:sp>
    <dsp:sp modelId="{EBDBFAC6-C3EF-47ED-A613-9834C44D444D}">
      <dsp:nvSpPr>
        <dsp:cNvPr id="0" name=""/>
        <dsp:cNvSpPr/>
      </dsp:nvSpPr>
      <dsp:spPr>
        <a:xfrm>
          <a:off x="2058542" y="465105"/>
          <a:ext cx="4112514" cy="4112514"/>
        </a:xfrm>
        <a:prstGeom prst="pie">
          <a:avLst>
            <a:gd name="adj1" fmla="val 1800000"/>
            <a:gd name="adj2" fmla="val 9000000"/>
          </a:avLst>
        </a:prstGeom>
        <a:solidFill>
          <a:schemeClr val="accent2">
            <a:hueOff val="-4533601"/>
            <a:satOff val="2618"/>
            <a:lumOff val="-480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2000" kern="1200" dirty="0" smtClean="0"/>
            <a:t>EDUCAȚIE</a:t>
          </a:r>
          <a:endParaRPr lang="en-US" sz="2000" kern="1200" dirty="0"/>
        </a:p>
      </dsp:txBody>
      <dsp:txXfrm>
        <a:off x="3037712" y="3133344"/>
        <a:ext cx="2203132" cy="1077087"/>
      </dsp:txXfrm>
    </dsp:sp>
    <dsp:sp modelId="{49A971B1-CF47-4FB8-BB56-40B963C24F66}">
      <dsp:nvSpPr>
        <dsp:cNvPr id="0" name=""/>
        <dsp:cNvSpPr/>
      </dsp:nvSpPr>
      <dsp:spPr>
        <a:xfrm>
          <a:off x="1973844" y="318230"/>
          <a:ext cx="4112514" cy="4112514"/>
        </a:xfrm>
        <a:prstGeom prst="pie">
          <a:avLst>
            <a:gd name="adj1" fmla="val 9000000"/>
            <a:gd name="adj2" fmla="val 16200000"/>
          </a:avLst>
        </a:prstGeom>
        <a:solidFill>
          <a:schemeClr val="accent2">
            <a:hueOff val="-9067202"/>
            <a:satOff val="5236"/>
            <a:lumOff val="-960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2000" kern="1200" dirty="0" smtClean="0"/>
            <a:t>EREDITATE</a:t>
          </a:r>
          <a:endParaRPr lang="en-US" sz="2000" kern="1200" dirty="0"/>
        </a:p>
      </dsp:txBody>
      <dsp:txXfrm>
        <a:off x="2450210" y="1189691"/>
        <a:ext cx="1468755" cy="1223962"/>
      </dsp:txXfrm>
    </dsp:sp>
    <dsp:sp modelId="{CE069FF2-F285-4C32-8201-06D17C6F8AD2}">
      <dsp:nvSpPr>
        <dsp:cNvPr id="0" name=""/>
        <dsp:cNvSpPr/>
      </dsp:nvSpPr>
      <dsp:spPr>
        <a:xfrm>
          <a:off x="1888996" y="63646"/>
          <a:ext cx="4621682" cy="4621682"/>
        </a:xfrm>
        <a:prstGeom prst="circularArrow">
          <a:avLst>
            <a:gd name="adj1" fmla="val 5085"/>
            <a:gd name="adj2" fmla="val 327528"/>
            <a:gd name="adj3" fmla="val 1472472"/>
            <a:gd name="adj4" fmla="val 16199432"/>
            <a:gd name="adj5" fmla="val 5932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9419F4-31FF-4FAD-B490-00FEBA45C412}">
      <dsp:nvSpPr>
        <dsp:cNvPr id="0" name=""/>
        <dsp:cNvSpPr/>
      </dsp:nvSpPr>
      <dsp:spPr>
        <a:xfrm>
          <a:off x="1803958" y="210261"/>
          <a:ext cx="4621682" cy="4621682"/>
        </a:xfrm>
        <a:prstGeom prst="circularArrow">
          <a:avLst>
            <a:gd name="adj1" fmla="val 5085"/>
            <a:gd name="adj2" fmla="val 327528"/>
            <a:gd name="adj3" fmla="val 8671970"/>
            <a:gd name="adj4" fmla="val 1800502"/>
            <a:gd name="adj5" fmla="val 5932"/>
          </a:avLst>
        </a:prstGeom>
        <a:solidFill>
          <a:schemeClr val="accent2">
            <a:hueOff val="-4533601"/>
            <a:satOff val="2618"/>
            <a:lumOff val="-480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EA2C26-CF1A-4712-B368-F32D37AD8347}">
      <dsp:nvSpPr>
        <dsp:cNvPr id="0" name=""/>
        <dsp:cNvSpPr/>
      </dsp:nvSpPr>
      <dsp:spPr>
        <a:xfrm>
          <a:off x="1718921" y="63646"/>
          <a:ext cx="4621682" cy="4621682"/>
        </a:xfrm>
        <a:prstGeom prst="circularArrow">
          <a:avLst>
            <a:gd name="adj1" fmla="val 5085"/>
            <a:gd name="adj2" fmla="val 327528"/>
            <a:gd name="adj3" fmla="val 15873039"/>
            <a:gd name="adj4" fmla="val 9000000"/>
            <a:gd name="adj5" fmla="val 5932"/>
          </a:avLst>
        </a:prstGeom>
        <a:solidFill>
          <a:schemeClr val="accent2">
            <a:hueOff val="-9067202"/>
            <a:satOff val="5236"/>
            <a:lumOff val="-960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5D7F4-D396-47F6-B0C4-CE4EBB6224A2}" type="datetimeFigureOut">
              <a:rPr lang="en-US" smtClean="0"/>
              <a:pPr/>
              <a:t>11/3/2017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5A1C9-05F3-4A51-A179-DEED95BCC3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5D7F4-D396-47F6-B0C4-CE4EBB6224A2}" type="datetimeFigureOut">
              <a:rPr lang="en-US" smtClean="0"/>
              <a:pPr/>
              <a:t>11/3/2017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5A1C9-05F3-4A51-A179-DEED95BCC3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5D7F4-D396-47F6-B0C4-CE4EBB6224A2}" type="datetimeFigureOut">
              <a:rPr lang="en-US" smtClean="0"/>
              <a:pPr/>
              <a:t>11/3/2017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5A1C9-05F3-4A51-A179-DEED95BCC3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5D7F4-D396-47F6-B0C4-CE4EBB6224A2}" type="datetimeFigureOut">
              <a:rPr lang="en-US" smtClean="0"/>
              <a:pPr/>
              <a:t>11/3/2017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5A1C9-05F3-4A51-A179-DEED95BCC3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5D7F4-D396-47F6-B0C4-CE4EBB6224A2}" type="datetimeFigureOut">
              <a:rPr lang="en-US" smtClean="0"/>
              <a:pPr/>
              <a:t>11/3/2017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5A1C9-05F3-4A51-A179-DEED95BCC3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5D7F4-D396-47F6-B0C4-CE4EBB6224A2}" type="datetimeFigureOut">
              <a:rPr lang="en-US" smtClean="0"/>
              <a:pPr/>
              <a:t>11/3/2017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5A1C9-05F3-4A51-A179-DEED95BCC3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5D7F4-D396-47F6-B0C4-CE4EBB6224A2}" type="datetimeFigureOut">
              <a:rPr lang="en-US" smtClean="0"/>
              <a:pPr/>
              <a:t>11/3/2017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5A1C9-05F3-4A51-A179-DEED95BCC3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5D7F4-D396-47F6-B0C4-CE4EBB6224A2}" type="datetimeFigureOut">
              <a:rPr lang="en-US" smtClean="0"/>
              <a:pPr/>
              <a:t>11/3/2017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5A1C9-05F3-4A51-A179-DEED95BCC3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5D7F4-D396-47F6-B0C4-CE4EBB6224A2}" type="datetimeFigureOut">
              <a:rPr lang="en-US" smtClean="0"/>
              <a:pPr/>
              <a:t>11/3/2017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60B5A1C9-05F3-4A51-A179-DEED95BCC3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5D7F4-D396-47F6-B0C4-CE4EBB6224A2}" type="datetimeFigureOut">
              <a:rPr lang="en-US" smtClean="0"/>
              <a:pPr/>
              <a:t>11/3/2017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5A1C9-05F3-4A51-A179-DEED95BCC3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5D7F4-D396-47F6-B0C4-CE4EBB6224A2}" type="datetimeFigureOut">
              <a:rPr lang="en-US" smtClean="0"/>
              <a:pPr/>
              <a:t>11/3/2017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5A1C9-05F3-4A51-A179-DEED95BCC3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BE5D7F4-D396-47F6-B0C4-CE4EBB6224A2}" type="datetimeFigureOut">
              <a:rPr lang="en-US" smtClean="0"/>
              <a:pPr/>
              <a:t>11/3/2017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60B5A1C9-05F3-4A51-A179-DEED95BCC365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o-RO" sz="2800" dirty="0" smtClean="0"/>
              <a:t> TEMA 4</a:t>
            </a:r>
            <a:br>
              <a:rPr lang="ro-RO" sz="2800" dirty="0" smtClean="0"/>
            </a:br>
            <a:r>
              <a:rPr lang="ro-RO" sz="2800" dirty="0" smtClean="0"/>
              <a:t>EDUCABILITATEA. FACTORII DEZVOLTĂRII PSIHICE</a:t>
            </a:r>
            <a:endParaRPr lang="en-US" sz="2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ro-RO" sz="2000" dirty="0" smtClean="0"/>
          </a:p>
          <a:p>
            <a:endParaRPr lang="ro-RO" sz="2000" dirty="0" smtClean="0"/>
          </a:p>
          <a:p>
            <a:endParaRPr lang="ro-RO" sz="2000" dirty="0" smtClean="0"/>
          </a:p>
          <a:p>
            <a:r>
              <a:rPr lang="ro-RO" dirty="0" smtClean="0"/>
              <a:t>Conf. </a:t>
            </a:r>
            <a:r>
              <a:rPr lang="ro-RO" dirty="0" smtClean="0"/>
              <a:t>u</a:t>
            </a:r>
            <a:r>
              <a:rPr lang="ro-RO" dirty="0" smtClean="0"/>
              <a:t>niv. </a:t>
            </a:r>
            <a:r>
              <a:rPr lang="ro-RO" dirty="0" smtClean="0"/>
              <a:t>dr.  LIANA TĂUȘAN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581772"/>
          </a:xfrm>
        </p:spPr>
        <p:txBody>
          <a:bodyPr>
            <a:normAutofit/>
          </a:bodyPr>
          <a:lstStyle/>
          <a:p>
            <a:r>
              <a:rPr lang="ro-RO" sz="2000" b="1" dirty="0" smtClean="0"/>
              <a:t>4.1. CONCEPTUL DE EDUCABILITATE</a:t>
            </a:r>
            <a:endParaRPr lang="en-US" sz="2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5038740"/>
          </a:xfrm>
        </p:spPr>
        <p:txBody>
          <a:bodyPr>
            <a:normAutofit/>
          </a:bodyPr>
          <a:lstStyle/>
          <a:p>
            <a:r>
              <a:rPr lang="ro-RO" sz="2200" b="1" dirty="0" smtClean="0"/>
              <a:t>Educabilitatea</a:t>
            </a:r>
            <a:r>
              <a:rPr lang="ro-RO" sz="2200" dirty="0" smtClean="0"/>
              <a:t> reprezintă un concept fundamental al pedagogiei, un fenomen specific uman, prin care desemnăm posibilitatea fiecăruia dintre noi de a recepta </a:t>
            </a:r>
            <a:r>
              <a:rPr lang="ro-RO" sz="2200" smtClean="0"/>
              <a:t>influenţele educative. </a:t>
            </a:r>
            <a:endParaRPr lang="ro-RO" sz="2200" dirty="0" smtClean="0"/>
          </a:p>
          <a:p>
            <a:r>
              <a:rPr lang="ro-RO" sz="2200" dirty="0" smtClean="0"/>
              <a:t>Educabilitatea constituie o concepţie optimistă pentru dezvoltarea educaţiei şi învăţământului, asigurând eficienţa socială a acestora.</a:t>
            </a:r>
          </a:p>
          <a:p>
            <a:endParaRPr lang="ro-RO" sz="2200" b="1" dirty="0" smtClean="0"/>
          </a:p>
          <a:p>
            <a:endParaRPr lang="en-US" sz="2200" b="1" dirty="0" smtClean="0"/>
          </a:p>
          <a:p>
            <a:r>
              <a:rPr lang="ro-RO" sz="2200" dirty="0" smtClean="0"/>
              <a:t>Definiţii ale educabilităţii:    	</a:t>
            </a:r>
            <a:endParaRPr lang="en-US" sz="2200" b="1" dirty="0" smtClean="0"/>
          </a:p>
          <a:p>
            <a:pPr lvl="1"/>
            <a:r>
              <a:rPr lang="ro-RO" sz="2200" dirty="0" smtClean="0"/>
              <a:t>Educabilitatea “reprezintă capacitatea (particularitatea sau calitatea) specifică psihicului uman de a se modela structural şi informaţional sub influenţa agenţilor sociali şi educaţionali” (I. Bontaş).</a:t>
            </a:r>
            <a:endParaRPr lang="en-US" sz="2200" b="1" dirty="0" smtClean="0"/>
          </a:p>
          <a:p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22458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5324492"/>
          </a:xfrm>
        </p:spPr>
        <p:txBody>
          <a:bodyPr>
            <a:normAutofit/>
          </a:bodyPr>
          <a:lstStyle/>
          <a:p>
            <a:pPr lvl="1"/>
            <a:r>
              <a:rPr lang="ro-RO" sz="2200" dirty="0" smtClean="0"/>
              <a:t>Educabilitatea desemnează “capacitatea (disponibilitatea) omului de a fi receptiv la influenţele educative şi de a realiza, pe această cale, acumulări progresive concretizate în diferite structuri de personalitate” (E. Păun).</a:t>
            </a:r>
          </a:p>
          <a:p>
            <a:pPr lvl="1">
              <a:buNone/>
            </a:pPr>
            <a:endParaRPr lang="en-US" sz="2200" b="1" dirty="0" smtClean="0"/>
          </a:p>
          <a:p>
            <a:pPr lvl="1"/>
            <a:r>
              <a:rPr lang="ro-RO" sz="2200" dirty="0" smtClean="0"/>
              <a:t>Educabilitatea “defineşte raporturile de interacţiune şi de interdependenţă formativă existentă între trei factori fundamentali: a). ereditatea – care reprezintă premisa naturală a dezvoltării pedagogice a personalităţii; b). mediul – care reprezintă condiţia socială a dezvoltării pedagogice; c). educaţia – care reprezintă “conexiunea determinantă pentru dezvoltarea pedagogică a personalităţii, prin valorificarea premiselor ereditare şi a condiţiilor sociale” (S. Cristea).  </a:t>
            </a:r>
            <a:endParaRPr lang="en-US" sz="2200" b="1" dirty="0" smtClean="0"/>
          </a:p>
          <a:p>
            <a:pPr lvl="2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28604"/>
            <a:ext cx="8229600" cy="785818"/>
          </a:xfrm>
        </p:spPr>
        <p:txBody>
          <a:bodyPr>
            <a:normAutofit/>
          </a:bodyPr>
          <a:lstStyle/>
          <a:p>
            <a:r>
              <a:rPr lang="ro-RO" sz="2000" b="1" dirty="0" smtClean="0"/>
              <a:t>4.2. TEORII PRIVIND EDUCABILITATEA</a:t>
            </a:r>
            <a:endParaRPr lang="en-US" sz="2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5110178"/>
          </a:xfrm>
        </p:spPr>
        <p:txBody>
          <a:bodyPr/>
          <a:lstStyle/>
          <a:p>
            <a:endParaRPr lang="ro-RO" sz="2400" i="1" dirty="0" smtClean="0"/>
          </a:p>
          <a:p>
            <a:endParaRPr lang="ro-RO" sz="2400" i="1" dirty="0" smtClean="0"/>
          </a:p>
          <a:p>
            <a:endParaRPr lang="ro-RO" sz="2400" i="1" dirty="0" smtClean="0"/>
          </a:p>
          <a:p>
            <a:r>
              <a:rPr lang="ro-RO" sz="2800" i="1" dirty="0" smtClean="0"/>
              <a:t>Teoria ereditaristă (ineistă)</a:t>
            </a:r>
          </a:p>
          <a:p>
            <a:r>
              <a:rPr lang="ro-RO" sz="2800" i="1" dirty="0" smtClean="0"/>
              <a:t>Teoria ambientalistă (a determinismului social)</a:t>
            </a:r>
            <a:endParaRPr lang="en-US" sz="2800" b="1" dirty="0" smtClean="0"/>
          </a:p>
          <a:p>
            <a:r>
              <a:rPr lang="ro-RO" sz="2800" i="1" dirty="0" smtClean="0"/>
              <a:t>Teoria dublei determinări (interacţionistă)</a:t>
            </a:r>
            <a:endParaRPr lang="en-US" sz="2800" b="1" dirty="0" smtClean="0"/>
          </a:p>
          <a:p>
            <a:pPr>
              <a:buNone/>
            </a:pP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29602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5181616"/>
          </a:xfrm>
        </p:spPr>
        <p:txBody>
          <a:bodyPr>
            <a:normAutofit/>
          </a:bodyPr>
          <a:lstStyle/>
          <a:p>
            <a:r>
              <a:rPr lang="ro-RO" sz="2400" b="1" dirty="0" smtClean="0"/>
              <a:t>Teoria ereditaristă</a:t>
            </a:r>
            <a:r>
              <a:rPr lang="ro-RO" sz="2400" i="1" dirty="0" smtClean="0"/>
              <a:t> </a:t>
            </a:r>
            <a:endParaRPr lang="en-US" sz="2400" b="1" dirty="0" smtClean="0"/>
          </a:p>
          <a:p>
            <a:r>
              <a:rPr lang="ro-RO" sz="2400" i="1" dirty="0" smtClean="0"/>
              <a:t> </a:t>
            </a:r>
            <a:r>
              <a:rPr lang="ro-RO" sz="2400" dirty="0" smtClean="0"/>
              <a:t>Susţine rolul</a:t>
            </a:r>
            <a:r>
              <a:rPr lang="ro-RO" sz="2400" i="1" dirty="0" smtClean="0"/>
              <a:t> </a:t>
            </a:r>
            <a:r>
              <a:rPr lang="ro-RO" sz="2400" dirty="0" smtClean="0"/>
              <a:t>determinant al </a:t>
            </a:r>
            <a:r>
              <a:rPr lang="ro-RO" sz="2400" b="1" dirty="0" smtClean="0"/>
              <a:t>eredităţii </a:t>
            </a:r>
            <a:r>
              <a:rPr lang="ro-RO" sz="2400" dirty="0" smtClean="0"/>
              <a:t>în evoluţia fiinţei umane, considerând că omul şi evoluţia sa psihoindividuală sunt produsul exclusiv al eredităţii sale, toate progresele nefiind decât manifestări, obiectivări, ale acestui program ereditar. </a:t>
            </a:r>
          </a:p>
          <a:p>
            <a:r>
              <a:rPr lang="ro-RO" sz="2400" dirty="0" smtClean="0"/>
              <a:t>factorii ereditari prestabilesc dezvoltarea psihică a omului, şi pe lângă </a:t>
            </a:r>
            <a:r>
              <a:rPr lang="ro-RO" sz="2400" i="1" dirty="0" smtClean="0"/>
              <a:t>ereditatea biologică </a:t>
            </a:r>
            <a:r>
              <a:rPr lang="ro-RO" sz="2400" dirty="0" smtClean="0"/>
              <a:t>există şi o </a:t>
            </a:r>
            <a:r>
              <a:rPr lang="ro-RO" sz="2400" i="1" dirty="0" smtClean="0"/>
              <a:t>ereditate psihologică</a:t>
            </a:r>
            <a:r>
              <a:rPr lang="ro-RO" sz="2400" dirty="0" smtClean="0"/>
              <a:t>, ce nu poate fi depăşită prin influenţele externe. </a:t>
            </a:r>
          </a:p>
          <a:p>
            <a:pPr>
              <a:buNone/>
            </a:pP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22458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5110178"/>
          </a:xfrm>
        </p:spPr>
        <p:txBody>
          <a:bodyPr>
            <a:normAutofit/>
          </a:bodyPr>
          <a:lstStyle/>
          <a:p>
            <a:pPr lvl="1">
              <a:buNone/>
            </a:pPr>
            <a:endParaRPr lang="en-US" sz="2000" b="1" dirty="0" smtClean="0"/>
          </a:p>
          <a:p>
            <a:r>
              <a:rPr lang="ro-RO" sz="2400" dirty="0" smtClean="0"/>
              <a:t>Teoriile ereditariste exgerează rolul eredității, absolutizându-l chiar, neglijând rolul celorlalţi factori: mediul social şi educaţia. </a:t>
            </a:r>
          </a:p>
          <a:p>
            <a:r>
              <a:rPr lang="ro-RO" sz="2400" dirty="0" smtClean="0"/>
              <a:t>Prin ignorarea rolului mediului social şi al educaţiei, aceste teorii sunt în opoziţie cu concepţia educabilităţii, adepţii lor situându-se pe poziţia scepticismului  pedagogic.</a:t>
            </a:r>
            <a:endParaRPr lang="en-US" sz="2400" b="1" dirty="0" smtClean="0"/>
          </a:p>
          <a:p>
            <a:pPr>
              <a:buNone/>
            </a:pP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53144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395930"/>
          </a:xfrm>
        </p:spPr>
        <p:txBody>
          <a:bodyPr>
            <a:normAutofit lnSpcReduction="10000"/>
          </a:bodyPr>
          <a:lstStyle/>
          <a:p>
            <a:r>
              <a:rPr lang="ro-RO" sz="2400" b="1" dirty="0" smtClean="0"/>
              <a:t>Teoria ambientalistă </a:t>
            </a:r>
          </a:p>
          <a:p>
            <a:pPr>
              <a:buNone/>
            </a:pPr>
            <a:endParaRPr lang="ro-RO" sz="2400" b="1" dirty="0" smtClean="0"/>
          </a:p>
          <a:p>
            <a:r>
              <a:rPr lang="ro-RO" sz="2200" dirty="0" smtClean="0"/>
              <a:t>Susţine rolul determinant al </a:t>
            </a:r>
            <a:r>
              <a:rPr lang="ro-RO" sz="2200" b="1" dirty="0" smtClean="0"/>
              <a:t>mediului socio-cultural</a:t>
            </a:r>
            <a:r>
              <a:rPr lang="ro-RO" sz="2200" dirty="0" smtClean="0"/>
              <a:t>, în care este inclusă şi educaţia, considerând omul ca fiind produsul educaţiei, mediului în care se naşte, el neavând la naştere nici un fel de date inițiale.                                                                                                                                                                        </a:t>
            </a:r>
            <a:endParaRPr lang="en-US" sz="2200" b="1" dirty="0" smtClean="0"/>
          </a:p>
          <a:p>
            <a:r>
              <a:rPr lang="ro-RO" sz="2200" dirty="0" smtClean="0"/>
              <a:t>Există teorii ambientaliste, care absolutizează </a:t>
            </a:r>
            <a:r>
              <a:rPr lang="ro-RO" sz="2200" b="1" dirty="0" smtClean="0"/>
              <a:t>rolul mediului social </a:t>
            </a:r>
            <a:r>
              <a:rPr lang="ro-RO" sz="2200" dirty="0" smtClean="0"/>
              <a:t>în dezvoltarea psihică a omului şi care consideră că dezvoltarea omului este determinată de mediul în care trăieşte şi mediul nu poate fi modificat (poate stimula dezvoltarea psihică, dacă este favorabil sau o poate frâna dacă este nefavorabil). </a:t>
            </a:r>
          </a:p>
          <a:p>
            <a:r>
              <a:rPr lang="ro-RO" sz="2200" dirty="0" smtClean="0"/>
              <a:t>Există şi teorii care absolutizează </a:t>
            </a:r>
            <a:r>
              <a:rPr lang="ro-RO" sz="2200" b="1" dirty="0" smtClean="0"/>
              <a:t>rolul educaţiei</a:t>
            </a:r>
            <a:r>
              <a:rPr lang="ro-RO" sz="2200" dirty="0" smtClean="0"/>
              <a:t>, considerând că prin educaţie se poate modifica natura umană. </a:t>
            </a:r>
          </a:p>
          <a:p>
            <a:r>
              <a:rPr lang="ro-RO" sz="2200" dirty="0" smtClean="0"/>
              <a:t>Există şi teorii ambientaliste, care nu neagă total intervenţia factorului ereditar, dar îl reduc la caracteristicile fizice ale individului.</a:t>
            </a:r>
            <a:endParaRPr lang="en-US" sz="2200" dirty="0" smtClean="0"/>
          </a:p>
          <a:p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53144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395930"/>
          </a:xfrm>
        </p:spPr>
        <p:txBody>
          <a:bodyPr>
            <a:normAutofit/>
          </a:bodyPr>
          <a:lstStyle/>
          <a:p>
            <a:r>
              <a:rPr lang="ro-RO" sz="2400" dirty="0" smtClean="0"/>
              <a:t>Exemple de teorii ambientaliste:</a:t>
            </a:r>
            <a:endParaRPr lang="en-US" sz="2400" dirty="0" smtClean="0"/>
          </a:p>
          <a:p>
            <a:pPr lvl="1"/>
            <a:r>
              <a:rPr lang="ro-RO" sz="2200" dirty="0" smtClean="0"/>
              <a:t>Helvetius spune că “</a:t>
            </a:r>
            <a:r>
              <a:rPr lang="ro-RO" sz="2200" i="1" dirty="0" smtClean="0"/>
              <a:t>educaţia poate totul</a:t>
            </a:r>
            <a:r>
              <a:rPr lang="ro-RO" sz="2200" dirty="0" smtClean="0"/>
              <a:t>”, iar oamenii sunt egali de la natură, deosebirile dintre ei fiind rezultatul faptului că unii au primit o educaţie mai bună, iar alţii au primit o educaţie mai redusă, sau au fost privaţi de ea. </a:t>
            </a:r>
          </a:p>
          <a:p>
            <a:pPr lvl="1"/>
            <a:r>
              <a:rPr lang="ro-RO" sz="2200" dirty="0" smtClean="0"/>
              <a:t>Comenius susţine că “fiecare om se naşte capabil să dobândească cunoaşterea lucrurilor”.</a:t>
            </a:r>
          </a:p>
          <a:p>
            <a:pPr lvl="1">
              <a:buNone/>
            </a:pPr>
            <a:endParaRPr lang="en-US" sz="2200" dirty="0" smtClean="0"/>
          </a:p>
          <a:p>
            <a:r>
              <a:rPr lang="ro-RO" sz="2400" dirty="0" smtClean="0"/>
              <a:t>Teoriile ambientaliste reprezintă poziţii pedagogice constructive, ce au contribuit la dezvoltarea educaţiei şi învăţământului. Ele neglijează, însă ereditatea, care reprezintă un factor real al dezvoltării psihice.</a:t>
            </a:r>
            <a:endParaRPr lang="en-US" sz="2400" dirty="0" smtClean="0"/>
          </a:p>
          <a:p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53144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57232"/>
            <a:ext cx="8229600" cy="5467368"/>
          </a:xfrm>
        </p:spPr>
        <p:txBody>
          <a:bodyPr>
            <a:normAutofit/>
          </a:bodyPr>
          <a:lstStyle/>
          <a:p>
            <a:r>
              <a:rPr lang="ro-RO" sz="2400" b="1" dirty="0" smtClean="0"/>
              <a:t>Teoria dublei (triplei) determinări</a:t>
            </a:r>
            <a:r>
              <a:rPr lang="ro-RO" sz="2400" dirty="0" smtClean="0"/>
              <a:t> </a:t>
            </a:r>
            <a:endParaRPr lang="en-US" sz="2400" dirty="0" smtClean="0"/>
          </a:p>
          <a:p>
            <a:r>
              <a:rPr lang="ro-RO" sz="2400" dirty="0" smtClean="0"/>
              <a:t> </a:t>
            </a:r>
            <a:r>
              <a:rPr lang="ro-RO" sz="2200" dirty="0" smtClean="0"/>
              <a:t>Susţine atât rolul eredităţii cât şi rolul mediului socio-cultural, deci şi educaţional, în dezvoltarea psihică, omul fiind produsul interacţiunii celor doi factori (ereditate şi mediu socio-cultural). </a:t>
            </a:r>
          </a:p>
          <a:p>
            <a:r>
              <a:rPr lang="ro-RO" sz="2200" dirty="0" smtClean="0"/>
              <a:t>Dezvoltarea psihică şi calităţile personalităţii sunt rezultatul interacţiunii celor doi factori, care pot fi consideraţi, de fapt, trei: ereditate, mediu social şi educaţie (teoria triplei determinări).</a:t>
            </a:r>
            <a:endParaRPr lang="en-US" sz="2200" dirty="0" smtClean="0"/>
          </a:p>
          <a:p>
            <a:r>
              <a:rPr lang="ro-RO" sz="2200" dirty="0" smtClean="0"/>
              <a:t>Această teorie este susţinută astăzi de majoritatea specialiştilor, eliminându-se, astfel, unilateralitatea teoriilor anterioare. </a:t>
            </a:r>
          </a:p>
          <a:p>
            <a:r>
              <a:rPr lang="ro-RO" sz="2200" dirty="0" smtClean="0"/>
              <a:t>Ea constituie o concepţie pedagogică optimistă despre dezvoltarea personalităţii, care este considerată o unitate biopsihosocială, ce rezultă din interacţiunea celor trei factori: ereditate, mediu, educaţie.</a:t>
            </a:r>
            <a:endParaRPr lang="en-US" sz="2200" dirty="0" smtClean="0"/>
          </a:p>
          <a:p>
            <a:pPr>
              <a:buNone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7166"/>
            <a:ext cx="8229600" cy="1000132"/>
          </a:xfrm>
        </p:spPr>
        <p:txBody>
          <a:bodyPr>
            <a:normAutofit/>
          </a:bodyPr>
          <a:lstStyle/>
          <a:p>
            <a:r>
              <a:rPr lang="ro-RO" sz="2000" b="1" dirty="0" smtClean="0"/>
              <a:t>4.3. FACTORII DEZVOLTĂRII PSIHICE</a:t>
            </a:r>
            <a:endParaRPr lang="en-US" sz="2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4967302"/>
          </a:xfrm>
        </p:spPr>
        <p:txBody>
          <a:bodyPr>
            <a:normAutofit/>
          </a:bodyPr>
          <a:lstStyle/>
          <a:p>
            <a:r>
              <a:rPr lang="ro-RO" sz="2200" dirty="0" smtClean="0"/>
              <a:t>Formarea proceselor psihice are loc sub acţiunea unei mulţimi de influenţe externe sau interne, naturale sau sociale, directe sau indirecte, permanente sau episodice. </a:t>
            </a:r>
          </a:p>
          <a:p>
            <a:r>
              <a:rPr lang="ro-RO" sz="2200" dirty="0" smtClean="0"/>
              <a:t>Fundamentele sunt cele subsumate categoriilor de </a:t>
            </a:r>
            <a:r>
              <a:rPr lang="ro-RO" sz="2200" i="1" dirty="0" smtClean="0"/>
              <a:t>ereditate, mediu, educaţie</a:t>
            </a:r>
            <a:r>
              <a:rPr lang="ro-RO" sz="2200" dirty="0" smtClean="0"/>
              <a:t>, care constituie înşişi factorii dezvoltării.</a:t>
            </a:r>
            <a:endParaRPr lang="en-US" sz="2200" dirty="0" smtClean="0"/>
          </a:p>
          <a:p>
            <a:r>
              <a:rPr lang="ro-RO" sz="2200" dirty="0" smtClean="0"/>
              <a:t>Dezvoltarea psihică este rezultatul interacţiunii </a:t>
            </a:r>
            <a:r>
              <a:rPr lang="ro-RO" sz="2200" b="1" dirty="0" smtClean="0"/>
              <a:t>factorilor interni şi externi. </a:t>
            </a:r>
          </a:p>
          <a:p>
            <a:pPr lvl="1"/>
            <a:r>
              <a:rPr lang="ro-RO" sz="2000" b="1" dirty="0" smtClean="0"/>
              <a:t>Factorii externi (mediul şi educaţia) </a:t>
            </a:r>
            <a:r>
              <a:rPr lang="ro-RO" sz="2000" dirty="0" smtClean="0"/>
              <a:t>sunt constituiţi din ansamblul condiţiilor, influenţelor şi acţiunilor ce se exercită din exterior asupra formării şi dezvoltării personalităţii umane. </a:t>
            </a:r>
          </a:p>
          <a:p>
            <a:pPr lvl="1"/>
            <a:r>
              <a:rPr lang="ro-RO" sz="2000" b="1" dirty="0" smtClean="0"/>
              <a:t>Factorii interni (ereditatea) </a:t>
            </a:r>
            <a:r>
              <a:rPr lang="ro-RO" sz="2000" dirty="0" smtClean="0"/>
              <a:t>sunt constituiţi din totalitatea condiţiilor interne care favorizează dezvoltarea psihică.  </a:t>
            </a:r>
            <a:endParaRPr lang="en-US" sz="2000" dirty="0" smtClean="0"/>
          </a:p>
          <a:p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7166"/>
            <a:ext cx="8229600" cy="571504"/>
          </a:xfrm>
        </p:spPr>
        <p:txBody>
          <a:bodyPr>
            <a:normAutofit/>
          </a:bodyPr>
          <a:lstStyle/>
          <a:p>
            <a:r>
              <a:rPr lang="ro-RO" sz="2000" b="1" dirty="0" smtClean="0"/>
              <a:t>Ereditatea</a:t>
            </a:r>
            <a:endParaRPr lang="en-US" sz="2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5857892"/>
          </a:xfrm>
        </p:spPr>
        <p:txBody>
          <a:bodyPr>
            <a:normAutofit fontScale="40000" lnSpcReduction="20000"/>
          </a:bodyPr>
          <a:lstStyle/>
          <a:p>
            <a:r>
              <a:rPr lang="ro-RO" sz="5000" b="1" dirty="0" smtClean="0"/>
              <a:t>Ereditatea</a:t>
            </a:r>
            <a:r>
              <a:rPr lang="ro-RO" sz="5000" dirty="0" smtClean="0"/>
              <a:t>este o însușire biologică generală a organismelor vii, care se manifestă prin transmiterea informației genetice de la ascendenți la descendenți.</a:t>
            </a:r>
          </a:p>
          <a:p>
            <a:endParaRPr lang="en-US" sz="5100" dirty="0" smtClean="0"/>
          </a:p>
          <a:p>
            <a:r>
              <a:rPr lang="ro-RO" sz="5100" i="1" dirty="0" smtClean="0"/>
              <a:t>Ce anume moşteneşte prin ereditate individul de la înaintaşii săi</a:t>
            </a:r>
            <a:r>
              <a:rPr lang="ro-RO" sz="5100" dirty="0" smtClean="0"/>
              <a:t>?</a:t>
            </a:r>
            <a:endParaRPr lang="en-US" sz="5100" dirty="0" smtClean="0"/>
          </a:p>
          <a:p>
            <a:pPr lvl="1"/>
            <a:r>
              <a:rPr lang="ro-RO" sz="5100" dirty="0" smtClean="0"/>
              <a:t>o serie de </a:t>
            </a:r>
            <a:r>
              <a:rPr lang="ro-RO" sz="5100" i="1" dirty="0" smtClean="0"/>
              <a:t>elemente comune pentru toţi componenţii speciei umane</a:t>
            </a:r>
            <a:r>
              <a:rPr lang="ro-RO" sz="5100" dirty="0" smtClean="0"/>
              <a:t>:</a:t>
            </a:r>
            <a:endParaRPr lang="en-US" sz="5100" dirty="0" smtClean="0"/>
          </a:p>
          <a:p>
            <a:pPr lvl="2">
              <a:buFont typeface="Wingdings" pitchFamily="2" charset="2"/>
              <a:buChar char="q"/>
            </a:pPr>
            <a:r>
              <a:rPr lang="ro-RO" sz="5100" dirty="0" smtClean="0"/>
              <a:t>o anumită “schemă” corporală;</a:t>
            </a:r>
          </a:p>
          <a:p>
            <a:pPr lvl="2">
              <a:buFont typeface="Wingdings" pitchFamily="2" charset="2"/>
              <a:buChar char="q"/>
            </a:pPr>
            <a:r>
              <a:rPr lang="ro-RO" sz="5100" dirty="0" smtClean="0"/>
              <a:t>diversitatea - organelor de simţ, aparatelor şi sistemelor anatomice </a:t>
            </a:r>
          </a:p>
          <a:p>
            <a:pPr lvl="2">
              <a:buFont typeface="Wingdings" pitchFamily="2" charset="2"/>
              <a:buChar char="q"/>
            </a:pPr>
            <a:r>
              <a:rPr lang="ro-RO" sz="5100" dirty="0" smtClean="0"/>
              <a:t>o serie de reflexe şi trebuinţe fundamentale;</a:t>
            </a:r>
            <a:endParaRPr lang="en-US" sz="5100" dirty="0" smtClean="0"/>
          </a:p>
          <a:p>
            <a:pPr lvl="1"/>
            <a:r>
              <a:rPr lang="ro-RO" sz="5100" i="1" dirty="0" smtClean="0"/>
              <a:t>însuşiri mai restrânse</a:t>
            </a:r>
            <a:r>
              <a:rPr lang="ro-RO" sz="5100" dirty="0" smtClean="0"/>
              <a:t>, individuale:</a:t>
            </a:r>
            <a:endParaRPr lang="en-US" sz="5100" dirty="0" smtClean="0"/>
          </a:p>
          <a:p>
            <a:pPr lvl="2">
              <a:buFont typeface="Wingdings" pitchFamily="2" charset="2"/>
              <a:buChar char="q"/>
            </a:pPr>
            <a:r>
              <a:rPr lang="ro-RO" sz="5100" dirty="0" smtClean="0"/>
              <a:t>fizice, externe: greutatea masei corporale la naştere, conformaţia feţei, culoarea ochilor, mărimea capului;</a:t>
            </a:r>
            <a:endParaRPr lang="en-US" sz="5100" dirty="0" smtClean="0"/>
          </a:p>
          <a:p>
            <a:pPr lvl="2">
              <a:buFont typeface="Wingdings" pitchFamily="2" charset="2"/>
              <a:buChar char="q"/>
            </a:pPr>
            <a:r>
              <a:rPr lang="ro-RO" sz="5100" dirty="0" smtClean="0"/>
              <a:t>biochimice, interne: compoziţia chimică a sângelui, a structurii celulare, a construcţiei glandulare, a secreţiei hormonale;</a:t>
            </a:r>
            <a:endParaRPr lang="en-US" sz="5100" dirty="0" smtClean="0"/>
          </a:p>
          <a:p>
            <a:pPr lvl="2">
              <a:buFont typeface="Wingdings" pitchFamily="2" charset="2"/>
              <a:buChar char="q"/>
            </a:pPr>
            <a:r>
              <a:rPr lang="ro-RO" sz="5100" dirty="0" smtClean="0"/>
              <a:t>funcţionale: plasticitatea sistemului nervos, particularităţi anatomo-fiziologice ale analizatorilor, caracteristici privind procesele nervoase fundamentale.</a:t>
            </a:r>
            <a:endParaRPr lang="en-US" sz="5100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29602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5572164"/>
          </a:xfrm>
        </p:spPr>
        <p:txBody>
          <a:bodyPr>
            <a:normAutofit/>
          </a:bodyPr>
          <a:lstStyle/>
          <a:p>
            <a:r>
              <a:rPr lang="ro-RO" sz="2200" dirty="0" smtClean="0"/>
              <a:t>Particularităţile ereditare reprezintă un ansamblu de potenţialităţi codificate sub forma unui program genetic(</a:t>
            </a:r>
            <a:r>
              <a:rPr lang="ro-RO" sz="2200" b="1" dirty="0" smtClean="0"/>
              <a:t>disponibilităţi</a:t>
            </a:r>
            <a:r>
              <a:rPr lang="ro-RO" sz="2200" dirty="0" smtClean="0"/>
              <a:t>). </a:t>
            </a:r>
          </a:p>
          <a:p>
            <a:pPr lvl="1"/>
            <a:r>
              <a:rPr lang="ro-RO" sz="2200" dirty="0" smtClean="0"/>
              <a:t>sunt </a:t>
            </a:r>
            <a:r>
              <a:rPr lang="ro-RO" sz="2200" i="1" dirty="0" smtClean="0"/>
              <a:t>disponibilităţi</a:t>
            </a:r>
            <a:r>
              <a:rPr lang="ro-RO" sz="2200" dirty="0" smtClean="0"/>
              <a:t> care, datorită caracterului subordonat, în raport cu gena dominantă, al genei de care sunt legate, deşi se transmit, rămân totuşi </a:t>
            </a:r>
            <a:r>
              <a:rPr lang="ro-RO" sz="2200" i="1" dirty="0" smtClean="0"/>
              <a:t>latente</a:t>
            </a:r>
            <a:r>
              <a:rPr lang="ro-RO" sz="2200" dirty="0" smtClean="0"/>
              <a:t>, alcătuind </a:t>
            </a:r>
            <a:r>
              <a:rPr lang="ro-RO" sz="2200" b="1" dirty="0" smtClean="0"/>
              <a:t>genotipul </a:t>
            </a:r>
          </a:p>
          <a:p>
            <a:pPr lvl="1"/>
            <a:r>
              <a:rPr lang="ro-RO" sz="2200" dirty="0" smtClean="0"/>
              <a:t>sunt </a:t>
            </a:r>
            <a:r>
              <a:rPr lang="ro-RO" sz="2200" i="1" dirty="0" smtClean="0"/>
              <a:t>disponibilităţi </a:t>
            </a:r>
            <a:r>
              <a:rPr lang="ro-RO" sz="2200" dirty="0" smtClean="0"/>
              <a:t>care, transmiţându-se, devin manifeste, </a:t>
            </a:r>
            <a:r>
              <a:rPr lang="ro-RO" sz="2200" i="1" dirty="0" smtClean="0"/>
              <a:t>active, </a:t>
            </a:r>
            <a:r>
              <a:rPr lang="ro-RO" sz="2200" dirty="0" smtClean="0"/>
              <a:t>datorită poziţiei dominante a genei cu care sunt corelate, alcătuind </a:t>
            </a:r>
            <a:r>
              <a:rPr lang="ro-RO" sz="2200" b="1" dirty="0" smtClean="0"/>
              <a:t>fenotipul.</a:t>
            </a:r>
            <a:endParaRPr lang="en-US" sz="2200" b="1" dirty="0" smtClean="0"/>
          </a:p>
          <a:p>
            <a:r>
              <a:rPr lang="ro-RO" sz="2200" dirty="0" smtClean="0"/>
              <a:t>Însuşirile anatomo-fiziologice moştenite de la părinţi influenţează dezvoltarea psihică, însă acest rol, deşi important, nu este determinant. </a:t>
            </a:r>
          </a:p>
          <a:p>
            <a:r>
              <a:rPr lang="ro-RO" sz="2200" dirty="0" smtClean="0"/>
              <a:t>Resursele fizice şi fiziologice sunt reglementate de cerinţele sociale şi de modelele educaţionale. </a:t>
            </a:r>
          </a:p>
          <a:p>
            <a:r>
              <a:rPr lang="ro-RO" sz="2200" dirty="0" smtClean="0"/>
              <a:t>Şi chiar mai mult, acolo unde lipsesc ele pot fi înlocuite şi compensate prin procedeele învăţării.</a:t>
            </a:r>
            <a:endParaRPr lang="en-US" sz="2200" dirty="0" smtClean="0"/>
          </a:p>
          <a:p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sz="2200" smtClean="0"/>
              <a:t>Caracteristica </a:t>
            </a:r>
            <a:r>
              <a:rPr lang="ro-RO" sz="2200" dirty="0" smtClean="0"/>
              <a:t>omului este tocmai aceea că el </a:t>
            </a:r>
            <a:r>
              <a:rPr lang="ro-RO" sz="2200" b="1" dirty="0" smtClean="0"/>
              <a:t>nu moşteneşte, prin naştere</a:t>
            </a:r>
            <a:r>
              <a:rPr lang="ro-RO" sz="2200" dirty="0" smtClean="0"/>
              <a:t>, forme de conduită şi de activitate, iar însuşirile biologice cu care se naşte, nu predetermină caracterul şi conţinutul dezvoltării sale psihice.</a:t>
            </a:r>
            <a:endParaRPr lang="en-US" sz="2200" dirty="0" smtClean="0"/>
          </a:p>
          <a:p>
            <a:r>
              <a:rPr lang="ro-RO" sz="2200" dirty="0" smtClean="0"/>
              <a:t>Ereditatea biologică   nu îi este dată omului sub formă de atitudini, de funcţii psihice. </a:t>
            </a:r>
          </a:p>
          <a:p>
            <a:r>
              <a:rPr lang="ro-RO" sz="2200" dirty="0" smtClean="0"/>
              <a:t>Ea nu este un factor hotărâtor, ci doar o premisă indispensabilă. 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510334"/>
          </a:xfrm>
        </p:spPr>
        <p:txBody>
          <a:bodyPr>
            <a:normAutofit/>
          </a:bodyPr>
          <a:lstStyle/>
          <a:p>
            <a:r>
              <a:rPr lang="ro-RO" sz="2000" b="1" dirty="0" smtClean="0"/>
              <a:t>Mediul-cadrul socio-uman al dezvoltării psihoindividuale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5110178"/>
          </a:xfrm>
        </p:spPr>
        <p:txBody>
          <a:bodyPr>
            <a:normAutofit/>
          </a:bodyPr>
          <a:lstStyle/>
          <a:p>
            <a:r>
              <a:rPr lang="ro-RO" sz="2200" dirty="0" smtClean="0"/>
              <a:t>Dacă premisele ereditare sunt absolut indispensabile dezvoltării psihice, reprezentând “terenul” pe care aceasta se construieşte, mediul este şi mai profund implicat în devenirea psihicului, oferind “materialul” de construcţie.</a:t>
            </a:r>
            <a:endParaRPr lang="en-US" sz="2200" dirty="0" smtClean="0"/>
          </a:p>
          <a:p>
            <a:r>
              <a:rPr lang="ro-RO" sz="2200" dirty="0" smtClean="0"/>
              <a:t>Mediul desemnează cadrul în care se naşte, trăieşte şi se dezvoltă copilul. </a:t>
            </a:r>
          </a:p>
          <a:p>
            <a:r>
              <a:rPr lang="ro-RO" sz="2200" dirty="0" smtClean="0"/>
              <a:t>Mediul fizic și mediul social</a:t>
            </a:r>
          </a:p>
          <a:p>
            <a:r>
              <a:rPr lang="ro-RO" sz="2200" b="1" dirty="0" smtClean="0"/>
              <a:t>Mediul fizic extern: </a:t>
            </a:r>
            <a:r>
              <a:rPr lang="ro-RO" sz="2200" dirty="0" smtClean="0"/>
              <a:t>condiţiile climatice, geografice, de flora şi fauna în care trăieşte copilul. Nu există o legătură directă între conţinutul intereselor, emoţiilor, sentimentelor şi atitudinilor copilului, pe de o parte, şi particularităţile reliefului, şi vegetaţiei locului natal pe de altă parte.</a:t>
            </a:r>
            <a:endParaRPr lang="en-US" sz="2200" dirty="0" smtClean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22458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57232"/>
            <a:ext cx="8229600" cy="5467368"/>
          </a:xfrm>
        </p:spPr>
        <p:txBody>
          <a:bodyPr>
            <a:normAutofit/>
          </a:bodyPr>
          <a:lstStyle/>
          <a:p>
            <a:r>
              <a:rPr lang="ro-RO" sz="2200" b="1" dirty="0" smtClean="0"/>
              <a:t>Mediul social</a:t>
            </a:r>
            <a:endParaRPr lang="en-US" sz="2200" b="1" dirty="0" smtClean="0"/>
          </a:p>
          <a:p>
            <a:pPr lvl="1"/>
            <a:r>
              <a:rPr lang="ro-RO" sz="2200" dirty="0" smtClean="0"/>
              <a:t>mediul </a:t>
            </a:r>
            <a:r>
              <a:rPr lang="ro-RO" sz="2200" b="1" dirty="0" smtClean="0"/>
              <a:t>socioeconomic</a:t>
            </a:r>
            <a:r>
              <a:rPr lang="ro-RO" sz="2200" dirty="0" smtClean="0"/>
              <a:t> (condiţii materiale de asigurare  a existenţei copilului)</a:t>
            </a:r>
            <a:endParaRPr lang="en-US" sz="2200" dirty="0" smtClean="0"/>
          </a:p>
          <a:p>
            <a:pPr lvl="1"/>
            <a:r>
              <a:rPr lang="ro-RO" sz="2200" dirty="0" smtClean="0"/>
              <a:t>mediul </a:t>
            </a:r>
            <a:r>
              <a:rPr lang="ro-RO" sz="2200" b="1" dirty="0" smtClean="0"/>
              <a:t>socioprofesional</a:t>
            </a:r>
            <a:r>
              <a:rPr lang="ro-RO" sz="2200" dirty="0" smtClean="0"/>
              <a:t> (derivat din specificul status-rolurilor ocupaţionale ale celor ce-l înconjoară pe copil)</a:t>
            </a:r>
            <a:endParaRPr lang="en-US" sz="2200" dirty="0" smtClean="0"/>
          </a:p>
          <a:p>
            <a:pPr lvl="1"/>
            <a:r>
              <a:rPr lang="ro-RO" sz="2200" dirty="0" smtClean="0"/>
              <a:t>mediul </a:t>
            </a:r>
            <a:r>
              <a:rPr lang="ro-RO" sz="2200" b="1" dirty="0" smtClean="0"/>
              <a:t>socioigienic </a:t>
            </a:r>
            <a:r>
              <a:rPr lang="ro-RO" sz="2200" dirty="0" smtClean="0"/>
              <a:t>(condiţiile care concură la asigurarea sănătăţii fizice şi mentale)</a:t>
            </a:r>
            <a:endParaRPr lang="en-US" sz="2200" dirty="0" smtClean="0"/>
          </a:p>
          <a:p>
            <a:pPr lvl="1"/>
            <a:r>
              <a:rPr lang="ro-RO" sz="2200" dirty="0" smtClean="0"/>
              <a:t>mediul </a:t>
            </a:r>
            <a:r>
              <a:rPr lang="ro-RO" sz="2200" b="1" dirty="0" smtClean="0"/>
              <a:t>sociocultural </a:t>
            </a:r>
            <a:r>
              <a:rPr lang="ro-RO" sz="2200" dirty="0" smtClean="0"/>
              <a:t>(cuprinde pe de-o parte nivelurile de informare şi instruire a celor aflaţi în preajma copilului, pe de altă parte </a:t>
            </a:r>
            <a:r>
              <a:rPr lang="ro-RO" sz="2200" smtClean="0"/>
              <a:t>totalitatea obiectelor cu </a:t>
            </a:r>
            <a:r>
              <a:rPr lang="ro-RO" sz="2200" dirty="0" smtClean="0"/>
              <a:t>destinaţie culturală aflate la dispoziţia copilului)</a:t>
            </a:r>
            <a:endParaRPr lang="en-US" sz="2200" dirty="0" smtClean="0"/>
          </a:p>
          <a:p>
            <a:pPr lvl="1"/>
            <a:r>
              <a:rPr lang="ro-RO" sz="2200" dirty="0" smtClean="0"/>
              <a:t>mediul </a:t>
            </a:r>
            <a:r>
              <a:rPr lang="ro-RO" sz="2200" b="1" dirty="0" smtClean="0"/>
              <a:t>sociocomunicativ şi socioafectiv </a:t>
            </a:r>
            <a:r>
              <a:rPr lang="ro-RO" sz="2200" dirty="0" smtClean="0"/>
              <a:t>(caracterizat atât prin natura contactelor copilului cu cei din jur, cât şi prin atmosfera şi climatul relaţional în care se produc trăirile emoţionale ale copilului)</a:t>
            </a:r>
            <a:endParaRPr lang="en-US" sz="2200" dirty="0" smtClean="0"/>
          </a:p>
          <a:p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29602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395930"/>
          </a:xfrm>
        </p:spPr>
        <p:txBody>
          <a:bodyPr>
            <a:normAutofit/>
          </a:bodyPr>
          <a:lstStyle/>
          <a:p>
            <a:r>
              <a:rPr lang="ro-RO" sz="2200" dirty="0" smtClean="0"/>
              <a:t>Mediul este o condiţie a dezvoltării. El oferă copilului condiţii concrete de viaţă, obiecte, informaţii, modele de conduită. El poate acţiona ca o barieră, sau ca un factor care favorizează, avantajează dezvoltarea psihică a copilului. </a:t>
            </a:r>
          </a:p>
          <a:p>
            <a:r>
              <a:rPr lang="ro-RO" sz="2200" dirty="0" smtClean="0"/>
              <a:t>Până la intrarea în şcoală hotărâtoare sunt </a:t>
            </a:r>
            <a:r>
              <a:rPr lang="ro-RO" sz="2200" i="1" dirty="0" smtClean="0"/>
              <a:t>influenţele familiei </a:t>
            </a:r>
            <a:r>
              <a:rPr lang="ro-RO" sz="2200" dirty="0" smtClean="0"/>
              <a:t>(și în paralel  influenţele grădiniţei, ale străzii, şi ale contactelor întâmplătoare cu alţi copii sau adulţii).</a:t>
            </a:r>
          </a:p>
          <a:p>
            <a:r>
              <a:rPr lang="ro-RO" sz="2200" dirty="0" smtClean="0"/>
              <a:t> Odată cu trecerea la procesul de instruire sistematică se conturează rolul deosebit al </a:t>
            </a:r>
            <a:r>
              <a:rPr lang="ro-RO" sz="2200" i="1" dirty="0" smtClean="0"/>
              <a:t>mediului şcolar</a:t>
            </a:r>
            <a:r>
              <a:rPr lang="ro-RO" sz="2200" dirty="0" smtClean="0"/>
              <a:t>. </a:t>
            </a:r>
          </a:p>
          <a:p>
            <a:r>
              <a:rPr lang="ro-RO" sz="2200" dirty="0" smtClean="0"/>
              <a:t>Problema nu se pune în termenii unor formulări exclusiviste de genul: mediul sau ereditatea, ci în termeni de urmărire a interacţiunii celor doi factori. Performanţele individului sunt rezultatul interacţiunii celor doi factori.</a:t>
            </a:r>
            <a:endParaRPr lang="en-US" sz="2200" dirty="0" smtClean="0"/>
          </a:p>
          <a:p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857256"/>
          </a:xfrm>
        </p:spPr>
        <p:txBody>
          <a:bodyPr>
            <a:normAutofit/>
          </a:bodyPr>
          <a:lstStyle/>
          <a:p>
            <a:r>
              <a:rPr lang="ro-RO" sz="2000" b="1" dirty="0" smtClean="0"/>
              <a:t>Educaţia – factor determinant al dezvoltării psihoindividuale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34" y="1142984"/>
            <a:ext cx="8229600" cy="5500726"/>
          </a:xfrm>
        </p:spPr>
        <p:txBody>
          <a:bodyPr>
            <a:normAutofit/>
          </a:bodyPr>
          <a:lstStyle/>
          <a:p>
            <a:r>
              <a:rPr lang="ro-RO" sz="2200" dirty="0" smtClean="0"/>
              <a:t>Dezvoltarea psihică nu rezultă numai din premisele ereditare, numai din condiţiile de mediu, ori doar din convergenţa eredităţii şi a mediului priviţi ca factori cu acţiune separată. </a:t>
            </a:r>
          </a:p>
          <a:p>
            <a:r>
              <a:rPr lang="ro-RO" sz="2200" dirty="0" smtClean="0"/>
              <a:t>Este necesar un operator special care să relaţioneze realitatea biologică a organismului cu datele, condițiile oferite de mediu şi care să determine o anumită direcţie de valorificare a acestora. Rolul acestui operator îl îndeplineşte </a:t>
            </a:r>
            <a:r>
              <a:rPr lang="ro-RO" sz="2200" b="1" dirty="0" smtClean="0"/>
              <a:t>educaţia.</a:t>
            </a:r>
            <a:endParaRPr lang="en-US" sz="2200" b="1" dirty="0" smtClean="0"/>
          </a:p>
          <a:p>
            <a:r>
              <a:rPr lang="ro-RO" sz="2200" dirty="0" smtClean="0"/>
              <a:t>Educația se desfăşoară în interiorul mediului social, fiind într-un fel o componentă a acestuia.</a:t>
            </a:r>
          </a:p>
          <a:p>
            <a:r>
              <a:rPr lang="ro-RO" sz="2200" dirty="0" smtClean="0"/>
              <a:t>Educaţia este factorul  determinant pentru dezvoltare.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581772"/>
          </a:xfrm>
        </p:spPr>
        <p:txBody>
          <a:bodyPr>
            <a:normAutofit/>
          </a:bodyPr>
          <a:lstStyle/>
          <a:p>
            <a:r>
              <a:rPr lang="ro-RO" sz="2000" b="1" dirty="0" smtClean="0"/>
              <a:t>4.4. INTERACȚIUNEA FACTORILOR DEZVOLTĂRII PSIHICE</a:t>
            </a:r>
            <a:endParaRPr lang="en-US" sz="2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8736"/>
            <a:ext cx="8229600" cy="4895864"/>
          </a:xfrm>
        </p:spPr>
        <p:txBody>
          <a:bodyPr/>
          <a:lstStyle/>
          <a:p>
            <a:r>
              <a:rPr lang="ro-RO" i="1" dirty="0" smtClean="0"/>
              <a:t>Relaţia dintre ereditate şi mediu</a:t>
            </a:r>
            <a:endParaRPr lang="en-US" dirty="0" smtClean="0"/>
          </a:p>
          <a:p>
            <a:r>
              <a:rPr lang="ro-RO" i="1" dirty="0" smtClean="0"/>
              <a:t>Relaţia dintre ereditate şi educaţie </a:t>
            </a:r>
            <a:endParaRPr lang="en-US" dirty="0" smtClean="0"/>
          </a:p>
          <a:p>
            <a:r>
              <a:rPr lang="ro-RO" i="1" dirty="0" smtClean="0"/>
              <a:t>Relaţia dintre educaţie şi mediu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24648"/>
          </a:xfrm>
        </p:spPr>
        <p:txBody>
          <a:bodyPr>
            <a:normAutofit/>
          </a:bodyPr>
          <a:lstStyle/>
          <a:p>
            <a:r>
              <a:rPr lang="ro-RO" sz="4000" dirty="0" smtClean="0"/>
              <a:t>OPTIMISMUL PEDAGOGIC</a:t>
            </a:r>
            <a:endParaRPr lang="en-US" sz="40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428750"/>
          <a:ext cx="8229600" cy="4895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96086"/>
          </a:xfrm>
        </p:spPr>
        <p:txBody>
          <a:bodyPr>
            <a:normAutofit/>
          </a:bodyPr>
          <a:lstStyle/>
          <a:p>
            <a:r>
              <a:rPr lang="ro-RO" sz="4000" dirty="0" smtClean="0"/>
              <a:t>SCEPTICISMUL PEDAGOGIC</a:t>
            </a:r>
            <a:endParaRPr lang="en-US" sz="40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571625"/>
          <a:ext cx="8229600" cy="4752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96086"/>
          </a:xfrm>
        </p:spPr>
        <p:txBody>
          <a:bodyPr>
            <a:normAutofit/>
          </a:bodyPr>
          <a:lstStyle/>
          <a:p>
            <a:r>
              <a:rPr lang="ro-RO" sz="4000" dirty="0" smtClean="0"/>
              <a:t>REALISMUL PEDAGOGIC</a:t>
            </a:r>
            <a:endParaRPr lang="en-US" sz="40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428750"/>
          <a:ext cx="8229600" cy="4895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1048</TotalTime>
  <Words>1445</Words>
  <Application>Microsoft Office PowerPoint</Application>
  <PresentationFormat>On-screen Show (4:3)</PresentationFormat>
  <Paragraphs>109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Flow</vt:lpstr>
      <vt:lpstr> TEMA 4 EDUCABILITATEA. FACTORII DEZVOLTĂRII PSIHICE</vt:lpstr>
      <vt:lpstr>4.1. CONCEPTUL DE EDUCABILITATE</vt:lpstr>
      <vt:lpstr>Slide 3</vt:lpstr>
      <vt:lpstr>4.2. TEORII PRIVIND EDUCABILITATEA</vt:lpstr>
      <vt:lpstr>Slide 5</vt:lpstr>
      <vt:lpstr>Slide 6</vt:lpstr>
      <vt:lpstr>Slide 7</vt:lpstr>
      <vt:lpstr>Slide 8</vt:lpstr>
      <vt:lpstr>Slide 9</vt:lpstr>
      <vt:lpstr>4.3. FACTORII DEZVOLTĂRII PSIHICE</vt:lpstr>
      <vt:lpstr>Ereditatea</vt:lpstr>
      <vt:lpstr>Slide 12</vt:lpstr>
      <vt:lpstr>Slide 13</vt:lpstr>
      <vt:lpstr>Mediul-cadrul socio-uman al dezvoltării psihoindividuale</vt:lpstr>
      <vt:lpstr>Slide 15</vt:lpstr>
      <vt:lpstr>Slide 16</vt:lpstr>
      <vt:lpstr>Educaţia – factor determinant al dezvoltării psihoindividuale</vt:lpstr>
      <vt:lpstr>4.4. INTERACȚIUNEA FACTORILOR DEZVOLTĂRII PSIHICE</vt:lpstr>
      <vt:lpstr>OPTIMISMUL PEDAGOGIC</vt:lpstr>
      <vt:lpstr>SCEPTICISMUL PEDAGOGIC</vt:lpstr>
      <vt:lpstr>REALISMUL PEDAGOGIC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1 PEDAGOGIA – ŞTIINŢA EDUCAŢIEI</dc:title>
  <dc:creator>Liana</dc:creator>
  <cp:lastModifiedBy>Liana</cp:lastModifiedBy>
  <cp:revision>125</cp:revision>
  <dcterms:created xsi:type="dcterms:W3CDTF">2013-10-19T18:10:37Z</dcterms:created>
  <dcterms:modified xsi:type="dcterms:W3CDTF">2017-11-03T18:36:30Z</dcterms:modified>
</cp:coreProperties>
</file>