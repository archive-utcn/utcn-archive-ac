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6" r:id="rId6"/>
    <p:sldId id="267" r:id="rId7"/>
    <p:sldId id="261" r:id="rId8"/>
    <p:sldId id="262" r:id="rId9"/>
    <p:sldId id="263" r:id="rId10"/>
    <p:sldId id="264" r:id="rId11"/>
    <p:sldId id="265" r:id="rId12"/>
    <p:sldId id="25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E5D7F4-D396-47F6-B0C4-CE4EBB6224A2}" type="datetimeFigureOut">
              <a:rPr lang="en-US" smtClean="0"/>
              <a:pPr/>
              <a:t>11/18/2017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2800" dirty="0" smtClean="0"/>
              <a:t> </a:t>
            </a:r>
            <a:r>
              <a:rPr lang="ro-RO" sz="2800" smtClean="0"/>
              <a:t>TEMA 5</a:t>
            </a:r>
            <a:r>
              <a:rPr lang="ro-RO" sz="2800" dirty="0" smtClean="0"/>
              <a:t/>
            </a:r>
            <a:br>
              <a:rPr lang="ro-RO" sz="2800" dirty="0" smtClean="0"/>
            </a:br>
            <a:r>
              <a:rPr lang="ro-RO" sz="2800" dirty="0" smtClean="0"/>
              <a:t>FINALITĂȚILE  EDUCAȚIEI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o-RO" sz="2000" dirty="0" smtClean="0"/>
          </a:p>
          <a:p>
            <a:endParaRPr lang="ro-RO" sz="2000" dirty="0" smtClean="0"/>
          </a:p>
          <a:p>
            <a:endParaRPr lang="ro-RO" sz="2000" dirty="0" smtClean="0"/>
          </a:p>
          <a:p>
            <a:r>
              <a:rPr lang="ro-RO" dirty="0" smtClean="0"/>
              <a:t>Conf. univ. dr.  </a:t>
            </a:r>
            <a:r>
              <a:rPr lang="ro-RO" smtClean="0"/>
              <a:t>LIANA TĂUȘAN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143008"/>
          </a:xfrm>
        </p:spPr>
        <p:txBody>
          <a:bodyPr>
            <a:normAutofit/>
          </a:bodyPr>
          <a:lstStyle/>
          <a:p>
            <a:r>
              <a:rPr lang="ro-RO" sz="2000" b="1" dirty="0" smtClean="0">
                <a:solidFill>
                  <a:schemeClr val="accent3">
                    <a:lumMod val="75000"/>
                  </a:schemeClr>
                </a:solidFill>
              </a:rPr>
              <a:t>Finalitățile educației: ideal, scopuri și obiective educaționale</a:t>
            </a:r>
            <a:r>
              <a:rPr lang="en-US" sz="2000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/>
          </a:bodyPr>
          <a:lstStyle/>
          <a:p>
            <a:r>
              <a:rPr lang="ro-RO" sz="2000" dirty="0" smtClean="0"/>
              <a:t>Educaţia reprezintă un sistem de acţiuni exercitate în mod conştient şi sistematic, asupra unor persoane, în vederea transformării acestora potrivit unor </a:t>
            </a:r>
            <a:r>
              <a:rPr lang="ro-RO" sz="2000" i="1" dirty="0" smtClean="0"/>
              <a:t>finalităţi. </a:t>
            </a:r>
          </a:p>
          <a:p>
            <a:r>
              <a:rPr lang="ro-RO" sz="2000" i="1" dirty="0" smtClean="0"/>
              <a:t>Finalităţile educaţiei </a:t>
            </a:r>
            <a:r>
              <a:rPr lang="ro-RO" sz="2000" dirty="0" smtClean="0"/>
              <a:t>definesc în mod sintetic, modelul de personalitate vizat de acţiunea educaţională. În funcţie de gradul de generalitate, finalităţile educaţiei se exprimă prin: </a:t>
            </a:r>
            <a:r>
              <a:rPr lang="ro-RO" sz="2000" i="1" dirty="0" smtClean="0"/>
              <a:t>idealul educaţional, scopurile educaţiei, obiectivele educaţionale.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253054"/>
          </a:xfrm>
        </p:spPr>
        <p:txBody>
          <a:bodyPr>
            <a:normAutofit/>
          </a:bodyPr>
          <a:lstStyle/>
          <a:p>
            <a:r>
              <a:rPr lang="ro-RO" sz="2000" i="1" dirty="0" smtClean="0"/>
              <a:t>Idealul educativ</a:t>
            </a:r>
            <a:r>
              <a:rPr lang="ro-RO" sz="2000" b="1" dirty="0" smtClean="0"/>
              <a:t> </a:t>
            </a:r>
            <a:r>
              <a:rPr lang="ro-RO" sz="2000" dirty="0" smtClean="0"/>
              <a:t>este categoria de o generalitate maximă, ce surprinde: paradigma de personalitate, oarecum abstractă, şi proiectul devenirii umane la un moment dat, într-o societate dată. Din idealul educativ decurg norme, principii, strategii, scopuri, obiective determinate, care direcţionează procesul de formare a tinerei generaţii. El este funcţional doar în măsura în care permite concretizări la realităţile şi situaţiile educaţionale.</a:t>
            </a:r>
          </a:p>
          <a:p>
            <a:pPr>
              <a:buNone/>
            </a:pPr>
            <a:endParaRPr lang="en-US" sz="2000" dirty="0" smtClean="0"/>
          </a:p>
          <a:p>
            <a:r>
              <a:rPr lang="ro-RO" sz="2000" dirty="0" smtClean="0"/>
              <a:t>Idealul educativ nu este un model standard, impus o dată pentru totdeauna, ci un model dinamic ce permite redimensionări, în funcţie de câmpul de posibilităţi în care are loc educaţia. </a:t>
            </a:r>
          </a:p>
          <a:p>
            <a:endParaRPr lang="ro-RO" sz="2000" dirty="0" smtClean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00726"/>
          </a:xfrm>
        </p:spPr>
        <p:txBody>
          <a:bodyPr>
            <a:noAutofit/>
          </a:bodyPr>
          <a:lstStyle/>
          <a:p>
            <a:r>
              <a:rPr lang="ro-RO" sz="2000" i="1" dirty="0" smtClean="0"/>
              <a:t>Scopurile educaţiei: 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reprezintă o ipostază a finalităţilor educaţiei, care realizează acordul dintre idealul educativ şi obiectivele sale;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dacă idealul educativ este general şi unitar, scopurile ce îl detaliază sunt variate şi multiple;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între idealul educativ şi scopul educaţiei trebuie să se stabilească o relaţie de continuitate şi adecvare. Scopurile educaţiei trebuie să detalieze conţinuturile idealului educativ.</a:t>
            </a:r>
          </a:p>
          <a:p>
            <a:pPr lvl="1">
              <a:buNone/>
            </a:pPr>
            <a:endParaRPr lang="en-US" sz="2000" dirty="0" smtClean="0"/>
          </a:p>
          <a:p>
            <a:r>
              <a:rPr lang="ro-RO" sz="2000" i="1" dirty="0" smtClean="0"/>
              <a:t>Obiectivele educaţionale: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reprezintă ipostaza cea mai concretă a finalităţilor şi desemnează tipul de schimbări pe care procesul de învăţământ le aşteaptă sau le realizează;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Dacă </a:t>
            </a:r>
            <a:r>
              <a:rPr lang="ro-RO" sz="2000" i="1" dirty="0" smtClean="0"/>
              <a:t>scopul educaţiei </a:t>
            </a:r>
            <a:r>
              <a:rPr lang="ro-RO" sz="2000" dirty="0" smtClean="0"/>
              <a:t>vizează evoluţii şi schimbări mai extinse din punct de vedere cognitiv, afectiv, comportamental, </a:t>
            </a:r>
            <a:r>
              <a:rPr lang="ro-RO" sz="2000" i="1" dirty="0" smtClean="0"/>
              <a:t>obiectivele educaţionale </a:t>
            </a:r>
            <a:r>
              <a:rPr lang="ro-RO" sz="2000" dirty="0" smtClean="0"/>
              <a:t>au în vedere achiziţii redate în termeni de comportamente concrete, vizibile, măsurabile şi exprimabile.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Funcţiile obiectivelor educaţionale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o-RO" sz="2000" i="1" dirty="0" smtClean="0"/>
              <a:t>1.Funcţia de orientare axiologică </a:t>
            </a:r>
            <a:endParaRPr lang="en-US" sz="2000" dirty="0" smtClean="0"/>
          </a:p>
          <a:p>
            <a:pPr marL="736092" lvl="1" indent="-342900">
              <a:buFont typeface="Wingdings" pitchFamily="2" charset="2"/>
              <a:buChar char="q"/>
            </a:pPr>
            <a:r>
              <a:rPr lang="ro-RO" sz="2000" dirty="0" smtClean="0"/>
              <a:t>Formularea unui obiectiv nu este un simplu exerciţiu didactic, menit să ducă la creşterea gradului de organizare a procesului de învăţământ, ci prin explicitarea obiectivelor se realizează o </a:t>
            </a:r>
            <a:r>
              <a:rPr lang="ro-RO" sz="2000" i="1" dirty="0" smtClean="0"/>
              <a:t>orientare a elevilor către valorile educaţionale dezirabile. </a:t>
            </a:r>
          </a:p>
          <a:p>
            <a:pPr marL="736092" lvl="1" indent="-342900">
              <a:buFont typeface="Wingdings" pitchFamily="2" charset="2"/>
              <a:buChar char="q"/>
            </a:pPr>
            <a:r>
              <a:rPr lang="ro-RO" sz="2000" dirty="0" smtClean="0"/>
              <a:t>Pretinzând unele comportamente de la elevi, ei vor şti că acestea sunt achiziţii importante şi valoroase pentru existenţa lor.</a:t>
            </a:r>
            <a:endParaRPr lang="en-US" sz="2000" dirty="0" smtClean="0"/>
          </a:p>
          <a:p>
            <a:pPr>
              <a:buNone/>
            </a:pPr>
            <a:r>
              <a:rPr lang="ro-RO" sz="2000" i="1" dirty="0" smtClean="0"/>
              <a:t>2.Funcţia de anticipare a rezultatelor educaţiei</a:t>
            </a:r>
            <a:endParaRPr lang="en-US" sz="2000" dirty="0" smtClean="0"/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Orice obiectiv trebuie să anticipeze o realitate care nu există încă, însă nu prin formulări generale, ci sub forma rezultatelor concrete, testabile după o anumită perioadă de timp.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Obiectivele indică performanţele şi capacităţile dorite.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Anticipând rezultatele, obiectivele mobilizează într-o direcţie clară eforturile elevilor şi cadrelor didactice.</a:t>
            </a:r>
            <a:endParaRPr lang="en-US" sz="20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32449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o-RO" sz="2000" i="1" dirty="0" smtClean="0"/>
              <a:t>3.Funcţia evaluativă</a:t>
            </a:r>
            <a:endParaRPr lang="en-US" sz="2000" dirty="0" smtClean="0"/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Aprecierea activităţii elevilor presupune raportarea rezultatelor obţinute la obiective.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Calitatea obiectivelor, claritatea enunţării şi concretizarea lor sunt condiţii esenţiale pentru fidelitatea evaluării şi aprecierii şcolare.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Odată cu proiectarea obiectivelor, profesorii vor concepe şi tehnicile de evaluare, adică felul în care vor şti dacă ceea ce trebuie realizat va fi realizat. </a:t>
            </a:r>
            <a:endParaRPr lang="en-US" sz="2000" dirty="0" smtClean="0"/>
          </a:p>
          <a:p>
            <a:pPr>
              <a:buNone/>
            </a:pPr>
            <a:r>
              <a:rPr lang="ro-RO" sz="2000" i="1" dirty="0" smtClean="0"/>
              <a:t>4.Funcţia de organizare şi autoreglare a proceselor didactice</a:t>
            </a:r>
            <a:endParaRPr lang="en-US" sz="2000" dirty="0" smtClean="0"/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Obiectivele educaţionale intervin în procesele didactice pentru dirijarea acţiunilor de predare şi învăţare.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Ele sunt implicate în proiectarea, desfăşurarea şi evaluarea proceselor educative, având un rol însemnat în controlul şi autoreglarea acţiunilor instructiv-educative.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Nerealizarea obiectivelor determină activităţi de analiză retrospectivă a activităţii şi introducerea modificărilor necesare pentru ameliorarea acesteia.	 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214446"/>
          </a:xfrm>
        </p:spPr>
        <p:txBody>
          <a:bodyPr>
            <a:normAutofit/>
          </a:bodyPr>
          <a:lstStyle/>
          <a:p>
            <a:r>
              <a:rPr lang="ro-RO" sz="2000" b="1" dirty="0" smtClean="0">
                <a:solidFill>
                  <a:schemeClr val="accent3">
                    <a:lumMod val="75000"/>
                  </a:schemeClr>
                </a:solidFill>
              </a:rPr>
              <a:t>Obiectivele educaţionale: clasificare, operaţionalizare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en-US" sz="2000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429288"/>
          </a:xfrm>
        </p:spPr>
        <p:txBody>
          <a:bodyPr>
            <a:normAutofit fontScale="92500" lnSpcReduction="20000"/>
          </a:bodyPr>
          <a:lstStyle/>
          <a:p>
            <a:r>
              <a:rPr lang="ro-RO" sz="2000" b="1" i="1" dirty="0" smtClean="0"/>
              <a:t>În funcție de nivelul ierarhic de generalitate: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obiective generale (scopuri);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obiective specifice (intermediare);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obiective operaționale, concrete (comportamentale).</a:t>
            </a:r>
          </a:p>
          <a:p>
            <a:pPr lvl="1">
              <a:buNone/>
            </a:pPr>
            <a:r>
              <a:rPr lang="ro-RO" sz="2000" dirty="0" smtClean="0"/>
              <a:t>(precizarea nivelului de referință: sistem de învățământ, obiect de învățământ, capitol, lecție)</a:t>
            </a:r>
            <a:endParaRPr lang="en-US" sz="2000" dirty="0" smtClean="0"/>
          </a:p>
          <a:p>
            <a:r>
              <a:rPr lang="ro-RO" sz="2000" b="1" i="1" dirty="0" smtClean="0"/>
              <a:t>În funcție de</a:t>
            </a:r>
            <a:r>
              <a:rPr lang="ro-RO" sz="2000" b="1" dirty="0" smtClean="0"/>
              <a:t> </a:t>
            </a:r>
            <a:r>
              <a:rPr lang="ro-RO" sz="2000" b="1" i="1" dirty="0" smtClean="0"/>
              <a:t>domeniul activităţii psihice </a:t>
            </a:r>
            <a:r>
              <a:rPr lang="ro-RO" sz="2000" dirty="0" smtClean="0"/>
              <a:t>la care se referă: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i="1" dirty="0" smtClean="0"/>
              <a:t>obiectivele cognitive</a:t>
            </a:r>
            <a:r>
              <a:rPr lang="ro-RO" sz="2000" dirty="0" smtClean="0"/>
              <a:t> (asimilarea de cunoştinţe, formarea unor deprinderi şi capacităţi intelectuale);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i="1" dirty="0" smtClean="0"/>
              <a:t>obiective afective</a:t>
            </a:r>
            <a:r>
              <a:rPr lang="ro-RO" sz="2000" dirty="0" smtClean="0"/>
              <a:t> (asimilarea de norme şi valori, formarea convingerilor, sentimentelor, atitudinilor);</a:t>
            </a:r>
            <a:endParaRPr lang="ro-RO" sz="2000" i="1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i="1" dirty="0" smtClean="0"/>
              <a:t>obiective </a:t>
            </a:r>
            <a:r>
              <a:rPr lang="ro-RO" sz="2000" dirty="0" smtClean="0"/>
              <a:t> </a:t>
            </a:r>
            <a:r>
              <a:rPr lang="ro-RO" sz="2000" i="1" dirty="0" smtClean="0"/>
              <a:t>psihomotorii  </a:t>
            </a:r>
            <a:r>
              <a:rPr lang="ro-RO" sz="2000" dirty="0" smtClean="0"/>
              <a:t>(formarea unor abilități manuale, conduite motrice, deprinderi motrice).</a:t>
            </a:r>
            <a:endParaRPr lang="ro-RO" sz="2000" i="1" dirty="0" smtClean="0"/>
          </a:p>
          <a:p>
            <a:endParaRPr lang="ro-RO" sz="2000" b="1" i="1" dirty="0" smtClean="0"/>
          </a:p>
          <a:p>
            <a:pPr>
              <a:buFont typeface="Wingdings" pitchFamily="2" charset="2"/>
              <a:buChar char="q"/>
            </a:pPr>
            <a:r>
              <a:rPr lang="ro-RO" sz="2000" b="1" i="1" dirty="0" smtClean="0"/>
              <a:t>Obiective generale (scopuri)</a:t>
            </a:r>
            <a:r>
              <a:rPr lang="ro-RO" sz="2000" i="1" dirty="0" smtClean="0"/>
              <a:t>: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au un caracter global, abstract;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 reprezintă principii de orientare pentru nivelele următoare;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prin obiectivele generale se indică tipurile de schimbări educaționale care sunt în concordanță cu finalitățile învățământului în general.</a:t>
            </a:r>
            <a:endParaRPr lang="ro-RO" sz="2000" b="1" i="1" dirty="0" smtClean="0"/>
          </a:p>
          <a:p>
            <a:endParaRPr lang="ro-RO" sz="1800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253054"/>
          </a:xfrm>
        </p:spPr>
        <p:txBody>
          <a:bodyPr>
            <a:normAutofit/>
          </a:bodyPr>
          <a:lstStyle/>
          <a:p>
            <a:pPr>
              <a:buNone/>
            </a:pPr>
            <a:endParaRPr lang="ro-RO" sz="1800" dirty="0" smtClean="0"/>
          </a:p>
          <a:p>
            <a:pPr>
              <a:buFont typeface="Wingdings" pitchFamily="2" charset="2"/>
              <a:buChar char="q"/>
            </a:pPr>
            <a:r>
              <a:rPr lang="ro-RO" sz="2000" b="1" i="1" dirty="0" smtClean="0"/>
              <a:t>Obiective specifice (intermediare)</a:t>
            </a:r>
            <a:r>
              <a:rPr lang="ro-RO" sz="2000" i="1" dirty="0" smtClean="0"/>
              <a:t>:</a:t>
            </a:r>
            <a:r>
              <a:rPr lang="ro-RO" sz="2000" dirty="0" smtClean="0"/>
              <a:t>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Sunt o parte mai restrânsă a obiectivelor generale;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se definesc în termeni de capacități sau operații mentale.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La acest nivel intermediar se situează </a:t>
            </a:r>
            <a:r>
              <a:rPr lang="ro-RO" sz="2000" i="1" dirty="0" smtClean="0"/>
              <a:t>obiectivele cadru </a:t>
            </a:r>
            <a:r>
              <a:rPr lang="ro-RO" sz="2000" dirty="0" smtClean="0"/>
              <a:t>și </a:t>
            </a:r>
            <a:r>
              <a:rPr lang="ro-RO" sz="2000" i="1" dirty="0" smtClean="0"/>
              <a:t>obiectivele de referință.</a:t>
            </a:r>
            <a:r>
              <a:rPr lang="ro-RO" sz="2000" dirty="0" smtClean="0"/>
              <a:t> </a:t>
            </a:r>
          </a:p>
          <a:p>
            <a:pPr lvl="2">
              <a:buFont typeface="Wingdings" pitchFamily="2" charset="2"/>
              <a:buChar char="Ø"/>
            </a:pPr>
            <a:r>
              <a:rPr lang="ro-RO" sz="2000" i="1" dirty="0" smtClean="0"/>
              <a:t>Obiectivele-cadru:</a:t>
            </a:r>
            <a:r>
              <a:rPr lang="ro-RO" sz="2000" dirty="0" smtClean="0"/>
              <a:t> caracterizate printr-un grad înalt de generalitate, sunt centrate pe formarea unor capacități și atitudini specifice unei discipline școlare, fiind urmărite pe parcursul mai multor ani de studiu. </a:t>
            </a:r>
          </a:p>
          <a:p>
            <a:pPr lvl="2">
              <a:buFont typeface="Wingdings" pitchFamily="2" charset="2"/>
              <a:buChar char="Ø"/>
            </a:pPr>
            <a:r>
              <a:rPr lang="ro-RO" sz="2000" i="1" dirty="0" smtClean="0"/>
              <a:t>Obiectivele de referință:  </a:t>
            </a:r>
            <a:r>
              <a:rPr lang="ro-RO" sz="2000" dirty="0" smtClean="0"/>
              <a:t>se referă la progresele înregistrate la nivelul performanțelor elevilor (capacități, cunoștințe) de la un an de studiu la altul. </a:t>
            </a:r>
            <a:endParaRPr lang="en-US" sz="2000" dirty="0" smtClean="0"/>
          </a:p>
          <a:p>
            <a:pPr lvl="1">
              <a:buFont typeface="Wingdings" pitchFamily="2" charset="2"/>
              <a:buChar char="q"/>
            </a:pPr>
            <a:endParaRPr lang="ro-RO" sz="2000" dirty="0" smtClean="0"/>
          </a:p>
          <a:p>
            <a:pPr>
              <a:buFont typeface="Wingdings" pitchFamily="2" charset="2"/>
              <a:buChar char="q"/>
            </a:pPr>
            <a:endParaRPr lang="ro-RO" sz="2000" dirty="0" smtClean="0"/>
          </a:p>
          <a:p>
            <a:pPr>
              <a:buFont typeface="Wingdings" pitchFamily="2" charset="2"/>
              <a:buChar char="q"/>
            </a:pPr>
            <a:endParaRPr lang="ro-RO" sz="1800" dirty="0" smtClean="0"/>
          </a:p>
          <a:p>
            <a:pPr>
              <a:buFont typeface="Wingdings" pitchFamily="2" charset="2"/>
              <a:buChar char="q"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4287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614366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ro-RO" sz="2000" b="1" i="1" dirty="0" smtClean="0"/>
              <a:t>Obiective operaționale</a:t>
            </a:r>
            <a:r>
              <a:rPr lang="ro-RO" sz="2000" i="1" dirty="0" smtClean="0"/>
              <a:t>:</a:t>
            </a:r>
            <a:r>
              <a:rPr lang="ro-RO" sz="2000" dirty="0" smtClean="0"/>
              <a:t> 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indică performanţe și sarcini concrete, comportamente vizibile, măsurabile, care se stabilesc prin prelucrarea materiei de studiu, pornind de la programa şcolară şi manual;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indică rezultatele măsurabile, observabile și imediate ale instruirii;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prin operaţionalizare se precizează ce va face elevul, performanţa sau competenţa de care va fi capabil după parcurgerea unei anumite secvenţe a procesului de predare învăţare;</a:t>
            </a:r>
          </a:p>
          <a:p>
            <a:pPr lvl="1">
              <a:buFont typeface="Wingdings" pitchFamily="2" charset="2"/>
              <a:buChar char="q"/>
            </a:pPr>
            <a:r>
              <a:rPr lang="ro-RO" sz="2000" dirty="0" smtClean="0"/>
              <a:t>operaţionalizarea presupune elaborarea obiectivelor educaţionale în termeni de comportamente observabile şi măsurabile, transpunerea unui obiectiv în termeni de operaţii, acţiuni, manifestări observabile.</a:t>
            </a:r>
          </a:p>
          <a:p>
            <a:pPr lvl="1">
              <a:buNone/>
            </a:pPr>
            <a:endParaRPr lang="ro-RO" sz="2000" dirty="0" smtClean="0"/>
          </a:p>
          <a:p>
            <a:pPr>
              <a:buFont typeface="Wingdings" pitchFamily="2" charset="2"/>
              <a:buChar char="q"/>
            </a:pPr>
            <a:r>
              <a:rPr lang="ro-RO" sz="2000" dirty="0" smtClean="0"/>
              <a:t>Cerințe în procesul de formulare a obiectivelor operaţionale:</a:t>
            </a:r>
          </a:p>
          <a:p>
            <a:pPr lvl="1"/>
            <a:r>
              <a:rPr lang="ro-RO" sz="2000" dirty="0" smtClean="0"/>
              <a:t>obiectivele să vizeze activitatea de învăţare a elevului, nu a profesorului;</a:t>
            </a:r>
            <a:endParaRPr lang="en-US" sz="2000" dirty="0" smtClean="0"/>
          </a:p>
          <a:p>
            <a:pPr lvl="2"/>
            <a:r>
              <a:rPr lang="ro-RO" sz="2000" dirty="0" smtClean="0"/>
              <a:t>exemplu corect: “elevii să precizeze…”, “elevii să aplice…”</a:t>
            </a:r>
            <a:endParaRPr lang="en-US" sz="2000" dirty="0" smtClean="0"/>
          </a:p>
          <a:p>
            <a:pPr lvl="2"/>
            <a:r>
              <a:rPr lang="ro-RO" sz="2000" dirty="0" smtClean="0"/>
              <a:t>exemplu incorect: “să demonstrez elevilor…”, “să transmit elevilor…”</a:t>
            </a:r>
            <a:endParaRPr lang="en-US" sz="2000" dirty="0" smtClean="0"/>
          </a:p>
          <a:p>
            <a:pPr lvl="1"/>
            <a:r>
              <a:rPr lang="ro-RO" sz="2000" dirty="0" smtClean="0"/>
              <a:t>obiectivele să fie realizabile, adică să corespundă particularităţilor de vârstă ale elevilor, experienţei lor anterioare;</a:t>
            </a:r>
            <a:endParaRPr lang="en-US" sz="2000" dirty="0" smtClean="0"/>
          </a:p>
          <a:p>
            <a:pPr>
              <a:buFont typeface="Wingdings" pitchFamily="2" charset="2"/>
              <a:buChar char="q"/>
            </a:pPr>
            <a:endParaRPr lang="ro-RO" sz="1800" dirty="0" smtClean="0"/>
          </a:p>
          <a:p>
            <a:pPr>
              <a:buFont typeface="Wingdings" pitchFamily="2" charset="2"/>
              <a:buChar char="q"/>
            </a:pPr>
            <a:endParaRPr lang="ro-RO" sz="1800" dirty="0" smtClean="0"/>
          </a:p>
          <a:p>
            <a:pPr>
              <a:buFont typeface="Wingdings" pitchFamily="2" charset="2"/>
              <a:buChar char="q"/>
            </a:pPr>
            <a:endParaRPr lang="ro-RO" sz="1800" dirty="0" smtClean="0"/>
          </a:p>
          <a:p>
            <a:pPr>
              <a:buFont typeface="Wingdings" pitchFamily="2" charset="2"/>
              <a:buChar char="q"/>
            </a:pPr>
            <a:endParaRPr lang="ro-RO" sz="1800" dirty="0" smtClean="0"/>
          </a:p>
          <a:p>
            <a:pPr lvl="1">
              <a:buFont typeface="Wingdings" pitchFamily="2" charset="2"/>
              <a:buChar char="q"/>
            </a:pPr>
            <a:endParaRPr lang="ro-RO" sz="1600" b="1" i="1" dirty="0" smtClean="0"/>
          </a:p>
          <a:p>
            <a:pPr lvl="1">
              <a:buFont typeface="Wingdings" pitchFamily="2" charset="2"/>
              <a:buChar char="q"/>
            </a:pPr>
            <a:endParaRPr lang="en-US" sz="16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4287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6072230"/>
          </a:xfrm>
        </p:spPr>
        <p:txBody>
          <a:bodyPr>
            <a:normAutofit/>
          </a:bodyPr>
          <a:lstStyle/>
          <a:p>
            <a:pPr lvl="1"/>
            <a:r>
              <a:rPr lang="ro-RO" sz="1900" dirty="0" smtClean="0"/>
              <a:t>obiectivele să descrie comportamente observabile ale elevilor, şi nu acţiuni sau procese psihice interne;</a:t>
            </a:r>
            <a:endParaRPr lang="en-US" sz="1900" dirty="0" smtClean="0"/>
          </a:p>
          <a:p>
            <a:pPr lvl="2"/>
            <a:r>
              <a:rPr lang="ro-RO" sz="1900" dirty="0" smtClean="0"/>
              <a:t>exemplu corect: “elevii să identifice…”, “elevii să definească…”</a:t>
            </a:r>
            <a:endParaRPr lang="en-US" sz="1900" dirty="0" smtClean="0"/>
          </a:p>
          <a:p>
            <a:pPr lvl="2"/>
            <a:r>
              <a:rPr lang="ro-RO" sz="1900" dirty="0" smtClean="0"/>
              <a:t>exemplu incorect: “elevii să simtă…”, “elevii să cunoască…”, “elevii să sesizeze…”, “elevii să ştie…”, “elevii să înţeleagă…”</a:t>
            </a:r>
            <a:endParaRPr lang="en-US" sz="1900" dirty="0" smtClean="0"/>
          </a:p>
          <a:p>
            <a:pPr lvl="1"/>
            <a:r>
              <a:rPr lang="ro-RO" sz="1900" dirty="0" smtClean="0"/>
              <a:t>obiectivele să desemneze un rezultat imediat al instruirii, şi nu unul de perspectivă, neidentificat în timp şi spaţiu;</a:t>
            </a:r>
            <a:endParaRPr lang="en-US" sz="1900" dirty="0" smtClean="0"/>
          </a:p>
          <a:p>
            <a:pPr lvl="1"/>
            <a:r>
              <a:rPr lang="ro-RO" sz="1900" dirty="0" smtClean="0"/>
              <a:t>în obiective să se enunţe atât condiţiile de realizare a sarcinii, cât şi criteriul performanţei;</a:t>
            </a:r>
            <a:endParaRPr lang="en-US" sz="1900" dirty="0" smtClean="0"/>
          </a:p>
          <a:p>
            <a:pPr lvl="1"/>
            <a:r>
              <a:rPr lang="ro-RO" sz="1900" dirty="0" smtClean="0"/>
              <a:t>exprimarea comportamentelor se va face prin verbe de acţiune (exemple: a recunoaşte, a identifica, a utiliza, a propune, a reda etc.)</a:t>
            </a:r>
            <a:endParaRPr lang="en-US" sz="1900" dirty="0" smtClean="0"/>
          </a:p>
          <a:p>
            <a:pPr lvl="1"/>
            <a:r>
              <a:rPr lang="ro-RO" sz="1900" dirty="0" smtClean="0"/>
              <a:t>obiectivele să vizeze o singură operaţie sau acţiune;</a:t>
            </a:r>
            <a:endParaRPr lang="en-US" sz="1900" dirty="0" smtClean="0"/>
          </a:p>
          <a:p>
            <a:pPr lvl="1"/>
            <a:r>
              <a:rPr lang="ro-RO" sz="1900" dirty="0" smtClean="0"/>
              <a:t>să se evite repetarea lor prin reformulări diferite;</a:t>
            </a:r>
            <a:endParaRPr lang="en-US" sz="1900" dirty="0" smtClean="0"/>
          </a:p>
          <a:p>
            <a:pPr lvl="1"/>
            <a:r>
              <a:rPr lang="ro-RO" sz="1900" dirty="0" smtClean="0"/>
              <a:t>să se evite numărul exagerat de obiective operaţionale pentru o lecţie;</a:t>
            </a:r>
            <a:endParaRPr lang="en-US" sz="1900" dirty="0" smtClean="0"/>
          </a:p>
          <a:p>
            <a:pPr lvl="1"/>
            <a:r>
              <a:rPr lang="ro-RO" sz="1900" dirty="0" smtClean="0"/>
              <a:t>obiectivele să exprime operaţia logică sau abilitatea mentală activată, şi nu informaţia, ideea sau problema de rezolvat;</a:t>
            </a:r>
            <a:endParaRPr lang="en-US" sz="1900" dirty="0" smtClean="0"/>
          </a:p>
          <a:p>
            <a:pPr lvl="2"/>
            <a:r>
              <a:rPr lang="ro-RO" sz="1900" dirty="0" smtClean="0"/>
              <a:t>exemplu corect: “elevii să analizeze…”, “elevii să interpreteze…”</a:t>
            </a:r>
            <a:endParaRPr lang="en-US" sz="1900" dirty="0" smtClean="0"/>
          </a:p>
          <a:p>
            <a:pPr lvl="2"/>
            <a:r>
              <a:rPr lang="ro-RO" sz="1900" dirty="0" smtClean="0"/>
              <a:t>exemplu incorect: “elevii să spună că…” etc.</a:t>
            </a:r>
            <a:endParaRPr lang="en-US" sz="1900" dirty="0" smtClean="0"/>
          </a:p>
          <a:p>
            <a:pPr lvl="1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>
            <a:normAutofit/>
          </a:bodyPr>
          <a:lstStyle/>
          <a:p>
            <a:r>
              <a:rPr lang="ro-RO" sz="2000" b="1" i="1" dirty="0" smtClean="0"/>
              <a:t>Modele  practice ale operaționalizării: procedura lui R. Mager </a:t>
            </a:r>
            <a:r>
              <a:rPr lang="ro-RO" sz="2000" dirty="0" smtClean="0"/>
              <a:t>presupune stabilirea a trei parametrii în elaborarea unui obiectiv operaţional</a:t>
            </a:r>
            <a:r>
              <a:rPr lang="ro-RO" sz="2000" dirty="0" smtClean="0"/>
              <a:t>: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i="1" dirty="0" smtClean="0"/>
              <a:t>specificarea comportamentului final,</a:t>
            </a:r>
            <a:r>
              <a:rPr lang="ro-RO" sz="2000" dirty="0" smtClean="0"/>
              <a:t>  a rezultatului care se aşteaptă de la elev la finalul activităţii, luând ca referinţă verbele de acţiune indicatoare de comportamente. De exemplu: elevul să precizeze rolul frunzei în viața unei plante...; să recunoască tipurile de frunze...; să enumere legume de la care se consumă frunzele...etc. 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i="1" dirty="0" smtClean="0"/>
              <a:t>precizarea condiţiilor (prealabile și/sau actuale) </a:t>
            </a:r>
            <a:r>
              <a:rPr lang="ro-RO" sz="2000" dirty="0" smtClean="0"/>
              <a:t>în care elevii urmează să demonstreze că au dobândit performanţa preconizată, prin formule verbale ca: “având acces la …”, “fiind date…”, “utilizând…”, “pus în situaţia de…”, “cu ajutorul…”, “după…”, “pe baza…”, “sub forma…”.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i="1" dirty="0" smtClean="0"/>
              <a:t>precizarea criteriilor de evaluare,</a:t>
            </a:r>
            <a:r>
              <a:rPr lang="ro-RO" sz="2000" dirty="0" smtClean="0"/>
              <a:t> specificarea nivelului de reuşită minimală sau a nivelului la care să se situeze cunoştinţele, deprinderile elevilor, pentru a decide asupra realizării sau nerealizării obiectivelor. Exemple: numărul minim de răspunsuri corecte solicitate, numărul maxim de greşeli tolerate, reuşita estimată în procente, timpul acordat pentru rezolvarea sarcinilor</a:t>
            </a:r>
            <a:r>
              <a:rPr lang="ro-RO" sz="2000" dirty="0" smtClean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sz="2000" dirty="0" smtClean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745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/>
          <a:lstStyle/>
          <a:p>
            <a:r>
              <a:rPr lang="ro-RO" sz="1800" i="1" dirty="0" smtClean="0"/>
              <a:t>Obiective operaționale</a:t>
            </a:r>
            <a:r>
              <a:rPr lang="ro-RO" sz="1800" dirty="0" smtClean="0"/>
              <a:t>:</a:t>
            </a:r>
            <a:endParaRPr lang="en-US" sz="1800" dirty="0" smtClean="0"/>
          </a:p>
          <a:p>
            <a:pPr lvl="1">
              <a:buFont typeface="Wingdings" pitchFamily="2" charset="2"/>
              <a:buChar char="Ø"/>
            </a:pPr>
            <a:r>
              <a:rPr lang="ro-RO" sz="1800" dirty="0" smtClean="0"/>
              <a:t>să descrie cele patru procese de transformare a stărilor de agregare a corpurilor, pe baza observațiilor relizate pe parcursul experimentelor;</a:t>
            </a:r>
            <a:endParaRPr lang="en-US" sz="1800" dirty="0" smtClean="0"/>
          </a:p>
          <a:p>
            <a:pPr lvl="1">
              <a:buFont typeface="Wingdings" pitchFamily="2" charset="2"/>
              <a:buChar char="Ø"/>
            </a:pPr>
            <a:r>
              <a:rPr lang="ro-RO" sz="1800" dirty="0" smtClean="0"/>
              <a:t>să explice efectul pe care-l are factorul temperatură asupra stării de agregare a corpurilor, pe baza informațiilor din manual, dând câte un exemplu de trecere a corpurilor din stare solidă în stare lichidă și invers;</a:t>
            </a:r>
            <a:endParaRPr lang="en-US" sz="1800" dirty="0" smtClean="0"/>
          </a:p>
          <a:p>
            <a:pPr lvl="1">
              <a:buFont typeface="Wingdings" pitchFamily="2" charset="2"/>
              <a:buChar char="Ø"/>
            </a:pPr>
            <a:r>
              <a:rPr lang="ro-RO" sz="1800" dirty="0" smtClean="0"/>
              <a:t>să manifeste interes față de îngrijirea plantelor, participând la activitățile de îndepărtare a frunzelor uscate, afânarea pământului și udarea plantelor de la colțul viu al clasei;</a:t>
            </a:r>
            <a:endParaRPr lang="en-US" sz="1800" dirty="0" smtClean="0"/>
          </a:p>
          <a:p>
            <a:pPr lvl="1">
              <a:buFont typeface="Wingdings" pitchFamily="2" charset="2"/>
              <a:buChar char="Ø"/>
            </a:pPr>
            <a:r>
              <a:rPr lang="ro-RO" sz="1800" dirty="0" smtClean="0"/>
              <a:t>să mânuiască instrumentele de lucru în timpul îngrijirii plantei, respectând regulile de protecție a muncii;</a:t>
            </a:r>
            <a:endParaRPr lang="en-US" sz="1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Cursanții să elaboreze minim un obiectiv operațional corect, (specificarea </a:t>
            </a:r>
            <a:r>
              <a:rPr lang="ro-RO" smtClean="0"/>
              <a:t>comportamentului final și criteriul de evaluare) </a:t>
            </a:r>
            <a:r>
              <a:rPr lang="ro-RO" dirty="0" smtClean="0"/>
              <a:t>în domeniul de specialitate, respectând procedura de operaționalizare a lui Mager, prezentată </a:t>
            </a:r>
            <a:r>
              <a:rPr lang="ro-RO" smtClean="0"/>
              <a:t>la curs (precizarea condițiilor);</a:t>
            </a:r>
            <a:endParaRPr lang="ro-RO" dirty="0" smtClean="0"/>
          </a:p>
          <a:p>
            <a:endParaRPr lang="ro-RO" dirty="0" smtClean="0"/>
          </a:p>
          <a:p>
            <a:pPr>
              <a:buNone/>
            </a:pPr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1057</TotalTime>
  <Words>1498</Words>
  <Application>Microsoft Office PowerPoint</Application>
  <PresentationFormat>On-screen Show (4:3)</PresentationFormat>
  <Paragraphs>96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 TEMA 5 FINALITĂȚILE  EDUCAȚIEI</vt:lpstr>
      <vt:lpstr>Finalitățile educației: ideal, scopuri și obiective educaționale </vt:lpstr>
      <vt:lpstr>Slide 3</vt:lpstr>
      <vt:lpstr>Slide 4</vt:lpstr>
      <vt:lpstr>Funcţiile obiectivelor educaţionale </vt:lpstr>
      <vt:lpstr>Slide 6</vt:lpstr>
      <vt:lpstr>Obiectivele educaţionale: clasificare, operaţionalizare 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TEMA 1 PEDAGOGIA – ŞTIINŢA EDUCAŢIEI</dc:title>
  <dc:creator>Liana</dc:creator>
  <cp:lastModifiedBy>Liana</cp:lastModifiedBy>
  <cp:revision>88</cp:revision>
  <dcterms:created xsi:type="dcterms:W3CDTF">2013-10-19T18:10:37Z</dcterms:created>
  <dcterms:modified xsi:type="dcterms:W3CDTF">2017-11-18T08:27:54Z</dcterms:modified>
</cp:coreProperties>
</file>